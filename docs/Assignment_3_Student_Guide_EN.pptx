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7d802752a46a4a6f" /><Relationship Type="http://schemas.openxmlformats.org/officeDocument/2006/relationships/extended-properties" Target="/docProps/app.xml" Id="R1f4c6c370bb2493e" /><Relationship Type="http://schemas.openxmlformats.org/officeDocument/2006/relationships/officeDocument" Target="/ppt/presentation.xml" Id="R5cc633a8307846a1" /></Relationships>
</file>

<file path=ppt/presentation.xml><?xml version="1.0" encoding="utf-8"?>
<p:presentation xmlns:p="http://schemas.openxmlformats.org/presentationml/2006/main">
  <p:sldMasterIdLst>
    <p:sldMasterId xmlns:r="http://schemas.openxmlformats.org/officeDocument/2006/relationships" id="2147483648" r:id="R86d5b20e5a2b4afc"/>
  </p:sldMasterIdLst>
  <p:notesMasterIdLst>
    <p:notesMasterId xmlns:r="http://schemas.openxmlformats.org/officeDocument/2006/relationships" r:id="R8bef34349521487c"/>
  </p:notesMasterIdLst>
  <p:sldIdLst>
    <p:sldId xmlns:r="http://schemas.openxmlformats.org/officeDocument/2006/relationships" id="256" r:id="R01cfe82541ab41e8"/>
    <p:sldId xmlns:r="http://schemas.openxmlformats.org/officeDocument/2006/relationships" id="257" r:id="R26334ebdb6454450"/>
    <p:sldId xmlns:r="http://schemas.openxmlformats.org/officeDocument/2006/relationships" id="258" r:id="R79355517fd8448b1"/>
    <p:sldId xmlns:r="http://schemas.openxmlformats.org/officeDocument/2006/relationships" id="259" r:id="R00a312804f7f4f2e"/>
    <p:sldId xmlns:r="http://schemas.openxmlformats.org/officeDocument/2006/relationships" id="260" r:id="Rb2f949f87db9488e"/>
    <p:sldId xmlns:r="http://schemas.openxmlformats.org/officeDocument/2006/relationships" id="261" r:id="Rd979c5f0b6314732"/>
    <p:sldId xmlns:r="http://schemas.openxmlformats.org/officeDocument/2006/relationships" id="262" r:id="Rbc9fa7a59a9147c5"/>
    <p:sldId xmlns:r="http://schemas.openxmlformats.org/officeDocument/2006/relationships" id="263" r:id="R8be1bab4b6574a2e"/>
    <p:sldId xmlns:r="http://schemas.openxmlformats.org/officeDocument/2006/relationships" id="264" r:id="R3fc51b56ee41437a"/>
    <p:sldId xmlns:r="http://schemas.openxmlformats.org/officeDocument/2006/relationships" id="265" r:id="R5bc7add852f646c0"/>
    <p:sldId xmlns:r="http://schemas.openxmlformats.org/officeDocument/2006/relationships" id="266" r:id="Rbb7b1bb2c91d4123"/>
    <p:sldId xmlns:r="http://schemas.openxmlformats.org/officeDocument/2006/relationships" id="267" r:id="Rc10373f396094e39"/>
    <p:sldId xmlns:r="http://schemas.openxmlformats.org/officeDocument/2006/relationships" id="268" r:id="R7b17c20418fd453c"/>
    <p:sldId xmlns:r="http://schemas.openxmlformats.org/officeDocument/2006/relationships" id="269" r:id="R74ff54e8458b4792"/>
    <p:sldId xmlns:r="http://schemas.openxmlformats.org/officeDocument/2006/relationships" id="270" r:id="R086bfb91dd704e58"/>
    <p:sldId xmlns:r="http://schemas.openxmlformats.org/officeDocument/2006/relationships" id="271" r:id="R0d7b036bee1544b5"/>
    <p:sldId xmlns:r="http://schemas.openxmlformats.org/officeDocument/2006/relationships" id="272" r:id="R4ccd87f11f7b4236"/>
    <p:sldId xmlns:r="http://schemas.openxmlformats.org/officeDocument/2006/relationships" id="273" r:id="Raa57a56743c141c7"/>
    <p:sldId xmlns:r="http://schemas.openxmlformats.org/officeDocument/2006/relationships" id="274" r:id="R2083faeed8794973"/>
    <p:sldId xmlns:r="http://schemas.openxmlformats.org/officeDocument/2006/relationships" id="275" r:id="R3beb2022b6ec4491"/>
    <p:sldId xmlns:r="http://schemas.openxmlformats.org/officeDocument/2006/relationships" id="276" r:id="R01968fc9e006462b"/>
    <p:sldId xmlns:r="http://schemas.openxmlformats.org/officeDocument/2006/relationships" id="277" r:id="R8d92ae3b71f140f2"/>
    <p:sldId xmlns:r="http://schemas.openxmlformats.org/officeDocument/2006/relationships" id="278" r:id="R53ae170810cc4db1"/>
    <p:sldId xmlns:r="http://schemas.openxmlformats.org/officeDocument/2006/relationships" id="279" r:id="R427c65fe20bd4df3"/>
    <p:sldId xmlns:r="http://schemas.openxmlformats.org/officeDocument/2006/relationships" id="280" r:id="R8cb72dee10384cd7"/>
    <p:sldId xmlns:r="http://schemas.openxmlformats.org/officeDocument/2006/relationships" id="281" r:id="R01b50b9b6e2a4dcc"/>
    <p:sldId xmlns:r="http://schemas.openxmlformats.org/officeDocument/2006/relationships" id="282" r:id="R350c4508822046cc"/>
    <p:sldId xmlns:r="http://schemas.openxmlformats.org/officeDocument/2006/relationships" id="283" r:id="R2d394f0fb33d4788"/>
    <p:sldId xmlns:r="http://schemas.openxmlformats.org/officeDocument/2006/relationships" id="284" r:id="R5d13bf1f4a4b4a97"/>
    <p:sldId xmlns:r="http://schemas.openxmlformats.org/officeDocument/2006/relationships" id="285" r:id="Rf0061912c3754177"/>
    <p:sldId xmlns:r="http://schemas.openxmlformats.org/officeDocument/2006/relationships" id="286" r:id="R7a2a35ec853b4798"/>
    <p:sldId xmlns:r="http://schemas.openxmlformats.org/officeDocument/2006/relationships" id="287" r:id="R71fa2c5daece4723"/>
    <p:sldId xmlns:r="http://schemas.openxmlformats.org/officeDocument/2006/relationships" id="288" r:id="R0b4af7f0270844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abb590ffac4a0e" /><Relationship Type="http://schemas.openxmlformats.org/officeDocument/2006/relationships/slideMaster" Target="/ppt/slideMasters/slideMaster1.xml" Id="R86d5b20e5a2b4afc" /><Relationship Type="http://schemas.openxmlformats.org/officeDocument/2006/relationships/notesMaster" Target="/ppt/notesMasters/notesMaster1.xml" Id="R8bef34349521487c" /><Relationship Type="http://schemas.openxmlformats.org/officeDocument/2006/relationships/presProps" Target="/ppt/presProps.xml" Id="Rb52f6a2515ba43e3" /><Relationship Type="http://schemas.openxmlformats.org/officeDocument/2006/relationships/tableStyles" Target="/ppt/tableStyles.xml" Id="R3b8e02037d1047e6" /><Relationship Type="http://schemas.openxmlformats.org/officeDocument/2006/relationships/slide" Target="/ppt/slides/slide1.xml" Id="R01cfe82541ab41e8" /><Relationship Type="http://schemas.openxmlformats.org/officeDocument/2006/relationships/slide" Target="/ppt/slides/slide2.xml" Id="R26334ebdb6454450" /><Relationship Type="http://schemas.openxmlformats.org/officeDocument/2006/relationships/slide" Target="/ppt/slides/slide3.xml" Id="R79355517fd8448b1" /><Relationship Type="http://schemas.openxmlformats.org/officeDocument/2006/relationships/slide" Target="/ppt/slides/slide4.xml" Id="R00a312804f7f4f2e" /><Relationship Type="http://schemas.openxmlformats.org/officeDocument/2006/relationships/slide" Target="/ppt/slides/slide5.xml" Id="Rb2f949f87db9488e" /><Relationship Type="http://schemas.openxmlformats.org/officeDocument/2006/relationships/slide" Target="/ppt/slides/slide6.xml" Id="Rd979c5f0b6314732" /><Relationship Type="http://schemas.openxmlformats.org/officeDocument/2006/relationships/slide" Target="/ppt/slides/slide7.xml" Id="Rbc9fa7a59a9147c5" /><Relationship Type="http://schemas.openxmlformats.org/officeDocument/2006/relationships/slide" Target="/ppt/slides/slide8.xml" Id="R8be1bab4b6574a2e" /><Relationship Type="http://schemas.openxmlformats.org/officeDocument/2006/relationships/slide" Target="/ppt/slides/slide9.xml" Id="R3fc51b56ee41437a" /><Relationship Type="http://schemas.openxmlformats.org/officeDocument/2006/relationships/slide" Target="/ppt/slides/slide10.xml" Id="R5bc7add852f646c0" /><Relationship Type="http://schemas.openxmlformats.org/officeDocument/2006/relationships/slide" Target="/ppt/slides/slide11.xml" Id="Rbb7b1bb2c91d4123" /><Relationship Type="http://schemas.openxmlformats.org/officeDocument/2006/relationships/slide" Target="/ppt/slides/slide12.xml" Id="Rc10373f396094e39" /><Relationship Type="http://schemas.openxmlformats.org/officeDocument/2006/relationships/slide" Target="/ppt/slides/slide13.xml" Id="R7b17c20418fd453c" /><Relationship Type="http://schemas.openxmlformats.org/officeDocument/2006/relationships/slide" Target="/ppt/slides/slide14.xml" Id="R74ff54e8458b4792" /><Relationship Type="http://schemas.openxmlformats.org/officeDocument/2006/relationships/slide" Target="/ppt/slides/slide15.xml" Id="R086bfb91dd704e58" /><Relationship Type="http://schemas.openxmlformats.org/officeDocument/2006/relationships/slide" Target="/ppt/slides/slide16.xml" Id="R0d7b036bee1544b5" /><Relationship Type="http://schemas.openxmlformats.org/officeDocument/2006/relationships/slide" Target="/ppt/slides/slide17.xml" Id="R4ccd87f11f7b4236" /><Relationship Type="http://schemas.openxmlformats.org/officeDocument/2006/relationships/slide" Target="/ppt/slides/slide18.xml" Id="Raa57a56743c141c7" /><Relationship Type="http://schemas.openxmlformats.org/officeDocument/2006/relationships/slide" Target="/ppt/slides/slide19.xml" Id="R2083faeed8794973" /><Relationship Type="http://schemas.openxmlformats.org/officeDocument/2006/relationships/slide" Target="/ppt/slides/slide20.xml" Id="R3beb2022b6ec4491" /><Relationship Type="http://schemas.openxmlformats.org/officeDocument/2006/relationships/slide" Target="/ppt/slides/slide21.xml" Id="R01968fc9e006462b" /><Relationship Type="http://schemas.openxmlformats.org/officeDocument/2006/relationships/slide" Target="/ppt/slides/slide22.xml" Id="R8d92ae3b71f140f2" /><Relationship Type="http://schemas.openxmlformats.org/officeDocument/2006/relationships/slide" Target="/ppt/slides/slide23.xml" Id="R53ae170810cc4db1" /><Relationship Type="http://schemas.openxmlformats.org/officeDocument/2006/relationships/slide" Target="/ppt/slides/slide24.xml" Id="R427c65fe20bd4df3" /><Relationship Type="http://schemas.openxmlformats.org/officeDocument/2006/relationships/slide" Target="/ppt/slides/slide25.xml" Id="R8cb72dee10384cd7" /><Relationship Type="http://schemas.openxmlformats.org/officeDocument/2006/relationships/slide" Target="/ppt/slides/slide26.xml" Id="R01b50b9b6e2a4dcc" /><Relationship Type="http://schemas.openxmlformats.org/officeDocument/2006/relationships/slide" Target="/ppt/slides/slide27.xml" Id="R350c4508822046cc" /><Relationship Type="http://schemas.openxmlformats.org/officeDocument/2006/relationships/slide" Target="/ppt/slides/slide28.xml" Id="R2d394f0fb33d4788" /><Relationship Type="http://schemas.openxmlformats.org/officeDocument/2006/relationships/slide" Target="/ppt/slides/slide29.xml" Id="R5d13bf1f4a4b4a97" /><Relationship Type="http://schemas.openxmlformats.org/officeDocument/2006/relationships/slide" Target="/ppt/slides/slide30.xml" Id="Rf0061912c3754177" /><Relationship Type="http://schemas.openxmlformats.org/officeDocument/2006/relationships/slide" Target="/ppt/slides/slide31.xml" Id="R7a2a35ec853b4798" /><Relationship Type="http://schemas.openxmlformats.org/officeDocument/2006/relationships/slide" Target="/ppt/slides/slide32.xml" Id="R71fa2c5daece4723" /><Relationship Type="http://schemas.openxmlformats.org/officeDocument/2006/relationships/slide" Target="/ppt/slides/slide33.xml" Id="R0b4af7f0270844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295a0d3d4a4d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2c93b4bd7443a2" /><Relationship Type="http://schemas.openxmlformats.org/officeDocument/2006/relationships/notesMaster" Target="/ppt/notesMasters/notesMaster1.xml" Id="Rf8291b3f0e4846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301709b39e4e66" /><Relationship Type="http://schemas.openxmlformats.org/officeDocument/2006/relationships/notesMaster" Target="/ppt/notesMasters/notesMaster1.xml" Id="R2ca203abe58f40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259c2ef3bd41fd" /><Relationship Type="http://schemas.openxmlformats.org/officeDocument/2006/relationships/notesMaster" Target="/ppt/notesMasters/notesMaster1.xml" Id="Rd31ef33504a244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60b984649f416c" /><Relationship Type="http://schemas.openxmlformats.org/officeDocument/2006/relationships/notesMaster" Target="/ppt/notesMasters/notesMaster1.xml" Id="R9f1f04c9a63242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7386d16890472a" /><Relationship Type="http://schemas.openxmlformats.org/officeDocument/2006/relationships/notesMaster" Target="/ppt/notesMasters/notesMaster1.xml" Id="Re43a24f856ad4f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2f3b71601443d8" /><Relationship Type="http://schemas.openxmlformats.org/officeDocument/2006/relationships/notesMaster" Target="/ppt/notesMasters/notesMaster1.xml" Id="Raf4f23ce342d4e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f95f3660fd4312" /><Relationship Type="http://schemas.openxmlformats.org/officeDocument/2006/relationships/notesMaster" Target="/ppt/notesMasters/notesMaster1.xml" Id="R7ff725bc80224f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a291813fc8492b" /><Relationship Type="http://schemas.openxmlformats.org/officeDocument/2006/relationships/notesMaster" Target="/ppt/notesMasters/notesMaster1.xml" Id="Rf076ad2ad5b745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05009179e44b5d" /><Relationship Type="http://schemas.openxmlformats.org/officeDocument/2006/relationships/notesMaster" Target="/ppt/notesMasters/notesMaster1.xml" Id="R3d1dd9ad43e842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14bb1b649f4bc8" /><Relationship Type="http://schemas.openxmlformats.org/officeDocument/2006/relationships/notesMaster" Target="/ppt/notesMasters/notesMaster1.xml" Id="R2c57ae12a61f4c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0a0a997d914da9" /><Relationship Type="http://schemas.openxmlformats.org/officeDocument/2006/relationships/notesMaster" Target="/ppt/notesMasters/notesMaster1.xml" Id="R99c9b80bcbb043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547f1fee6c46be" /><Relationship Type="http://schemas.openxmlformats.org/officeDocument/2006/relationships/notesMaster" Target="/ppt/notesMasters/notesMaster1.xml" Id="R240a3c937b2d4c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f0a20d5dda44fe" /><Relationship Type="http://schemas.openxmlformats.org/officeDocument/2006/relationships/notesMaster" Target="/ppt/notesMasters/notesMaster1.xml" Id="Rfd8fbbf2ebf646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d9c6d93a2148bc" /><Relationship Type="http://schemas.openxmlformats.org/officeDocument/2006/relationships/notesMaster" Target="/ppt/notesMasters/notesMaster1.xml" Id="R24507ca6130b4b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e217bd1af74a51" /><Relationship Type="http://schemas.openxmlformats.org/officeDocument/2006/relationships/notesMaster" Target="/ppt/notesMasters/notesMaster1.xml" Id="R3249b35558d643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7ed2fa68d6d4080" /><Relationship Type="http://schemas.openxmlformats.org/officeDocument/2006/relationships/notesMaster" Target="/ppt/notesMasters/notesMaster1.xml" Id="R0659259ff1424a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b036619e0b44ecc" /><Relationship Type="http://schemas.openxmlformats.org/officeDocument/2006/relationships/notesMaster" Target="/ppt/notesMasters/notesMaster1.xml" Id="R7a985bd8311946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5879d67f564437" /><Relationship Type="http://schemas.openxmlformats.org/officeDocument/2006/relationships/notesMaster" Target="/ppt/notesMasters/notesMaster1.xml" Id="Re014d4c800cd4be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ea701119274745" /><Relationship Type="http://schemas.openxmlformats.org/officeDocument/2006/relationships/notesMaster" Target="/ppt/notesMasters/notesMaster1.xml" Id="R681edc9ee0ac4b2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10afc6eef740ec" /><Relationship Type="http://schemas.openxmlformats.org/officeDocument/2006/relationships/notesMaster" Target="/ppt/notesMasters/notesMaster1.xml" Id="R3177f03931dd48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8cfa8a535c84915" /><Relationship Type="http://schemas.openxmlformats.org/officeDocument/2006/relationships/notesMaster" Target="/ppt/notesMasters/notesMaster1.xml" Id="R176b0ed5cca14dd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1a096ef291e40bc" /><Relationship Type="http://schemas.openxmlformats.org/officeDocument/2006/relationships/notesMaster" Target="/ppt/notesMasters/notesMaster1.xml" Id="Rf866d86a998e4b0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49b22eed6224a7b" /><Relationship Type="http://schemas.openxmlformats.org/officeDocument/2006/relationships/notesMaster" Target="/ppt/notesMasters/notesMaster1.xml" Id="R000330dc23d6431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2baee2490c14f72" /><Relationship Type="http://schemas.openxmlformats.org/officeDocument/2006/relationships/notesMaster" Target="/ppt/notesMasters/notesMaster1.xml" Id="R0984c4130b484f8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756e1ffae2a4d3c" /><Relationship Type="http://schemas.openxmlformats.org/officeDocument/2006/relationships/notesMaster" Target="/ppt/notesMasters/notesMaster1.xml" Id="R363467c550a74c4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a4456fedb834501" /><Relationship Type="http://schemas.openxmlformats.org/officeDocument/2006/relationships/notesMaster" Target="/ppt/notesMasters/notesMaster1.xml" Id="Rbf3443edcd1b49b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39b79783de942ee" /><Relationship Type="http://schemas.openxmlformats.org/officeDocument/2006/relationships/notesMaster" Target="/ppt/notesMasters/notesMaster1.xml" Id="R095259d194374df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2fa7a00ab034268" /><Relationship Type="http://schemas.openxmlformats.org/officeDocument/2006/relationships/notesMaster" Target="/ppt/notesMasters/notesMaster1.xml" Id="Rdddf8d9bca0a469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9ab58ad3cf54059" /><Relationship Type="http://schemas.openxmlformats.org/officeDocument/2006/relationships/notesMaster" Target="/ppt/notesMasters/notesMaster1.xml" Id="Red9e60087f2d4b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e5d2d151c6c4b27" /><Relationship Type="http://schemas.openxmlformats.org/officeDocument/2006/relationships/notesMaster" Target="/ppt/notesMasters/notesMaster1.xml" Id="R61eb1f4d4d914cd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03d89d966e148d6" /><Relationship Type="http://schemas.openxmlformats.org/officeDocument/2006/relationships/notesMaster" Target="/ppt/notesMasters/notesMaster1.xml" Id="R872dffe79cdc4e0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8017b4c3e0b4ed2" /><Relationship Type="http://schemas.openxmlformats.org/officeDocument/2006/relationships/notesMaster" Target="/ppt/notesMasters/notesMaster1.xml" Id="R5556310e4b544dd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bacd884f4274989" /><Relationship Type="http://schemas.openxmlformats.org/officeDocument/2006/relationships/notesMaster" Target="/ppt/notesMasters/notesMaster1.xml" Id="R7f53c9ae62ad45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Assignment 3. We will use graph algorithms to connect festival venues, understand preparation dependencies and plan delivery routes. This lesson explains the reasoning and the implementation steps. Keep the assignment contracts open as you work. The examples here are learning examples. You will complete the six methods in your own selected language and test your own implementation.</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six required methods. Kruskal and Prim solve the same optimization problem but must be separate implementations. Kosaraju is the required strongly connected components method. Topological ordering must use depth first search. Shortest paths use topological relaxation in a directed acyclic graph, and your helper reconstructs a route from parent edge IDs. Do not add unrelated algorithms to the assignment.</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vertex number identifies a venue or task. An edge ID identifies the original input record. Do not replace an edge ID by its position after sorting. Two parallel edges can join the same endpoints and still have different IDs. For undirected algorithms both endpoints can be traversed. For directed algorithms the direction is essential. An isolated vertex still belongs to the graph.</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supplied launcher and input output framework. Select a language using the exact manifest value. Java is the syllabus primary language, and the existing assignment choice of four languages remains available. Avoid debug messages on standard output because they corrupt the JSON lines protocol. Multiple requests can run in one process, so initialize algorithm state separately for every request.</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disjoint set union structure maintains a partition into components. Initially each vertex is a singleton. Find gives a representative of the component. Union must first find both representatives. If they are equal, no component is merged. The output still needs a state after that operation. With zero vertices and no operations, the output states list is empty.</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Path compression changes the parent structure without changing component membership. In the example, vertex three is the root. Once the root has been found, every vertex on the path can point directly to it. The important implementation detail is saving the previous parent before overwriting it. Otherwise you can lose the next vertex and compress only the first link.</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path compression together with a union heuristic. This fragment uses union by size. If you choose rank instead, rank is a tree height estimate, not a component size; keep size separately for the statistics. Repeated and self unions must not reduce the component count. Initialization costs linear time, while a sequence of operations has the inverse Ackermann amortized bound.</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minimum spanning tree exists only when the graph is connected. Assignment 3 requires a minimum spanning forest, covering every connected component. Here vertex four is isolated, so the graph has two components. The forest has five minus two, or three edges. Its cost is seven. A self loop cannot help connect different vertices. Negative edge weights are allowed.</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Kruskal processes edges in nondecreasing weight order. In this example it accepts edge one, then edge three, then edge zero. These connect vertices one, two, three and zero at cost one plus two plus four, which is seven. The later edges join vertices already connected and are rejected. Vertex four remains an isolated component. The comparison is not equal, as clarified for lecture six slide nine.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cut property explains why the greedy choice is safe. Consider a cut that does not split any already chosen tree. An edge of minimum weight crossing that cut can be added while preserving the possibility of an optimal forest. The exchange argument replaces a crossing edge in an optimal solution without increasing cost. This does not mean the minimum edge or the entire optimum must be unique.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 uses a frontier rather than sorting the entire input list. Starting from zero, it first reaches one with weight four, then two with weight one, then three with weight two. The total is again seven, although the order differs from Kruskal. Once this heap is exhausted, the outer loop still visits isolated vertex four and counts its component.</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lazy heap implementation does not remove every obsolete candidate immediately. When a candidate reaches the top, check whether its target has already been visited. If so, skip it before adding cost or recording an edge. Parallel edges are distinct candidates, each carrying its own original ID. The initial root is not an input edge and must not be recorded as one.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correct validator must accept another feasible optimum. Checking only the expected edge list can reject a correct solution when weights tie. On the other hand, the correct minimum cost alone is not enough: a response might repeat an ID, include a cycle or omit a component. Validate the actual forest witness. Then compare Kruskal and Prim timing on exactly the same graph instances.</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Strong connectivity is a directed concept. In this teaching example, zero and one form one component, two and three form another, and four is isolated. Components can be named differently while describing the same partition. The condensation graph contains one edge between the first two components. Duplicate original edges must not create duplicate condensation edges, and edges inside a component disappear.</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Kosaraju needs two complete depth first search passes and a transposed graph. Finishing order means the order in which vertices are completed, not discovered. Reverse this list before choosing the roots of the second pass. The second pass must traverse the transpose. For a simple chain zero to one to two and the stated traversal order, finishing gives two, one, zero, so the reversed root order begins at zero.</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DFS passes must include vertices in disconnected components. A new request must not reuse labels or visited values from a previous graph. Once labels are assigned, scan the original edges and retain only pairs whose labels differ. Use a set or an equivalent deduplication method. The full algorithm takes linear time in vertices and edges; the transpose and traversal arrays also fit in linear total memory.</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topological order places every prerequisite before its dependent task. DFS needs three states. A gray target is on the active ancestor path, so this edge closes a directed cycle. A black target has already finished and does not by itself prove a cycle. Search every component. If no cycle exists, reverse the finishing order and include every vertex exactly once.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iterative depth first search must preserve where each suspended search will continue. A frame contains the current vertex and the next outgoing edge index. Advance that index before pushing a child. When no neighbours remain, color the vertex black, append it to the finishing list and pop the frame. Restart at every white root. This avoids recursion stack failure on deep chains without rescanning adjacency lists.</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directed edges shown here, with source zero. After processing zero, distances to one and two are three and eight. Processing one improves distance to two to minus two. Processing two sets the distance to three to two. Vertex four stays unreachable. A negative distance such as minus two is valid; that is why minus one cannot represent unreachable distance in this assignment.</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Topological order is the reason one relaxation pass is enough, even with negative weights. When a vertex is processed, every possible predecessor has already been processed, so no later edge can improve its distance. Do not relax from an unreachable vertex. A disconnected cycle still makes the whole input invalid as a DAG. Return the specified empty arrays when a cycle is detected.</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preceding DAG, parent edges for vertices one, two and three are zero, two and three. Starting at target three, follow edge three to vertex two, edge two to one, and edge zero to source zero. Reverse the collected vertices to obtain the route zero, one, two, three. The route to the source is the one-element list containing the source. An unreachable target has no route.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valid optimum does not always have a unique witness. A shortest path validator must accept another tied route when its parent edges are real and the distances are correct. With parallel edges, recording just the predecessor vertex loses the identity required by the contract. In Java, assign a long expression, not an already overflowed int expression. Cast an operand before multiplication or addition when necessary.</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bound for the representation you actually implement. DSU initialization is linear and the operations have an inverse Ackermann amortized term; storing every returned state adds space proportional to the operation count. Sorting and lazy heaps determine the minimum forest bounds. Kosaraju, DFS topological ordering and DAG relaxation are linear with adjacency lists. Reconstruction is linear in the returned route length.</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plausible number can accompany an invalid witness. For a forest, repeated IDs are invalid even if the listed cost equals the optimum. SCC labels may be renamed, but merging distinct components is wrong. A topological list with a duplicated vertex is not valid. For DAG paths, check edge endpoints, distance equality and that reachable parent chains terminate at the source. Include a good alternative optimum and a bad witness in your own tests.</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tests should explain why the expected result is right. Include empty or disconnected graphs where allowed, repeated operations, isolates, loops, parallel edges, negative weights and unreachable vertices. Then issue a different request in the same process. A large DSU request followed by a small DAG request must not leak arrays or counters. Large input checks complement small independent examples; they do not replace them.</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of three sizes, use exactly the same input graph for both algorithms. Record vertices, edges, random seed or generator, runtime and hardware. Exclude compilation from timing and say whether graph construction, parsing and output are included. Use at least three measurements for each method. These illustrative samples have medians ten and seven at the first size. They illustrate observations, not proof of an asymptotic bound.</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the analysis in English. For every required method, explain what is maintained, why the steps are correct, and how the chosen representation determines time and memory. Include your actual route helper calls and benchmark evidence, not a list of intended tests. Follow the syllabus on assistance disclosure: identify tools or sources, their contribution and your own verification. You remain responsible for the submitted work.</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from the official template and select one language. The input output framework is already present. Implement the methods, add tests, and push a commit. Inspect the Public checks workflow for that commit. Successful compilation with algorithm failures is normal while TODO methods remain. Once implementation is complete, the run used for submission must be successful. Do not replace the required algorithms with a library implementation.</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submitted commit identifies the version to assess. A link to a changing main branch is not an exact version. The successful Actions run must use that same commit SHA. Paste both links into Moodle Online text, then finish the Submit assignment step. If your repository is private, the instructor needs access. Follow the actual dates and approved extensions in Moodle. No ZIP upload or student ID is required.</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assessment is entirely automatic. Practical work contributes fifty points from the original test group weights. The quiz contributes another fifty. There are no manual points, oral defence, oral bonuses or oral score recovery. Required learning materials still belong in the work. Confirmed defects in a test or question are corrected consistently for everyone affected, using original evidence rather than an individual oral task.</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submitting, trace one small example by hand for every algorithm. Test an invalid witness and an alternative correct result. Check a deep graph and a sequence of different requests. Confirm your helper was actually called. Read the contracts again for field names and sentinels. Finally check the analysis, your measurements, the exact commit and the successful workflow run. This is a reliable route from understanding the method to submitting your own implementation.</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specification is the authority for the JSON contracts and the required methods. Read the separate clarification of the Kruskal condition in lecture six and the unreachable sentinel used in lecture seven: Assignment 3 uses null. The textbooks support the invariants, proofs and complexity analysis. Use them for understanding and acknowledge assistance appropriately. The next slide contains the narrated walkthrough for revision.</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video for revision. Pause at a trace or code fragment, predict the next state, and then continue. The separate video and transcript contain the same teaching explanation. Video playback depends on the presentation application; the editable slides remain available independently.</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1587dc4c5342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4b9f89e37947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10a18986c94c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5763edf24a47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242feab1464e7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9c19ac25434c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A844DF-E1EF-4F22-B0C0-2E1B7364FAA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505634E-3ACE-42D1-968C-6FAD3AFFB71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49A8A79-EE65-469A-827E-1C67C262659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FBA1B8-4A51-49CD-A5FA-0FF0A17F39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FE45BF-F7F5-4773-A6CC-B945091D835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DB4BA4-FB06-404A-898D-68F545D785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D28E38-40C8-4DB6-A5AD-3E0A76C350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9828D3-7FA6-4414-B353-90DADB1EFA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F362FB-118C-4FDE-8E9F-D75E53FA9D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F9F6AF-A798-4575-9AFA-17F3ED5477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8ee400ed0342d4" /><Relationship Type="http://schemas.openxmlformats.org/officeDocument/2006/relationships/slideLayout" Target="/ppt/slideLayouts/slideLayout1.xml" Id="R4ebf301af5dd4ff0" /><Relationship Type="http://schemas.openxmlformats.org/officeDocument/2006/relationships/slideLayout" Target="/ppt/slideLayouts/slideLayout2.xml" Id="Ra716ca5cfdc840d9" /><Relationship Type="http://schemas.openxmlformats.org/officeDocument/2006/relationships/slideLayout" Target="/ppt/slideLayouts/slideLayout3.xml" Id="R3461bee15d274233" /><Relationship Type="http://schemas.openxmlformats.org/officeDocument/2006/relationships/slideLayout" Target="/ppt/slideLayouts/slideLayout4.xml" Id="Rdb2e39ce295a4951" /><Relationship Type="http://schemas.openxmlformats.org/officeDocument/2006/relationships/slideLayout" Target="/ppt/slideLayouts/slideLayout5.xml" Id="R04991c1d2fe54c50" /><Relationship Type="http://schemas.openxmlformats.org/officeDocument/2006/relationships/slideLayout" Target="/ppt/slideLayouts/slideLayout6.xml" Id="R33f34eae413447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bf301af5dd4ff0"/>
    <p:sldLayoutId xmlns:r="http://schemas.openxmlformats.org/officeDocument/2006/relationships" id="2147483650" r:id="Ra716ca5cfdc840d9"/>
    <p:sldLayoutId xmlns:r="http://schemas.openxmlformats.org/officeDocument/2006/relationships" id="2147483651" r:id="R3461bee15d274233"/>
    <p:sldLayoutId xmlns:r="http://schemas.openxmlformats.org/officeDocument/2006/relationships" id="2147483652" r:id="Rdb2e39ce295a4951"/>
    <p:sldLayoutId xmlns:r="http://schemas.openxmlformats.org/officeDocument/2006/relationships" id="2147483653" r:id="R04991c1d2fe54c50"/>
    <p:sldLayoutId xmlns:r="http://schemas.openxmlformats.org/officeDocument/2006/relationships" id="2147483654" r:id="R33f34eae413447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70971cf56946b7" /><Relationship Type="http://schemas.openxmlformats.org/officeDocument/2006/relationships/image" Target="/ppt/media/image.png" Id="Re78b1bc4d1554dbd" /><Relationship Type="http://schemas.openxmlformats.org/officeDocument/2006/relationships/notesSlide" Target="/ppt/notesSlides/notesSlide1.xml" Id="R6efabcaf564643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7e323e3cc64a43" /><Relationship Type="http://schemas.openxmlformats.org/officeDocument/2006/relationships/notesSlide" Target="/ppt/notesSlides/notesSlide2.xml" Id="R174d4f463e6045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34cbfffd28441ad" /><Relationship Type="http://schemas.openxmlformats.org/officeDocument/2006/relationships/notesSlide" Target="/ppt/notesSlides/notesSlide3.xml" Id="Rc0d5b40143fc4a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b36e88a3260421b" /><Relationship Type="http://schemas.openxmlformats.org/officeDocument/2006/relationships/notesSlide" Target="/ppt/notesSlides/notesSlide4.xml" Id="R46cb2ce6e98b46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0bab641c3cb4114" /><Relationship Type="http://schemas.openxmlformats.org/officeDocument/2006/relationships/notesSlide" Target="/ppt/notesSlides/notesSlide5.xml" Id="R81d8d57d7b0a4f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dd98f523f846e6" /><Relationship Type="http://schemas.openxmlformats.org/officeDocument/2006/relationships/notesSlide" Target="/ppt/notesSlides/notesSlide6.xml" Id="R859f3445a35941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d9205c3fd73443b" /><Relationship Type="http://schemas.openxmlformats.org/officeDocument/2006/relationships/notesSlide" Target="/ppt/notesSlides/notesSlide7.xml" Id="R30819927027040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2400a3365e4dc2" /><Relationship Type="http://schemas.openxmlformats.org/officeDocument/2006/relationships/image" Target="/ppt/media/image2.png" Id="Rc22cbeb4c2524445" /><Relationship Type="http://schemas.openxmlformats.org/officeDocument/2006/relationships/notesSlide" Target="/ppt/notesSlides/notesSlide8.xml" Id="R59d5be9306fc40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d598892bf1049dc" /><Relationship Type="http://schemas.openxmlformats.org/officeDocument/2006/relationships/notesSlide" Target="/ppt/notesSlides/notesSlide9.xml" Id="R0030ca0bb34c49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1595600c3d4736" /><Relationship Type="http://schemas.openxmlformats.org/officeDocument/2006/relationships/notesSlide" Target="/ppt/notesSlides/notesSlide10.xml" Id="Rec723e2fd76148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e7a319e58754612" /><Relationship Type="http://schemas.openxmlformats.org/officeDocument/2006/relationships/notesSlide" Target="/ppt/notesSlides/notesSlide11.xml" Id="Rdd57379daf6340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627dfe94a2b4cad" /><Relationship Type="http://schemas.openxmlformats.org/officeDocument/2006/relationships/notesSlide" Target="/ppt/notesSlides/notesSlide12.xml" Id="R06489ee610164d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e02663d70514a34" /><Relationship Type="http://schemas.openxmlformats.org/officeDocument/2006/relationships/notesSlide" Target="/ppt/notesSlides/notesSlide13.xml" Id="R90b308978dc44f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830d7d9e6244fc" /><Relationship Type="http://schemas.openxmlformats.org/officeDocument/2006/relationships/notesSlide" Target="/ppt/notesSlides/notesSlide14.xml" Id="Rfa9417a1a6f145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66bdfaa2e694eec" /><Relationship Type="http://schemas.openxmlformats.org/officeDocument/2006/relationships/notesSlide" Target="/ppt/notesSlides/notesSlide15.xml" Id="Rd7cf6ab1f7a94c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dea6b35f1784f6b" /><Relationship Type="http://schemas.openxmlformats.org/officeDocument/2006/relationships/notesSlide" Target="/ppt/notesSlides/notesSlide16.xml" Id="R975428649aa7420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404ba549e1d422d" /><Relationship Type="http://schemas.openxmlformats.org/officeDocument/2006/relationships/notesSlide" Target="/ppt/notesSlides/notesSlide17.xml" Id="R5ac4fc6d1a8343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c1dd0d8e60f4168" /><Relationship Type="http://schemas.openxmlformats.org/officeDocument/2006/relationships/notesSlide" Target="/ppt/notesSlides/notesSlide18.xml" Id="R59edf6b124de43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ce1434c30a14666" /><Relationship Type="http://schemas.openxmlformats.org/officeDocument/2006/relationships/notesSlide" Target="/ppt/notesSlides/notesSlide19.xml" Id="R813c7297331b448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5f45cbe4410424a" /><Relationship Type="http://schemas.openxmlformats.org/officeDocument/2006/relationships/notesSlide" Target="/ppt/notesSlides/notesSlide20.xml" Id="R6d6eee2695f743f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1b5f8adc4ea446c" /><Relationship Type="http://schemas.openxmlformats.org/officeDocument/2006/relationships/notesSlide" Target="/ppt/notesSlides/notesSlide21.xml" Id="Rb80115b7a74c452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cce6cd650ce4131" /><Relationship Type="http://schemas.openxmlformats.org/officeDocument/2006/relationships/notesSlide" Target="/ppt/notesSlides/notesSlide22.xml" Id="Rf1fbfc5535a5482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0cbb0bcb1204953" /><Relationship Type="http://schemas.openxmlformats.org/officeDocument/2006/relationships/notesSlide" Target="/ppt/notesSlides/notesSlide23.xml" Id="Ra2b098d96edc40d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2062b3ff8fa44b0" /><Relationship Type="http://schemas.openxmlformats.org/officeDocument/2006/relationships/notesSlide" Target="/ppt/notesSlides/notesSlide24.xml" Id="Rb62c145fa917446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eb67e59784c4066" /><Relationship Type="http://schemas.openxmlformats.org/officeDocument/2006/relationships/notesSlide" Target="/ppt/notesSlides/notesSlide25.xml" Id="R370d098e6cfc4c9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dfae2c748784816" /><Relationship Type="http://schemas.openxmlformats.org/officeDocument/2006/relationships/notesSlide" Target="/ppt/notesSlides/notesSlide26.xml" Id="R8223a90ffffa4b6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1cb3dd1fde84863" /><Relationship Type="http://schemas.openxmlformats.org/officeDocument/2006/relationships/notesSlide" Target="/ppt/notesSlides/notesSlide27.xml" Id="R6ae85338d1ad4b8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d938daa127e4cba" /><Relationship Type="http://schemas.openxmlformats.org/officeDocument/2006/relationships/notesSlide" Target="/ppt/notesSlides/notesSlide28.xml" Id="Rbe1136b8c6294e9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6176d5f03cf463f" /><Relationship Type="http://schemas.openxmlformats.org/officeDocument/2006/relationships/notesSlide" Target="/ppt/notesSlides/notesSlide29.xml" Id="R1f91c1b23d274ae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cfcee681a214778" /><Relationship Type="http://schemas.openxmlformats.org/officeDocument/2006/relationships/notesSlide" Target="/ppt/notesSlides/notesSlide30.xml" Id="R90a995b96fe7436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b839697cd454153" /><Relationship Type="http://schemas.openxmlformats.org/officeDocument/2006/relationships/notesSlide" Target="/ppt/notesSlides/notesSlide31.xml" Id="R15a5b2ea0ba2460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a647e6cdb514d99" /><Relationship Type="http://schemas.openxmlformats.org/officeDocument/2006/relationships/notesSlide" Target="/ppt/notesSlides/notesSlide32.xml" Id="Rf7859659f5814e24" /></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9d599494380b4ed1"/><Relationship Type="http://schemas.openxmlformats.org/officeDocument/2006/relationships/image" Target="/ppt/media/image3.png" Id="R6149e705010b4fe3"/><Relationship Type="http://schemas.openxmlformats.org/officeDocument/2006/relationships/notesSlide" Target="/ppt/notesSlides/notesSlide33.xml" Id="R1468f25d08ac4884"/><Relationship Id="rIdA3Video" Type="http://schemas.openxmlformats.org/officeDocument/2006/relationships/video" Target="../media/A3_walkthrough.mp4"/><Relationship Id="rIdA3Media" Type="http://schemas.microsoft.com/office/2007/relationships/media" Target="../media/A3_walkthrough.mp4"/></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260EACB-E526-45A4-80C2-E1EFAB7D21EC}"/>
              </a:ext>
            </a:extLst>
          </p:cNvPr>
          <p:cNvPicPr>
            <a:picLocks xmlns:a="http://schemas.openxmlformats.org/drawingml/2006/main" noChangeAspect="1"/>
          </p:cNvPicPr>
          <p:nvPr/>
        </p:nvPicPr>
        <p:blipFill>
          <a:blip xmlns:r="http://schemas.openxmlformats.org/officeDocument/2006/relationships" xmlns:a="http://schemas.openxmlformats.org/drawingml/2006/main" r:embed="Re78b1bc4d1554db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42CADA-D28F-4FBB-8F27-EB458CDA4B52}"/>
              </a:ext>
            </a:extLst>
          </p:cNvPr>
          <p:cNvSpPr>
            <a:spLocks xmlns:a="http://schemas.openxmlformats.org/drawingml/2006/main" noGrp="1"/>
          </p:cNvSpPr>
          <p:nvPr/>
        </p:nvSpPr>
        <p:spPr>
          <a:xfrm xmlns:a="http://schemas.openxmlformats.org/drawingml/2006/main">
            <a:off x="609600" y="16192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1">
                <a:solidFill>
                  <a:srgbClr val="A84E70"/>
                </a:solidFill>
                <a:latin typeface="Arial"/>
                <a:ea typeface="Arial"/>
                <a:cs typeface="Arial"/>
              </a:defRPr>
            </a:defPPr>
          </a:lstStyle>
          <a:p xmlns:a="http://schemas.openxmlformats.org/drawingml/2006/main">
            <a:pPr>
              <a:defRPr sz="1800" b="1">
                <a:solidFill>
                  <a:srgbClr val="A84E70"/>
                </a:solidFill>
                <a:latin typeface="Arial"/>
                <a:ea typeface="Arial"/>
                <a:cs typeface="Arial"/>
              </a:defRPr>
            </a:pPr>
            <a:r>
              <a:rPr sz="1800" b="1">
                <a:solidFill>
                  <a:srgbClr val="A84E70"/>
                </a:solidFill>
                <a:latin typeface="Arial"/>
                <a:ea typeface="Arial"/>
                <a:cs typeface="Arial"/>
              </a:rPr>
              <a:t>ASSIGNMENT 3</a:t>
            </a:r>
          </a:p>
        </p:txBody>
      </p:sp>
      <p:sp>
        <p:nvSpPr>
          <p:cNvPr id="3" name="">
            <a:extLst xmlns:a="http://schemas.openxmlformats.org/drawingml/2006/main">
              <a:ext uri="{FF2B5EF4-FFF2-40B4-BE49-F238E27FC236}">
                <a16:creationId xmlns:a16="http://schemas.microsoft.com/office/drawing/2014/main" id="{EF97D1DD-FF55-44D9-AF57-DDE99AC2EB5B}"/>
              </a:ext>
            </a:extLst>
          </p:cNvPr>
          <p:cNvSpPr>
            <a:spLocks xmlns:a="http://schemas.openxmlformats.org/drawingml/2006/main" noGrp="1"/>
          </p:cNvSpPr>
          <p:nvPr/>
        </p:nvSpPr>
        <p:spPr>
          <a:xfrm xmlns:a="http://schemas.openxmlformats.org/drawingml/2006/main">
            <a:off x="609600" y="2190750"/>
            <a:ext cx="600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350" b="1">
                <a:solidFill>
                  <a:srgbClr val="15273F"/>
                </a:solidFill>
                <a:latin typeface="Arial"/>
                <a:ea typeface="Arial"/>
                <a:cs typeface="Arial"/>
              </a:defRPr>
            </a:defPPr>
          </a:lstStyle>
          <a:p xmlns:a="http://schemas.openxmlformats.org/drawingml/2006/main">
            <a:pPr>
              <a:defRPr sz="4350" b="1">
                <a:solidFill>
                  <a:srgbClr val="15273F"/>
                </a:solidFill>
                <a:latin typeface="Arial"/>
                <a:ea typeface="Arial"/>
                <a:cs typeface="Arial"/>
              </a:defRPr>
            </a:pPr>
            <a:r>
              <a:rPr sz="4350" b="1">
                <a:solidFill>
                  <a:srgbClr val="15273F"/>
                </a:solidFill>
                <a:latin typeface="Arial"/>
                <a:ea typeface="Arial"/>
                <a:cs typeface="Arial"/>
              </a:rPr>
              <a:t>Graph algorithms</a:t>
            </a:r>
          </a:p>
          <a:p xmlns:a="http://schemas.openxmlformats.org/drawingml/2006/main">
            <a:pPr>
              <a:defRPr sz="4350" b="1">
                <a:solidFill>
                  <a:srgbClr val="15273F"/>
                </a:solidFill>
                <a:latin typeface="Arial"/>
                <a:ea typeface="Arial"/>
                <a:cs typeface="Arial"/>
              </a:defRPr>
            </a:pPr>
            <a:r>
              <a:rPr sz="4350" b="1">
                <a:solidFill>
                  <a:srgbClr val="15273F"/>
                </a:solidFill>
                <a:latin typeface="Arial"/>
                <a:ea typeface="Arial"/>
                <a:cs typeface="Arial"/>
              </a:rPr>
              <a:t>for a campus</a:t>
            </a:r>
          </a:p>
          <a:p xmlns:a="http://schemas.openxmlformats.org/drawingml/2006/main">
            <a:pPr>
              <a:defRPr sz="4350" b="1">
                <a:solidFill>
                  <a:srgbClr val="15273F"/>
                </a:solidFill>
                <a:latin typeface="Arial"/>
                <a:ea typeface="Arial"/>
                <a:cs typeface="Arial"/>
              </a:defRPr>
            </a:pPr>
            <a:r>
              <a:rPr sz="4350" b="1">
                <a:solidFill>
                  <a:srgbClr val="15273F"/>
                </a:solidFill>
                <a:latin typeface="Arial"/>
                <a:ea typeface="Arial"/>
                <a:cs typeface="Arial"/>
              </a:rPr>
              <a:t>festival</a:t>
            </a:r>
          </a:p>
        </p:txBody>
      </p:sp>
      <p:sp>
        <p:nvSpPr>
          <p:cNvPr id="4" name="">
            <a:extLst xmlns:a="http://schemas.openxmlformats.org/drawingml/2006/main">
              <a:ext uri="{FF2B5EF4-FFF2-40B4-BE49-F238E27FC236}">
                <a16:creationId xmlns:a16="http://schemas.microsoft.com/office/drawing/2014/main" id="{15EC5E0E-EFF0-4613-A4C8-9D557697B403}"/>
              </a:ext>
            </a:extLst>
          </p:cNvPr>
          <p:cNvSpPr>
            <a:spLocks xmlns:a="http://schemas.openxmlformats.org/drawingml/2006/main" noGrp="1"/>
          </p:cNvSpPr>
          <p:nvPr/>
        </p:nvSpPr>
        <p:spPr>
          <a:xfrm xmlns:a="http://schemas.openxmlformats.org/drawingml/2006/main">
            <a:off x="609600" y="4714875"/>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73F"/>
                </a:solidFill>
                <a:latin typeface="Arial"/>
                <a:ea typeface="Arial"/>
                <a:cs typeface="Arial"/>
              </a:defRPr>
            </a:defPPr>
          </a:lstStyle>
          <a:p xmlns:a="http://schemas.openxmlformats.org/drawingml/2006/main">
            <a:pPr>
              <a:defRPr sz="2250" b="0">
                <a:solidFill>
                  <a:srgbClr val="15273F"/>
                </a:solidFill>
                <a:latin typeface="Arial"/>
                <a:ea typeface="Arial"/>
                <a:cs typeface="Arial"/>
              </a:defRPr>
            </a:pPr>
            <a:r>
              <a:rPr sz="2250" b="0">
                <a:solidFill>
                  <a:srgbClr val="15273F"/>
                </a:solidFill>
                <a:latin typeface="Arial"/>
                <a:ea typeface="Arial"/>
                <a:cs typeface="Arial"/>
              </a:rPr>
              <a:t>A worked guide to implementation</a:t>
            </a:r>
          </a:p>
          <a:p xmlns:a="http://schemas.openxmlformats.org/drawingml/2006/main">
            <a:pPr>
              <a:defRPr sz="2250" b="0">
                <a:solidFill>
                  <a:srgbClr val="15273F"/>
                </a:solidFill>
                <a:latin typeface="Arial"/>
                <a:ea typeface="Arial"/>
                <a:cs typeface="Arial"/>
              </a:defRPr>
            </a:pPr>
            <a:r>
              <a:rPr sz="2250" b="0">
                <a:solidFill>
                  <a:srgbClr val="15273F"/>
                </a:solidFill>
                <a:latin typeface="Arial"/>
                <a:ea typeface="Arial"/>
                <a:cs typeface="Arial"/>
              </a:rPr>
              <a:t>and testing</a:t>
            </a:r>
          </a:p>
        </p:txBody>
      </p:sp>
      <p:sp>
        <p:nvSpPr>
          <p:cNvPr id="5" name="">
            <a:extLst xmlns:a="http://schemas.openxmlformats.org/drawingml/2006/main">
              <a:ext uri="{FF2B5EF4-FFF2-40B4-BE49-F238E27FC236}">
                <a16:creationId xmlns:a16="http://schemas.microsoft.com/office/drawing/2014/main" id="{5C5DF8B4-6BF9-48DE-9CE1-A1648B5D1CE0}"/>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6" name="">
            <a:extLst xmlns:a="http://schemas.openxmlformats.org/drawingml/2006/main">
              <a:ext uri="{FF2B5EF4-FFF2-40B4-BE49-F238E27FC236}">
                <a16:creationId xmlns:a16="http://schemas.microsoft.com/office/drawing/2014/main" id="{989749D3-7364-4D20-B257-0EB84A6E020C}"/>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01</a:t>
            </a:r>
          </a:p>
        </p:txBody>
      </p:sp>
    </p:spTree>
    <p:extLst>
      <p:ext uri="{BB962C8B-B14F-4D97-AF65-F5344CB8AC3E}">
        <p14:creationId xmlns:p14="http://schemas.microsoft.com/office/powerpoint/2010/main" val="3845567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28BC1C2-BB67-4618-A58A-CCDFD6459379}"/>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57538F7D-54B4-4BA2-9B8C-A6D22ED67190}"/>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What you will build</a:t>
            </a:r>
          </a:p>
        </p:txBody>
      </p:sp>
      <p:sp>
        <p:nvSpPr>
          <p:cNvPr id="3" name="">
            <a:extLst xmlns:a="http://schemas.openxmlformats.org/drawingml/2006/main">
              <a:ext uri="{FF2B5EF4-FFF2-40B4-BE49-F238E27FC236}">
                <a16:creationId xmlns:a16="http://schemas.microsoft.com/office/drawing/2014/main" id="{9B56C971-3E96-4F40-91EF-19C17DC8CC42}"/>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DSU: maintain connected groups</a:t>
            </a:r>
          </a:p>
        </p:txBody>
      </p:sp>
      <p:sp>
        <p:nvSpPr>
          <p:cNvPr id="4" name="">
            <a:extLst xmlns:a="http://schemas.openxmlformats.org/drawingml/2006/main">
              <a:ext uri="{FF2B5EF4-FFF2-40B4-BE49-F238E27FC236}">
                <a16:creationId xmlns:a16="http://schemas.microsoft.com/office/drawing/2014/main" id="{CAD13D29-5A43-45FF-BC04-1A09C03E0FA2}"/>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Kruskal and Prim: minimum spanning forests</a:t>
            </a:r>
          </a:p>
        </p:txBody>
      </p:sp>
      <p:sp>
        <p:nvSpPr>
          <p:cNvPr id="5" name="">
            <a:extLst xmlns:a="http://schemas.openxmlformats.org/drawingml/2006/main">
              <a:ext uri="{FF2B5EF4-FFF2-40B4-BE49-F238E27FC236}">
                <a16:creationId xmlns:a16="http://schemas.microsoft.com/office/drawing/2014/main" id="{91F1726F-AC6A-490A-9883-902C9E1A50D4}"/>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Kosaraju: strongly connected components</a:t>
            </a:r>
          </a:p>
        </p:txBody>
      </p:sp>
      <p:sp>
        <p:nvSpPr>
          <p:cNvPr id="6" name="">
            <a:extLst xmlns:a="http://schemas.openxmlformats.org/drawingml/2006/main">
              <a:ext uri="{FF2B5EF4-FFF2-40B4-BE49-F238E27FC236}">
                <a16:creationId xmlns:a16="http://schemas.microsoft.com/office/drawing/2014/main" id="{8A1628B6-C82A-412F-BF51-1016D4E99DB4}"/>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DFS: topological ordering and cycle detection</a:t>
            </a:r>
          </a:p>
        </p:txBody>
      </p:sp>
      <p:sp>
        <p:nvSpPr>
          <p:cNvPr id="7" name="">
            <a:extLst xmlns:a="http://schemas.openxmlformats.org/drawingml/2006/main">
              <a:ext uri="{FF2B5EF4-FFF2-40B4-BE49-F238E27FC236}">
                <a16:creationId xmlns:a16="http://schemas.microsoft.com/office/drawing/2014/main" id="{D4876646-9467-4F33-8886-CD50F714A483}"/>
              </a:ext>
            </a:extLst>
          </p:cNvPr>
          <p:cNvSpPr>
            <a:spLocks xmlns:a="http://schemas.openxmlformats.org/drawingml/2006/main" noGrp="1"/>
          </p:cNvSpPr>
          <p:nvPr/>
        </p:nvSpPr>
        <p:spPr>
          <a:xfrm xmlns:a="http://schemas.openxmlformats.org/drawingml/2006/main">
            <a:off x="609600" y="51244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DAG shortest paths and a route helper</a:t>
            </a:r>
          </a:p>
        </p:txBody>
      </p:sp>
      <p:sp>
        <p:nvSpPr>
          <p:cNvPr id="8" name="">
            <a:extLst xmlns:a="http://schemas.openxmlformats.org/drawingml/2006/main">
              <a:ext uri="{FF2B5EF4-FFF2-40B4-BE49-F238E27FC236}">
                <a16:creationId xmlns:a16="http://schemas.microsoft.com/office/drawing/2014/main" id="{2738256C-5BE0-4429-A37D-2E3F9CC66B08}"/>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7A8B8306-391A-4E41-8A2E-90E77490A13D}"/>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02</a:t>
            </a:r>
          </a:p>
        </p:txBody>
      </p:sp>
    </p:spTree>
    <p:extLst>
      <p:ext uri="{BB962C8B-B14F-4D97-AF65-F5344CB8AC3E}">
        <p14:creationId xmlns:p14="http://schemas.microsoft.com/office/powerpoint/2010/main" val="15594631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F6332E8-8FEF-450A-9C7A-90A6E7AE82B9}"/>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149785E5-7C71-4134-B5CE-E0FF4C0C88DF}"/>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Vertices, edges and original IDs</a:t>
            </a:r>
          </a:p>
        </p:txBody>
      </p:sp>
      <p:sp>
        <p:nvSpPr>
          <p:cNvPr id="3" name="">
            <a:extLst xmlns:a="http://schemas.openxmlformats.org/drawingml/2006/main">
              <a:ext uri="{FF2B5EF4-FFF2-40B4-BE49-F238E27FC236}">
                <a16:creationId xmlns:a16="http://schemas.microsoft.com/office/drawing/2014/main" id="{A5B865A6-A680-4902-B28B-0C07B144F900}"/>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Vertices are numbered 0 to n−1</a:t>
            </a:r>
          </a:p>
        </p:txBody>
      </p:sp>
      <p:sp>
        <p:nvSpPr>
          <p:cNvPr id="4" name="">
            <a:extLst xmlns:a="http://schemas.openxmlformats.org/drawingml/2006/main">
              <a:ext uri="{FF2B5EF4-FFF2-40B4-BE49-F238E27FC236}">
                <a16:creationId xmlns:a16="http://schemas.microsoft.com/office/drawing/2014/main" id="{646B7209-53C6-40C3-B48B-CD1D0AA00E75}"/>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An edge ID is its position in the input list</a:t>
            </a:r>
          </a:p>
        </p:txBody>
      </p:sp>
      <p:sp>
        <p:nvSpPr>
          <p:cNvPr id="5" name="">
            <a:extLst xmlns:a="http://schemas.openxmlformats.org/drawingml/2006/main">
              <a:ext uri="{FF2B5EF4-FFF2-40B4-BE49-F238E27FC236}">
                <a16:creationId xmlns:a16="http://schemas.microsoft.com/office/drawing/2014/main" id="{5FBEA5BF-2B14-4C42-A3EF-5EA843FF486D}"/>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Keep direction, weight and identity separate</a:t>
            </a:r>
          </a:p>
        </p:txBody>
      </p:sp>
      <p:sp>
        <p:nvSpPr>
          <p:cNvPr id="6" name="">
            <a:extLst xmlns:a="http://schemas.openxmlformats.org/drawingml/2006/main">
              <a:ext uri="{FF2B5EF4-FFF2-40B4-BE49-F238E27FC236}">
                <a16:creationId xmlns:a16="http://schemas.microsoft.com/office/drawing/2014/main" id="{5CF49A3B-BAE1-4E0C-ADE1-449FF55B5683}"/>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 graph may contain isolates or parallel edges</a:t>
            </a:r>
          </a:p>
        </p:txBody>
      </p:sp>
      <p:graphicFrame>
        <p:nvGraphicFramePr>
          <p:cNvPr id="7" name="">
            <a:extLst xmlns:a="http://schemas.openxmlformats.org/drawingml/2006/main">
              <a:ext uri="{FF2B5EF4-FFF2-40B4-BE49-F238E27FC236}">
                <a16:creationId xmlns:a16="http://schemas.microsoft.com/office/drawing/2014/main" id="{93F6052D-8BA9-4F38-879B-D9DA2EE6E627}"/>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ID</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Input edge [u,v,w]</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Meaning</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First input record</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[1,2,1]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 different connection</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[0,2,6]</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Keep ID2 after sorting</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6E92211-72AF-48AD-8D13-9F04B25D47C7}"/>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7DD3960E-D449-4235-8B99-8FD3088EE040}"/>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03</a:t>
            </a:r>
          </a:p>
        </p:txBody>
      </p:sp>
    </p:spTree>
    <p:extLst>
      <p:ext uri="{BB962C8B-B14F-4D97-AF65-F5344CB8AC3E}">
        <p14:creationId xmlns:p14="http://schemas.microsoft.com/office/powerpoint/2010/main" val="1457987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21F6A9-201B-4273-B9A4-8C85A77023BE}"/>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79CE5544-FFD0-462F-BF9F-D512644DFD6C}"/>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One request, one JSON result</a:t>
            </a:r>
          </a:p>
        </p:txBody>
      </p:sp>
      <p:sp>
        <p:nvSpPr>
          <p:cNvPr id="3" name="">
            <a:extLst xmlns:a="http://schemas.openxmlformats.org/drawingml/2006/main">
              <a:ext uri="{FF2B5EF4-FFF2-40B4-BE49-F238E27FC236}">
                <a16:creationId xmlns:a16="http://schemas.microsoft.com/office/drawing/2014/main" id="{CFD59237-F07D-42C9-B2DB-A96BA842F59C}"/>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Choose Java, Python, Cpp or CSharp in submission.json</a:t>
            </a:r>
          </a:p>
        </p:txBody>
      </p:sp>
      <p:sp>
        <p:nvSpPr>
          <p:cNvPr id="4" name="">
            <a:extLst xmlns:a="http://schemas.openxmlformats.org/drawingml/2006/main">
              <a:ext uri="{FF2B5EF4-FFF2-40B4-BE49-F238E27FC236}">
                <a16:creationId xmlns:a16="http://schemas.microsoft.com/office/drawing/2014/main" id="{2301EB8C-6191-4C49-A312-5FB6B1D0A11E}"/>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Write code in the selected source folder</a:t>
            </a:r>
          </a:p>
        </p:txBody>
      </p:sp>
      <p:sp>
        <p:nvSpPr>
          <p:cNvPr id="5" name="">
            <a:extLst xmlns:a="http://schemas.openxmlformats.org/drawingml/2006/main">
              <a:ext uri="{FF2B5EF4-FFF2-40B4-BE49-F238E27FC236}">
                <a16:creationId xmlns:a16="http://schemas.microsoft.com/office/drawing/2014/main" id="{54D607F5-7D4F-47C9-AD9D-F452412E800B}"/>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Read one JSON object per input line</a:t>
            </a:r>
          </a:p>
        </p:txBody>
      </p:sp>
      <p:sp>
        <p:nvSpPr>
          <p:cNvPr id="6" name="">
            <a:extLst xmlns:a="http://schemas.openxmlformats.org/drawingml/2006/main">
              <a:ext uri="{FF2B5EF4-FFF2-40B4-BE49-F238E27FC236}">
                <a16:creationId xmlns:a16="http://schemas.microsoft.com/office/drawing/2014/main" id="{8493672E-E378-4608-8C80-D93B66EE2EC3}"/>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Print only one JSON result per request</a:t>
            </a:r>
          </a:p>
        </p:txBody>
      </p:sp>
      <p:sp>
        <p:nvSpPr>
          <p:cNvPr id="7" name="">
            <a:extLst xmlns:a="http://schemas.openxmlformats.org/drawingml/2006/main">
              <a:ext uri="{FF2B5EF4-FFF2-40B4-BE49-F238E27FC236}">
                <a16:creationId xmlns:a16="http://schemas.microsoft.com/office/drawing/2014/main" id="{FDB83DFD-6182-4B0E-A4E7-0A1993A9F521}"/>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{"task":"dsu","n":3,"operations":[[0,1]]}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{"states":[[2,2]]}</a:t>
            </a:r>
          </a:p>
        </p:txBody>
      </p:sp>
      <p:sp>
        <p:nvSpPr>
          <p:cNvPr id="8" name="">
            <a:extLst xmlns:a="http://schemas.openxmlformats.org/drawingml/2006/main">
              <a:ext uri="{FF2B5EF4-FFF2-40B4-BE49-F238E27FC236}">
                <a16:creationId xmlns:a16="http://schemas.microsoft.com/office/drawing/2014/main" id="{EA9AA826-B2CC-46D7-99F0-790E8E2488BB}"/>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BBC96866-A119-4064-B8BB-7CA06F8A4743}"/>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04</a:t>
            </a:r>
          </a:p>
        </p:txBody>
      </p:sp>
    </p:spTree>
    <p:extLst>
      <p:ext uri="{BB962C8B-B14F-4D97-AF65-F5344CB8AC3E}">
        <p14:creationId xmlns:p14="http://schemas.microsoft.com/office/powerpoint/2010/main" val="15291410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14C279-A513-48FF-B49D-F58CABAF8C10}"/>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DC738A31-C87A-42A8-B0AF-D3135201EFE6}"/>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DSU: maintain a partition</a:t>
            </a:r>
          </a:p>
        </p:txBody>
      </p:sp>
      <p:sp>
        <p:nvSpPr>
          <p:cNvPr id="3" name="">
            <a:extLst xmlns:a="http://schemas.openxmlformats.org/drawingml/2006/main">
              <a:ext uri="{FF2B5EF4-FFF2-40B4-BE49-F238E27FC236}">
                <a16:creationId xmlns:a16="http://schemas.microsoft.com/office/drawing/2014/main" id="{4FAB9E12-FCB5-418E-AFC4-93157B1E9DFA}"/>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Start with parent[v]=v and size[v]=1</a:t>
            </a:r>
          </a:p>
        </p:txBody>
      </p:sp>
      <p:sp>
        <p:nvSpPr>
          <p:cNvPr id="4" name="">
            <a:extLst xmlns:a="http://schemas.openxmlformats.org/drawingml/2006/main">
              <a:ext uri="{FF2B5EF4-FFF2-40B4-BE49-F238E27FC236}">
                <a16:creationId xmlns:a16="http://schemas.microsoft.com/office/drawing/2014/main" id="{64C89251-4751-4154-9FAD-2673415BA91B}"/>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find(v) returns the representative</a:t>
            </a:r>
          </a:p>
        </p:txBody>
      </p:sp>
      <p:sp>
        <p:nvSpPr>
          <p:cNvPr id="5" name="">
            <a:extLst xmlns:a="http://schemas.openxmlformats.org/drawingml/2006/main">
              <a:ext uri="{FF2B5EF4-FFF2-40B4-BE49-F238E27FC236}">
                <a16:creationId xmlns:a16="http://schemas.microsoft.com/office/drawing/2014/main" id="{F664FD68-A58F-4435-B362-683C18C158B7}"/>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Union merges only different representatives</a:t>
            </a:r>
          </a:p>
        </p:txBody>
      </p:sp>
      <p:sp>
        <p:nvSpPr>
          <p:cNvPr id="6" name="">
            <a:extLst xmlns:a="http://schemas.openxmlformats.org/drawingml/2006/main">
              <a:ext uri="{FF2B5EF4-FFF2-40B4-BE49-F238E27FC236}">
                <a16:creationId xmlns:a16="http://schemas.microsoft.com/office/drawing/2014/main" id="{6BE06B3C-4551-4FCE-BE74-3431CAA83901}"/>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Record components and largest after every operation</a:t>
            </a:r>
          </a:p>
        </p:txBody>
      </p:sp>
      <p:graphicFrame>
        <p:nvGraphicFramePr>
          <p:cNvPr id="7" name="">
            <a:extLst xmlns:a="http://schemas.openxmlformats.org/drawingml/2006/main">
              <a:ext uri="{FF2B5EF4-FFF2-40B4-BE49-F238E27FC236}">
                <a16:creationId xmlns:a16="http://schemas.microsoft.com/office/drawing/2014/main" id="{E39B77F5-D30C-4B49-A9FE-E1CFBDD0C1E5}"/>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666750">
                <a:tc>
                  <a:txBody>
                    <a:bodyPr/>
                    <a:lstStyle/>
                    <a:p>
                      <a:r>
                        <a:rPr sz="1725" b="1">
                          <a:solidFill>
                            <a:srgbClr val="15273F"/>
                          </a:solidFill>
                          <a:latin typeface="Arial"/>
                          <a:ea typeface="Arial"/>
                          <a:cs typeface="Arial"/>
                        </a:rPr>
                        <a:t>n=6: operation</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components</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largest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union(0,1)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union(3,4)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union(2,0)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union(5,5)</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2C0CCCCC-55D0-4370-82A6-58147450FE87}"/>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41FFBC97-BBBC-437C-9052-8D220B14F5E8}"/>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05</a:t>
            </a:r>
          </a:p>
        </p:txBody>
      </p:sp>
    </p:spTree>
    <p:extLst>
      <p:ext uri="{BB962C8B-B14F-4D97-AF65-F5344CB8AC3E}">
        <p14:creationId xmlns:p14="http://schemas.microsoft.com/office/powerpoint/2010/main" val="5498485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6C3902-77B8-4686-86A1-221FBF163A38}"/>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B17859A1-97FB-4883-9259-BA5A0EC7CC50}"/>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Path compression: preserve the next link</a:t>
            </a:r>
          </a:p>
        </p:txBody>
      </p:sp>
      <p:sp>
        <p:nvSpPr>
          <p:cNvPr id="3" name="">
            <a:extLst xmlns:a="http://schemas.openxmlformats.org/drawingml/2006/main">
              <a:ext uri="{FF2B5EF4-FFF2-40B4-BE49-F238E27FC236}">
                <a16:creationId xmlns:a16="http://schemas.microsoft.com/office/drawing/2014/main" id="{113A8ECD-4A44-4089-871D-E0FD7C187DBD}"/>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Before: 0 → 1 → 2 → 3, with parent[3]=3</a:t>
            </a:r>
          </a:p>
        </p:txBody>
      </p:sp>
      <p:sp>
        <p:nvSpPr>
          <p:cNvPr id="4" name="">
            <a:extLst xmlns:a="http://schemas.openxmlformats.org/drawingml/2006/main">
              <a:ext uri="{FF2B5EF4-FFF2-40B4-BE49-F238E27FC236}">
                <a16:creationId xmlns:a16="http://schemas.microsoft.com/office/drawing/2014/main" id="{23CDE9E3-A873-4058-96DF-FAD28F15F8A0}"/>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After find(0): 0, 1 and 2 point to 3</a:t>
            </a:r>
          </a:p>
        </p:txBody>
      </p:sp>
      <p:sp>
        <p:nvSpPr>
          <p:cNvPr id="5" name="">
            <a:extLst xmlns:a="http://schemas.openxmlformats.org/drawingml/2006/main">
              <a:ext uri="{FF2B5EF4-FFF2-40B4-BE49-F238E27FC236}">
                <a16:creationId xmlns:a16="http://schemas.microsoft.com/office/drawing/2014/main" id="{1CC04DA1-6AC1-4E7D-BEFA-2191DB1CA21D}"/>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Find the root first; then shorten the path</a:t>
            </a:r>
          </a:p>
        </p:txBody>
      </p:sp>
      <p:sp>
        <p:nvSpPr>
          <p:cNvPr id="6" name="">
            <a:extLst xmlns:a="http://schemas.openxmlformats.org/drawingml/2006/main">
              <a:ext uri="{FF2B5EF4-FFF2-40B4-BE49-F238E27FC236}">
                <a16:creationId xmlns:a16="http://schemas.microsoft.com/office/drawing/2014/main" id="{E503CB88-59CA-46C5-8EE2-1B97ADC925AA}"/>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Save the old parent before overwriting it</a:t>
            </a:r>
          </a:p>
        </p:txBody>
      </p:sp>
      <p:sp>
        <p:nvSpPr>
          <p:cNvPr id="7" name="">
            <a:extLst xmlns:a="http://schemas.openxmlformats.org/drawingml/2006/main">
              <a:ext uri="{FF2B5EF4-FFF2-40B4-BE49-F238E27FC236}">
                <a16:creationId xmlns:a16="http://schemas.microsoft.com/office/drawing/2014/main" id="{4E7FE9BC-777C-4AF9-ADE1-673362EF1571}"/>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root has already been found</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while (parent[v] != v)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next = parent[v];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parent[v] = root;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v = next;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D3B13F9A-2F36-421F-A639-01D11D8ECA8D}"/>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0CF67793-8E38-4ABC-BC0E-62C8F92C1598}"/>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06</a:t>
            </a:r>
          </a:p>
        </p:txBody>
      </p:sp>
    </p:spTree>
    <p:extLst>
      <p:ext uri="{BB962C8B-B14F-4D97-AF65-F5344CB8AC3E}">
        <p14:creationId xmlns:p14="http://schemas.microsoft.com/office/powerpoint/2010/main" val="18407621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9DE9D7-5FD6-4632-9C52-3071DE6969A7}"/>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FC24E64A-5FC5-4E48-B087-21526062B0E6}"/>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Union by size and component statistics</a:t>
            </a:r>
          </a:p>
        </p:txBody>
      </p:sp>
      <p:sp>
        <p:nvSpPr>
          <p:cNvPr id="3" name="">
            <a:extLst xmlns:a="http://schemas.openxmlformats.org/drawingml/2006/main">
              <a:ext uri="{FF2B5EF4-FFF2-40B4-BE49-F238E27FC236}">
                <a16:creationId xmlns:a16="http://schemas.microsoft.com/office/drawing/2014/main" id="{21593EB3-A875-4AC3-97CD-092C6D676271}"/>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Attach the smaller root below the larger root</a:t>
            </a:r>
          </a:p>
        </p:txBody>
      </p:sp>
      <p:sp>
        <p:nvSpPr>
          <p:cNvPr id="4" name="">
            <a:extLst xmlns:a="http://schemas.openxmlformats.org/drawingml/2006/main">
              <a:ext uri="{FF2B5EF4-FFF2-40B4-BE49-F238E27FC236}">
                <a16:creationId xmlns:a16="http://schemas.microsoft.com/office/drawing/2014/main" id="{F62C3923-CE32-4FBE-91FF-A2EDFAA52436}"/>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Update size only at the surviving root</a:t>
            </a:r>
          </a:p>
        </p:txBody>
      </p:sp>
      <p:sp>
        <p:nvSpPr>
          <p:cNvPr id="5" name="">
            <a:extLst xmlns:a="http://schemas.openxmlformats.org/drawingml/2006/main">
              <a:ext uri="{FF2B5EF4-FFF2-40B4-BE49-F238E27FC236}">
                <a16:creationId xmlns:a16="http://schemas.microsoft.com/office/drawing/2014/main" id="{26CA1959-D6AB-413F-8ECD-90405A1701AD}"/>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Decrease components exactly once per real merge</a:t>
            </a:r>
          </a:p>
        </p:txBody>
      </p:sp>
      <p:sp>
        <p:nvSpPr>
          <p:cNvPr id="6" name="">
            <a:extLst xmlns:a="http://schemas.openxmlformats.org/drawingml/2006/main">
              <a:ext uri="{FF2B5EF4-FFF2-40B4-BE49-F238E27FC236}">
                <a16:creationId xmlns:a16="http://schemas.microsoft.com/office/drawing/2014/main" id="{61074EE3-3F37-44E1-82DF-0D0173FA1096}"/>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Update largest from the new component size</a:t>
            </a:r>
          </a:p>
        </p:txBody>
      </p:sp>
      <p:sp>
        <p:nvSpPr>
          <p:cNvPr id="7" name="">
            <a:extLst xmlns:a="http://schemas.openxmlformats.org/drawingml/2006/main">
              <a:ext uri="{FF2B5EF4-FFF2-40B4-BE49-F238E27FC236}">
                <a16:creationId xmlns:a16="http://schemas.microsoft.com/office/drawing/2014/main" id="{F25630F3-904B-415D-ACB5-D8C2960BFB93}"/>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 and b are distinct roots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(size[a] &lt; size[b])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tmp = a; a = b; b = tmp;</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parent[b] = a;</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size[a] += size[b];</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components--;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largest = Math.max(largest, size[a]);</a:t>
            </a:r>
          </a:p>
        </p:txBody>
      </p:sp>
      <p:sp>
        <p:nvSpPr>
          <p:cNvPr id="8" name="">
            <a:extLst xmlns:a="http://schemas.openxmlformats.org/drawingml/2006/main">
              <a:ext uri="{FF2B5EF4-FFF2-40B4-BE49-F238E27FC236}">
                <a16:creationId xmlns:a16="http://schemas.microsoft.com/office/drawing/2014/main" id="{BC8852E1-CC1B-4A23-879C-4EBBD07DFE33}"/>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443ACADA-6E8F-45D3-9EA1-AEBD975D6E51}"/>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07</a:t>
            </a:r>
          </a:p>
        </p:txBody>
      </p:sp>
    </p:spTree>
    <p:extLst>
      <p:ext uri="{BB962C8B-B14F-4D97-AF65-F5344CB8AC3E}">
        <p14:creationId xmlns:p14="http://schemas.microsoft.com/office/powerpoint/2010/main" val="16081311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697E84-F417-49B7-9FEE-12D9BB5FC8F3}"/>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2025A59F-A2B6-48A5-8AD0-CAD2E3C01DD8}"/>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Minimum spanning forest</a:t>
            </a:r>
          </a:p>
        </p:txBody>
      </p:sp>
      <p:sp>
        <p:nvSpPr>
          <p:cNvPr id="3" name="">
            <a:extLst xmlns:a="http://schemas.openxmlformats.org/drawingml/2006/main">
              <a:ext uri="{FF2B5EF4-FFF2-40B4-BE49-F238E27FC236}">
                <a16:creationId xmlns:a16="http://schemas.microsoft.com/office/drawing/2014/main" id="{38CA460B-482E-4DA1-A13F-02DC799B4D57}"/>
              </a:ext>
            </a:extLst>
          </p:cNvPr>
          <p:cNvSpPr>
            <a:spLocks xmlns:a="http://schemas.openxmlformats.org/drawingml/2006/main" noGrp="1"/>
          </p:cNvSpPr>
          <p:nvPr/>
        </p:nvSpPr>
        <p:spPr>
          <a:xfrm xmlns:a="http://schemas.openxmlformats.org/drawingml/2006/main">
            <a:off x="609600" y="1762125"/>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Connect each original connected component at minimum cost</a:t>
            </a:r>
          </a:p>
        </p:txBody>
      </p:sp>
      <p:sp>
        <p:nvSpPr>
          <p:cNvPr id="4" name="">
            <a:extLst xmlns:a="http://schemas.openxmlformats.org/drawingml/2006/main">
              <a:ext uri="{FF2B5EF4-FFF2-40B4-BE49-F238E27FC236}">
                <a16:creationId xmlns:a16="http://schemas.microsoft.com/office/drawing/2014/main" id="{ED2A3666-431D-41EA-9108-A47442C9D582}"/>
              </a:ext>
            </a:extLst>
          </p:cNvPr>
          <p:cNvSpPr>
            <a:spLocks xmlns:a="http://schemas.openxmlformats.org/drawingml/2006/main" noGrp="1"/>
          </p:cNvSpPr>
          <p:nvPr/>
        </p:nvSpPr>
        <p:spPr>
          <a:xfrm xmlns:a="http://schemas.openxmlformats.org/drawingml/2006/main">
            <a:off x="609600" y="2790825"/>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Include isolated vertices in the component count</a:t>
            </a:r>
          </a:p>
        </p:txBody>
      </p:sp>
      <p:sp>
        <p:nvSpPr>
          <p:cNvPr id="5" name="">
            <a:extLst xmlns:a="http://schemas.openxmlformats.org/drawingml/2006/main">
              <a:ext uri="{FF2B5EF4-FFF2-40B4-BE49-F238E27FC236}">
                <a16:creationId xmlns:a16="http://schemas.microsoft.com/office/drawing/2014/main" id="{D19AA505-9350-42D5-A637-57499E452682}"/>
              </a:ext>
            </a:extLst>
          </p:cNvPr>
          <p:cNvSpPr>
            <a:spLocks xmlns:a="http://schemas.openxmlformats.org/drawingml/2006/main" noGrp="1"/>
          </p:cNvSpPr>
          <p:nvPr/>
        </p:nvSpPr>
        <p:spPr>
          <a:xfrm xmlns:a="http://schemas.openxmlformats.org/drawingml/2006/main">
            <a:off x="609600" y="3819525"/>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A forest has n−c selected edges</a:t>
            </a:r>
          </a:p>
        </p:txBody>
      </p:sp>
      <p:sp>
        <p:nvSpPr>
          <p:cNvPr id="6" name="">
            <a:extLst xmlns:a="http://schemas.openxmlformats.org/drawingml/2006/main">
              <a:ext uri="{FF2B5EF4-FFF2-40B4-BE49-F238E27FC236}">
                <a16:creationId xmlns:a16="http://schemas.microsoft.com/office/drawing/2014/main" id="{ACD7990E-8D17-4171-9D2C-4EB092CCB693}"/>
              </a:ext>
            </a:extLst>
          </p:cNvPr>
          <p:cNvSpPr>
            <a:spLocks xmlns:a="http://schemas.openxmlformats.org/drawingml/2006/main" noGrp="1"/>
          </p:cNvSpPr>
          <p:nvPr/>
        </p:nvSpPr>
        <p:spPr>
          <a:xfrm xmlns:a="http://schemas.openxmlformats.org/drawingml/2006/main">
            <a:off x="609600" y="4848225"/>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Use long for the total cost</a:t>
            </a:r>
          </a:p>
        </p:txBody>
      </p:sp>
      <p:pic>
        <p:nvPicPr>
          <p:cNvPr id="7" name="">
            <a:extLst xmlns:a="http://schemas.openxmlformats.org/drawingml/2006/main">
              <a:ext uri="{FF2B5EF4-FFF2-40B4-BE49-F238E27FC236}">
                <a16:creationId xmlns:a16="http://schemas.microsoft.com/office/drawing/2014/main" id="{3226D78D-0844-413C-8B1D-E656BD02C82B}"/>
              </a:ext>
            </a:extLst>
          </p:cNvPr>
          <p:cNvPicPr>
            <a:picLocks xmlns:a="http://schemas.openxmlformats.org/drawingml/2006/main" noChangeAspect="1"/>
          </p:cNvPicPr>
          <p:nvPr/>
        </p:nvPicPr>
        <p:blipFill>
          <a:blip xmlns:r="http://schemas.openxmlformats.org/officeDocument/2006/relationships" xmlns:a="http://schemas.openxmlformats.org/drawingml/2006/main" r:embed="Rc22cbeb4c2524445"/>
          <a:stretch xmlns:a="http://schemas.openxmlformats.org/drawingml/2006/main"/>
        </p:blipFill>
        <p:spPr>
          <a:xfrm xmlns:a="http://schemas.openxmlformats.org/drawingml/2006/main">
            <a:off x="4429125" y="1799752"/>
            <a:ext cx="7143750" cy="402049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935ABB6-20D1-4453-9974-7E09F23EDDD9}"/>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730C7EFE-9782-4BCB-8EEC-0F6B89B7BE39}"/>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08</a:t>
            </a:r>
          </a:p>
        </p:txBody>
      </p:sp>
    </p:spTree>
    <p:extLst>
      <p:ext uri="{BB962C8B-B14F-4D97-AF65-F5344CB8AC3E}">
        <p14:creationId xmlns:p14="http://schemas.microsoft.com/office/powerpoint/2010/main" val="7200333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DA7E8D-61F1-4CD5-A232-72AE8D108D40}"/>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A5379A32-5F69-4D4C-94A1-AB51B6791D8D}"/>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Kruskal: sort, then use DSU</a:t>
            </a:r>
          </a:p>
        </p:txBody>
      </p:sp>
      <p:sp>
        <p:nvSpPr>
          <p:cNvPr id="3" name="">
            <a:extLst xmlns:a="http://schemas.openxmlformats.org/drawingml/2006/main">
              <a:ext uri="{FF2B5EF4-FFF2-40B4-BE49-F238E27FC236}">
                <a16:creationId xmlns:a16="http://schemas.microsoft.com/office/drawing/2014/main" id="{1CCBDA61-E983-4197-9302-3E42F0F2052F}"/>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Sort original edge records by weight</a:t>
            </a:r>
          </a:p>
        </p:txBody>
      </p:sp>
      <p:sp>
        <p:nvSpPr>
          <p:cNvPr id="4" name="">
            <a:extLst xmlns:a="http://schemas.openxmlformats.org/drawingml/2006/main">
              <a:ext uri="{FF2B5EF4-FFF2-40B4-BE49-F238E27FC236}">
                <a16:creationId xmlns:a16="http://schemas.microsoft.com/office/drawing/2014/main" id="{9E8847B6-CF97-4B54-A712-8746F2C15C21}"/>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Accept an edge only when find(u) != find(v)</a:t>
            </a:r>
          </a:p>
        </p:txBody>
      </p:sp>
      <p:sp>
        <p:nvSpPr>
          <p:cNvPr id="5" name="">
            <a:extLst xmlns:a="http://schemas.openxmlformats.org/drawingml/2006/main">
              <a:ext uri="{FF2B5EF4-FFF2-40B4-BE49-F238E27FC236}">
                <a16:creationId xmlns:a16="http://schemas.microsoft.com/office/drawing/2014/main" id="{0D4103EA-6FAF-458A-BC63-12FF987E6824}"/>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Reject an edge that closes a cycle</a:t>
            </a:r>
          </a:p>
        </p:txBody>
      </p:sp>
      <p:sp>
        <p:nvSpPr>
          <p:cNvPr id="6" name="">
            <a:extLst xmlns:a="http://schemas.openxmlformats.org/drawingml/2006/main">
              <a:ext uri="{FF2B5EF4-FFF2-40B4-BE49-F238E27FC236}">
                <a16:creationId xmlns:a16="http://schemas.microsoft.com/office/drawing/2014/main" id="{4B243A4E-E99E-41FB-9A69-BF08C51C0046}"/>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Keep its original input ID</a:t>
            </a:r>
          </a:p>
        </p:txBody>
      </p:sp>
      <p:graphicFrame>
        <p:nvGraphicFramePr>
          <p:cNvPr id="7" name="">
            <a:extLst xmlns:a="http://schemas.openxmlformats.org/drawingml/2006/main">
              <a:ext uri="{FF2B5EF4-FFF2-40B4-BE49-F238E27FC236}">
                <a16:creationId xmlns:a16="http://schemas.microsoft.com/office/drawing/2014/main" id="{4A5E9E47-5139-42D2-9296-39FDF105D67E}"/>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1838325"/>
                <a:gridCol w="1838325"/>
                <a:gridCol w="1838325"/>
              </a:tblGrid>
              <a:tr h="666750">
                <a:tc>
                  <a:txBody>
                    <a:bodyPr/>
                    <a:lstStyle/>
                    <a:p>
                      <a:r>
                        <a:rPr sz="1725" b="1">
                          <a:solidFill>
                            <a:srgbClr val="15273F"/>
                          </a:solidFill>
                          <a:latin typeface="Arial"/>
                          <a:ea typeface="Arial"/>
                          <a:cs typeface="Arial"/>
                        </a:rPr>
                        <a:t>Sorted ID</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Weight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Decision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Running cost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1: 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accept</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3: 2–3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accept</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0: 0–1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accept</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4: 1–3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reject cycle</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2: 0–2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6</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reject cycle</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1AA7301-94E1-4A82-B9BD-7195CA04874A}"/>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82D890F9-CFED-4B82-BCC0-E4C02877E910}"/>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09</a:t>
            </a:r>
          </a:p>
        </p:txBody>
      </p:sp>
    </p:spTree>
    <p:extLst>
      <p:ext uri="{BB962C8B-B14F-4D97-AF65-F5344CB8AC3E}">
        <p14:creationId xmlns:p14="http://schemas.microsoft.com/office/powerpoint/2010/main" val="7964737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F49797-0F68-464C-BF5A-7027DD599F4B}"/>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4692A935-8DBA-4A59-9DB7-6B6FB12D1F75}"/>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Why a light crossing edge is safe</a:t>
            </a:r>
          </a:p>
        </p:txBody>
      </p:sp>
      <p:sp>
        <p:nvSpPr>
          <p:cNvPr id="3" name="">
            <a:extLst xmlns:a="http://schemas.openxmlformats.org/drawingml/2006/main">
              <a:ext uri="{FF2B5EF4-FFF2-40B4-BE49-F238E27FC236}">
                <a16:creationId xmlns:a16="http://schemas.microsoft.com/office/drawing/2014/main" id="{88EF75F3-E920-4221-BC79-07E84E577A3D}"/>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Choose a cut that respects the current forest</a:t>
            </a:r>
          </a:p>
        </p:txBody>
      </p:sp>
      <p:sp>
        <p:nvSpPr>
          <p:cNvPr id="4" name="">
            <a:extLst xmlns:a="http://schemas.openxmlformats.org/drawingml/2006/main">
              <a:ext uri="{FF2B5EF4-FFF2-40B4-BE49-F238E27FC236}">
                <a16:creationId xmlns:a16="http://schemas.microsoft.com/office/drawing/2014/main" id="{A2E80C19-6F61-4322-A154-B3C4E075A63C}"/>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 lightest crossing edge can belong to an optimum</a:t>
            </a:r>
          </a:p>
        </p:txBody>
      </p:sp>
      <p:sp>
        <p:nvSpPr>
          <p:cNvPr id="5" name="">
            <a:extLst xmlns:a="http://schemas.openxmlformats.org/drawingml/2006/main">
              <a:ext uri="{FF2B5EF4-FFF2-40B4-BE49-F238E27FC236}">
                <a16:creationId xmlns:a16="http://schemas.microsoft.com/office/drawing/2014/main" id="{E425E54A-042D-4919-94C6-AEC8298B5BF5}"/>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Exchange it with a heavier crossing edge if necessary</a:t>
            </a:r>
          </a:p>
        </p:txBody>
      </p:sp>
      <p:sp>
        <p:nvSpPr>
          <p:cNvPr id="6" name="">
            <a:extLst xmlns:a="http://schemas.openxmlformats.org/drawingml/2006/main">
              <a:ext uri="{FF2B5EF4-FFF2-40B4-BE49-F238E27FC236}">
                <a16:creationId xmlns:a16="http://schemas.microsoft.com/office/drawing/2014/main" id="{8EEBFEA2-867B-4FE5-9D22-73F0A34F5437}"/>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Equal weights may allow several valid optima</a:t>
            </a:r>
          </a:p>
        </p:txBody>
      </p:sp>
      <p:sp>
        <p:nvSpPr>
          <p:cNvPr id="7" name="">
            <a:extLst xmlns:a="http://schemas.openxmlformats.org/drawingml/2006/main">
              <a:ext uri="{FF2B5EF4-FFF2-40B4-BE49-F238E27FC236}">
                <a16:creationId xmlns:a16="http://schemas.microsoft.com/office/drawing/2014/main" id="{4B7D3839-48BC-4AFF-B90A-0605F5249A8F}"/>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Edges retain their original IDs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(Edge e : edgesSortedByWeight)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if (find(e.u) != find(e.v))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union(e.u, e.v);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 record e.id and add e.weight to long cost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FC8C5549-7BDB-41B0-937A-7E75FFE8B05A}"/>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C3206CEF-39E2-42DA-86C9-3EB200000A2F}"/>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10</a:t>
            </a:r>
          </a:p>
        </p:txBody>
      </p:sp>
    </p:spTree>
    <p:extLst>
      <p:ext uri="{BB962C8B-B14F-4D97-AF65-F5344CB8AC3E}">
        <p14:creationId xmlns:p14="http://schemas.microsoft.com/office/powerpoint/2010/main" val="15831482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FDD9F4-8373-4B08-900A-4C728A53278F}"/>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8CCB2AB3-C909-43E5-B760-36CAC7BA5421}"/>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Prim: grow a forest through a frontier</a:t>
            </a:r>
          </a:p>
        </p:txBody>
      </p:sp>
      <p:sp>
        <p:nvSpPr>
          <p:cNvPr id="3" name="">
            <a:extLst xmlns:a="http://schemas.openxmlformats.org/drawingml/2006/main">
              <a:ext uri="{FF2B5EF4-FFF2-40B4-BE49-F238E27FC236}">
                <a16:creationId xmlns:a16="http://schemas.microsoft.com/office/drawing/2014/main" id="{750A72D0-EEFE-4C8B-A3D2-C55DF1D7A66B}"/>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Use adjacency lists and a minimum heap</a:t>
            </a:r>
          </a:p>
        </p:txBody>
      </p:sp>
      <p:sp>
        <p:nvSpPr>
          <p:cNvPr id="4" name="">
            <a:extLst xmlns:a="http://schemas.openxmlformats.org/drawingml/2006/main">
              <a:ext uri="{FF2B5EF4-FFF2-40B4-BE49-F238E27FC236}">
                <a16:creationId xmlns:a16="http://schemas.microsoft.com/office/drawing/2014/main" id="{812458E9-E253-471B-8E81-8229A07A0A20}"/>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Start a new root in every unvisited component</a:t>
            </a:r>
          </a:p>
        </p:txBody>
      </p:sp>
      <p:sp>
        <p:nvSpPr>
          <p:cNvPr id="5" name="">
            <a:extLst xmlns:a="http://schemas.openxmlformats.org/drawingml/2006/main">
              <a:ext uri="{FF2B5EF4-FFF2-40B4-BE49-F238E27FC236}">
                <a16:creationId xmlns:a16="http://schemas.microsoft.com/office/drawing/2014/main" id="{9D179A98-61A3-4147-8B0F-4E6381E970F3}"/>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Choose the next light edge reaching an unvisited vertex</a:t>
            </a:r>
          </a:p>
        </p:txBody>
      </p:sp>
      <p:sp>
        <p:nvSpPr>
          <p:cNvPr id="6" name="">
            <a:extLst xmlns:a="http://schemas.openxmlformats.org/drawingml/2006/main">
              <a:ext uri="{FF2B5EF4-FFF2-40B4-BE49-F238E27FC236}">
                <a16:creationId xmlns:a16="http://schemas.microsoft.com/office/drawing/2014/main" id="{29EFD008-6F7B-430E-8D0A-34E8B11381BC}"/>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Skip stale heap entries</a:t>
            </a:r>
          </a:p>
        </p:txBody>
      </p:sp>
      <p:graphicFrame>
        <p:nvGraphicFramePr>
          <p:cNvPr id="7" name="">
            <a:extLst xmlns:a="http://schemas.openxmlformats.org/drawingml/2006/main">
              <a:ext uri="{FF2B5EF4-FFF2-40B4-BE49-F238E27FC236}">
                <a16:creationId xmlns:a16="http://schemas.microsoft.com/office/drawing/2014/main" id="{83F8ABF0-6486-4FF7-8E57-D690D927F8DC}"/>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1838325"/>
                <a:gridCol w="1838325"/>
                <a:gridCol w="1838325"/>
              </a:tblGrid>
              <a:tr h="666750">
                <a:tc>
                  <a:txBody>
                    <a:bodyPr/>
                    <a:lstStyle/>
                    <a:p>
                      <a:r>
                        <a:rPr sz="1725" b="1">
                          <a:solidFill>
                            <a:srgbClr val="15273F"/>
                          </a:solidFill>
                          <a:latin typeface="Arial"/>
                          <a:ea typeface="Arial"/>
                          <a:cs typeface="Arial"/>
                        </a:rPr>
                        <a:t>New vertex</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Chosen input ID</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Weight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Cost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0: root</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none</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4: new root</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none</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503CF95-4268-415A-94BE-69E617C4A010}"/>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A97FAEBA-A43E-48BD-A0DD-771B74BCA202}"/>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11</a:t>
            </a:r>
          </a:p>
        </p:txBody>
      </p:sp>
    </p:spTree>
    <p:extLst>
      <p:ext uri="{BB962C8B-B14F-4D97-AF65-F5344CB8AC3E}">
        <p14:creationId xmlns:p14="http://schemas.microsoft.com/office/powerpoint/2010/main" val="14422444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8CA8EED-3BED-4327-8F91-9DA9A6911A58}"/>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EA74A59E-7B1B-4C63-B2B5-913E13425BB3}"/>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Prim: stale entries and parallel edges</a:t>
            </a:r>
          </a:p>
        </p:txBody>
      </p:sp>
      <p:sp>
        <p:nvSpPr>
          <p:cNvPr id="3" name="">
            <a:extLst xmlns:a="http://schemas.openxmlformats.org/drawingml/2006/main">
              <a:ext uri="{FF2B5EF4-FFF2-40B4-BE49-F238E27FC236}">
                <a16:creationId xmlns:a16="http://schemas.microsoft.com/office/drawing/2014/main" id="{CA0FA52B-AB30-48CF-B9D4-ED8BEABB5715}"/>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The heap can contain more than one candidate for a vertex</a:t>
            </a:r>
          </a:p>
        </p:txBody>
      </p:sp>
      <p:sp>
        <p:nvSpPr>
          <p:cNvPr id="4" name="">
            <a:extLst xmlns:a="http://schemas.openxmlformats.org/drawingml/2006/main">
              <a:ext uri="{FF2B5EF4-FFF2-40B4-BE49-F238E27FC236}">
                <a16:creationId xmlns:a16="http://schemas.microsoft.com/office/drawing/2014/main" id="{037F98D5-E217-45F3-A117-C5353438C0CF}"/>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 queued candidate can become obsolete</a:t>
            </a:r>
          </a:p>
        </p:txBody>
      </p:sp>
      <p:sp>
        <p:nvSpPr>
          <p:cNvPr id="5" name="">
            <a:extLst xmlns:a="http://schemas.openxmlformats.org/drawingml/2006/main">
              <a:ext uri="{FF2B5EF4-FFF2-40B4-BE49-F238E27FC236}">
                <a16:creationId xmlns:a16="http://schemas.microsoft.com/office/drawing/2014/main" id="{2BA4EC07-25FC-4B9C-B724-9C9DD287238F}"/>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Do not add an edge whose target is already visited</a:t>
            </a:r>
          </a:p>
        </p:txBody>
      </p:sp>
      <p:sp>
        <p:nvSpPr>
          <p:cNvPr id="6" name="">
            <a:extLst xmlns:a="http://schemas.openxmlformats.org/drawingml/2006/main">
              <a:ext uri="{FF2B5EF4-FFF2-40B4-BE49-F238E27FC236}">
                <a16:creationId xmlns:a16="http://schemas.microsoft.com/office/drawing/2014/main" id="{A1F0A994-4855-445B-BC51-33E055283CA1}"/>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Preserve the chosen edge ID, including parallel edges</a:t>
            </a:r>
          </a:p>
        </p:txBody>
      </p:sp>
      <p:sp>
        <p:nvSpPr>
          <p:cNvPr id="7" name="">
            <a:extLst xmlns:a="http://schemas.openxmlformats.org/drawingml/2006/main">
              <a:ext uri="{FF2B5EF4-FFF2-40B4-BE49-F238E27FC236}">
                <a16:creationId xmlns:a16="http://schemas.microsoft.com/office/drawing/2014/main" id="{953CE298-2A7F-432A-BDB3-BAFE0C4F2B11}"/>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Edge e = heap.remove();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(used[e.to]) continue;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used[e.to] = true;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Record the real incoming edge, if any.</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Add edges from e.to to unvisited neighbours.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The outer root loop handles disconnected graphs.</a:t>
            </a:r>
          </a:p>
        </p:txBody>
      </p:sp>
      <p:sp>
        <p:nvSpPr>
          <p:cNvPr id="8" name="">
            <a:extLst xmlns:a="http://schemas.openxmlformats.org/drawingml/2006/main">
              <a:ext uri="{FF2B5EF4-FFF2-40B4-BE49-F238E27FC236}">
                <a16:creationId xmlns:a16="http://schemas.microsoft.com/office/drawing/2014/main" id="{E1436F7F-6B98-491B-B063-D692390B4B25}"/>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DA837205-2914-4460-8493-D1E5999199E5}"/>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12</a:t>
            </a:r>
          </a:p>
        </p:txBody>
      </p:sp>
    </p:spTree>
    <p:extLst>
      <p:ext uri="{BB962C8B-B14F-4D97-AF65-F5344CB8AC3E}">
        <p14:creationId xmlns:p14="http://schemas.microsoft.com/office/powerpoint/2010/main" val="9347784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62A1DC-6184-4616-A549-E3C108CAB928}"/>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2B889C2C-512B-4744-B5EF-3469BB11D579}"/>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Kruskal and Prim: compare valid results</a:t>
            </a:r>
          </a:p>
        </p:txBody>
      </p:sp>
      <p:sp>
        <p:nvSpPr>
          <p:cNvPr id="3" name="">
            <a:extLst xmlns:a="http://schemas.openxmlformats.org/drawingml/2006/main">
              <a:ext uri="{FF2B5EF4-FFF2-40B4-BE49-F238E27FC236}">
                <a16:creationId xmlns:a16="http://schemas.microsoft.com/office/drawing/2014/main" id="{CE0FA027-CF4E-4AC5-87E9-6A8D359CF54D}"/>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Both must return a minimum forest of every component</a:t>
            </a:r>
          </a:p>
        </p:txBody>
      </p:sp>
      <p:sp>
        <p:nvSpPr>
          <p:cNvPr id="4" name="">
            <a:extLst xmlns:a="http://schemas.openxmlformats.org/drawingml/2006/main">
              <a:ext uri="{FF2B5EF4-FFF2-40B4-BE49-F238E27FC236}">
                <a16:creationId xmlns:a16="http://schemas.microsoft.com/office/drawing/2014/main" id="{92093304-3105-4EEE-BEBC-CE621663A6CE}"/>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Selected IDs may differ when equal optima exist</a:t>
            </a:r>
          </a:p>
        </p:txBody>
      </p:sp>
      <p:sp>
        <p:nvSpPr>
          <p:cNvPr id="5" name="">
            <a:extLst xmlns:a="http://schemas.openxmlformats.org/drawingml/2006/main">
              <a:ext uri="{FF2B5EF4-FFF2-40B4-BE49-F238E27FC236}">
                <a16:creationId xmlns:a16="http://schemas.microsoft.com/office/drawing/2014/main" id="{404232A2-D747-4E52-988B-612B09C03037}"/>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Check cost, connectivity, no cycles and edge count</a:t>
            </a:r>
          </a:p>
        </p:txBody>
      </p:sp>
      <p:sp>
        <p:nvSpPr>
          <p:cNvPr id="6" name="">
            <a:extLst xmlns:a="http://schemas.openxmlformats.org/drawingml/2006/main">
              <a:ext uri="{FF2B5EF4-FFF2-40B4-BE49-F238E27FC236}">
                <a16:creationId xmlns:a16="http://schemas.microsoft.com/office/drawing/2014/main" id="{6F817156-0676-434A-8FE9-D345CB9E5B8A}"/>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Do not compare only the exact list of IDs</a:t>
            </a:r>
          </a:p>
        </p:txBody>
      </p:sp>
      <p:graphicFrame>
        <p:nvGraphicFramePr>
          <p:cNvPr id="7" name="">
            <a:extLst xmlns:a="http://schemas.openxmlformats.org/drawingml/2006/main">
              <a:ext uri="{FF2B5EF4-FFF2-40B4-BE49-F238E27FC236}">
                <a16:creationId xmlns:a16="http://schemas.microsoft.com/office/drawing/2014/main" id="{766F045B-53C3-43A2-85DE-C61990018F70}"/>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Method</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Main structure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Typical bound</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Kruskal</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sort + DSU</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 + m log(m+1))</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Lazy Prim</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adjacency + heap</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 + m log(m+1))</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Both</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graph and returned forest</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 space</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DBC23DD-0584-48DA-A6A1-BB5A319512B5}"/>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4A9BDA84-C31B-43CF-9E68-1223BA4AB4B6}"/>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13</a:t>
            </a:r>
          </a:p>
        </p:txBody>
      </p:sp>
    </p:spTree>
    <p:extLst>
      <p:ext uri="{BB962C8B-B14F-4D97-AF65-F5344CB8AC3E}">
        <p14:creationId xmlns:p14="http://schemas.microsoft.com/office/powerpoint/2010/main" val="14330448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C3C1ED-FD45-4A00-ABE7-5A35264B655B}"/>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A58C0D1D-18C6-4A1F-AE89-5C98070EE651}"/>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Strongly connected components</a:t>
            </a:r>
          </a:p>
        </p:txBody>
      </p:sp>
      <p:sp>
        <p:nvSpPr>
          <p:cNvPr id="3" name="">
            <a:extLst xmlns:a="http://schemas.openxmlformats.org/drawingml/2006/main">
              <a:ext uri="{FF2B5EF4-FFF2-40B4-BE49-F238E27FC236}">
                <a16:creationId xmlns:a16="http://schemas.microsoft.com/office/drawing/2014/main" id="{F7775A86-712E-4E40-AA98-01141339FA69}"/>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 and v share an SCC when each can reach the other</a:t>
            </a:r>
          </a:p>
        </p:txBody>
      </p:sp>
      <p:sp>
        <p:nvSpPr>
          <p:cNvPr id="4" name="">
            <a:extLst xmlns:a="http://schemas.openxmlformats.org/drawingml/2006/main">
              <a:ext uri="{FF2B5EF4-FFF2-40B4-BE49-F238E27FC236}">
                <a16:creationId xmlns:a16="http://schemas.microsoft.com/office/drawing/2014/main" id="{7DB69472-9AE5-41F4-BF53-94AB4F62E033}"/>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Every vertex belongs to exactly one SCC</a:t>
            </a:r>
          </a:p>
        </p:txBody>
      </p:sp>
      <p:sp>
        <p:nvSpPr>
          <p:cNvPr id="5" name="">
            <a:extLst xmlns:a="http://schemas.openxmlformats.org/drawingml/2006/main">
              <a:ext uri="{FF2B5EF4-FFF2-40B4-BE49-F238E27FC236}">
                <a16:creationId xmlns:a16="http://schemas.microsoft.com/office/drawing/2014/main" id="{EB8DB0C6-B696-456B-A309-108AB65EE668}"/>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Labels are names, not a required numbering</a:t>
            </a:r>
          </a:p>
        </p:txBody>
      </p:sp>
      <p:sp>
        <p:nvSpPr>
          <p:cNvPr id="6" name="">
            <a:extLst xmlns:a="http://schemas.openxmlformats.org/drawingml/2006/main">
              <a:ext uri="{FF2B5EF4-FFF2-40B4-BE49-F238E27FC236}">
                <a16:creationId xmlns:a16="http://schemas.microsoft.com/office/drawing/2014/main" id="{AFFC98DA-54E9-4CF5-994C-D9C63FBD5685}"/>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Condensation keeps only distinct edges between SCCs</a:t>
            </a:r>
          </a:p>
        </p:txBody>
      </p:sp>
      <p:graphicFrame>
        <p:nvGraphicFramePr>
          <p:cNvPr id="7" name="">
            <a:extLst xmlns:a="http://schemas.openxmlformats.org/drawingml/2006/main">
              <a:ext uri="{FF2B5EF4-FFF2-40B4-BE49-F238E27FC236}">
                <a16:creationId xmlns:a16="http://schemas.microsoft.com/office/drawing/2014/main" id="{FC355FC2-2E90-45F7-B62B-4DB876783ECA}"/>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Original edges</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One valid labeling</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Condensation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0→1, 1→0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[7,7,9,9,12]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7→9</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1→2, 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same partition</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one edge only</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2→3, 3→2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vertex4 isolated</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no self edges</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75557FA-1E49-4C9D-9FC1-1FECCF18906A}"/>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B9829553-1D89-4C7D-B6A3-6246A69F9C38}"/>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14</a:t>
            </a:r>
          </a:p>
        </p:txBody>
      </p:sp>
    </p:spTree>
    <p:extLst>
      <p:ext uri="{BB962C8B-B14F-4D97-AF65-F5344CB8AC3E}">
        <p14:creationId xmlns:p14="http://schemas.microsoft.com/office/powerpoint/2010/main" val="2066403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847BCF4-8566-431F-8E04-80904310FD7D}"/>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3061C28D-07CB-4E11-ABEF-D9538C05F9B5}"/>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Kosaraju: finish, transpose, assign</a:t>
            </a:r>
          </a:p>
        </p:txBody>
      </p:sp>
      <p:sp>
        <p:nvSpPr>
          <p:cNvPr id="3" name="">
            <a:extLst xmlns:a="http://schemas.openxmlformats.org/drawingml/2006/main">
              <a:ext uri="{FF2B5EF4-FFF2-40B4-BE49-F238E27FC236}">
                <a16:creationId xmlns:a16="http://schemas.microsoft.com/office/drawing/2014/main" id="{74C4A8DC-3348-4867-85C9-1667F16E1BBD}"/>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First DFS on the original graph records finish order</a:t>
            </a:r>
          </a:p>
        </p:txBody>
      </p:sp>
      <p:sp>
        <p:nvSpPr>
          <p:cNvPr id="4" name="">
            <a:extLst xmlns:a="http://schemas.openxmlformats.org/drawingml/2006/main">
              <a:ext uri="{FF2B5EF4-FFF2-40B4-BE49-F238E27FC236}">
                <a16:creationId xmlns:a16="http://schemas.microsoft.com/office/drawing/2014/main" id="{79CE9762-5716-475C-91FE-A6D37BB3554A}"/>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Process roots in reverse finishing order</a:t>
            </a:r>
          </a:p>
        </p:txBody>
      </p:sp>
      <p:sp>
        <p:nvSpPr>
          <p:cNvPr id="5" name="">
            <a:extLst xmlns:a="http://schemas.openxmlformats.org/drawingml/2006/main">
              <a:ext uri="{FF2B5EF4-FFF2-40B4-BE49-F238E27FC236}">
                <a16:creationId xmlns:a16="http://schemas.microsoft.com/office/drawing/2014/main" id="{77E30826-54F7-4FD9-8728-D62A0F271ADC}"/>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Second DFS runs on the transposed graph</a:t>
            </a:r>
          </a:p>
        </p:txBody>
      </p:sp>
      <p:sp>
        <p:nvSpPr>
          <p:cNvPr id="6" name="">
            <a:extLst xmlns:a="http://schemas.openxmlformats.org/drawingml/2006/main">
              <a:ext uri="{FF2B5EF4-FFF2-40B4-BE49-F238E27FC236}">
                <a16:creationId xmlns:a16="http://schemas.microsoft.com/office/drawing/2014/main" id="{2C01A84F-B1DB-42EA-935D-69E15154F5F0}"/>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Assign one label to each second-pass search</a:t>
            </a:r>
          </a:p>
        </p:txBody>
      </p:sp>
      <p:graphicFrame>
        <p:nvGraphicFramePr>
          <p:cNvPr id="7" name="">
            <a:extLst xmlns:a="http://schemas.openxmlformats.org/drawingml/2006/main">
              <a:ext uri="{FF2B5EF4-FFF2-40B4-BE49-F238E27FC236}">
                <a16:creationId xmlns:a16="http://schemas.microsoft.com/office/drawing/2014/main" id="{D198732D-18D9-4A69-9101-21CCDD0E0D4C}"/>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1000125">
                <a:tc>
                  <a:txBody>
                    <a:bodyPr/>
                    <a:lstStyle/>
                    <a:p>
                      <a:r>
                        <a:rPr sz="1725" b="1">
                          <a:solidFill>
                            <a:srgbClr val="15273F"/>
                          </a:solidFill>
                          <a:latin typeface="Arial"/>
                          <a:ea typeface="Arial"/>
                          <a:cs typeface="Arial"/>
                        </a:rPr>
                        <a:t>First-pass example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Recorded order</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DFS follows 0→1→2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discover: 0,1,2</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Return from deepest vertex</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finish: 2,1,0</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Roots for transpose pass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reverse finish: 0,1,2</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DCE1D73-4723-40E9-8DAD-5B9CDE997E75}"/>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E3D79032-C3D2-41F2-BAC8-21AD16E60370}"/>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15</a:t>
            </a:r>
          </a:p>
        </p:txBody>
      </p:sp>
    </p:spTree>
    <p:extLst>
      <p:ext uri="{BB962C8B-B14F-4D97-AF65-F5344CB8AC3E}">
        <p14:creationId xmlns:p14="http://schemas.microsoft.com/office/powerpoint/2010/main" val="140418382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73C24F5-3A23-43B7-9B83-524CBDE8BCEF}"/>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E8C8F980-2915-4D57-ABB6-7A08DAC1628F}"/>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Kosaraju: exact output and reset</a:t>
            </a:r>
          </a:p>
        </p:txBody>
      </p:sp>
      <p:sp>
        <p:nvSpPr>
          <p:cNvPr id="3" name="">
            <a:extLst xmlns:a="http://schemas.openxmlformats.org/drawingml/2006/main">
              <a:ext uri="{FF2B5EF4-FFF2-40B4-BE49-F238E27FC236}">
                <a16:creationId xmlns:a16="http://schemas.microsoft.com/office/drawing/2014/main" id="{2FCF94CE-E209-448A-9DD2-85A176AE9B66}"/>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Build reverse adjacency for every input edge</a:t>
            </a:r>
          </a:p>
        </p:txBody>
      </p:sp>
      <p:sp>
        <p:nvSpPr>
          <p:cNvPr id="4" name="">
            <a:extLst xmlns:a="http://schemas.openxmlformats.org/drawingml/2006/main">
              <a:ext uri="{FF2B5EF4-FFF2-40B4-BE49-F238E27FC236}">
                <a16:creationId xmlns:a16="http://schemas.microsoft.com/office/drawing/2014/main" id="{E2872BEF-F491-4A9F-9BB2-B66B9C0CEE2C}"/>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Visit all roots, including isolates</a:t>
            </a:r>
          </a:p>
        </p:txBody>
      </p:sp>
      <p:sp>
        <p:nvSpPr>
          <p:cNvPr id="5" name="">
            <a:extLst xmlns:a="http://schemas.openxmlformats.org/drawingml/2006/main">
              <a:ext uri="{FF2B5EF4-FFF2-40B4-BE49-F238E27FC236}">
                <a16:creationId xmlns:a16="http://schemas.microsoft.com/office/drawing/2014/main" id="{A41FDEFA-756C-4402-A4F4-16F7345FD175}"/>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Deduplicate cross-component pairs</a:t>
            </a:r>
          </a:p>
        </p:txBody>
      </p:sp>
      <p:sp>
        <p:nvSpPr>
          <p:cNvPr id="6" name="">
            <a:extLst xmlns:a="http://schemas.openxmlformats.org/drawingml/2006/main">
              <a:ext uri="{FF2B5EF4-FFF2-40B4-BE49-F238E27FC236}">
                <a16:creationId xmlns:a16="http://schemas.microsoft.com/office/drawing/2014/main" id="{8FD2AECB-3547-436F-BD9E-321844DBEF7C}"/>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Allocate fresh labels and traversal state per request</a:t>
            </a:r>
          </a:p>
        </p:txBody>
      </p:sp>
      <p:sp>
        <p:nvSpPr>
          <p:cNvPr id="7" name="">
            <a:extLst xmlns:a="http://schemas.openxmlformats.org/drawingml/2006/main">
              <a:ext uri="{FF2B5EF4-FFF2-40B4-BE49-F238E27FC236}">
                <a16:creationId xmlns:a16="http://schemas.microsoft.com/office/drawing/2014/main" id="{1BFA2D2C-C483-469F-9036-464068393C23}"/>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After both DFS passes have assigned component[]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Set&lt;Pair&gt; pairs = new HashSet&lt;&gt;();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(int[] e : originalEdges)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a = component[e[0]], b = component[e[1]];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if (a != b) pairs.add(new Pair(a, b));</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79C933DB-A769-444E-A209-2020F8624A34}"/>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C78FE04E-A3FF-4D5B-A8B9-66CA8E964C81}"/>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16</a:t>
            </a:r>
          </a:p>
        </p:txBody>
      </p:sp>
    </p:spTree>
    <p:extLst>
      <p:ext uri="{BB962C8B-B14F-4D97-AF65-F5344CB8AC3E}">
        <p14:creationId xmlns:p14="http://schemas.microsoft.com/office/powerpoint/2010/main" val="14340838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C46B2B-C0AA-4CEC-AEF1-0D0E3B236C51}"/>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C763D6E6-EEF2-47B0-BC67-71708D3075C7}"/>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DFS topological ordering</a:t>
            </a:r>
          </a:p>
        </p:txBody>
      </p:sp>
      <p:sp>
        <p:nvSpPr>
          <p:cNvPr id="3" name="">
            <a:extLst xmlns:a="http://schemas.openxmlformats.org/drawingml/2006/main">
              <a:ext uri="{FF2B5EF4-FFF2-40B4-BE49-F238E27FC236}">
                <a16:creationId xmlns:a16="http://schemas.microsoft.com/office/drawing/2014/main" id="{D79B75E1-08DA-4167-9E71-FAD33AE7E214}"/>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WHITE: not discovered</a:t>
            </a:r>
          </a:p>
        </p:txBody>
      </p:sp>
      <p:sp>
        <p:nvSpPr>
          <p:cNvPr id="4" name="">
            <a:extLst xmlns:a="http://schemas.openxmlformats.org/drawingml/2006/main">
              <a:ext uri="{FF2B5EF4-FFF2-40B4-BE49-F238E27FC236}">
                <a16:creationId xmlns:a16="http://schemas.microsoft.com/office/drawing/2014/main" id="{2C674B63-1418-4DEE-8B8E-7BAD470F8FBF}"/>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GRAY: currently on the active DFS path</a:t>
            </a:r>
          </a:p>
        </p:txBody>
      </p:sp>
      <p:sp>
        <p:nvSpPr>
          <p:cNvPr id="5" name="">
            <a:extLst xmlns:a="http://schemas.openxmlformats.org/drawingml/2006/main">
              <a:ext uri="{FF2B5EF4-FFF2-40B4-BE49-F238E27FC236}">
                <a16:creationId xmlns:a16="http://schemas.microsoft.com/office/drawing/2014/main" id="{AAD9BF6A-C39A-4FA5-8766-E2F6F3EFAE10}"/>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BLACK: completely finished</a:t>
            </a:r>
          </a:p>
        </p:txBody>
      </p:sp>
      <p:sp>
        <p:nvSpPr>
          <p:cNvPr id="6" name="">
            <a:extLst xmlns:a="http://schemas.openxmlformats.org/drawingml/2006/main">
              <a:ext uri="{FF2B5EF4-FFF2-40B4-BE49-F238E27FC236}">
                <a16:creationId xmlns:a16="http://schemas.microsoft.com/office/drawing/2014/main" id="{6434640B-348B-46DB-BC0E-EE51B0F6A7F2}"/>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An edge to GRAY proves a directed cycle</a:t>
            </a:r>
          </a:p>
        </p:txBody>
      </p:sp>
      <p:graphicFrame>
        <p:nvGraphicFramePr>
          <p:cNvPr id="7" name="">
            <a:extLst xmlns:a="http://schemas.openxmlformats.org/drawingml/2006/main">
              <a:ext uri="{FF2B5EF4-FFF2-40B4-BE49-F238E27FC236}">
                <a16:creationId xmlns:a16="http://schemas.microsoft.com/office/drawing/2014/main" id="{2D671D2D-7E51-4432-8FAA-E8F1203AB4B0}"/>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Graph: 0→1, 0→2, 1→3, 2→3</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Order</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DFS starts0; neighbours1 before2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discover0,1,3,2</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Completed vertices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finish3,1,2,0</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Reverse postorder</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0,2,1,3</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Edge2→3 sees BLACK3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no false cycle</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EB85E1B-D3E4-4B76-A2A3-9C1C4628DD67}"/>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FF38573F-3872-49CD-8B82-CEA6098C276A}"/>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17</a:t>
            </a:r>
          </a:p>
        </p:txBody>
      </p:sp>
    </p:spTree>
    <p:extLst>
      <p:ext uri="{BB962C8B-B14F-4D97-AF65-F5344CB8AC3E}">
        <p14:creationId xmlns:p14="http://schemas.microsoft.com/office/powerpoint/2010/main" val="10602083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5C8A9E-FA01-43E6-9B6A-36149E96FF48}"/>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3AAD3C1B-0AE9-4551-B5E3-2A83F6BB9570}"/>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Iterative DFS: retain the neighbour index</a:t>
            </a:r>
          </a:p>
        </p:txBody>
      </p:sp>
      <p:sp>
        <p:nvSpPr>
          <p:cNvPr id="3" name="">
            <a:extLst xmlns:a="http://schemas.openxmlformats.org/drawingml/2006/main">
              <a:ext uri="{FF2B5EF4-FFF2-40B4-BE49-F238E27FC236}">
                <a16:creationId xmlns:a16="http://schemas.microsoft.com/office/drawing/2014/main" id="{941B7418-F385-45FC-9A22-BACCC973D23B}"/>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 plain stack of vertices does not model every return</a:t>
            </a:r>
          </a:p>
        </p:txBody>
      </p:sp>
      <p:sp>
        <p:nvSpPr>
          <p:cNvPr id="4" name="">
            <a:extLst xmlns:a="http://schemas.openxmlformats.org/drawingml/2006/main">
              <a:ext uri="{FF2B5EF4-FFF2-40B4-BE49-F238E27FC236}">
                <a16:creationId xmlns:a16="http://schemas.microsoft.com/office/drawing/2014/main" id="{2B79D1DA-626B-4152-9D9B-1053DEB9AB87}"/>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Each active frame stores its next neighbour index</a:t>
            </a:r>
          </a:p>
        </p:txBody>
      </p:sp>
      <p:sp>
        <p:nvSpPr>
          <p:cNvPr id="5" name="">
            <a:extLst xmlns:a="http://schemas.openxmlformats.org/drawingml/2006/main">
              <a:ext uri="{FF2B5EF4-FFF2-40B4-BE49-F238E27FC236}">
                <a16:creationId xmlns:a16="http://schemas.microsoft.com/office/drawing/2014/main" id="{490C905B-6BA2-434E-A39F-B0DC4D1B6357}"/>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Append to finish only after all outgoing edges</a:t>
            </a:r>
          </a:p>
        </p:txBody>
      </p:sp>
      <p:sp>
        <p:nvSpPr>
          <p:cNvPr id="6" name="">
            <a:extLst xmlns:a="http://schemas.openxmlformats.org/drawingml/2006/main">
              <a:ext uri="{FF2B5EF4-FFF2-40B4-BE49-F238E27FC236}">
                <a16:creationId xmlns:a16="http://schemas.microsoft.com/office/drawing/2014/main" id="{541408B1-A279-431F-9F30-5CC12FAA391B}"/>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Use an explicit stack for deep input graphs</a:t>
            </a:r>
          </a:p>
        </p:txBody>
      </p:sp>
      <p:sp>
        <p:nvSpPr>
          <p:cNvPr id="7" name="">
            <a:extLst xmlns:a="http://schemas.openxmlformats.org/drawingml/2006/main">
              <a:ext uri="{FF2B5EF4-FFF2-40B4-BE49-F238E27FC236}">
                <a16:creationId xmlns:a16="http://schemas.microsoft.com/office/drawing/2014/main" id="{93B9D351-B11C-4011-B01D-C30C50C66D23}"/>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Frame f = stack.peek();</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(f.next == adj[f.v].size())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color[f.v] = BLACK;</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finish.add(f.v);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stack.pop();</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else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to = adj[f.v].get(f.next++);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 Handle WHITE, GRAY and BLACK separately.</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E6371E5A-2100-4E5C-842A-368A08362C83}"/>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A52E46FC-4B62-4CD7-8FC9-AEF41D9AE460}"/>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18</a:t>
            </a:r>
          </a:p>
        </p:txBody>
      </p:sp>
    </p:spTree>
    <p:extLst>
      <p:ext uri="{BB962C8B-B14F-4D97-AF65-F5344CB8AC3E}">
        <p14:creationId xmlns:p14="http://schemas.microsoft.com/office/powerpoint/2010/main" val="15360477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7C63AC-835B-4232-89EC-F8081FB7094B}"/>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3F8A647F-698B-4E4D-AE8C-19AFA3717056}"/>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DAG shortest paths: a numeric trace</a:t>
            </a:r>
          </a:p>
        </p:txBody>
      </p:sp>
      <p:sp>
        <p:nvSpPr>
          <p:cNvPr id="3" name="">
            <a:extLst xmlns:a="http://schemas.openxmlformats.org/drawingml/2006/main">
              <a:ext uri="{FF2B5EF4-FFF2-40B4-BE49-F238E27FC236}">
                <a16:creationId xmlns:a16="http://schemas.microsoft.com/office/drawing/2014/main" id="{F8ED5794-9428-418A-8A61-0D42859A9E67}"/>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Check the whole graph for a cycle first</a:t>
            </a:r>
          </a:p>
        </p:txBody>
      </p:sp>
      <p:sp>
        <p:nvSpPr>
          <p:cNvPr id="4" name="">
            <a:extLst xmlns:a="http://schemas.openxmlformats.org/drawingml/2006/main">
              <a:ext uri="{FF2B5EF4-FFF2-40B4-BE49-F238E27FC236}">
                <a16:creationId xmlns:a16="http://schemas.microsoft.com/office/drawing/2014/main" id="{9F7BBC0B-349D-401C-A637-98B5ECEE92B3}"/>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Process vertices in a valid topological order</a:t>
            </a:r>
          </a:p>
        </p:txBody>
      </p:sp>
      <p:sp>
        <p:nvSpPr>
          <p:cNvPr id="5" name="">
            <a:extLst xmlns:a="http://schemas.openxmlformats.org/drawingml/2006/main">
              <a:ext uri="{FF2B5EF4-FFF2-40B4-BE49-F238E27FC236}">
                <a16:creationId xmlns:a16="http://schemas.microsoft.com/office/drawing/2014/main" id="{4E089273-7722-4798-B019-175BCBDA2D6B}"/>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Negative weights are allowed</a:t>
            </a:r>
          </a:p>
        </p:txBody>
      </p:sp>
      <p:sp>
        <p:nvSpPr>
          <p:cNvPr id="6" name="">
            <a:extLst xmlns:a="http://schemas.openxmlformats.org/drawingml/2006/main">
              <a:ext uri="{FF2B5EF4-FFF2-40B4-BE49-F238E27FC236}">
                <a16:creationId xmlns:a16="http://schemas.microsoft.com/office/drawing/2014/main" id="{0831353F-6253-4013-9461-E679B77B8197}"/>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Unreachable distance is null</a:t>
            </a:r>
          </a:p>
        </p:txBody>
      </p:sp>
      <p:graphicFrame>
        <p:nvGraphicFramePr>
          <p:cNvPr id="7" name="">
            <a:extLst xmlns:a="http://schemas.openxmlformats.org/drawingml/2006/main">
              <a:ext uri="{FF2B5EF4-FFF2-40B4-BE49-F238E27FC236}">
                <a16:creationId xmlns:a16="http://schemas.microsoft.com/office/drawing/2014/main" id="{919ABDB6-F20B-44DD-BC3A-522EAA2F1CF3}"/>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225550"/>
                <a:gridCol w="1225550"/>
                <a:gridCol w="1225550"/>
                <a:gridCol w="1225550"/>
                <a:gridCol w="1225550"/>
                <a:gridCol w="1225550"/>
              </a:tblGrid>
              <a:tr h="800100">
                <a:tc>
                  <a:txBody>
                    <a:bodyPr/>
                    <a:lstStyle/>
                    <a:p>
                      <a:r>
                        <a:rPr sz="1725" b="1">
                          <a:solidFill>
                            <a:srgbClr val="15273F"/>
                          </a:solidFill>
                          <a:latin typeface="Arial"/>
                          <a:ea typeface="Arial"/>
                          <a:cs typeface="Arial"/>
                        </a:rPr>
                        <a:t>Step</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d1</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d2</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d3</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d4</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initial</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0: 0→1(3), 0→2(8)</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8</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1: 1→2(−5)</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2: 2→3(4)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24173056-A494-4A12-BED2-85A9F770A935}"/>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2A57A571-BF77-4D97-AABE-DCBE55EB0216}"/>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19</a:t>
            </a:r>
          </a:p>
        </p:txBody>
      </p:sp>
    </p:spTree>
    <p:extLst>
      <p:ext uri="{BB962C8B-B14F-4D97-AF65-F5344CB8AC3E}">
        <p14:creationId xmlns:p14="http://schemas.microsoft.com/office/powerpoint/2010/main" val="1238962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164063-B9DE-42D6-AE74-110D48CB0856}"/>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C623EB8A-2476-4734-B049-0CA6A0FAC831}"/>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Why one topological pass is sufficient</a:t>
            </a:r>
          </a:p>
        </p:txBody>
      </p:sp>
      <p:sp>
        <p:nvSpPr>
          <p:cNvPr id="3" name="">
            <a:extLst xmlns:a="http://schemas.openxmlformats.org/drawingml/2006/main">
              <a:ext uri="{FF2B5EF4-FFF2-40B4-BE49-F238E27FC236}">
                <a16:creationId xmlns:a16="http://schemas.microsoft.com/office/drawing/2014/main" id="{DBFBD7D5-E888-4317-8DB4-F4EDBB2093FB}"/>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Every predecessor is processed before its target</a:t>
            </a:r>
          </a:p>
        </p:txBody>
      </p:sp>
      <p:sp>
        <p:nvSpPr>
          <p:cNvPr id="4" name="">
            <a:extLst xmlns:a="http://schemas.openxmlformats.org/drawingml/2006/main">
              <a:ext uri="{FF2B5EF4-FFF2-40B4-BE49-F238E27FC236}">
                <a16:creationId xmlns:a16="http://schemas.microsoft.com/office/drawing/2014/main" id="{AA1A4BEF-68FE-4E9A-A353-0080822A8293}"/>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The final distance to u is ready when u is processed</a:t>
            </a:r>
          </a:p>
        </p:txBody>
      </p:sp>
      <p:sp>
        <p:nvSpPr>
          <p:cNvPr id="5" name="">
            <a:extLst xmlns:a="http://schemas.openxmlformats.org/drawingml/2006/main">
              <a:ext uri="{FF2B5EF4-FFF2-40B4-BE49-F238E27FC236}">
                <a16:creationId xmlns:a16="http://schemas.microsoft.com/office/drawing/2014/main" id="{1D6A9719-2088-41A7-8C94-5D3F4F61D4DC}"/>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Relax every outgoing edge once</a:t>
            </a:r>
          </a:p>
        </p:txBody>
      </p:sp>
      <p:sp>
        <p:nvSpPr>
          <p:cNvPr id="6" name="">
            <a:extLst xmlns:a="http://schemas.openxmlformats.org/drawingml/2006/main">
              <a:ext uri="{FF2B5EF4-FFF2-40B4-BE49-F238E27FC236}">
                <a16:creationId xmlns:a16="http://schemas.microsoft.com/office/drawing/2014/main" id="{773C6303-7788-4F27-9D77-4EA33180FA8F}"/>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Skip u when distance[u] is null</a:t>
            </a:r>
          </a:p>
        </p:txBody>
      </p:sp>
      <p:sp>
        <p:nvSpPr>
          <p:cNvPr id="7" name="">
            <a:extLst xmlns:a="http://schemas.openxmlformats.org/drawingml/2006/main">
              <a:ext uri="{FF2B5EF4-FFF2-40B4-BE49-F238E27FC236}">
                <a16:creationId xmlns:a16="http://schemas.microsoft.com/office/drawing/2014/main" id="{FFAFA193-D56B-4BAF-8236-9D1EF28106A8}"/>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Long du = distance[u];</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(du == null) continue;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(Edge e : outgoing[u])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long candidate = du + e.weight;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if (distance[e.to] == null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candidate &lt; distance[e.to])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distance[e.to] = candidate;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parentEdge[e.to] = e.id;</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5039402C-1142-42BA-A2DD-568D22FDD865}"/>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5DEE9CC7-D8FA-4ECD-9B37-0C3E7DDF618C}"/>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20</a:t>
            </a:r>
          </a:p>
        </p:txBody>
      </p:sp>
    </p:spTree>
    <p:extLst>
      <p:ext uri="{BB962C8B-B14F-4D97-AF65-F5344CB8AC3E}">
        <p14:creationId xmlns:p14="http://schemas.microsoft.com/office/powerpoint/2010/main" val="214225466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0B9461-D4BF-4ECD-BC14-A3EF2F20AF79}"/>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615755D4-2DDE-4792-A384-25B42C63EDB0}"/>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Route reconstruction from parent_edge</a:t>
            </a:r>
          </a:p>
        </p:txBody>
      </p:sp>
      <p:sp>
        <p:nvSpPr>
          <p:cNvPr id="3" name="">
            <a:extLst xmlns:a="http://schemas.openxmlformats.org/drawingml/2006/main">
              <a:ext uri="{FF2B5EF4-FFF2-40B4-BE49-F238E27FC236}">
                <a16:creationId xmlns:a16="http://schemas.microsoft.com/office/drawing/2014/main" id="{F42AF1E4-3A92-4F83-A671-96293748C8D7}"/>
              </a:ext>
            </a:extLst>
          </p:cNvPr>
          <p:cNvSpPr>
            <a:spLocks xmlns:a="http://schemas.openxmlformats.org/drawingml/2006/main" noGrp="1"/>
          </p:cNvSpPr>
          <p:nvPr/>
        </p:nvSpPr>
        <p:spPr>
          <a:xfrm xmlns:a="http://schemas.openxmlformats.org/drawingml/2006/main">
            <a:off x="609600" y="16668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parent_edge[v] identifies the incoming original edge</a:t>
            </a:r>
          </a:p>
        </p:txBody>
      </p:sp>
      <p:sp>
        <p:nvSpPr>
          <p:cNvPr id="4" name="">
            <a:extLst xmlns:a="http://schemas.openxmlformats.org/drawingml/2006/main">
              <a:ext uri="{FF2B5EF4-FFF2-40B4-BE49-F238E27FC236}">
                <a16:creationId xmlns:a16="http://schemas.microsoft.com/office/drawing/2014/main" id="{8C63C3E0-79C4-4B77-8964-E50989166296}"/>
              </a:ext>
            </a:extLst>
          </p:cNvPr>
          <p:cNvSpPr>
            <a:spLocks xmlns:a="http://schemas.openxmlformats.org/drawingml/2006/main" noGrp="1"/>
          </p:cNvSpPr>
          <p:nvPr/>
        </p:nvSpPr>
        <p:spPr>
          <a:xfrm xmlns:a="http://schemas.openxmlformats.org/drawingml/2006/main">
            <a:off x="609600" y="203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Follow incoming edges backwards to the source</a:t>
            </a:r>
          </a:p>
        </p:txBody>
      </p:sp>
      <p:sp>
        <p:nvSpPr>
          <p:cNvPr id="5" name="">
            <a:extLst xmlns:a="http://schemas.openxmlformats.org/drawingml/2006/main">
              <a:ext uri="{FF2B5EF4-FFF2-40B4-BE49-F238E27FC236}">
                <a16:creationId xmlns:a16="http://schemas.microsoft.com/office/drawing/2014/main" id="{CB83532E-8804-4021-8B97-C483FEB9ACD9}"/>
              </a:ext>
            </a:extLst>
          </p:cNvPr>
          <p:cNvSpPr>
            <a:spLocks xmlns:a="http://schemas.openxmlformats.org/drawingml/2006/main" noGrp="1"/>
          </p:cNvSpPr>
          <p:nvPr/>
        </p:nvSpPr>
        <p:spPr>
          <a:xfrm xmlns:a="http://schemas.openxmlformats.org/drawingml/2006/main">
            <a:off x="609600" y="24098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Reverse the collected vertices</a:t>
            </a:r>
          </a:p>
        </p:txBody>
      </p:sp>
      <p:sp>
        <p:nvSpPr>
          <p:cNvPr id="6" name="">
            <a:extLst xmlns:a="http://schemas.openxmlformats.org/drawingml/2006/main">
              <a:ext uri="{FF2B5EF4-FFF2-40B4-BE49-F238E27FC236}">
                <a16:creationId xmlns:a16="http://schemas.microsoft.com/office/drawing/2014/main" id="{0D5CB09B-BF27-4B59-AC93-D84DF7FC10F9}"/>
              </a:ext>
            </a:extLst>
          </p:cNvPr>
          <p:cNvSpPr>
            <a:spLocks xmlns:a="http://schemas.openxmlformats.org/drawingml/2006/main" noGrp="1"/>
          </p:cNvSpPr>
          <p:nvPr/>
        </p:nvSpPr>
        <p:spPr>
          <a:xfrm xmlns:a="http://schemas.openxmlformats.org/drawingml/2006/main">
            <a:off x="609600" y="27813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Test reachable, source and unreachable targets</a:t>
            </a:r>
          </a:p>
        </p:txBody>
      </p:sp>
      <p:graphicFrame>
        <p:nvGraphicFramePr>
          <p:cNvPr id="7" name="">
            <a:extLst xmlns:a="http://schemas.openxmlformats.org/drawingml/2006/main">
              <a:ext uri="{FF2B5EF4-FFF2-40B4-BE49-F238E27FC236}">
                <a16:creationId xmlns:a16="http://schemas.microsoft.com/office/drawing/2014/main" id="{696283CE-2ADB-4EEE-83AE-FF513E8DDBD0}"/>
              </a:ext>
            </a:extLst>
          </p:cNvPr>
          <p:cNvGraphicFramePr/>
          <p:nvPr/>
        </p:nvGraphicFramePr>
        <p:xfrm>
          <a:off xmlns:a="http://schemas.openxmlformats.org/drawingml/2006/main" x="609600" y="3419475"/>
          <a:ext xmlns:a="http://schemas.openxmlformats.org/drawingml/2006/main" cx="5334000" cy="2428875"/>
        </p:xfrm>
        <a:graphic xmlns:a="http://schemas.openxmlformats.org/drawingml/2006/main">
          <a:graphicData uri="http://schemas.openxmlformats.org/drawingml/2006/table">
            <a:tbl>
              <a:tblPr/>
              <a:tblGrid>
                <a:gridCol w="1333500"/>
                <a:gridCol w="2080260"/>
                <a:gridCol w="1920240"/>
              </a:tblGrid>
              <a:tr h="607219">
                <a:tc>
                  <a:txBody>
                    <a:bodyPr/>
                    <a:lstStyle/>
                    <a:p>
                      <a:r>
                        <a:rPr sz="1725" b="1">
                          <a:solidFill>
                            <a:srgbClr val="15273F"/>
                          </a:solidFill>
                          <a:latin typeface="Arial"/>
                          <a:ea typeface="Arial"/>
                          <a:cs typeface="Arial"/>
                        </a:rPr>
                        <a:t>Target</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Example route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Helper cost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07219">
                <a:tc>
                  <a:txBody>
                    <a:bodyPr/>
                    <a:lstStyle/>
                    <a:p>
                      <a:r>
                        <a:rPr sz="1725" b="0">
                          <a:solidFill>
                            <a:srgbClr val="15273F"/>
                          </a:solidFill>
                          <a:latin typeface="Arial"/>
                          <a:ea typeface="Arial"/>
                          <a:cs typeface="Arial"/>
                        </a:rPr>
                        <a:t>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[0,1,2,3]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O(4) vertices</a:t>
                      </a:r>
                    </a:p>
                  </a:txBody>
                  <a:tcPr marL="91440" marR="91440" marT="45720" marB="45720">
                    <a:lnR w="9525">
                      <a:solidFill>
                        <a:srgbClr val="D8DEE6"/>
                      </a:solidFill>
                      <a:prstDash val="solid"/>
                    </a:lnR>
                    <a:lnB w="9525">
                      <a:solidFill>
                        <a:srgbClr val="D8DEE6"/>
                      </a:solidFill>
                      <a:prstDash val="solid"/>
                    </a:lnB>
                    <a:solidFill>
                      <a:srgbClr val="FFFFFF"/>
                    </a:solidFill>
                  </a:tcPr>
                </a:tc>
              </a:tr>
              <a:tr h="607219">
                <a:tc>
                  <a:txBody>
                    <a:bodyPr/>
                    <a:lstStyle/>
                    <a:p>
                      <a:r>
                        <a:rPr sz="1725" b="0">
                          <a:solidFill>
                            <a:srgbClr val="15273F"/>
                          </a:solidFill>
                          <a:latin typeface="Arial"/>
                          <a:ea typeface="Arial"/>
                          <a:cs typeface="Arial"/>
                        </a:rPr>
                        <a:t>0: source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O(1)</a:t>
                      </a:r>
                    </a:p>
                  </a:txBody>
                  <a:tcPr marL="91440" marR="91440" marT="45720" marB="45720">
                    <a:lnR w="9525">
                      <a:solidFill>
                        <a:srgbClr val="D8DEE6"/>
                      </a:solidFill>
                      <a:prstDash val="solid"/>
                    </a:lnR>
                    <a:lnB w="9525">
                      <a:solidFill>
                        <a:srgbClr val="D8DEE6"/>
                      </a:solidFill>
                      <a:prstDash val="solid"/>
                    </a:lnB>
                    <a:solidFill>
                      <a:srgbClr val="FFFFFF"/>
                    </a:solidFill>
                  </a:tcPr>
                </a:tc>
              </a:tr>
              <a:tr h="607219">
                <a:tc>
                  <a:txBody>
                    <a:bodyPr/>
                    <a:lstStyle/>
                    <a:p>
                      <a:r>
                        <a:rPr sz="1725" b="0">
                          <a:solidFill>
                            <a:srgbClr val="15273F"/>
                          </a:solidFill>
                          <a:latin typeface="Arial"/>
                          <a:ea typeface="Arial"/>
                          <a:cs typeface="Arial"/>
                        </a:rPr>
                        <a:t>4: no path</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O(1) no-route result</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D6AA514-C044-4126-AEB2-57BDD93E21E3}"/>
              </a:ext>
            </a:extLst>
          </p:cNvPr>
          <p:cNvSpPr>
            <a:spLocks xmlns:a="http://schemas.openxmlformats.org/drawingml/2006/main" noGrp="1"/>
          </p:cNvSpPr>
          <p:nvPr/>
        </p:nvSpPr>
        <p:spPr>
          <a:xfrm xmlns:a="http://schemas.openxmlformats.org/drawingml/2006/main">
            <a:off x="6419850" y="3419475"/>
            <a:ext cx="5238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While v != source: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int id = parentEdge[v];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int previous = edges[id][0];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Collect v, move to previous.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Reverse the collected route.</a:t>
            </a:r>
          </a:p>
        </p:txBody>
      </p:sp>
      <p:sp>
        <p:nvSpPr>
          <p:cNvPr id="9" name="">
            <a:extLst xmlns:a="http://schemas.openxmlformats.org/drawingml/2006/main">
              <a:ext uri="{FF2B5EF4-FFF2-40B4-BE49-F238E27FC236}">
                <a16:creationId xmlns:a16="http://schemas.microsoft.com/office/drawing/2014/main" id="{37605B5F-1A6D-448B-BF6F-1BD7515BE29C}"/>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10" name="">
            <a:extLst xmlns:a="http://schemas.openxmlformats.org/drawingml/2006/main">
              <a:ext uri="{FF2B5EF4-FFF2-40B4-BE49-F238E27FC236}">
                <a16:creationId xmlns:a16="http://schemas.microsoft.com/office/drawing/2014/main" id="{23E76699-6CBD-462F-9CD2-8ADEC3FC61AC}"/>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21</a:t>
            </a:r>
          </a:p>
        </p:txBody>
      </p:sp>
    </p:spTree>
    <p:extLst>
      <p:ext uri="{BB962C8B-B14F-4D97-AF65-F5344CB8AC3E}">
        <p14:creationId xmlns:p14="http://schemas.microsoft.com/office/powerpoint/2010/main" val="151429229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F5FBF9-C388-4BB4-A469-9FF89BD5E063}"/>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EA8D93A5-DA89-4790-8690-5E982320E9E0}"/>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Ties, original IDs and 64-bit arithmetic</a:t>
            </a:r>
          </a:p>
        </p:txBody>
      </p:sp>
      <p:sp>
        <p:nvSpPr>
          <p:cNvPr id="3" name="">
            <a:extLst xmlns:a="http://schemas.openxmlformats.org/drawingml/2006/main">
              <a:ext uri="{FF2B5EF4-FFF2-40B4-BE49-F238E27FC236}">
                <a16:creationId xmlns:a16="http://schemas.microsoft.com/office/drawing/2014/main" id="{F6321C6A-9786-496A-BD63-A4944BDA3C7F}"/>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Parallel edges keep different input IDs</a:t>
            </a:r>
          </a:p>
        </p:txBody>
      </p:sp>
      <p:sp>
        <p:nvSpPr>
          <p:cNvPr id="4" name="">
            <a:extLst xmlns:a="http://schemas.openxmlformats.org/drawingml/2006/main">
              <a:ext uri="{FF2B5EF4-FFF2-40B4-BE49-F238E27FC236}">
                <a16:creationId xmlns:a16="http://schemas.microsoft.com/office/drawing/2014/main" id="{8BF9D1B1-7555-412B-9EFA-EEE360A15733}"/>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Several shortest paths can have the same length</a:t>
            </a:r>
          </a:p>
        </p:txBody>
      </p:sp>
      <p:sp>
        <p:nvSpPr>
          <p:cNvPr id="5" name="">
            <a:extLst xmlns:a="http://schemas.openxmlformats.org/drawingml/2006/main">
              <a:ext uri="{FF2B5EF4-FFF2-40B4-BE49-F238E27FC236}">
                <a16:creationId xmlns:a16="http://schemas.microsoft.com/office/drawing/2014/main" id="{F1D21F96-682B-4961-8381-682A9F2993E5}"/>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 parent edge must really end at that vertex</a:t>
            </a:r>
          </a:p>
        </p:txBody>
      </p:sp>
      <p:sp>
        <p:nvSpPr>
          <p:cNvPr id="6" name="">
            <a:extLst xmlns:a="http://schemas.openxmlformats.org/drawingml/2006/main">
              <a:ext uri="{FF2B5EF4-FFF2-40B4-BE49-F238E27FC236}">
                <a16:creationId xmlns:a16="http://schemas.microsoft.com/office/drawing/2014/main" id="{C775AEB8-48C3-4F59-9424-CA60638A06A1}"/>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Cast before arithmetic that can overflow int</a:t>
            </a:r>
          </a:p>
        </p:txBody>
      </p:sp>
      <p:sp>
        <p:nvSpPr>
          <p:cNvPr id="7" name="">
            <a:extLst xmlns:a="http://schemas.openxmlformats.org/drawingml/2006/main">
              <a:ext uri="{FF2B5EF4-FFF2-40B4-BE49-F238E27FC236}">
                <a16:creationId xmlns:a16="http://schemas.microsoft.com/office/drawing/2014/main" id="{71304E7D-0A11-494A-8ABE-6982A1D02BD7}"/>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long safe = 3L * 1_000_000_000; // 3000000000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3 * 1_000_000_000 overflows as int first.</a:t>
            </a:r>
          </a:p>
          <a:p xmlns:a="http://schemas.openxmlformats.org/drawingml/2006/main">
            <a:r>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Source and unreachable parent edge: -1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Source distance: 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Unreachable distance: null</a:t>
            </a:r>
          </a:p>
        </p:txBody>
      </p:sp>
      <p:sp>
        <p:nvSpPr>
          <p:cNvPr id="8" name="">
            <a:extLst xmlns:a="http://schemas.openxmlformats.org/drawingml/2006/main">
              <a:ext uri="{FF2B5EF4-FFF2-40B4-BE49-F238E27FC236}">
                <a16:creationId xmlns:a16="http://schemas.microsoft.com/office/drawing/2014/main" id="{62129B23-E247-4D82-8F64-AD60824B3AB3}"/>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4118C13F-1BE9-433D-A619-C737AF1DA0D1}"/>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22</a:t>
            </a:r>
          </a:p>
        </p:txBody>
      </p:sp>
    </p:spTree>
    <p:extLst>
      <p:ext uri="{BB962C8B-B14F-4D97-AF65-F5344CB8AC3E}">
        <p14:creationId xmlns:p14="http://schemas.microsoft.com/office/powerpoint/2010/main" val="5790906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2FC930-BEDA-4316-9F28-C970E44734F3}"/>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507ED3CB-8013-4FF6-AE2A-B7215F3CA711}"/>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Time and space, including the result</a:t>
            </a:r>
          </a:p>
        </p:txBody>
      </p:sp>
      <p:sp>
        <p:nvSpPr>
          <p:cNvPr id="3" name="">
            <a:extLst xmlns:a="http://schemas.openxmlformats.org/drawingml/2006/main">
              <a:ext uri="{FF2B5EF4-FFF2-40B4-BE49-F238E27FC236}">
                <a16:creationId xmlns:a16="http://schemas.microsoft.com/office/drawing/2014/main" id="{1BE1FDC4-5BD8-4ECE-BA1B-5AC5425CF9C1}"/>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Use adjacency lists for linear graph traversals</a:t>
            </a:r>
          </a:p>
        </p:txBody>
      </p:sp>
      <p:sp>
        <p:nvSpPr>
          <p:cNvPr id="4" name="">
            <a:extLst xmlns:a="http://schemas.openxmlformats.org/drawingml/2006/main">
              <a:ext uri="{FF2B5EF4-FFF2-40B4-BE49-F238E27FC236}">
                <a16:creationId xmlns:a16="http://schemas.microsoft.com/office/drawing/2014/main" id="{06C40167-71BF-4B9B-BABF-3BD472946026}"/>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Do not confuse one slow operation with amortized time</a:t>
            </a:r>
          </a:p>
        </p:txBody>
      </p:sp>
      <p:sp>
        <p:nvSpPr>
          <p:cNvPr id="5" name="">
            <a:extLst xmlns:a="http://schemas.openxmlformats.org/drawingml/2006/main">
              <a:ext uri="{FF2B5EF4-FFF2-40B4-BE49-F238E27FC236}">
                <a16:creationId xmlns:a16="http://schemas.microsoft.com/office/drawing/2014/main" id="{676AF88E-F280-4F4F-BFD7-9E3E5EC58BF4}"/>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Count returned states, edge IDs, labels and routes</a:t>
            </a:r>
          </a:p>
        </p:txBody>
      </p:sp>
      <p:sp>
        <p:nvSpPr>
          <p:cNvPr id="6" name="">
            <a:extLst xmlns:a="http://schemas.openxmlformats.org/drawingml/2006/main">
              <a:ext uri="{FF2B5EF4-FFF2-40B4-BE49-F238E27FC236}">
                <a16:creationId xmlns:a16="http://schemas.microsoft.com/office/drawing/2014/main" id="{7545C242-792B-42C4-A0D4-D683F8F5CC65}"/>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Explain your actual representation</a:t>
            </a:r>
          </a:p>
        </p:txBody>
      </p:sp>
      <p:graphicFrame>
        <p:nvGraphicFramePr>
          <p:cNvPr id="7" name="">
            <a:extLst xmlns:a="http://schemas.openxmlformats.org/drawingml/2006/main">
              <a:ext uri="{FF2B5EF4-FFF2-40B4-BE49-F238E27FC236}">
                <a16:creationId xmlns:a16="http://schemas.microsoft.com/office/drawing/2014/main" id="{8E9178FD-3630-40F4-AA52-8DD61BD33D09}"/>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666750">
                <a:tc>
                  <a:txBody>
                    <a:bodyPr/>
                    <a:lstStyle/>
                    <a:p>
                      <a:r>
                        <a:rPr sz="1725" b="1">
                          <a:solidFill>
                            <a:srgbClr val="15273F"/>
                          </a:solidFill>
                          <a:latin typeface="Arial"/>
                          <a:ea typeface="Arial"/>
                          <a:cs typeface="Arial"/>
                        </a:rPr>
                        <a:t>Method</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Time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Total relevant space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DSU, q operations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O(n+q α(n))</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O(n+q), incl.states</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Kruskal / lazy Prim</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 log(m+1))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Kosaraju / DFS topo</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DAG paths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Route helper, L vertices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O(L) output</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4802832-CC6A-4373-B46A-AE6A7B8C23D3}"/>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AAF4D1F9-E028-4045-AA13-64AD5B046FC7}"/>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23</a:t>
            </a:r>
          </a:p>
        </p:txBody>
      </p:sp>
    </p:spTree>
    <p:extLst>
      <p:ext uri="{BB962C8B-B14F-4D97-AF65-F5344CB8AC3E}">
        <p14:creationId xmlns:p14="http://schemas.microsoft.com/office/powerpoint/2010/main" val="182151178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7E37AD-2160-4B18-B270-39142A99FC21}"/>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CF97AA43-3AE6-4112-9BF7-DD38BF0BC22B}"/>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Test the witness, not only the number</a:t>
            </a:r>
          </a:p>
        </p:txBody>
      </p:sp>
      <p:sp>
        <p:nvSpPr>
          <p:cNvPr id="3" name="">
            <a:extLst xmlns:a="http://schemas.openxmlformats.org/drawingml/2006/main">
              <a:ext uri="{FF2B5EF4-FFF2-40B4-BE49-F238E27FC236}">
                <a16:creationId xmlns:a16="http://schemas.microsoft.com/office/drawing/2014/main" id="{737FFBE9-90C0-4481-921A-CFAC5BFFA2E8}"/>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 forest needs valid original IDs and no cycles</a:t>
            </a:r>
          </a:p>
        </p:txBody>
      </p:sp>
      <p:sp>
        <p:nvSpPr>
          <p:cNvPr id="4" name="">
            <a:extLst xmlns:a="http://schemas.openxmlformats.org/drawingml/2006/main">
              <a:ext uri="{FF2B5EF4-FFF2-40B4-BE49-F238E27FC236}">
                <a16:creationId xmlns:a16="http://schemas.microsoft.com/office/drawing/2014/main" id="{60EC1FD8-E35E-4DFF-A6AD-84569D93AB6F}"/>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SCC labels must describe the exact same partition</a:t>
            </a:r>
          </a:p>
        </p:txBody>
      </p:sp>
      <p:sp>
        <p:nvSpPr>
          <p:cNvPr id="5" name="">
            <a:extLst xmlns:a="http://schemas.openxmlformats.org/drawingml/2006/main">
              <a:ext uri="{FF2B5EF4-FFF2-40B4-BE49-F238E27FC236}">
                <a16:creationId xmlns:a16="http://schemas.microsoft.com/office/drawing/2014/main" id="{8DAB0E41-E371-453B-A0F7-1CCF339A51F0}"/>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Topo order must contain all vertices once</a:t>
            </a:r>
          </a:p>
        </p:txBody>
      </p:sp>
      <p:sp>
        <p:nvSpPr>
          <p:cNvPr id="6" name="">
            <a:extLst xmlns:a="http://schemas.openxmlformats.org/drawingml/2006/main">
              <a:ext uri="{FF2B5EF4-FFF2-40B4-BE49-F238E27FC236}">
                <a16:creationId xmlns:a16="http://schemas.microsoft.com/office/drawing/2014/main" id="{704D9126-023A-42EA-AE6C-F587BE8E488E}"/>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Parent edges must form real source-to-target paths</a:t>
            </a:r>
          </a:p>
        </p:txBody>
      </p:sp>
      <p:graphicFrame>
        <p:nvGraphicFramePr>
          <p:cNvPr id="7" name="">
            <a:extLst xmlns:a="http://schemas.openxmlformats.org/drawingml/2006/main">
              <a:ext uri="{FF2B5EF4-FFF2-40B4-BE49-F238E27FC236}">
                <a16:creationId xmlns:a16="http://schemas.microsoft.com/office/drawing/2014/main" id="{2D820797-E2B3-4B32-874A-7EFB22DE33B5}"/>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Case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Expected check</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Same cost, duplicate edge ID</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reject witness</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Consistently renamed SCC labels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accept partition</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Tied valid shortest route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accept optimum</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Correct distance, wrong parent edge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reject witness</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025AF6E-762A-4922-9014-E6E2709B203F}"/>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BCC000C5-D4FB-448C-A860-FB1F2A3EE512}"/>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24</a:t>
            </a:r>
          </a:p>
        </p:txBody>
      </p:sp>
    </p:spTree>
    <p:extLst>
      <p:ext uri="{BB962C8B-B14F-4D97-AF65-F5344CB8AC3E}">
        <p14:creationId xmlns:p14="http://schemas.microsoft.com/office/powerpoint/2010/main" val="35529163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F61B923-0268-49E1-B027-9BD8B998D4A9}"/>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496A5FBD-975D-49AC-86C0-2B2500C20BCC}"/>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Own tests and independent requests</a:t>
            </a:r>
          </a:p>
        </p:txBody>
      </p:sp>
      <p:sp>
        <p:nvSpPr>
          <p:cNvPr id="3" name="">
            <a:extLst xmlns:a="http://schemas.openxmlformats.org/drawingml/2006/main">
              <a:ext uri="{FF2B5EF4-FFF2-40B4-BE49-F238E27FC236}">
                <a16:creationId xmlns:a16="http://schemas.microsoft.com/office/drawing/2014/main" id="{E5AC96C3-BB4D-4563-B4B3-0311AF89DD5A}"/>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Record input, expected output and actual output</a:t>
            </a:r>
          </a:p>
        </p:txBody>
      </p:sp>
      <p:sp>
        <p:nvSpPr>
          <p:cNvPr id="4" name="">
            <a:extLst xmlns:a="http://schemas.openxmlformats.org/drawingml/2006/main">
              <a:ext uri="{FF2B5EF4-FFF2-40B4-BE49-F238E27FC236}">
                <a16:creationId xmlns:a16="http://schemas.microsoft.com/office/drawing/2014/main" id="{487A367A-ADD4-4BF5-BF2E-4FCEC6926110}"/>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Cover ordinary and published boundary cases</a:t>
            </a:r>
          </a:p>
        </p:txBody>
      </p:sp>
      <p:sp>
        <p:nvSpPr>
          <p:cNvPr id="5" name="">
            <a:extLst xmlns:a="http://schemas.openxmlformats.org/drawingml/2006/main">
              <a:ext uri="{FF2B5EF4-FFF2-40B4-BE49-F238E27FC236}">
                <a16:creationId xmlns:a16="http://schemas.microsoft.com/office/drawing/2014/main" id="{8962C9BE-CD1C-4993-B9A5-9CD1FE6B0851}"/>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Use several tasks in the same process</a:t>
            </a:r>
          </a:p>
        </p:txBody>
      </p:sp>
      <p:sp>
        <p:nvSpPr>
          <p:cNvPr id="6" name="">
            <a:extLst xmlns:a="http://schemas.openxmlformats.org/drawingml/2006/main">
              <a:ext uri="{FF2B5EF4-FFF2-40B4-BE49-F238E27FC236}">
                <a16:creationId xmlns:a16="http://schemas.microsoft.com/office/drawing/2014/main" id="{06594792-885E-4C0D-B0CC-1B773E53F49D}"/>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Run large and deep inputs after small correctness checks</a:t>
            </a:r>
          </a:p>
        </p:txBody>
      </p:sp>
      <p:sp>
        <p:nvSpPr>
          <p:cNvPr id="7" name="">
            <a:extLst xmlns:a="http://schemas.openxmlformats.org/drawingml/2006/main">
              <a:ext uri="{FF2B5EF4-FFF2-40B4-BE49-F238E27FC236}">
                <a16:creationId xmlns:a16="http://schemas.microsoft.com/office/drawing/2014/main" id="{BF77A392-540B-4675-A1DE-D2688CEFAFF7}"/>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DSU request → repeat union → DSU request n=0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MST request → disconnected forest → SCC request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Topo DAG → cyclic graph → DAG shortest paths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Reachable helper → source helper → unreachable helper</a:t>
            </a:r>
          </a:p>
        </p:txBody>
      </p:sp>
      <p:sp>
        <p:nvSpPr>
          <p:cNvPr id="8" name="">
            <a:extLst xmlns:a="http://schemas.openxmlformats.org/drawingml/2006/main">
              <a:ext uri="{FF2B5EF4-FFF2-40B4-BE49-F238E27FC236}">
                <a16:creationId xmlns:a16="http://schemas.microsoft.com/office/drawing/2014/main" id="{F6F77E78-15EB-4411-953B-62A284BDBBA1}"/>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19AD777A-60A7-4B75-AEC5-63F4590EB043}"/>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25</a:t>
            </a:r>
          </a:p>
        </p:txBody>
      </p:sp>
    </p:spTree>
    <p:extLst>
      <p:ext uri="{BB962C8B-B14F-4D97-AF65-F5344CB8AC3E}">
        <p14:creationId xmlns:p14="http://schemas.microsoft.com/office/powerpoint/2010/main" val="54091179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0361BB-1D2C-40BD-9ACE-AAAF176B0119}"/>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CDBAA74B-4DBF-47EE-8238-880CB1F87BCE}"/>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Kruskal–Prim benchmark: illustrative data</a:t>
            </a:r>
          </a:p>
        </p:txBody>
      </p:sp>
      <p:sp>
        <p:nvSpPr>
          <p:cNvPr id="3" name="">
            <a:extLst xmlns:a="http://schemas.openxmlformats.org/drawingml/2006/main">
              <a:ext uri="{FF2B5EF4-FFF2-40B4-BE49-F238E27FC236}">
                <a16:creationId xmlns:a16="http://schemas.microsoft.com/office/drawing/2014/main" id="{5EFB1224-395A-458B-AB5C-3AC3E8A4D6DE}"/>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Check correctness before timing</a:t>
            </a:r>
          </a:p>
        </p:txBody>
      </p:sp>
      <p:sp>
        <p:nvSpPr>
          <p:cNvPr id="4" name="">
            <a:extLst xmlns:a="http://schemas.openxmlformats.org/drawingml/2006/main">
              <a:ext uri="{FF2B5EF4-FFF2-40B4-BE49-F238E27FC236}">
                <a16:creationId xmlns:a16="http://schemas.microsoft.com/office/drawing/2014/main" id="{10A56D43-58BF-47EB-AB3D-0BC360F52006}"/>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Same graphs, environment and timing scope</a:t>
            </a:r>
          </a:p>
        </p:txBody>
      </p:sp>
      <p:sp>
        <p:nvSpPr>
          <p:cNvPr id="5" name="">
            <a:extLst xmlns:a="http://schemas.openxmlformats.org/drawingml/2006/main">
              <a:ext uri="{FF2B5EF4-FFF2-40B4-BE49-F238E27FC236}">
                <a16:creationId xmlns:a16="http://schemas.microsoft.com/office/drawing/2014/main" id="{17D5BDCE-47BD-4F0B-B39D-49F3CF50B2C0}"/>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Three runs per method at each of three sizes</a:t>
            </a:r>
          </a:p>
        </p:txBody>
      </p:sp>
      <p:sp>
        <p:nvSpPr>
          <p:cNvPr id="6" name="">
            <a:extLst xmlns:a="http://schemas.openxmlformats.org/drawingml/2006/main">
              <a:ext uri="{FF2B5EF4-FFF2-40B4-BE49-F238E27FC236}">
                <a16:creationId xmlns:a16="http://schemas.microsoft.com/office/drawing/2014/main" id="{5328FDEE-ED53-4079-B39F-EA222205FBED}"/>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Report all samples and medians</a:t>
            </a:r>
          </a:p>
        </p:txBody>
      </p:sp>
      <p:graphicFrame>
        <p:nvGraphicFramePr>
          <p:cNvPr id="7" name="">
            <a:extLst xmlns:a="http://schemas.openxmlformats.org/drawingml/2006/main">
              <a:ext uri="{FF2B5EF4-FFF2-40B4-BE49-F238E27FC236}">
                <a16:creationId xmlns:a16="http://schemas.microsoft.com/office/drawing/2014/main" id="{48D0CC5C-B8AB-4193-94E3-77F38CC11DA2}"/>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1838325"/>
                <a:gridCol w="1838325"/>
                <a:gridCol w="1838325"/>
              </a:tblGrid>
              <a:tr h="1000125">
                <a:tc>
                  <a:txBody>
                    <a:bodyPr/>
                    <a:lstStyle/>
                    <a:p>
                      <a:r>
                        <a:rPr sz="1725" b="1">
                          <a:solidFill>
                            <a:srgbClr val="15273F"/>
                          </a:solidFill>
                          <a:latin typeface="Arial"/>
                          <a:ea typeface="Arial"/>
                          <a:cs typeface="Arial"/>
                        </a:rPr>
                        <a:t>n,m</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Kruskal samples ms</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Prim samples ms</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Medians K/P</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1000,3000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12,9,10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8,6,7</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10 / 7</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5000,15000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68,60,64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49,43,46</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64 / 46</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10000,30000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151,139,145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110,98,104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145 / 104</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11B6E49-24EE-40C2-86BB-A0D7897936A9}"/>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1383250E-4612-41D8-A120-AC3530AEDA80}"/>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26</a:t>
            </a:r>
          </a:p>
        </p:txBody>
      </p:sp>
    </p:spTree>
    <p:extLst>
      <p:ext uri="{BB962C8B-B14F-4D97-AF65-F5344CB8AC3E}">
        <p14:creationId xmlns:p14="http://schemas.microsoft.com/office/powerpoint/2010/main" val="172035165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3E7337-F2B5-4693-A0C9-DD224C2EE066}"/>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1BA5D070-ABF6-45CE-ACE3-D6DBA47267F9}"/>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What belongs in ANALYSIS.md</a:t>
            </a:r>
          </a:p>
        </p:txBody>
      </p:sp>
      <p:sp>
        <p:nvSpPr>
          <p:cNvPr id="3" name="">
            <a:extLst xmlns:a="http://schemas.openxmlformats.org/drawingml/2006/main">
              <a:ext uri="{FF2B5EF4-FFF2-40B4-BE49-F238E27FC236}">
                <a16:creationId xmlns:a16="http://schemas.microsoft.com/office/drawing/2014/main" id="{A2C5628E-9F5C-4AC9-A5D7-D814820BDDF5}"/>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Explain each method and its invariant</a:t>
            </a:r>
          </a:p>
        </p:txBody>
      </p:sp>
      <p:sp>
        <p:nvSpPr>
          <p:cNvPr id="4" name="">
            <a:extLst xmlns:a="http://schemas.openxmlformats.org/drawingml/2006/main">
              <a:ext uri="{FF2B5EF4-FFF2-40B4-BE49-F238E27FC236}">
                <a16:creationId xmlns:a16="http://schemas.microsoft.com/office/drawing/2014/main" id="{5E12482E-2C49-4C15-8DDE-81EC4358908C}"/>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Justify correctness and time/space bounds</a:t>
            </a:r>
          </a:p>
        </p:txBody>
      </p:sp>
      <p:sp>
        <p:nvSpPr>
          <p:cNvPr id="5" name="">
            <a:extLst xmlns:a="http://schemas.openxmlformats.org/drawingml/2006/main">
              <a:ext uri="{FF2B5EF4-FFF2-40B4-BE49-F238E27FC236}">
                <a16:creationId xmlns:a16="http://schemas.microsoft.com/office/drawing/2014/main" id="{BFFE22C2-BAA9-42D5-A400-58FC79C6316E}"/>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Show your own test and route-helper calls</a:t>
            </a:r>
          </a:p>
        </p:txBody>
      </p:sp>
      <p:sp>
        <p:nvSpPr>
          <p:cNvPr id="6" name="">
            <a:extLst xmlns:a="http://schemas.openxmlformats.org/drawingml/2006/main">
              <a:ext uri="{FF2B5EF4-FFF2-40B4-BE49-F238E27FC236}">
                <a16:creationId xmlns:a16="http://schemas.microsoft.com/office/drawing/2014/main" id="{3B801EF9-C8C5-46A1-B8ED-E1CB10545426}"/>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Report your actual benchmark and disclose assistance</a:t>
            </a:r>
          </a:p>
        </p:txBody>
      </p:sp>
      <p:sp>
        <p:nvSpPr>
          <p:cNvPr id="7" name="">
            <a:extLst xmlns:a="http://schemas.openxmlformats.org/drawingml/2006/main">
              <a:ext uri="{FF2B5EF4-FFF2-40B4-BE49-F238E27FC236}">
                <a16:creationId xmlns:a16="http://schemas.microsoft.com/office/drawing/2014/main" id="{E7750264-A964-4420-B6CF-EAA6086BB0BF}"/>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8" name="">
            <a:extLst xmlns:a="http://schemas.openxmlformats.org/drawingml/2006/main">
              <a:ext uri="{FF2B5EF4-FFF2-40B4-BE49-F238E27FC236}">
                <a16:creationId xmlns:a16="http://schemas.microsoft.com/office/drawing/2014/main" id="{9A9174F7-2ED8-4CDD-BFA9-3146C042E974}"/>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27</a:t>
            </a:r>
          </a:p>
        </p:txBody>
      </p:sp>
    </p:spTree>
    <p:extLst>
      <p:ext uri="{BB962C8B-B14F-4D97-AF65-F5344CB8AC3E}">
        <p14:creationId xmlns:p14="http://schemas.microsoft.com/office/powerpoint/2010/main" val="137210449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89A37B-6A7B-4CC6-93AC-0FBD49E759FB}"/>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8EBBFEF2-0D50-437F-85BD-6B6F689B8DC5}"/>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Implement and run the selected language</a:t>
            </a:r>
          </a:p>
        </p:txBody>
      </p:sp>
      <p:sp>
        <p:nvSpPr>
          <p:cNvPr id="3" name="">
            <a:extLst xmlns:a="http://schemas.openxmlformats.org/drawingml/2006/main">
              <a:ext uri="{FF2B5EF4-FFF2-40B4-BE49-F238E27FC236}">
                <a16:creationId xmlns:a16="http://schemas.microsoft.com/office/drawing/2014/main" id="{E7E0D5F9-54A6-42CF-99DD-C15527FE35B8}"/>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Use this template to create your own repository</a:t>
            </a:r>
          </a:p>
        </p:txBody>
      </p:sp>
      <p:sp>
        <p:nvSpPr>
          <p:cNvPr id="4" name="">
            <a:extLst xmlns:a="http://schemas.openxmlformats.org/drawingml/2006/main">
              <a:ext uri="{FF2B5EF4-FFF2-40B4-BE49-F238E27FC236}">
                <a16:creationId xmlns:a16="http://schemas.microsoft.com/office/drawing/2014/main" id="{AF7A7EB4-7C26-40D6-ACB4-02605C877725}"/>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Select the language in submission.json</a:t>
            </a:r>
          </a:p>
        </p:txBody>
      </p:sp>
      <p:sp>
        <p:nvSpPr>
          <p:cNvPr id="5" name="">
            <a:extLst xmlns:a="http://schemas.openxmlformats.org/drawingml/2006/main">
              <a:ext uri="{FF2B5EF4-FFF2-40B4-BE49-F238E27FC236}">
                <a16:creationId xmlns:a16="http://schemas.microsoft.com/office/drawing/2014/main" id="{3D2A00FA-F236-4386-B1D1-F5687F467D84}"/>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Complete the six TODO methods in source</a:t>
            </a:r>
          </a:p>
        </p:txBody>
      </p:sp>
      <p:sp>
        <p:nvSpPr>
          <p:cNvPr id="6" name="">
            <a:extLst xmlns:a="http://schemas.openxmlformats.org/drawingml/2006/main">
              <a:ext uri="{FF2B5EF4-FFF2-40B4-BE49-F238E27FC236}">
                <a16:creationId xmlns:a16="http://schemas.microsoft.com/office/drawing/2014/main" id="{95B2C6D5-FE06-4585-857F-4F51E607A09E}"/>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Push and inspect Actions → Public checks</a:t>
            </a:r>
          </a:p>
        </p:txBody>
      </p:sp>
      <p:graphicFrame>
        <p:nvGraphicFramePr>
          <p:cNvPr id="7" name="">
            <a:extLst xmlns:a="http://schemas.openxmlformats.org/drawingml/2006/main">
              <a:ext uri="{FF2B5EF4-FFF2-40B4-BE49-F238E27FC236}">
                <a16:creationId xmlns:a16="http://schemas.microsoft.com/office/drawing/2014/main" id="{B89FD26D-013A-418E-B55D-D68FFC27F48D}"/>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Manifest value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Implementation location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Java</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Java/source/Algorithms.java</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Python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Python/source/algorithms.py</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Cpp</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Cpp/source/algorithms.hpp</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CSharp</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CSharp/source/Algorithms.cs</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D64D230-1EE0-4A77-B9A5-D6C1A6532308}"/>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A3E2C71F-D453-47EC-82B2-0B017C335309}"/>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28</a:t>
            </a:r>
          </a:p>
        </p:txBody>
      </p:sp>
    </p:spTree>
    <p:extLst>
      <p:ext uri="{BB962C8B-B14F-4D97-AF65-F5344CB8AC3E}">
        <p14:creationId xmlns:p14="http://schemas.microsoft.com/office/powerpoint/2010/main" val="127747378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31B45B-F3BD-4DB3-BC58-7897E70DF171}"/>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8581BCA9-A19A-4906-8ED9-E9FC5E3BA61D}"/>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Submit two links for the same SHA</a:t>
            </a:r>
          </a:p>
        </p:txBody>
      </p:sp>
      <p:sp>
        <p:nvSpPr>
          <p:cNvPr id="3" name="">
            <a:extLst xmlns:a="http://schemas.openxmlformats.org/drawingml/2006/main">
              <a:ext uri="{FF2B5EF4-FFF2-40B4-BE49-F238E27FC236}">
                <a16:creationId xmlns:a16="http://schemas.microsoft.com/office/drawing/2014/main" id="{A81D0CD1-BAB4-4539-826D-452B67B36369}"/>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Exact GitHub commit URL</a:t>
            </a:r>
          </a:p>
        </p:txBody>
      </p:sp>
      <p:sp>
        <p:nvSpPr>
          <p:cNvPr id="4" name="">
            <a:extLst xmlns:a="http://schemas.openxmlformats.org/drawingml/2006/main">
              <a:ext uri="{FF2B5EF4-FFF2-40B4-BE49-F238E27FC236}">
                <a16:creationId xmlns:a16="http://schemas.microsoft.com/office/drawing/2014/main" id="{432EDC17-40CE-40E2-A2BB-90B329DF84A8}"/>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Successful Public checks run URL for that commit</a:t>
            </a:r>
          </a:p>
        </p:txBody>
      </p:sp>
      <p:sp>
        <p:nvSpPr>
          <p:cNvPr id="5" name="">
            <a:extLst xmlns:a="http://schemas.openxmlformats.org/drawingml/2006/main">
              <a:ext uri="{FF2B5EF4-FFF2-40B4-BE49-F238E27FC236}">
                <a16:creationId xmlns:a16="http://schemas.microsoft.com/office/drawing/2014/main" id="{EF441BBC-E875-4A21-A3EE-6A73B85B1AC3}"/>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Paste both in Moodle Online text</a:t>
            </a:r>
          </a:p>
        </p:txBody>
      </p:sp>
      <p:sp>
        <p:nvSpPr>
          <p:cNvPr id="6" name="">
            <a:extLst xmlns:a="http://schemas.openxmlformats.org/drawingml/2006/main">
              <a:ext uri="{FF2B5EF4-FFF2-40B4-BE49-F238E27FC236}">
                <a16:creationId xmlns:a16="http://schemas.microsoft.com/office/drawing/2014/main" id="{3F9B90E5-7C60-4596-A251-BA07B8A957B9}"/>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Click Submit assignment and confirm submission status</a:t>
            </a:r>
          </a:p>
        </p:txBody>
      </p:sp>
      <p:sp>
        <p:nvSpPr>
          <p:cNvPr id="7" name="">
            <a:extLst xmlns:a="http://schemas.openxmlformats.org/drawingml/2006/main">
              <a:ext uri="{FF2B5EF4-FFF2-40B4-BE49-F238E27FC236}">
                <a16:creationId xmlns:a16="http://schemas.microsoft.com/office/drawing/2014/main" id="{782B921E-CAD4-4B97-B2FF-3891CCB637AB}"/>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8" name="">
            <a:extLst xmlns:a="http://schemas.openxmlformats.org/drawingml/2006/main">
              <a:ext uri="{FF2B5EF4-FFF2-40B4-BE49-F238E27FC236}">
                <a16:creationId xmlns:a16="http://schemas.microsoft.com/office/drawing/2014/main" id="{F8210E5D-D861-4089-86C7-88E64348BDE0}"/>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29</a:t>
            </a:r>
          </a:p>
        </p:txBody>
      </p:sp>
    </p:spTree>
    <p:extLst>
      <p:ext uri="{BB962C8B-B14F-4D97-AF65-F5344CB8AC3E}">
        <p14:creationId xmlns:p14="http://schemas.microsoft.com/office/powerpoint/2010/main" val="113379756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F0AD33-BCAB-4963-AA76-647D0B12ED5A}"/>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637A2635-D744-47B7-9110-D08E638EDCC5}"/>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Assessment: 50 automatic + 50 automatic</a:t>
            </a:r>
          </a:p>
        </p:txBody>
      </p:sp>
      <p:sp>
        <p:nvSpPr>
          <p:cNvPr id="3" name="">
            <a:extLst xmlns:a="http://schemas.openxmlformats.org/drawingml/2006/main">
              <a:ext uri="{FF2B5EF4-FFF2-40B4-BE49-F238E27FC236}">
                <a16:creationId xmlns:a16="http://schemas.microsoft.com/office/drawing/2014/main" id="{CC1EFF1C-CC79-4CC3-89CD-40AD60AAB204}"/>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Practical: original 18 automatic groups, summed out of 50</a:t>
            </a:r>
          </a:p>
        </p:txBody>
      </p:sp>
      <p:sp>
        <p:nvSpPr>
          <p:cNvPr id="4" name="">
            <a:extLst xmlns:a="http://schemas.openxmlformats.org/drawingml/2006/main">
              <a:ext uri="{FF2B5EF4-FFF2-40B4-BE49-F238E27FC236}">
                <a16:creationId xmlns:a16="http://schemas.microsoft.com/office/drawing/2014/main" id="{1B419E4D-CFB4-4F55-B37F-2A278D8C8C1B}"/>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Quiz: 30 questions, 30 minutes, one attempt</a:t>
            </a:r>
          </a:p>
        </p:txBody>
      </p:sp>
      <p:sp>
        <p:nvSpPr>
          <p:cNvPr id="5" name="">
            <a:extLst xmlns:a="http://schemas.openxmlformats.org/drawingml/2006/main">
              <a:ext uri="{FF2B5EF4-FFF2-40B4-BE49-F238E27FC236}">
                <a16:creationId xmlns:a16="http://schemas.microsoft.com/office/drawing/2014/main" id="{17AEB9C5-F294-4A93-A6D1-B49BC2B38C7C}"/>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Correct=1 raw; wrong or blank=0 raw</a:t>
            </a:r>
          </a:p>
        </p:txBody>
      </p:sp>
      <p:sp>
        <p:nvSpPr>
          <p:cNvPr id="6" name="">
            <a:extLst xmlns:a="http://schemas.openxmlformats.org/drawingml/2006/main">
              <a:ext uri="{FF2B5EF4-FFF2-40B4-BE49-F238E27FC236}">
                <a16:creationId xmlns:a16="http://schemas.microsoft.com/office/drawing/2014/main" id="{B217EA94-2957-46C7-B102-C5581032FE3D}"/>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Quiz grade = raw / 30 × 50</a:t>
            </a:r>
          </a:p>
        </p:txBody>
      </p:sp>
      <p:graphicFrame>
        <p:nvGraphicFramePr>
          <p:cNvPr id="7" name="">
            <a:extLst xmlns:a="http://schemas.openxmlformats.org/drawingml/2006/main">
              <a:ext uri="{FF2B5EF4-FFF2-40B4-BE49-F238E27FC236}">
                <a16:creationId xmlns:a16="http://schemas.microsoft.com/office/drawing/2014/main" id="{468463CB-B70B-451D-985C-0E86094B7B39}"/>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Correct answers</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Raw /30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Quiz /50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15</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25</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30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50</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BB0ADFC-2C6F-41EC-AD30-2AA81AF87662}"/>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9" name="">
            <a:extLst xmlns:a="http://schemas.openxmlformats.org/drawingml/2006/main">
              <a:ext uri="{FF2B5EF4-FFF2-40B4-BE49-F238E27FC236}">
                <a16:creationId xmlns:a16="http://schemas.microsoft.com/office/drawing/2014/main" id="{E2455231-CA57-48D6-9BA0-A45E970DE519}"/>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30</a:t>
            </a:r>
          </a:p>
        </p:txBody>
      </p:sp>
    </p:spTree>
    <p:extLst>
      <p:ext uri="{BB962C8B-B14F-4D97-AF65-F5344CB8AC3E}">
        <p14:creationId xmlns:p14="http://schemas.microsoft.com/office/powerpoint/2010/main" val="91691172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FB62CF-3150-4133-89B5-B2B1DF85231B}"/>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08AC745F-A8DD-43DA-9682-11650827AD8E}"/>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Ready to submit</a:t>
            </a:r>
          </a:p>
        </p:txBody>
      </p:sp>
      <p:sp>
        <p:nvSpPr>
          <p:cNvPr id="3" name="">
            <a:extLst xmlns:a="http://schemas.openxmlformats.org/drawingml/2006/main">
              <a:ext uri="{FF2B5EF4-FFF2-40B4-BE49-F238E27FC236}">
                <a16:creationId xmlns:a16="http://schemas.microsoft.com/office/drawing/2014/main" id="{967E5AB1-BE61-4EB7-BFE2-3B2AE5F40E16}"/>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Six methods in one language; state resets per request</a:t>
            </a:r>
          </a:p>
        </p:txBody>
      </p:sp>
      <p:sp>
        <p:nvSpPr>
          <p:cNvPr id="4" name="">
            <a:extLst xmlns:a="http://schemas.openxmlformats.org/drawingml/2006/main">
              <a:ext uri="{FF2B5EF4-FFF2-40B4-BE49-F238E27FC236}">
                <a16:creationId xmlns:a16="http://schemas.microsoft.com/office/drawing/2014/main" id="{25C7E68A-C08B-4DC6-A988-3D90D2343531}"/>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Valid witnesses, long sums, null distances and tested helper</a:t>
            </a:r>
          </a:p>
        </p:txBody>
      </p:sp>
      <p:sp>
        <p:nvSpPr>
          <p:cNvPr id="5" name="">
            <a:extLst xmlns:a="http://schemas.openxmlformats.org/drawingml/2006/main">
              <a:ext uri="{FF2B5EF4-FFF2-40B4-BE49-F238E27FC236}">
                <a16:creationId xmlns:a16="http://schemas.microsoft.com/office/drawing/2014/main" id="{EF166B7B-3CD0-4F63-B1C0-7EA3E0C682ED}"/>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Own tests, English analysis and real benchmark</a:t>
            </a:r>
          </a:p>
        </p:txBody>
      </p:sp>
      <p:sp>
        <p:nvSpPr>
          <p:cNvPr id="6" name="">
            <a:extLst xmlns:a="http://schemas.openxmlformats.org/drawingml/2006/main">
              <a:ext uri="{FF2B5EF4-FFF2-40B4-BE49-F238E27FC236}">
                <a16:creationId xmlns:a16="http://schemas.microsoft.com/office/drawing/2014/main" id="{77BB7AAA-99B7-4D62-8140-B5B8F67CA4DD}"/>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Successful checks and two links with one SHA</a:t>
            </a:r>
          </a:p>
        </p:txBody>
      </p:sp>
      <p:sp>
        <p:nvSpPr>
          <p:cNvPr id="7" name="">
            <a:extLst xmlns:a="http://schemas.openxmlformats.org/drawingml/2006/main">
              <a:ext uri="{FF2B5EF4-FFF2-40B4-BE49-F238E27FC236}">
                <a16:creationId xmlns:a16="http://schemas.microsoft.com/office/drawing/2014/main" id="{B6A92681-050F-4204-BEC0-757E564CC16E}"/>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8" name="">
            <a:extLst xmlns:a="http://schemas.openxmlformats.org/drawingml/2006/main">
              <a:ext uri="{FF2B5EF4-FFF2-40B4-BE49-F238E27FC236}">
                <a16:creationId xmlns:a16="http://schemas.microsoft.com/office/drawing/2014/main" id="{0E09971A-9A2A-4029-80CB-175787DD79A4}"/>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31</a:t>
            </a:r>
          </a:p>
        </p:txBody>
      </p:sp>
    </p:spTree>
    <p:extLst>
      <p:ext uri="{BB962C8B-B14F-4D97-AF65-F5344CB8AC3E}">
        <p14:creationId xmlns:p14="http://schemas.microsoft.com/office/powerpoint/2010/main" val="113726167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9E7678-BE8A-463E-B1A4-9D48CFCC9239}"/>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2470142D-503D-4B9D-B6C2-B76D577A41F4}"/>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Sources and further study</a:t>
            </a:r>
          </a:p>
        </p:txBody>
      </p:sp>
      <p:sp>
        <p:nvSpPr>
          <p:cNvPr id="3" name="">
            <a:extLst xmlns:a="http://schemas.openxmlformats.org/drawingml/2006/main">
              <a:ext uri="{FF2B5EF4-FFF2-40B4-BE49-F238E27FC236}">
                <a16:creationId xmlns:a16="http://schemas.microsoft.com/office/drawing/2014/main" id="{29CC5C60-C1FF-4EF3-BA42-F2DE342B6F47}"/>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A3 specification, CONTRACTS.md, TESTING.md and RUBRIC.md</a:t>
            </a:r>
          </a:p>
        </p:txBody>
      </p:sp>
      <p:sp>
        <p:nvSpPr>
          <p:cNvPr id="4" name="">
            <a:extLst xmlns:a="http://schemas.openxmlformats.org/drawingml/2006/main">
              <a:ext uri="{FF2B5EF4-FFF2-40B4-BE49-F238E27FC236}">
                <a16:creationId xmlns:a16="http://schemas.microsoft.com/office/drawing/2014/main" id="{B4A8EF53-76E3-4139-B036-78C09F4788BC}"/>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Lectures6–7 and A3 lecture clarifications</a:t>
            </a:r>
          </a:p>
        </p:txBody>
      </p:sp>
      <p:sp>
        <p:nvSpPr>
          <p:cNvPr id="5" name="">
            <a:extLst xmlns:a="http://schemas.openxmlformats.org/drawingml/2006/main">
              <a:ext uri="{FF2B5EF4-FFF2-40B4-BE49-F238E27FC236}">
                <a16:creationId xmlns:a16="http://schemas.microsoft.com/office/drawing/2014/main" id="{625DCF7A-E25B-4155-A4F2-D17D622093AB}"/>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CLRS4e: disjoint sets, graph traversal, MST and DAG paths</a:t>
            </a:r>
          </a:p>
        </p:txBody>
      </p:sp>
      <p:sp>
        <p:nvSpPr>
          <p:cNvPr id="6" name="">
            <a:extLst xmlns:a="http://schemas.openxmlformats.org/drawingml/2006/main">
              <a:ext uri="{FF2B5EF4-FFF2-40B4-BE49-F238E27FC236}">
                <a16:creationId xmlns:a16="http://schemas.microsoft.com/office/drawing/2014/main" id="{E66511E8-B2AA-4F02-B02B-417EE5F13436}"/>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Sedgewick &amp; Wayne4e; Skiena3e: graphs and analysis</a:t>
            </a:r>
          </a:p>
        </p:txBody>
      </p:sp>
      <p:sp>
        <p:nvSpPr>
          <p:cNvPr id="7" name="">
            <a:extLst xmlns:a="http://schemas.openxmlformats.org/drawingml/2006/main">
              <a:ext uri="{FF2B5EF4-FFF2-40B4-BE49-F238E27FC236}">
                <a16:creationId xmlns:a16="http://schemas.microsoft.com/office/drawing/2014/main" id="{1E980E57-B560-43D2-AF6E-36B22E346380}"/>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8" name="">
            <a:extLst xmlns:a="http://schemas.openxmlformats.org/drawingml/2006/main">
              <a:ext uri="{FF2B5EF4-FFF2-40B4-BE49-F238E27FC236}">
                <a16:creationId xmlns:a16="http://schemas.microsoft.com/office/drawing/2014/main" id="{013B6A4B-D869-4BB6-8D36-FDDF9A3D7C12}"/>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32</a:t>
            </a:r>
          </a:p>
        </p:txBody>
      </p:sp>
    </p:spTree>
    <p:extLst>
      <p:ext uri="{BB962C8B-B14F-4D97-AF65-F5344CB8AC3E}">
        <p14:creationId xmlns:p14="http://schemas.microsoft.com/office/powerpoint/2010/main" val="37456583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5AD82D-7856-4147-9FC4-CF4A5B7B2350}"/>
              </a:ext>
            </a:extLst>
          </p:cNvPr>
          <p:cNvSpPr>
            <a:spLocks xmlns:a="http://schemas.openxmlformats.org/drawingml/2006/main" noGrp="1"/>
          </p:cNvSpPr>
          <p:nvPr/>
        </p:nvSpPr>
        <p:spPr>
          <a:xfrm xmlns:a="http://schemas.openxmlformats.org/drawingml/2006/main">
            <a:off x="6096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a:t>
            </a:r>
          </a:p>
        </p:txBody>
      </p:sp>
      <p:sp>
        <p:nvSpPr>
          <p:cNvPr id="2" name="">
            <a:extLst xmlns:a="http://schemas.openxmlformats.org/drawingml/2006/main">
              <a:ext uri="{FF2B5EF4-FFF2-40B4-BE49-F238E27FC236}">
                <a16:creationId xmlns:a16="http://schemas.microsoft.com/office/drawing/2014/main" id="{B4240B55-AC78-455C-9012-AFBB080EA29A}"/>
              </a:ext>
            </a:extLst>
          </p:cNvPr>
          <p:cNvSpPr>
            <a:spLocks xmlns:a="http://schemas.openxmlformats.org/drawingml/2006/main" noGrp="1"/>
          </p:cNvSpPr>
          <p:nvPr/>
        </p:nvSpPr>
        <p:spPr>
          <a:xfrm xmlns:a="http://schemas.openxmlformats.org/drawingml/2006/main">
            <a:off x="609600" y="723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Watch the narrated walkthrough</a:t>
            </a:r>
          </a:p>
        </p:txBody>
      </p:sp>
      <p:sp>
        <p:nvSpPr>
          <p:cNvPr id="3" name="">
            <a:extLst xmlns:a="http://schemas.openxmlformats.org/drawingml/2006/main">
              <a:ext uri="{FF2B5EF4-FFF2-40B4-BE49-F238E27FC236}">
                <a16:creationId xmlns:a16="http://schemas.microsoft.com/office/drawing/2014/main" id="{0B0FD4FA-0DC6-4694-8D02-9F6CE99F1A52}"/>
              </a:ext>
            </a:extLst>
          </p:cNvPr>
          <p:cNvSpPr>
            <a:spLocks xmlns:a="http://schemas.openxmlformats.org/drawingml/2006/main" noGrp="1"/>
          </p:cNvSpPr>
          <p:nvPr/>
        </p:nvSpPr>
        <p:spPr>
          <a:xfrm xmlns:a="http://schemas.openxmlformats.org/drawingml/2006/main">
            <a:off x="609600" y="1752600"/>
            <a:ext cx="1095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5273F"/>
                </a:solidFill>
                <a:latin typeface="Arial"/>
                <a:ea typeface="Arial"/>
                <a:cs typeface="Arial"/>
              </a:defRPr>
            </a:defPPr>
          </a:lstStyle>
          <a:p xmlns:a="http://schemas.openxmlformats.org/drawingml/2006/main">
            <a:pPr>
              <a:defRPr sz="2175" b="0">
                <a:solidFill>
                  <a:srgbClr val="15273F"/>
                </a:solidFill>
                <a:latin typeface="Arial"/>
                <a:ea typeface="Arial"/>
                <a:cs typeface="Arial"/>
              </a:defRPr>
            </a:pPr>
            <a:r>
              <a:rPr sz="2175" b="0">
                <a:solidFill>
                  <a:srgbClr val="15273F"/>
                </a:solidFill>
                <a:latin typeface="Arial"/>
                <a:ea typeface="Arial"/>
                <a:cs typeface="Arial"/>
              </a:rPr>
              <a:t>English explanation with the worked examples</a:t>
            </a:r>
          </a:p>
          <a:p xmlns:a="http://schemas.openxmlformats.org/drawingml/2006/main">
            <a:pPr>
              <a:defRPr sz="2175" b="0">
                <a:solidFill>
                  <a:srgbClr val="15273F"/>
                </a:solidFill>
                <a:latin typeface="Arial"/>
                <a:ea typeface="Arial"/>
                <a:cs typeface="Arial"/>
              </a:defRPr>
            </a:pPr>
            <a:r>
              <a:rPr sz="2175" b="0">
                <a:solidFill>
                  <a:srgbClr val="15273F"/>
                </a:solidFill>
                <a:latin typeface="Arial"/>
                <a:ea typeface="Arial"/>
                <a:cs typeface="Arial"/>
              </a:rPr>
              <a:t>Click the video in desktop PowerPoint</a:t>
            </a:r>
          </a:p>
          <a:p xmlns:a="http://schemas.openxmlformats.org/drawingml/2006/main">
            <a:pPr>
              <a:defRPr sz="2175" b="0">
                <a:solidFill>
                  <a:srgbClr val="15273F"/>
                </a:solidFill>
                <a:latin typeface="Arial"/>
                <a:ea typeface="Arial"/>
                <a:cs typeface="Arial"/>
              </a:defRPr>
            </a:pPr>
            <a:r>
              <a:rPr sz="2175" b="0">
                <a:solidFill>
                  <a:srgbClr val="15273F"/>
                </a:solidFill>
                <a:latin typeface="Arial"/>
                <a:ea typeface="Arial"/>
                <a:cs typeface="Arial"/>
              </a:rPr>
              <a:t>A separate MP4 and transcript are also provided</a:t>
            </a:r>
          </a:p>
        </p:txBody>
      </p:sp>
      <p:pic>
        <p:nvPicPr>
          <p:cNvPr id="4" name="Assignment 3 English narrated walkthrough">
            <a:extLst xmlns:a="http://schemas.openxmlformats.org/drawingml/2006/main">
              <a:ext uri="{FF2B5EF4-FFF2-40B4-BE49-F238E27FC236}">
                <a16:creationId xmlns:a16="http://schemas.microsoft.com/office/drawing/2014/main" id="{D2B53072-A28C-4C34-8CBD-791219843319}"/>
              </a:ext>
            </a:extLst>
            <ns4:hlinkClick xmlns:ns4="http://schemas.openxmlformats.org/drawingml/2006/main" action="ppaction://media"/>
          </p:cNvPr>
          <p:cNvPicPr>
            <a:picLocks xmlns:a="http://schemas.openxmlformats.org/drawingml/2006/main" noChangeAspect="1"/>
          </p:cNvPicPr>
          <p:nvPr>
            <ns0:videoFile xmlns:ns0="http://schemas.openxmlformats.org/drawingml/2006/main" xmlns:ns1="http://schemas.openxmlformats.org/officeDocument/2006/relationships" ns1:link="rIdA3Video"/>
            <p:extLst>
              <p:ext uri="{DAA4B4D4-6D71-4841-9C94-3DE7FCFB9230}">
                <ns2:media xmlns:ns2="http://schemas.microsoft.com/office/powerpoint/2010/main" xmlns:ns3="http://schemas.openxmlformats.org/officeDocument/2006/relationships" ns3:embed="rIdA3Media"/>
              </p:ext>
            </p:extLst>
          </p:nvPr>
        </p:nvPicPr>
        <p:blipFill>
          <a:blip xmlns:r="http://schemas.openxmlformats.org/officeDocument/2006/relationships" xmlns:a="http://schemas.openxmlformats.org/drawingml/2006/main" r:embed="R6149e705010b4fe3"/>
          <a:stretch xmlns:a="http://schemas.openxmlformats.org/drawingml/2006/main"/>
        </p:blipFill>
        <p:spPr>
          <a:xfrm xmlns:a="http://schemas.openxmlformats.org/drawingml/2006/main">
            <a:off x="3268133" y="3162300"/>
            <a:ext cx="5655733" cy="3181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75461E0-EE5A-4688-AF4C-EBF015C4D3F2}"/>
              </a:ext>
            </a:extLst>
          </p:cNvPr>
          <p:cNvSpPr>
            <a:spLocks xmlns:a="http://schemas.openxmlformats.org/drawingml/2006/main" noGrp="1"/>
          </p:cNvSpPr>
          <p:nvPr/>
        </p:nvSpPr>
        <p:spPr>
          <a:xfrm xmlns:a="http://schemas.openxmlformats.org/drawingml/2006/main">
            <a:off x="609600" y="64770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guide</a:t>
            </a:r>
          </a:p>
        </p:txBody>
      </p:sp>
      <p:sp>
        <p:nvSpPr>
          <p:cNvPr id="6" name="">
            <a:extLst xmlns:a="http://schemas.openxmlformats.org/drawingml/2006/main">
              <a:ext uri="{FF2B5EF4-FFF2-40B4-BE49-F238E27FC236}">
                <a16:creationId xmlns:a16="http://schemas.microsoft.com/office/drawing/2014/main" id="{7C9A933C-68B7-41A2-A77F-19AC47FD4D06}"/>
              </a:ext>
            </a:extLst>
          </p:cNvPr>
          <p:cNvSpPr>
            <a:spLocks xmlns:a="http://schemas.openxmlformats.org/drawingml/2006/main" noGrp="1"/>
          </p:cNvSpPr>
          <p:nvPr/>
        </p:nvSpPr>
        <p:spPr>
          <a:xfrm xmlns:a="http://schemas.openxmlformats.org/drawingml/2006/main">
            <a:off x="10953750" y="64293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33</a:t>
            </a:r>
          </a:p>
        </p:txBody>
      </p:sp>
    </p:spTree>
    <p:extLst>
      <p:ext uri="{BB962C8B-B14F-4D97-AF65-F5344CB8AC3E}">
        <p14:creationId xmlns:p14="http://schemas.microsoft.com/office/powerpoint/2010/main" val="408830875"/>
      </p:ext>
    </p:extLst>
  </p:cSld>
  <p:timing>
    <p:tnLst>
      <p:par>
        <p:cTn id="1" dur="indefinite" restart="never" nodeType="tmRoot">
          <p:childTnLst>
            <p:video>
              <p:cMediaNode vol="10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2026-10-15T23:27:49.7040000Z</dcterms:created>
  <dcterms:modified xsi:type="dcterms:W3CDTF">2026-10-15T23:27:49.7040000Z</dcterms:modified>
</coreProperties>
</file>