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76cc3d96338c4e3b" /><Relationship Type="http://schemas.openxmlformats.org/officeDocument/2006/relationships/extended-properties" Target="/docProps/app.xml" Id="R0333904ab7504c33" /><Relationship Type="http://schemas.openxmlformats.org/officeDocument/2006/relationships/officeDocument" Target="/ppt/presentation.xml" Id="Rdab2eb2743e44708" /></Relationships>
</file>

<file path=ppt/presentation.xml><?xml version="1.0" encoding="utf-8"?>
<p:presentation xmlns:p="http://schemas.openxmlformats.org/presentationml/2006/main">
  <p:sldMasterIdLst>
    <p:sldMasterId xmlns:r="http://schemas.openxmlformats.org/officeDocument/2006/relationships" id="2147483648" r:id="R531515a758584ad2"/>
  </p:sldMasterIdLst>
  <p:notesMasterIdLst>
    <p:notesMasterId xmlns:r="http://schemas.openxmlformats.org/officeDocument/2006/relationships" r:id="R8fbd4888831d4298"/>
  </p:notesMasterIdLst>
  <p:sldIdLst>
    <p:sldId xmlns:r="http://schemas.openxmlformats.org/officeDocument/2006/relationships" id="256" r:id="Rc02c9ca939824592"/>
    <p:sldId xmlns:r="http://schemas.openxmlformats.org/officeDocument/2006/relationships" id="257" r:id="Rd24cb3af4fcd43f0"/>
    <p:sldId xmlns:r="http://schemas.openxmlformats.org/officeDocument/2006/relationships" id="258" r:id="R114beac6c9ce430e"/>
    <p:sldId xmlns:r="http://schemas.openxmlformats.org/officeDocument/2006/relationships" id="259" r:id="R8c040d00f090454d"/>
    <p:sldId xmlns:r="http://schemas.openxmlformats.org/officeDocument/2006/relationships" id="260" r:id="R4d204a17a5544494"/>
    <p:sldId xmlns:r="http://schemas.openxmlformats.org/officeDocument/2006/relationships" id="261" r:id="Rab0dce75fe474f9f"/>
    <p:sldId xmlns:r="http://schemas.openxmlformats.org/officeDocument/2006/relationships" id="262" r:id="R6509d7f6ed414e36"/>
    <p:sldId xmlns:r="http://schemas.openxmlformats.org/officeDocument/2006/relationships" id="263" r:id="R05ee6ae76c224cca"/>
    <p:sldId xmlns:r="http://schemas.openxmlformats.org/officeDocument/2006/relationships" id="264" r:id="Rb487c635d34b464a"/>
    <p:sldId xmlns:r="http://schemas.openxmlformats.org/officeDocument/2006/relationships" id="265" r:id="Rbaf074ff5f894902"/>
    <p:sldId xmlns:r="http://schemas.openxmlformats.org/officeDocument/2006/relationships" id="266" r:id="R725b687b0d934349"/>
    <p:sldId xmlns:r="http://schemas.openxmlformats.org/officeDocument/2006/relationships" id="267" r:id="R1ca9b71a4251460c"/>
    <p:sldId xmlns:r="http://schemas.openxmlformats.org/officeDocument/2006/relationships" id="268" r:id="R2bf252a7acd04012"/>
    <p:sldId xmlns:r="http://schemas.openxmlformats.org/officeDocument/2006/relationships" id="269" r:id="R5ff638fac8024d2f"/>
    <p:sldId xmlns:r="http://schemas.openxmlformats.org/officeDocument/2006/relationships" id="270" r:id="Reb13241716144e62"/>
    <p:sldId xmlns:r="http://schemas.openxmlformats.org/officeDocument/2006/relationships" id="271" r:id="Rbfffcce9ee244ccf"/>
    <p:sldId xmlns:r="http://schemas.openxmlformats.org/officeDocument/2006/relationships" id="272" r:id="R3c7fa68a442d4547"/>
    <p:sldId xmlns:r="http://schemas.openxmlformats.org/officeDocument/2006/relationships" id="273" r:id="R2f3a0e1d905d474c"/>
    <p:sldId xmlns:r="http://schemas.openxmlformats.org/officeDocument/2006/relationships" id="274" r:id="Ref0743893723414b"/>
    <p:sldId xmlns:r="http://schemas.openxmlformats.org/officeDocument/2006/relationships" id="275" r:id="R7b11c3f1dec74556"/>
    <p:sldId xmlns:r="http://schemas.openxmlformats.org/officeDocument/2006/relationships" id="276" r:id="Rb6513a24a2d44553"/>
    <p:sldId xmlns:r="http://schemas.openxmlformats.org/officeDocument/2006/relationships" id="277" r:id="R1f95392139fc4ca8"/>
    <p:sldId xmlns:r="http://schemas.openxmlformats.org/officeDocument/2006/relationships" id="278" r:id="Ra2925026c81a40d1"/>
    <p:sldId xmlns:r="http://schemas.openxmlformats.org/officeDocument/2006/relationships" id="279" r:id="R01335e9592be4d74"/>
    <p:sldId xmlns:r="http://schemas.openxmlformats.org/officeDocument/2006/relationships" id="280" r:id="R4a778c6516994de3"/>
    <p:sldId xmlns:r="http://schemas.openxmlformats.org/officeDocument/2006/relationships" id="281" r:id="R89d545a22748432b"/>
    <p:sldId xmlns:r="http://schemas.openxmlformats.org/officeDocument/2006/relationships" id="282" r:id="R00a4174ad2924bc5"/>
    <p:sldId xmlns:r="http://schemas.openxmlformats.org/officeDocument/2006/relationships" id="283" r:id="R05e96a14bd3d4a73"/>
    <p:sldId xmlns:r="http://schemas.openxmlformats.org/officeDocument/2006/relationships" id="284" r:id="R88c8e1c41fd84876"/>
    <p:sldId xmlns:r="http://schemas.openxmlformats.org/officeDocument/2006/relationships" id="285" r:id="R74d0c2afaaa54585"/>
    <p:sldId xmlns:r="http://schemas.openxmlformats.org/officeDocument/2006/relationships" id="286" r:id="R83fb746329744f1f"/>
    <p:sldId xmlns:r="http://schemas.openxmlformats.org/officeDocument/2006/relationships" id="287" r:id="Re58d9b158271483c"/>
    <p:sldId xmlns:r="http://schemas.openxmlformats.org/officeDocument/2006/relationships" id="288" r:id="Rcf65214997b54134"/>
    <p:sldId xmlns:r="http://schemas.openxmlformats.org/officeDocument/2006/relationships" id="289" r:id="Rfa9e879c432b459c"/>
    <p:sldId xmlns:r="http://schemas.openxmlformats.org/officeDocument/2006/relationships" id="290" r:id="R45fffcdc9c724c55"/>
    <p:sldId xmlns:r="http://schemas.openxmlformats.org/officeDocument/2006/relationships" id="291" r:id="R445b0da398ea4803"/>
    <p:sldId xmlns:r="http://schemas.openxmlformats.org/officeDocument/2006/relationships" id="292" r:id="R281db2a8c09b4467"/>
    <p:sldId xmlns:r="http://schemas.openxmlformats.org/officeDocument/2006/relationships" id="293" r:id="R4b271fccbbb54518"/>
    <p:sldId xmlns:r="http://schemas.openxmlformats.org/officeDocument/2006/relationships" id="294" r:id="Recc587f01e0049f6"/>
    <p:sldId xmlns:r="http://schemas.openxmlformats.org/officeDocument/2006/relationships" id="295" r:id="Rf6cbd40f201941fd"/>
    <p:sldId xmlns:r="http://schemas.openxmlformats.org/officeDocument/2006/relationships" id="296" r:id="R43c0739fdafe4ced"/>
    <p:sldId xmlns:r="http://schemas.openxmlformats.org/officeDocument/2006/relationships" id="297" r:id="R2ff5139b932a4490"/>
    <p:sldId xmlns:r="http://schemas.openxmlformats.org/officeDocument/2006/relationships" id="298" r:id="R0c0ec709f8c04f39"/>
    <p:sldId xmlns:r="http://schemas.openxmlformats.org/officeDocument/2006/relationships" id="299" r:id="Rb91524e16124443a"/>
    <p:sldId xmlns:r="http://schemas.openxmlformats.org/officeDocument/2006/relationships" id="300" r:id="Re87610f5f7fc476b"/>
    <p:sldId xmlns:r="http://schemas.openxmlformats.org/officeDocument/2006/relationships" id="301" r:id="R921ad0968dba4960"/>
    <p:sldId xmlns:r="http://schemas.openxmlformats.org/officeDocument/2006/relationships" id="302" r:id="Rd3151fce6cb4450d"/>
    <p:sldId xmlns:r="http://schemas.openxmlformats.org/officeDocument/2006/relationships" id="303" r:id="R214c9503238f45ea"/>
    <p:sldId xmlns:r="http://schemas.openxmlformats.org/officeDocument/2006/relationships" id="304" r:id="Rb08b4480a67c407b"/>
    <p:sldId xmlns:r="http://schemas.openxmlformats.org/officeDocument/2006/relationships" id="305" r:id="Rc6bcdeef0b944f3d"/>
    <p:sldId xmlns:r="http://schemas.openxmlformats.org/officeDocument/2006/relationships" id="306" r:id="R9a9b0ab2ad4d498b"/>
    <p:sldId xmlns:r="http://schemas.openxmlformats.org/officeDocument/2006/relationships" id="307" r:id="R048e2d75ed894b0a"/>
    <p:sldId xmlns:r="http://schemas.openxmlformats.org/officeDocument/2006/relationships" id="308" r:id="R6a165ec64fc548c4"/>
    <p:sldId xmlns:r="http://schemas.openxmlformats.org/officeDocument/2006/relationships" id="309" r:id="Rbdba4fbbf0b7438b"/>
    <p:sldId xmlns:r="http://schemas.openxmlformats.org/officeDocument/2006/relationships" id="310" r:id="R92652d926ae445f5"/>
    <p:sldId xmlns:r="http://schemas.openxmlformats.org/officeDocument/2006/relationships" id="311" r:id="R13af35d12d3442aa"/>
    <p:sldId xmlns:r="http://schemas.openxmlformats.org/officeDocument/2006/relationships" id="312" r:id="Ra0714696a7b44271"/>
    <p:sldId xmlns:r="http://schemas.openxmlformats.org/officeDocument/2006/relationships" id="313" r:id="R23ce66815ae34f93"/>
    <p:sldId xmlns:r="http://schemas.openxmlformats.org/officeDocument/2006/relationships" id="314" r:id="Rbac80bb1e05d446d"/>
    <p:sldId xmlns:r="http://schemas.openxmlformats.org/officeDocument/2006/relationships" id="315" r:id="Rb0605946da4f4a47"/>
    <p:sldId xmlns:r="http://schemas.openxmlformats.org/officeDocument/2006/relationships" id="316" r:id="R27c44a671e534419"/>
    <p:sldId xmlns:r="http://schemas.openxmlformats.org/officeDocument/2006/relationships" id="317" r:id="R2aadbdad9a0745ff"/>
    <p:sldId xmlns:r="http://schemas.openxmlformats.org/officeDocument/2006/relationships" id="318" r:id="Re266e63690ee47d0"/>
    <p:sldId xmlns:r="http://schemas.openxmlformats.org/officeDocument/2006/relationships" id="319" r:id="R7d7647f107cb4e9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39e003204e64177" /><Relationship Type="http://schemas.openxmlformats.org/officeDocument/2006/relationships/slideMaster" Target="/ppt/slideMasters/slideMaster1.xml" Id="R531515a758584ad2" /><Relationship Type="http://schemas.openxmlformats.org/officeDocument/2006/relationships/notesMaster" Target="/ppt/notesMasters/notesMaster1.xml" Id="R8fbd4888831d4298" /><Relationship Type="http://schemas.openxmlformats.org/officeDocument/2006/relationships/presProps" Target="/ppt/presProps.xml" Id="R129bfe34e6da47f2" /><Relationship Type="http://schemas.openxmlformats.org/officeDocument/2006/relationships/tableStyles" Target="/ppt/tableStyles.xml" Id="R2faa1fa5fd9049b4" /><Relationship Type="http://schemas.openxmlformats.org/officeDocument/2006/relationships/slide" Target="/ppt/slides/slide1.xml" Id="Rc02c9ca939824592" /><Relationship Type="http://schemas.openxmlformats.org/officeDocument/2006/relationships/slide" Target="/ppt/slides/slide2.xml" Id="Rd24cb3af4fcd43f0" /><Relationship Type="http://schemas.openxmlformats.org/officeDocument/2006/relationships/slide" Target="/ppt/slides/slide3.xml" Id="R114beac6c9ce430e" /><Relationship Type="http://schemas.openxmlformats.org/officeDocument/2006/relationships/slide" Target="/ppt/slides/slide4.xml" Id="R8c040d00f090454d" /><Relationship Type="http://schemas.openxmlformats.org/officeDocument/2006/relationships/slide" Target="/ppt/slides/slide5.xml" Id="R4d204a17a5544494" /><Relationship Type="http://schemas.openxmlformats.org/officeDocument/2006/relationships/slide" Target="/ppt/slides/slide6.xml" Id="Rab0dce75fe474f9f" /><Relationship Type="http://schemas.openxmlformats.org/officeDocument/2006/relationships/slide" Target="/ppt/slides/slide7.xml" Id="R6509d7f6ed414e36" /><Relationship Type="http://schemas.openxmlformats.org/officeDocument/2006/relationships/slide" Target="/ppt/slides/slide8.xml" Id="R05ee6ae76c224cca" /><Relationship Type="http://schemas.openxmlformats.org/officeDocument/2006/relationships/slide" Target="/ppt/slides/slide9.xml" Id="Rb487c635d34b464a" /><Relationship Type="http://schemas.openxmlformats.org/officeDocument/2006/relationships/slide" Target="/ppt/slides/slide10.xml" Id="Rbaf074ff5f894902" /><Relationship Type="http://schemas.openxmlformats.org/officeDocument/2006/relationships/slide" Target="/ppt/slides/slide11.xml" Id="R725b687b0d934349" /><Relationship Type="http://schemas.openxmlformats.org/officeDocument/2006/relationships/slide" Target="/ppt/slides/slide12.xml" Id="R1ca9b71a4251460c" /><Relationship Type="http://schemas.openxmlformats.org/officeDocument/2006/relationships/slide" Target="/ppt/slides/slide13.xml" Id="R2bf252a7acd04012" /><Relationship Type="http://schemas.openxmlformats.org/officeDocument/2006/relationships/slide" Target="/ppt/slides/slide14.xml" Id="R5ff638fac8024d2f" /><Relationship Type="http://schemas.openxmlformats.org/officeDocument/2006/relationships/slide" Target="/ppt/slides/slide15.xml" Id="Reb13241716144e62" /><Relationship Type="http://schemas.openxmlformats.org/officeDocument/2006/relationships/slide" Target="/ppt/slides/slide16.xml" Id="Rbfffcce9ee244ccf" /><Relationship Type="http://schemas.openxmlformats.org/officeDocument/2006/relationships/slide" Target="/ppt/slides/slide17.xml" Id="R3c7fa68a442d4547" /><Relationship Type="http://schemas.openxmlformats.org/officeDocument/2006/relationships/slide" Target="/ppt/slides/slide18.xml" Id="R2f3a0e1d905d474c" /><Relationship Type="http://schemas.openxmlformats.org/officeDocument/2006/relationships/slide" Target="/ppt/slides/slide19.xml" Id="Ref0743893723414b" /><Relationship Type="http://schemas.openxmlformats.org/officeDocument/2006/relationships/slide" Target="/ppt/slides/slide20.xml" Id="R7b11c3f1dec74556" /><Relationship Type="http://schemas.openxmlformats.org/officeDocument/2006/relationships/slide" Target="/ppt/slides/slide21.xml" Id="Rb6513a24a2d44553" /><Relationship Type="http://schemas.openxmlformats.org/officeDocument/2006/relationships/slide" Target="/ppt/slides/slide22.xml" Id="R1f95392139fc4ca8" /><Relationship Type="http://schemas.openxmlformats.org/officeDocument/2006/relationships/slide" Target="/ppt/slides/slide23.xml" Id="Ra2925026c81a40d1" /><Relationship Type="http://schemas.openxmlformats.org/officeDocument/2006/relationships/slide" Target="/ppt/slides/slide24.xml" Id="R01335e9592be4d74" /><Relationship Type="http://schemas.openxmlformats.org/officeDocument/2006/relationships/slide" Target="/ppt/slides/slide25.xml" Id="R4a778c6516994de3" /><Relationship Type="http://schemas.openxmlformats.org/officeDocument/2006/relationships/slide" Target="/ppt/slides/slide26.xml" Id="R89d545a22748432b" /><Relationship Type="http://schemas.openxmlformats.org/officeDocument/2006/relationships/slide" Target="/ppt/slides/slide27.xml" Id="R00a4174ad2924bc5" /><Relationship Type="http://schemas.openxmlformats.org/officeDocument/2006/relationships/slide" Target="/ppt/slides/slide28.xml" Id="R05e96a14bd3d4a73" /><Relationship Type="http://schemas.openxmlformats.org/officeDocument/2006/relationships/slide" Target="/ppt/slides/slide29.xml" Id="R88c8e1c41fd84876" /><Relationship Type="http://schemas.openxmlformats.org/officeDocument/2006/relationships/slide" Target="/ppt/slides/slide30.xml" Id="R74d0c2afaaa54585" /><Relationship Type="http://schemas.openxmlformats.org/officeDocument/2006/relationships/slide" Target="/ppt/slides/slide31.xml" Id="R83fb746329744f1f" /><Relationship Type="http://schemas.openxmlformats.org/officeDocument/2006/relationships/slide" Target="/ppt/slides/slide32.xml" Id="Re58d9b158271483c" /><Relationship Type="http://schemas.openxmlformats.org/officeDocument/2006/relationships/slide" Target="/ppt/slides/slide33.xml" Id="Rcf65214997b54134" /><Relationship Type="http://schemas.openxmlformats.org/officeDocument/2006/relationships/slide" Target="/ppt/slides/slide34.xml" Id="Rfa9e879c432b459c" /><Relationship Type="http://schemas.openxmlformats.org/officeDocument/2006/relationships/slide" Target="/ppt/slides/slide35.xml" Id="R45fffcdc9c724c55" /><Relationship Type="http://schemas.openxmlformats.org/officeDocument/2006/relationships/slide" Target="/ppt/slides/slide36.xml" Id="R445b0da398ea4803" /><Relationship Type="http://schemas.openxmlformats.org/officeDocument/2006/relationships/slide" Target="/ppt/slides/slide37.xml" Id="R281db2a8c09b4467" /><Relationship Type="http://schemas.openxmlformats.org/officeDocument/2006/relationships/slide" Target="/ppt/slides/slide38.xml" Id="R4b271fccbbb54518" /><Relationship Type="http://schemas.openxmlformats.org/officeDocument/2006/relationships/slide" Target="/ppt/slides/slide39.xml" Id="Recc587f01e0049f6" /><Relationship Type="http://schemas.openxmlformats.org/officeDocument/2006/relationships/slide" Target="/ppt/slides/slide40.xml" Id="Rf6cbd40f201941fd" /><Relationship Type="http://schemas.openxmlformats.org/officeDocument/2006/relationships/slide" Target="/ppt/slides/slide41.xml" Id="R43c0739fdafe4ced" /><Relationship Type="http://schemas.openxmlformats.org/officeDocument/2006/relationships/slide" Target="/ppt/slides/slide42.xml" Id="R2ff5139b932a4490" /><Relationship Type="http://schemas.openxmlformats.org/officeDocument/2006/relationships/slide" Target="/ppt/slides/slide43.xml" Id="R0c0ec709f8c04f39" /><Relationship Type="http://schemas.openxmlformats.org/officeDocument/2006/relationships/slide" Target="/ppt/slides/slide44.xml" Id="Rb91524e16124443a" /><Relationship Type="http://schemas.openxmlformats.org/officeDocument/2006/relationships/slide" Target="/ppt/slides/slide45.xml" Id="Re87610f5f7fc476b" /><Relationship Type="http://schemas.openxmlformats.org/officeDocument/2006/relationships/slide" Target="/ppt/slides/slide46.xml" Id="R921ad0968dba4960" /><Relationship Type="http://schemas.openxmlformats.org/officeDocument/2006/relationships/slide" Target="/ppt/slides/slide47.xml" Id="Rd3151fce6cb4450d" /><Relationship Type="http://schemas.openxmlformats.org/officeDocument/2006/relationships/slide" Target="/ppt/slides/slide48.xml" Id="R214c9503238f45ea" /><Relationship Type="http://schemas.openxmlformats.org/officeDocument/2006/relationships/slide" Target="/ppt/slides/slide49.xml" Id="Rb08b4480a67c407b" /><Relationship Type="http://schemas.openxmlformats.org/officeDocument/2006/relationships/slide" Target="/ppt/slides/slide50.xml" Id="Rc6bcdeef0b944f3d" /><Relationship Type="http://schemas.openxmlformats.org/officeDocument/2006/relationships/slide" Target="/ppt/slides/slide51.xml" Id="R9a9b0ab2ad4d498b" /><Relationship Type="http://schemas.openxmlformats.org/officeDocument/2006/relationships/slide" Target="/ppt/slides/slide52.xml" Id="R048e2d75ed894b0a" /><Relationship Type="http://schemas.openxmlformats.org/officeDocument/2006/relationships/slide" Target="/ppt/slides/slide53.xml" Id="R6a165ec64fc548c4" /><Relationship Type="http://schemas.openxmlformats.org/officeDocument/2006/relationships/slide" Target="/ppt/slides/slide54.xml" Id="Rbdba4fbbf0b7438b" /><Relationship Type="http://schemas.openxmlformats.org/officeDocument/2006/relationships/slide" Target="/ppt/slides/slide55.xml" Id="R92652d926ae445f5" /><Relationship Type="http://schemas.openxmlformats.org/officeDocument/2006/relationships/slide" Target="/ppt/slides/slide56.xml" Id="R13af35d12d3442aa" /><Relationship Type="http://schemas.openxmlformats.org/officeDocument/2006/relationships/slide" Target="/ppt/slides/slide57.xml" Id="Ra0714696a7b44271" /><Relationship Type="http://schemas.openxmlformats.org/officeDocument/2006/relationships/slide" Target="/ppt/slides/slide58.xml" Id="R23ce66815ae34f93" /><Relationship Type="http://schemas.openxmlformats.org/officeDocument/2006/relationships/slide" Target="/ppt/slides/slide59.xml" Id="Rbac80bb1e05d446d" /><Relationship Type="http://schemas.openxmlformats.org/officeDocument/2006/relationships/slide" Target="/ppt/slides/slide60.xml" Id="Rb0605946da4f4a47" /><Relationship Type="http://schemas.openxmlformats.org/officeDocument/2006/relationships/slide" Target="/ppt/slides/slide61.xml" Id="R27c44a671e534419" /><Relationship Type="http://schemas.openxmlformats.org/officeDocument/2006/relationships/slide" Target="/ppt/slides/slide62.xml" Id="R2aadbdad9a0745ff" /><Relationship Type="http://schemas.openxmlformats.org/officeDocument/2006/relationships/slide" Target="/ppt/slides/slide63.xml" Id="Re266e63690ee47d0" /><Relationship Type="http://schemas.openxmlformats.org/officeDocument/2006/relationships/slide" Target="/ppt/slides/slide64.xml" Id="R7d7647f107cb4e9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aee0bffe34744e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73fa8c54d2048ee" /><Relationship Type="http://schemas.openxmlformats.org/officeDocument/2006/relationships/notesMaster" Target="/ppt/notesMasters/notesMaster1.xml" Id="Re91705daf3884257" /></Relationships>
</file>

<file path=ppt/notesSlides/_rels/notesSlide2.xml.rels>&#65279;<?xml version="1.0" encoding="utf-8"?><Relationships xmlns="http://schemas.openxmlformats.org/package/2006/relationships"><Relationship Type="http://schemas.openxmlformats.org/officeDocument/2006/relationships/slide" Target="/ppt/slides/slide2.xml" Id="Rb071f91c744f40e7" /><Relationship Type="http://schemas.openxmlformats.org/officeDocument/2006/relationships/notesMaster" Target="/ppt/notesMasters/notesMaster1.xml" Id="Re00e38b5a77d4da8" /></Relationships>
</file>

<file path=ppt/notesSlides/_rels/notesSlide3.xml.rels>&#65279;<?xml version="1.0" encoding="utf-8"?><Relationships xmlns="http://schemas.openxmlformats.org/package/2006/relationships"><Relationship Type="http://schemas.openxmlformats.org/officeDocument/2006/relationships/slide" Target="/ppt/slides/slide3.xml" Id="R00fd2efc29cf417a" /><Relationship Type="http://schemas.openxmlformats.org/officeDocument/2006/relationships/notesMaster" Target="/ppt/notesMasters/notesMaster1.xml" Id="Rc4bfe39ca5294aff" /></Relationships>
</file>

<file path=ppt/notesSlides/_rels/notesSlide4.xml.rels>&#65279;<?xml version="1.0" encoding="utf-8"?><Relationships xmlns="http://schemas.openxmlformats.org/package/2006/relationships"><Relationship Type="http://schemas.openxmlformats.org/officeDocument/2006/relationships/slide" Target="/ppt/slides/slide4.xml" Id="R752a003eede84a86" /><Relationship Type="http://schemas.openxmlformats.org/officeDocument/2006/relationships/notesMaster" Target="/ppt/notesMasters/notesMaster1.xml" Id="R9d46205d85bc403f" /></Relationships>
</file>

<file path=ppt/notesSlides/_rels/notesSlide5.xml.rels>&#65279;<?xml version="1.0" encoding="utf-8"?><Relationships xmlns="http://schemas.openxmlformats.org/package/2006/relationships"><Relationship Type="http://schemas.openxmlformats.org/officeDocument/2006/relationships/slide" Target="/ppt/slides/slide5.xml" Id="R01fbce95fd554400" /><Relationship Type="http://schemas.openxmlformats.org/officeDocument/2006/relationships/notesMaster" Target="/ppt/notesMasters/notesMaster1.xml" Id="R508377112d124ec3" /></Relationships>
</file>

<file path=ppt/notesSlides/_rels/notesSlide6.xml.rels>&#65279;<?xml version="1.0" encoding="utf-8"?><Relationships xmlns="http://schemas.openxmlformats.org/package/2006/relationships"><Relationship Type="http://schemas.openxmlformats.org/officeDocument/2006/relationships/slide" Target="/ppt/slides/slide6.xml" Id="R05e14f039a0d4778" /><Relationship Type="http://schemas.openxmlformats.org/officeDocument/2006/relationships/notesMaster" Target="/ppt/notesMasters/notesMaster1.xml" Id="Rf23e26e0e0d44ea5" /></Relationships>
</file>

<file path=ppt/notesSlides/_rels/notesSlide7.xml.rels>&#65279;<?xml version="1.0" encoding="utf-8"?><Relationships xmlns="http://schemas.openxmlformats.org/package/2006/relationships"><Relationship Type="http://schemas.openxmlformats.org/officeDocument/2006/relationships/slide" Target="/ppt/slides/slide7.xml" Id="R7e5d04f1d12f4c46" /><Relationship Type="http://schemas.openxmlformats.org/officeDocument/2006/relationships/notesMaster" Target="/ppt/notesMasters/notesMaster1.xml" Id="Rbbcc2986b65140cd" /></Relationships>
</file>

<file path=ppt/notesSlides/_rels/notesSlide8.xml.rels>&#65279;<?xml version="1.0" encoding="utf-8"?><Relationships xmlns="http://schemas.openxmlformats.org/package/2006/relationships"><Relationship Type="http://schemas.openxmlformats.org/officeDocument/2006/relationships/slide" Target="/ppt/slides/slide8.xml" Id="R06d0ef28b7ec4f6f" /><Relationship Type="http://schemas.openxmlformats.org/officeDocument/2006/relationships/notesMaster" Target="/ppt/notesMasters/notesMaster1.xml" Id="R2757330ceba340d7" /></Relationships>
</file>

<file path=ppt/notesSlides/_rels/notesSlide9.xml.rels>&#65279;<?xml version="1.0" encoding="utf-8"?><Relationships xmlns="http://schemas.openxmlformats.org/package/2006/relationships"><Relationship Type="http://schemas.openxmlformats.org/officeDocument/2006/relationships/slide" Target="/ppt/slides/slide9.xml" Id="R24b7bfec8046424c" /><Relationship Type="http://schemas.openxmlformats.org/officeDocument/2006/relationships/notesMaster" Target="/ppt/notesMasters/notesMaster1.xml" Id="R8bd8411af0f4416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de9c5c073ae4d0d" /><Relationship Type="http://schemas.openxmlformats.org/officeDocument/2006/relationships/notesMaster" Target="/ppt/notesMasters/notesMaster1.xml" Id="R03fe32d8960849e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4107563758d4996" /><Relationship Type="http://schemas.openxmlformats.org/officeDocument/2006/relationships/notesMaster" Target="/ppt/notesMasters/notesMaster1.xml" Id="R22b48c56e990474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b5bf9879891442e" /><Relationship Type="http://schemas.openxmlformats.org/officeDocument/2006/relationships/notesMaster" Target="/ppt/notesMasters/notesMaster1.xml" Id="Rbabe5e3994b84b8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65aa87a8a784db9" /><Relationship Type="http://schemas.openxmlformats.org/officeDocument/2006/relationships/notesMaster" Target="/ppt/notesMasters/notesMaster1.xml" Id="Rd2f5049af9cd43a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8e0716d9d084226" /><Relationship Type="http://schemas.openxmlformats.org/officeDocument/2006/relationships/notesMaster" Target="/ppt/notesMasters/notesMaster1.xml" Id="Rd03f684c212f43e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df93244c1db4bbc" /><Relationship Type="http://schemas.openxmlformats.org/officeDocument/2006/relationships/notesMaster" Target="/ppt/notesMasters/notesMaster1.xml" Id="R38235874c2f648e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35ed17421cd4f49" /><Relationship Type="http://schemas.openxmlformats.org/officeDocument/2006/relationships/notesMaster" Target="/ppt/notesMasters/notesMaster1.xml" Id="R5e122ef9eecd4b1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546035e3a174577" /><Relationship Type="http://schemas.openxmlformats.org/officeDocument/2006/relationships/notesMaster" Target="/ppt/notesMasters/notesMaster1.xml" Id="Rb17516ee422d471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8d09187352241f1" /><Relationship Type="http://schemas.openxmlformats.org/officeDocument/2006/relationships/notesMaster" Target="/ppt/notesMasters/notesMaster1.xml" Id="Rbce81b37e9b3434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4cffb9047f74997" /><Relationship Type="http://schemas.openxmlformats.org/officeDocument/2006/relationships/notesMaster" Target="/ppt/notesMasters/notesMaster1.xml" Id="Rd8cdba80348b4d2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0e29b464cf14184" /><Relationship Type="http://schemas.openxmlformats.org/officeDocument/2006/relationships/notesMaster" Target="/ppt/notesMasters/notesMaster1.xml" Id="R5b03c2a1faed403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c28e4dc05f44feb" /><Relationship Type="http://schemas.openxmlformats.org/officeDocument/2006/relationships/notesMaster" Target="/ppt/notesMasters/notesMaster1.xml" Id="R9b54563774c142d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ee4d1799e444515" /><Relationship Type="http://schemas.openxmlformats.org/officeDocument/2006/relationships/notesMaster" Target="/ppt/notesMasters/notesMaster1.xml" Id="R120aad1b88ed413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e4afb92a09647de" /><Relationship Type="http://schemas.openxmlformats.org/officeDocument/2006/relationships/notesMaster" Target="/ppt/notesMasters/notesMaster1.xml" Id="R60b3c65e88644fb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3c38e8c35ce4332" /><Relationship Type="http://schemas.openxmlformats.org/officeDocument/2006/relationships/notesMaster" Target="/ppt/notesMasters/notesMaster1.xml" Id="R73749147fa61490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24bb19414a048ca" /><Relationship Type="http://schemas.openxmlformats.org/officeDocument/2006/relationships/notesMaster" Target="/ppt/notesMasters/notesMaster1.xml" Id="R087ebddb47064c7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f7d119007014583" /><Relationship Type="http://schemas.openxmlformats.org/officeDocument/2006/relationships/notesMaster" Target="/ppt/notesMasters/notesMaster1.xml" Id="Rba853848fad8452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92e89e496c04409" /><Relationship Type="http://schemas.openxmlformats.org/officeDocument/2006/relationships/notesMaster" Target="/ppt/notesMasters/notesMaster1.xml" Id="Rf9686646c2314bd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c86f52e833841df" /><Relationship Type="http://schemas.openxmlformats.org/officeDocument/2006/relationships/notesMaster" Target="/ppt/notesMasters/notesMaster1.xml" Id="Rf9a57668622e4cd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cf47af4313444c8" /><Relationship Type="http://schemas.openxmlformats.org/officeDocument/2006/relationships/notesMaster" Target="/ppt/notesMasters/notesMaster1.xml" Id="R1465481ebfd3415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fa828ba429847e3" /><Relationship Type="http://schemas.openxmlformats.org/officeDocument/2006/relationships/notesMaster" Target="/ppt/notesMasters/notesMaster1.xml" Id="R7af0d1c3dc5841d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63fe15f40ec479c" /><Relationship Type="http://schemas.openxmlformats.org/officeDocument/2006/relationships/notesMaster" Target="/ppt/notesMasters/notesMaster1.xml" Id="Ra2fe262723c8414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6e616dcab694e5a" /><Relationship Type="http://schemas.openxmlformats.org/officeDocument/2006/relationships/notesMaster" Target="/ppt/notesMasters/notesMaster1.xml" Id="R5b9e04315d0b461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d51ce21b9f64895" /><Relationship Type="http://schemas.openxmlformats.org/officeDocument/2006/relationships/notesMaster" Target="/ppt/notesMasters/notesMaster1.xml" Id="R8a5def4c4ff243c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43ab85dd5704c2e" /><Relationship Type="http://schemas.openxmlformats.org/officeDocument/2006/relationships/notesMaster" Target="/ppt/notesMasters/notesMaster1.xml" Id="R6e3012d880b34521"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488672ee7d0b4e3b" /><Relationship Type="http://schemas.openxmlformats.org/officeDocument/2006/relationships/notesMaster" Target="/ppt/notesMasters/notesMaster1.xml" Id="R9d59b0cd0b9c43c4"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229afe73b98c467b" /><Relationship Type="http://schemas.openxmlformats.org/officeDocument/2006/relationships/notesMaster" Target="/ppt/notesMasters/notesMaster1.xml" Id="R3b16815e6c4c4917"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04bfb84fd9204df5" /><Relationship Type="http://schemas.openxmlformats.org/officeDocument/2006/relationships/notesMaster" Target="/ppt/notesMasters/notesMaster1.xml" Id="Rd3d4cefcdc014741"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885050fc9534890" /><Relationship Type="http://schemas.openxmlformats.org/officeDocument/2006/relationships/notesMaster" Target="/ppt/notesMasters/notesMaster1.xml" Id="R4cc6493124844e3e"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4cf886a96c40425b" /><Relationship Type="http://schemas.openxmlformats.org/officeDocument/2006/relationships/notesMaster" Target="/ppt/notesMasters/notesMaster1.xml" Id="Rce67594b97d746e8"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2c085115fc724157" /><Relationship Type="http://schemas.openxmlformats.org/officeDocument/2006/relationships/notesMaster" Target="/ppt/notesMasters/notesMaster1.xml" Id="R3f32e48e0fd847f2"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3a237f34c14c4455" /><Relationship Type="http://schemas.openxmlformats.org/officeDocument/2006/relationships/notesMaster" Target="/ppt/notesMasters/notesMaster1.xml" Id="Rb4f5ef6d93234e89"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ce0cad74e5ab4457" /><Relationship Type="http://schemas.openxmlformats.org/officeDocument/2006/relationships/notesMaster" Target="/ppt/notesMasters/notesMaster1.xml" Id="R28d07b9d45434bbc"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cf79752aa7384f4b" /><Relationship Type="http://schemas.openxmlformats.org/officeDocument/2006/relationships/notesMaster" Target="/ppt/notesMasters/notesMaster1.xml" Id="Rdc83d69102494ded"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1c735df51e64483f" /><Relationship Type="http://schemas.openxmlformats.org/officeDocument/2006/relationships/notesMaster" Target="/ppt/notesMasters/notesMaster1.xml" Id="Rceab8cd62c4640a8"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f07a28fc83864f1a" /><Relationship Type="http://schemas.openxmlformats.org/officeDocument/2006/relationships/notesMaster" Target="/ppt/notesMasters/notesMaster1.xml" Id="Ra5bc64d869eb49b4"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c8e9891eaef54658" /><Relationship Type="http://schemas.openxmlformats.org/officeDocument/2006/relationships/notesMaster" Target="/ppt/notesMasters/notesMaster1.xml" Id="R55d40a7fd07340f9"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b7b52e6d8c8246da" /><Relationship Type="http://schemas.openxmlformats.org/officeDocument/2006/relationships/notesMaster" Target="/ppt/notesMasters/notesMaster1.xml" Id="Rc0631cef73e94687"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6663652ee32541ec" /><Relationship Type="http://schemas.openxmlformats.org/officeDocument/2006/relationships/notesMaster" Target="/ppt/notesMasters/notesMaster1.xml" Id="R656962f69daa4225"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a4e82953c8994e49" /><Relationship Type="http://schemas.openxmlformats.org/officeDocument/2006/relationships/notesMaster" Target="/ppt/notesMasters/notesMaster1.xml" Id="R55bdfd5891f64185"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54c8bf5a936c4a2c" /><Relationship Type="http://schemas.openxmlformats.org/officeDocument/2006/relationships/notesMaster" Target="/ppt/notesMasters/notesMaster1.xml" Id="Ra767b690e53e4578"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95507d1ac045440f" /><Relationship Type="http://schemas.openxmlformats.org/officeDocument/2006/relationships/notesMaster" Target="/ppt/notesMasters/notesMaster1.xml" Id="R7ce962e66176494e"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e00b897a4f5f49e9" /><Relationship Type="http://schemas.openxmlformats.org/officeDocument/2006/relationships/notesMaster" Target="/ppt/notesMasters/notesMaster1.xml" Id="Rc38c317fcc5644af"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97a3dfa50abd46c3" /><Relationship Type="http://schemas.openxmlformats.org/officeDocument/2006/relationships/notesMaster" Target="/ppt/notesMasters/notesMaster1.xml" Id="Rc70e72ac8d8a4c2f"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4696398035464065" /><Relationship Type="http://schemas.openxmlformats.org/officeDocument/2006/relationships/notesMaster" Target="/ppt/notesMasters/notesMaster1.xml" Id="Rbd79bdf795684ec4"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e87e43edff98438d" /><Relationship Type="http://schemas.openxmlformats.org/officeDocument/2006/relationships/notesMaster" Target="/ppt/notesMasters/notesMaster1.xml" Id="R33baec88debc436b"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a366470b3b8c4bef" /><Relationship Type="http://schemas.openxmlformats.org/officeDocument/2006/relationships/notesMaster" Target="/ppt/notesMasters/notesMaster1.xml" Id="R97ab0d6330cf41ec"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6d166c1896d34a4e" /><Relationship Type="http://schemas.openxmlformats.org/officeDocument/2006/relationships/notesMaster" Target="/ppt/notesMasters/notesMaster1.xml" Id="R6290ae323d374919"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5685dd2174834f2c" /><Relationship Type="http://schemas.openxmlformats.org/officeDocument/2006/relationships/notesMaster" Target="/ppt/notesMasters/notesMaster1.xml" Id="R6b54879976e54d2e"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490f168712464817" /><Relationship Type="http://schemas.openxmlformats.org/officeDocument/2006/relationships/notesMaster" Target="/ppt/notesMasters/notesMaster1.xml" Id="R4bf9d15ceb124e1f"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3cbed59d34654b78" /><Relationship Type="http://schemas.openxmlformats.org/officeDocument/2006/relationships/notesMaster" Target="/ppt/notesMasters/notesMaster1.xml" Id="Re1249249a0c14abe"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958f8a8cd5a64f77" /><Relationship Type="http://schemas.openxmlformats.org/officeDocument/2006/relationships/notesMaster" Target="/ppt/notesMasters/notesMaster1.xml" Id="R9542a153c9e340aa"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b6cde660aa3b4fa1" /><Relationship Type="http://schemas.openxmlformats.org/officeDocument/2006/relationships/notesMaster" Target="/ppt/notesMasters/notesMaster1.xml" Id="R69f82d97ed81415a"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784d4e9475674e73" /><Relationship Type="http://schemas.openxmlformats.org/officeDocument/2006/relationships/notesMaster" Target="/ppt/notesMasters/notesMaster1.xml" Id="R67ff1cf2c7eb4f79"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2598368d3e724d35" /><Relationship Type="http://schemas.openxmlformats.org/officeDocument/2006/relationships/notesMaster" Target="/ppt/notesMasters/notesMaster1.xml" Id="R57a9aff737c64be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to turn a small graph into an answer, then write your own code.</a:t>
            </a:r>
          </a:p>
          <a:p xmlns:a="http://schemas.openxmlformats.org/drawingml/2006/main">
            <a:r>
              <a:t/>
            </a:r>
          </a:p>
          <a:p xmlns:a="http://schemas.openxmlformats.org/drawingml/2006/main">
            <a:r>
              <a:t>First work through an example by hand. Then connect each action to code.</a:t>
            </a:r>
          </a:p>
          <a:p xmlns:a="http://schemas.openxmlformats.org/drawingml/2006/main">
            <a:r>
              <a:t/>
            </a:r>
          </a:p>
          <a:p xmlns:a="http://schemas.openxmlformats.org/drawingml/2006/main">
            <a:r>
              <a:t>Work at your own pace. After each step, predict the next state. Use the questions below to check understanding and reveal an answer when ready. Java snippets show individual actions. You implement the six complete methods yourself. CONTRACTS.md defines the exact interfaces.</a:t>
            </a:r>
          </a:p>
          <a:p xmlns:a="http://schemas.openxmlformats.org/drawingml/2006/main">
            <a:r>
              <a:t/>
            </a:r>
          </a:p>
          <a:p xmlns:a="http://schemas.openxmlformats.org/drawingml/2006/main">
            <a:r>
              <a:t>Six methods, worked examples and explanations in two languages.</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vertex is an object. An edge connects two objects.</a:t>
            </a:r>
          </a:p>
          <a:p xmlns:a="http://schemas.openxmlformats.org/drawingml/2006/main">
            <a:r>
              <a:t/>
            </a:r>
          </a:p>
          <a:p xmlns:a="http://schemas.openxmlformats.org/drawingml/2006/main">
            <a:r>
              <a:t>Three venues: 0, 1, 2. Cables connect 0 to 1 and 1 to 2.</a:t>
            </a:r>
          </a:p>
          <a:p xmlns:a="http://schemas.openxmlformats.org/drawingml/2006/main">
            <a:r>
              <a:t/>
            </a:r>
          </a:p>
          <a:p xmlns:a="http://schemas.openxmlformats.org/drawingml/2006/main">
            <a:r>
              <a:t>You can reach 2 from 0 through 1. A direct edge 0–2 is unnecessary.</a:t>
            </a:r>
          </a:p>
          <a:p xmlns:a="http://schemas.openxmlformats.org/drawingml/2006/main">
            <a:r>
              <a:t/>
            </a:r>
          </a:p>
          <a:p xmlns:a="http://schemas.openxmlformats.org/drawingml/2006/main">
            <a:r>
              <a:t>You can reach 2 from 0 through 1. A direct edge 0–2 is unnecessary.</a:t>
            </a:r>
          </a:p>
          <a:p xmlns:a="http://schemas.openxmlformats.org/drawingml/2006/main">
            <a:r>
              <a:t/>
            </a:r>
          </a:p>
          <a:p xmlns:a="http://schemas.openxmlformats.org/drawingml/2006/main">
            <a:r>
              <a:t>How many vertices and edges are there?</a:t>
            </a:r>
          </a:p>
          <a:p xmlns:a="http://schemas.openxmlformats.org/drawingml/2006/main">
            <a:r>
              <a:t>3 vertices and 2 edges. Count objects for vertices and connections for edges.</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arrow permits one direction. A weight is a number attached to an edge.</a:t>
            </a:r>
          </a:p>
          <a:p xmlns:a="http://schemas.openxmlformats.org/drawingml/2006/main">
            <a:r>
              <a:t/>
            </a:r>
          </a:p>
          <a:p xmlns:a="http://schemas.openxmlformats.org/drawingml/2006/main">
            <a:r>
              <a:t>[0, 1, 4]: from 0 to 1, cost 4. In MST the connection works both ways.</a:t>
            </a:r>
          </a:p>
          <a:p xmlns:a="http://schemas.openxmlformats.org/drawingml/2006/main">
            <a:r>
              <a:t/>
            </a:r>
          </a:p>
          <a:p xmlns:a="http://schemas.openxmlformats.org/drawingml/2006/main">
            <a:r>
              <a:t>Direction matters in SCC, topo and DAG. Having 0→1 does not imply 1→0. An MST edge is undirected: [0,1,4] connects both vertices. A weight can represent cost, and a negative weight can represent a discount. Never invent a missing edge.</a:t>
            </a:r>
          </a:p>
          <a:p xmlns:a="http://schemas.openxmlformats.org/drawingml/2006/main">
            <a:r>
              <a:t/>
            </a:r>
          </a:p>
          <a:p xmlns:a="http://schemas.openxmlformats.org/drawingml/2006/main">
            <a:r>
              <a:t>The task chooses the model: cables, work dependencies and delivery use separate graphs.</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identify the required result. Then use the required method.</a:t>
            </a:r>
          </a:p>
          <a:p xmlns:a="http://schemas.openxmlformats.org/drawingml/2006/main">
            <a:r>
              <a:t/>
            </a:r>
          </a:p>
          <a:p xmlns:a="http://schemas.openxmlformats.org/drawingml/2006/main">
            <a:r>
              <a:t>The festival story leads to different mathematical tasks.</a:t>
            </a:r>
          </a:p>
          <a:p xmlns:a="http://schemas.openxmlformats.org/drawingml/2006/main">
            <a:r>
              <a:t/>
            </a:r>
          </a:p>
          <a:p xmlns:a="http://schemas.openxmlformats.org/drawingml/2006/main">
            <a:r>
              <a:t>Kruskal and Prim solve the same problem, but A3 requires separate implementations.</a:t>
            </a:r>
          </a:p>
          <a:p xmlns:a="http://schemas.openxmlformats.org/drawingml/2006/main">
            <a:r>
              <a:t/>
            </a:r>
          </a:p>
          <a:p xmlns:a="http://schemas.openxmlformats.org/drawingml/2006/main">
            <a:r>
              <a:t>Kruskal and Prim solve the same problem, but A3 requires separate implementations.</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Numbering starts at zero. Sorting must preserve the original ID.</a:t>
            </a:r>
          </a:p>
          <a:p xmlns:a="http://schemas.openxmlformats.org/drawingml/2006/main">
            <a:r>
              <a:t/>
            </a:r>
          </a:p>
          <a:p xmlns:a="http://schemas.openxmlformats.org/drawingml/2006/main">
            <a:r>
              <a:t>Two identical edges may still have different IDs.</a:t>
            </a:r>
          </a:p>
          <a:p xmlns:a="http://schemas.openxmlformats.org/drawingml/2006/main">
            <a:r>
              <a:t/>
            </a:r>
          </a:p>
          <a:p xmlns:a="http://schemas.openxmlformats.org/drawingml/2006/main">
            <a:r>
              <a:t>When the answer needs edge_ids or parent_edge, return the input ID.</a:t>
            </a:r>
          </a:p>
          <a:p xmlns:a="http://schemas.openxmlformats.org/drawingml/2006/main">
            <a:r>
              <a:t/>
            </a:r>
          </a:p>
          <a:p xmlns:a="http://schemas.openxmlformats.org/drawingml/2006/main">
            <a:r>
              <a:t>When the answer needs edge_ids or parent_edge, return the input ID.</a:t>
            </a:r>
          </a:p>
          <a:p xmlns:a="http://schemas.openxmlformats.org/drawingml/2006/main">
            <a:r>
              <a:t/>
            </a:r>
          </a:p>
          <a:p xmlns:a="http://schemas.openxmlformats.org/drawingml/2006/main">
            <a:r>
              <a:t>After sorting, [1,2,1] comes first. What is its ID?</a:t>
            </a:r>
          </a:p>
          <a:p xmlns:a="http://schemas.openxmlformats.org/drawingml/2006/main">
            <a:r>
              <a:t>ID = 1. Its original position does not change.</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adapter already reads JSON and calls your method.</a:t>
            </a:r>
          </a:p>
          <a:p xmlns:a="http://schemas.openxmlformats.org/drawingml/2006/main">
            <a:r>
              <a:t/>
            </a:r>
          </a:p>
          <a:p xmlns:a="http://schemas.openxmlformats.org/drawingml/2006/main">
            <a:r>
              <a:t>Input: {"task":"dsu","n":3,"operations":[[0,1]]}</a:t>
            </a:r>
          </a:p>
          <a:p xmlns:a="http://schemas.openxmlformats.org/drawingml/2006/main">
            <a:r>
              <a:t>Output: {"states":[[2,2]]}</a:t>
            </a:r>
          </a:p>
          <a:p xmlns:a="http://schemas.openxmlformats.org/drawingml/2006/main">
            <a:r>
              <a:t/>
            </a:r>
          </a:p>
          <a:p xmlns:a="http://schemas.openxmlformats.org/drawingml/2006/main">
            <a:r>
              <a:t>states stores [components, largest] after each operation. components counts groups. largest is the size of the biggest group. Keep debugging text off stdout, which must contain only JSON. The next input line is an independent task with fresh state.</a:t>
            </a:r>
          </a:p>
          <a:p xmlns:a="http://schemas.openxmlformats.org/drawingml/2006/main">
            <a:r>
              <a:t/>
            </a:r>
          </a:p>
          <a:p xmlns:a="http://schemas.openxmlformats.org/drawingml/2006/main">
            <a:r>
              <a:t>After linking 0–1, two groups remain. The largest contains two vertices.</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DSU tracks vertices already connected by a chain of links.</a:t>
            </a:r>
          </a:p>
          <a:p xmlns:a="http://schemas.openxmlformats.org/drawingml/2006/main">
            <a:r>
              <a:t/>
            </a:r>
          </a:p>
          <a:p xmlns:a="http://schemas.openxmlformats.org/drawingml/2006/main">
            <a:r>
              <a:t>Start: {0}, {1}, {2}, {3}, {4}. Add 0–1, then 1–2.</a:t>
            </a:r>
          </a:p>
          <a:p xmlns:a="http://schemas.openxmlformats.org/drawingml/2006/main">
            <a:r>
              <a:t/>
            </a:r>
          </a:p>
          <a:p xmlns:a="http://schemas.openxmlformats.org/drawingml/2006/main">
            <a:r>
              <a:t>Each connection merges two groups into one: 5, then 4, then 3 groups. Group {0,1,2} has three vertices, so largest=3.</a:t>
            </a:r>
          </a:p>
          <a:p xmlns:a="http://schemas.openxmlformats.org/drawingml/2006/main">
            <a:r>
              <a:t/>
            </a:r>
          </a:p>
          <a:p xmlns:a="http://schemas.openxmlformats.org/drawingml/2006/main">
            <a:r>
              <a:t>Each connection merges two groups into one: 5, then 4, then 3 groups. Group {0,1,2} has three vertices, so largest=3.</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parent[x] stores the next vertex on the way to the group representative.</a:t>
            </a:r>
          </a:p>
          <a:p xmlns:a="http://schemas.openxmlformats.org/drawingml/2006/main">
            <a:r>
              <a:t/>
            </a:r>
          </a:p>
          <a:p xmlns:a="http://schemas.openxmlformats.org/drawingml/2006/main">
            <a:r>
              <a:t>parent = [0, 0, 1, 3, 4]. For vertex 2, follow 2 → 1 → 0.</a:t>
            </a:r>
          </a:p>
          <a:p xmlns:a="http://schemas.openxmlformats.org/drawingml/2006/main">
            <a:r>
              <a:t/>
            </a:r>
          </a:p>
          <a:p xmlns:a="http://schemas.openxmlformats.org/drawingml/2006/main">
            <a:r>
              <a:t>Before any union, every vertex has parent[x]=x and size[x]=1. This is a separate valid example of the internal tree for group {0,1,2}. It is a DSU pointer tree, not the original connection graph. parent[2]=1 only gives the next step toward the root. The input need not contain a direct edge 2–0. Separate groups have different roots.</a:t>
            </a:r>
          </a:p>
          <a:p xmlns:a="http://schemas.openxmlformats.org/drawingml/2006/main">
            <a:r>
              <a:t/>
            </a:r>
          </a:p>
          <a:p xmlns:a="http://schemas.openxmlformats.org/drawingml/2006/main">
            <a:r>
              <a:t>Vertex 0 points to itself. It is the root, or group representative.</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find returns a root. Comparing roots checks group membership.</a:t>
            </a:r>
          </a:p>
          <a:p xmlns:a="http://schemas.openxmlformats.org/drawingml/2006/main">
            <a:r>
              <a:t/>
            </a:r>
          </a:p>
          <a:p xmlns:a="http://schemas.openxmlformats.org/drawingml/2006/main">
            <a:r>
              <a:t>2 → 1 → 0. Stop because parent[0] = 0.</a:t>
            </a:r>
          </a:p>
          <a:p xmlns:a="http://schemas.openxmlformats.org/drawingml/2006/main">
            <a:r>
              <a:t/>
            </a:r>
          </a:p>
          <a:p xmlns:a="http://schemas.openxmlformats.org/drawingml/2006/main">
            <a:r>
              <a:t>Comparing only parent[2] and parent[1] gives 1 and 0 even though the group is the same. Find actual roots before union. root is a local variable that follows the pointers. The loop below illustrates root finding without compression.</a:t>
            </a:r>
          </a:p>
          <a:p xmlns:a="http://schemas.openxmlformats.org/drawingml/2006/main">
            <a:r>
              <a:t/>
            </a:r>
          </a:p>
          <a:p xmlns:a="http://schemas.openxmlformats.org/drawingml/2006/main">
            <a:r>
              <a:t>find(2) = 0 and find(1) = 0: vertices 2 and 1 already share a group.</a:t>
            </a:r>
          </a:p>
          <a:p xmlns:a="http://schemas.openxmlformats.org/drawingml/2006/main">
            <a:r>
              <a:t/>
            </a:r>
          </a:p>
          <a:p xmlns:a="http://schemas.openxmlformats.org/drawingml/2006/main">
            <a:r>
              <a:t>Can parent[a] and parent[b] replace find(a) and find(b)?</a:t>
            </a:r>
          </a:p>
          <a:p xmlns:a="http://schemas.openxmlformats.org/drawingml/2006/main">
            <a:r>
              <a:t>No. parent can point to an intermediate vertex. Compare roots.</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find, point visited vertices directly to the root we found.</a:t>
            </a:r>
          </a:p>
          <a:p xmlns:a="http://schemas.openxmlformats.org/drawingml/2006/main">
            <a:r>
              <a:t/>
            </a:r>
          </a:p>
          <a:p xmlns:a="http://schemas.openxmlformats.org/drawingml/2006/main">
            <a:r>
              <a:t>Before: 2 → 1 → 0. After: 2 → 0 and 1 → 0.</a:t>
            </a:r>
          </a:p>
          <a:p xmlns:a="http://schemas.openxmlformats.org/drawingml/2006/main">
            <a:r>
              <a:t/>
            </a:r>
          </a:p>
          <a:p xmlns:a="http://schemas.openxmlformats.org/drawingml/2006/main">
            <a:r>
              <a:t>The group stays the same. Only the internal parent tree changes.</a:t>
            </a:r>
          </a:p>
          <a:p xmlns:a="http://schemas.openxmlformats.org/drawingml/2006/main">
            <a:r>
              <a:t/>
            </a:r>
          </a:p>
          <a:p xmlns:a="http://schemas.openxmlformats.org/drawingml/2006/main">
            <a:r>
              <a:t>The group stays the same. Only the internal parent tree changes.</a:t>
            </a:r>
          </a:p>
          <a:p xmlns:a="http://schemas.openxmlformats.org/drawingml/2006/main">
            <a:r>
              <a:t/>
            </a:r>
          </a:p>
          <a:p xmlns:a="http://schemas.openxmlformats.org/drawingml/2006/main">
            <a:r>
              <a:t>How many groups remain after compression?</a:t>
            </a:r>
          </a:p>
          <a:p xmlns:a="http://schemas.openxmlformats.org/drawingml/2006/main">
            <a:r>
              <a:t>Still three: {0,1,2}, {3}, {4}. Compression does not join separate groups.</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changing parent[x], remember its old destination.</a:t>
            </a:r>
          </a:p>
          <a:p xmlns:a="http://schemas.openxmlformats.org/drawingml/2006/main">
            <a:r>
              <a:t/>
            </a:r>
          </a:p>
          <a:p xmlns:a="http://schemas.openxmlformats.org/drawingml/2006/main">
            <a:r>
              <a:t>A separate longer path: 3→2→1→0. For x=3, save next=2 before setting parent[3]=0.</a:t>
            </a:r>
          </a:p>
          <a:p xmlns:a="http://schemas.openxmlformats.org/drawingml/2006/main">
            <a:r>
              <a:t/>
            </a:r>
          </a:p>
          <a:p xmlns:a="http://schemas.openxmlformats.org/drawingml/2006/main">
            <a:r>
              <a:t>Here root=0 has already been found by a first pass. In each iteration, save the old link, replace it with root, then follow the saved link. Using x=parent[x] after the write jumps straight to 0 and skips vertex 2. Then parent[2] remains 1 instead of pointing directly to 0. The root is known, but the visited path has not been fully compressed.</a:t>
            </a:r>
          </a:p>
          <a:p xmlns:a="http://schemas.openxmlformats.org/drawingml/2006/main">
            <a:r>
              <a:t/>
            </a:r>
          </a:p>
          <a:p xmlns:a="http://schemas.openxmlformats.org/drawingml/2006/main">
            <a:r>
              <a:t>next lets us continue along the old path and compress the remaining vertices.</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Find both roots first. If they differ, join the trees.</a:t>
            </a:r>
          </a:p>
          <a:p xmlns:a="http://schemas.openxmlformats.org/drawingml/2006/main">
            <a:r>
              <a:t/>
            </a:r>
          </a:p>
          <a:p xmlns:a="http://schemas.openxmlformats.org/drawingml/2006/main">
            <a:r>
              <a:t>Root 0: size=3. Root 3: size=1. Set parent[3]=0.</a:t>
            </a:r>
          </a:p>
          <a:p xmlns:a="http://schemas.openxmlformats.org/drawingml/2006/main">
            <a:r>
              <a:t/>
            </a:r>
          </a:p>
          <a:p xmlns:a="http://schemas.openxmlformats.org/drawingml/2006/main">
            <a:r>
              <a:t>size stores the number of vertices in a group at its root. Attach a smaller tree to a larger one to avoid long pointer chains. After the merge, the new root holds the meaningful size. Update statistics only when two separate groups actually join.</a:t>
            </a:r>
          </a:p>
          <a:p xmlns:a="http://schemas.openxmlformats.org/drawingml/2006/main">
            <a:r>
              <a:t/>
            </a:r>
          </a:p>
          <a:p xmlns:a="http://schemas.openxmlformats.org/drawingml/2006/main">
            <a:r>
              <a:t>The new size[0] is 4. The group count drops by 1. largest becomes 4.</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the roots match, keep the current statistics.</a:t>
            </a:r>
          </a:p>
          <a:p xmlns:a="http://schemas.openxmlformats.org/drawingml/2006/main">
            <a:r>
              <a:t/>
            </a:r>
          </a:p>
          <a:p xmlns:a="http://schemas.openxmlformats.org/drawingml/2006/main">
            <a:r>
              <a:t>With {0,1,2,3} already connected, add [0,2] and [4,4].</a:t>
            </a:r>
          </a:p>
          <a:p xmlns:a="http://schemas.openxmlformats.org/drawingml/2006/main">
            <a:r>
              <a:t/>
            </a:r>
          </a:p>
          <a:p xmlns:a="http://schemas.openxmlformats.org/drawingml/2006/main">
            <a:r>
              <a:t>[0,2] joins vertices already in the same group. [4,4] joins a vertex to itself. Neither operation joins separate groups. Still append a states row after every operation. When n=0, operations and states are both empty.</a:t>
            </a:r>
          </a:p>
          <a:p xmlns:a="http://schemas.openxmlformats.org/drawingml/2006/main">
            <a:r>
              <a:t/>
            </a:r>
          </a:p>
          <a:p xmlns:a="http://schemas.openxmlformats.org/drawingml/2006/main">
            <a:r>
              <a:t>Both operations preserve components=2 and largest=4.</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size counts vertices. rank helps choose a root when merging.</a:t>
            </a:r>
          </a:p>
          <a:p xmlns:a="http://schemas.openxmlformats.org/drawingml/2006/main">
            <a:r>
              <a:t/>
            </a:r>
          </a:p>
          <a:p xmlns:a="http://schemas.openxmlformats.org/drawingml/2006/main">
            <a:r>
              <a:t>Two singletons have ranks 0 and 0. After merging, the root rank is 1.</a:t>
            </a:r>
          </a:p>
          <a:p xmlns:a="http://schemas.openxmlformats.org/drawingml/2006/main">
            <a:r>
              <a:t/>
            </a:r>
          </a:p>
          <a:p xmlns:a="http://schemas.openxmlformats.org/drawingml/2006/main">
            <a:r>
              <a:t>A3 allows union by size or by rank. Both require path compression. With rank, attach a lower-rank root under a higher-rank root. Only equal ranks increase the new root rank by 1. Maintain size separately for largest. After compression, rank need not equal the current height.</a:t>
            </a:r>
          </a:p>
          <a:p xmlns:a="http://schemas.openxmlformats.org/drawingml/2006/main">
            <a:r>
              <a:t/>
            </a:r>
          </a:p>
          <a:p xmlns:a="http://schemas.openxmlformats.org/drawingml/2006/main">
            <a:r>
              <a:t>Attach a third singleton: size=3, but rank remains 1.</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a state after every operation, including repeats and self-unions.</a:t>
            </a:r>
          </a:p>
          <a:p xmlns:a="http://schemas.openxmlformats.org/drawingml/2006/main">
            <a:r>
              <a:t/>
            </a:r>
          </a:p>
          <a:p xmlns:a="http://schemas.openxmlformats.org/drawingml/2006/main">
            <a:r>
              <a:t>The same five vertices. After [2,3], group {0,1,2,3} contains four vertices.</a:t>
            </a:r>
          </a:p>
          <a:p xmlns:a="http://schemas.openxmlformats.org/drawingml/2006/main">
            <a:r>
              <a:t/>
            </a:r>
          </a:p>
          <a:p xmlns:a="http://schemas.openxmlformats.org/drawingml/2006/main">
            <a:r>
              <a:t>Five operations produce exactly five states rows. Do not add an extra initial row.</a:t>
            </a:r>
          </a:p>
          <a:p xmlns:a="http://schemas.openxmlformats.org/drawingml/2006/main">
            <a:r>
              <a:t/>
            </a:r>
          </a:p>
          <a:p xmlns:a="http://schemas.openxmlformats.org/drawingml/2006/main">
            <a:r>
              <a:t>Five operations produce exactly five states rows. Do not add an extra initial row.</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Connect the available venues at the smallest total cable cost.</a:t>
            </a:r>
          </a:p>
          <a:p xmlns:a="http://schemas.openxmlformats.org/drawingml/2006/main">
            <a:r>
              <a:t/>
            </a:r>
          </a:p>
          <a:p xmlns:a="http://schemas.openxmlformats.org/drawingml/2006/main">
            <a:r>
              <a:t>We have 0, 1, 2, 3, plus venue 4 with no available cable.</a:t>
            </a:r>
          </a:p>
          <a:p xmlns:a="http://schemas.openxmlformats.org/drawingml/2006/main">
            <a:r>
              <a:t/>
            </a:r>
          </a:p>
          <a:p xmlns:a="http://schemas.openxmlformats.org/drawingml/2006/main">
            <a:r>
              <a:t>A tree connects vertices without a cycle. A forest consists of several such trees. A3 must handle disconnected input instead of requiring one global tree. An isolated vertex also counts as a component. For n vertices and c components, the forest has n−c edges.</a:t>
            </a:r>
          </a:p>
          <a:p xmlns:a="http://schemas.openxmlformats.org/drawingml/2006/main">
            <a:r>
              <a:t/>
            </a:r>
          </a:p>
          <a:p xmlns:a="http://schemas.openxmlformats.org/drawingml/2006/main">
            <a:r>
              <a:t>Venue 4 cannot be connected. The answer is a forest: one group tree and one singleton.</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Five available cables. Every connection works in both directions.</a:t>
            </a:r>
          </a:p>
          <a:p xmlns:a="http://schemas.openxmlformats.org/drawingml/2006/main">
            <a:r>
              <a:t/>
            </a:r>
          </a:p>
          <a:p xmlns:a="http://schemas.openxmlformats.org/drawingml/2006/main">
            <a:r>
              <a:t>n=5. Vertex 4 is isolated, so c=2 and we need 5−2=3 edges.</a:t>
            </a:r>
          </a:p>
          <a:p xmlns:a="http://schemas.openxmlformats.org/drawingml/2006/main">
            <a:r>
              <a:t/>
            </a:r>
          </a:p>
          <a:p xmlns:a="http://schemas.openxmlformats.org/drawingml/2006/main">
            <a:r>
              <a:t>Minimize the sum of selected weights, not a route from one source.</a:t>
            </a:r>
          </a:p>
          <a:p xmlns:a="http://schemas.openxmlformats.org/drawingml/2006/main">
            <a:r>
              <a:t/>
            </a:r>
          </a:p>
          <a:p xmlns:a="http://schemas.openxmlformats.org/drawingml/2006/main">
            <a:r>
              <a:t>Minimize the sum of selected weights, not a route from one source.</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Sort all edges by weight. Use DSU to track groups.</a:t>
            </a:r>
          </a:p>
          <a:p xmlns:a="http://schemas.openxmlformats.org/drawingml/2006/main">
            <a:r>
              <a:t/>
            </a:r>
          </a:p>
          <a:p xmlns:a="http://schemas.openxmlformats.org/drawingml/2006/main">
            <a:r>
              <a:t>ID order: 1, 3, 0, 4, 2. Weights: 1, 2, 4, 5, 6.</a:t>
            </a:r>
          </a:p>
          <a:p xmlns:a="http://schemas.openxmlformats.org/drawingml/2006/main">
            <a:r>
              <a:t/>
            </a:r>
          </a:p>
          <a:p xmlns:a="http://schemas.openxmlformats.org/drawingml/2006/main">
            <a:r>
              <a:t>Initially every vertex is a separate group. Sorting changes the inspection order but preserves IDs. If selected edges already connect both endpoints, adding this edge would create a cycle. Check both endpoints with find.</a:t>
            </a:r>
          </a:p>
          <a:p xmlns:a="http://schemas.openxmlformats.org/drawingml/2006/main">
            <a:r>
              <a:t/>
            </a:r>
          </a:p>
          <a:p xmlns:a="http://schemas.openxmlformats.org/drawingml/2006/main">
            <a:r>
              <a:t>Take an edge when it connects two separate groups.</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edges connect separate groups, so select them.</a:t>
            </a:r>
          </a:p>
          <a:p xmlns:a="http://schemas.openxmlformats.org/drawingml/2006/main">
            <a:r>
              <a:t/>
            </a:r>
          </a:p>
          <a:p xmlns:a="http://schemas.openxmlformats.org/drawingml/2006/main">
            <a:r>
              <a:t>ID 1 links 1–2 for 1. Then ID 3 links 2–3 for 2.</a:t>
            </a:r>
          </a:p>
          <a:p xmlns:a="http://schemas.openxmlformats.org/drawingml/2006/main">
            <a:r>
              <a:t/>
            </a:r>
          </a:p>
          <a:p xmlns:a="http://schemas.openxmlformats.org/drawingml/2006/main">
            <a:r>
              <a:t>Now {1,2,3} is one group with cost 3. Vertices 0 and 4 remain separate.</a:t>
            </a:r>
          </a:p>
          <a:p xmlns:a="http://schemas.openxmlformats.org/drawingml/2006/main">
            <a:r>
              <a:t/>
            </a:r>
          </a:p>
          <a:p xmlns:a="http://schemas.openxmlformats.org/drawingml/2006/main">
            <a:r>
              <a:t>Now {1,2,3} is one group with cost 3. Vertices 0 and 4 remain separate.</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ID 0 attaches vertex 0. The remaining edges would create cycles.</a:t>
            </a:r>
          </a:p>
          <a:p xmlns:a="http://schemas.openxmlformats.org/drawingml/2006/main">
            <a:r>
              <a:t/>
            </a:r>
          </a:p>
          <a:p xmlns:a="http://schemas.openxmlformats.org/drawingml/2006/main">
            <a:r>
              <a:t>Take ID 0 for 4: total 1+2+4=7. Skip ID 4 and ID 2.</a:t>
            </a:r>
          </a:p>
          <a:p xmlns:a="http://schemas.openxmlformats.org/drawingml/2006/main">
            <a:r>
              <a:t/>
            </a:r>
          </a:p>
          <a:p xmlns:a="http://schemas.openxmlformats.org/drawingml/2006/main">
            <a:r>
              <a:t>Answer: cost=7, edge_ids=[1,3,0], components=2.</a:t>
            </a:r>
          </a:p>
          <a:p xmlns:a="http://schemas.openxmlformats.org/drawingml/2006/main">
            <a:r>
              <a:t/>
            </a:r>
          </a:p>
          <a:p xmlns:a="http://schemas.openxmlformats.org/drawingml/2006/main">
            <a:r>
              <a:t>Answer: cost=7, edge_ids=[1,3,0], components=2.</a:t>
            </a:r>
          </a:p>
          <a:p xmlns:a="http://schemas.openxmlformats.org/drawingml/2006/main">
            <a:r>
              <a:t/>
            </a:r>
          </a:p>
          <a:p xmlns:a="http://schemas.openxmlformats.org/drawingml/2006/main">
            <a:r>
              <a:t>Why is components not 1?</a:t>
            </a:r>
          </a:p>
          <a:p xmlns:a="http://schemas.openxmlformats.org/drawingml/2006/main">
            <a:r>
              <a:t>Vertex 4 has no input edges. It remains a separate component.</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Split vertices into two sides. Connecting them requires crossing the boundary.</a:t>
            </a:r>
          </a:p>
          <a:p xmlns:a="http://schemas.openxmlformats.org/drawingml/2006/main">
            <a:r>
              <a:t/>
            </a:r>
          </a:p>
          <a:p xmlns:a="http://schemas.openxmlformats.org/drawingml/2006/main">
            <a:r>
              <a:t>For side {0}: cable 0–1 costs 4, while 0–2 costs 6.</a:t>
            </a:r>
          </a:p>
          <a:p xmlns:a="http://schemas.openxmlformats.org/drawingml/2006/main">
            <a:r>
              <a:t/>
            </a:r>
          </a:p>
          <a:p xmlns:a="http://schemas.openxmlformats.org/drawingml/2006/main">
            <a:r>
              <a:t>This is the cut property. Choose a minimum edge crossing a cut that does not split any already selected component. If an optimal tree omits it, adding it creates a cycle. That cycle has another edge across the same cut. Remove that edge: connectivity remains and cost does not increase. Thus some optimal tree contains the chosen edge. Tied weights may allow several optimal trees.</a:t>
            </a:r>
          </a:p>
          <a:p xmlns:a="http://schemas.openxmlformats.org/drawingml/2006/main">
            <a:r>
              <a:t/>
            </a:r>
          </a:p>
          <a:p xmlns:a="http://schemas.openxmlformats.org/drawingml/2006/main">
            <a:r>
              <a:t>A more expensive crossing can be replaced by the cheaper one while preserving a tree.</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at a vertex. Repeatedly choose the cheapest edge leaving the connected set.</a:t>
            </a:r>
          </a:p>
          <a:p xmlns:a="http://schemas.openxmlformats.org/drawingml/2006/main">
            <a:r>
              <a:t/>
            </a:r>
          </a:p>
          <a:p xmlns:a="http://schemas.openxmlformats.org/drawingml/2006/main">
            <a:r>
              <a:t>Start at 0. Candidates: ID 0 for 4 and ID 2 for 6.</a:t>
            </a:r>
          </a:p>
          <a:p xmlns:a="http://schemas.openxmlformats.org/drawingml/2006/main">
            <a:r>
              <a:t/>
            </a:r>
          </a:p>
          <a:p xmlns:a="http://schemas.openxmlformats.org/drawingml/2006/main">
            <a:r>
              <a:t>A priority queue keeps candidates and quickly returns the smallest weight. Prim selects an edge from the connected set to a new vertex. Unlike Kruskal, it does not sort the entire graph once and merge arbitrary groups.</a:t>
            </a:r>
          </a:p>
          <a:p xmlns:a="http://schemas.openxmlformats.org/drawingml/2006/main">
            <a:r>
              <a:t/>
            </a:r>
          </a:p>
          <a:p xmlns:a="http://schemas.openxmlformats.org/drawingml/2006/main">
            <a:r>
              <a:t>Take ID 0: {0,1} are connected, with cost 4.</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adding a vertex, offer its edges to vertices not yet connected.</a:t>
            </a:r>
          </a:p>
          <a:p xmlns:a="http://schemas.openxmlformats.org/drawingml/2006/main">
            <a:r>
              <a:t/>
            </a:r>
          </a:p>
          <a:p xmlns:a="http://schemas.openxmlformats.org/drawingml/2006/main">
            <a:r>
              <a:t>After 1, offer 1–2 for 1 and 1–3 for 5. Old candidate 0–2 for 6 remains.</a:t>
            </a:r>
          </a:p>
          <a:p xmlns:a="http://schemas.openxmlformats.org/drawingml/2006/main">
            <a:r>
              <a:t/>
            </a:r>
          </a:p>
          <a:p xmlns:a="http://schemas.openxmlformats.org/drawingml/2006/main">
            <a:r>
              <a:t>Take weight 1, then weight 2. The total is again 4+1+2=7.</a:t>
            </a:r>
          </a:p>
          <a:p xmlns:a="http://schemas.openxmlformats.org/drawingml/2006/main">
            <a:r>
              <a:t/>
            </a:r>
          </a:p>
          <a:p xmlns:a="http://schemas.openxmlformats.org/drawingml/2006/main">
            <a:r>
              <a:t>Take weight 1, then weight 2. The total is again 4+1+2=7.</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a candidate is removed, its destination may already be connected.</a:t>
            </a:r>
          </a:p>
          <a:p xmlns:a="http://schemas.openxmlformats.org/drawingml/2006/main">
            <a:r>
              <a:t/>
            </a:r>
          </a:p>
          <a:p xmlns:a="http://schemas.openxmlformats.org/drawingml/2006/main">
            <a:r>
              <a:t>After {0,1,2,3} are connected, candidate 1–3 for 5 is still in the queue.</a:t>
            </a:r>
          </a:p>
          <a:p xmlns:a="http://schemas.openxmlformats.org/drawingml/2006/main">
            <a:r>
              <a:t/>
            </a:r>
          </a:p>
          <a:p xmlns:a="http://schemas.openxmlformats.org/drawingml/2006/main">
            <a:r>
              <a:t>This is lazy Prim. Each record retains the weight, destination and input ID. A record is outdated when the destination is already visited. Such records are normal in this approach. Continue removing candidates until a usable one appears. A self-loop also cannot add a new vertex.</a:t>
            </a:r>
          </a:p>
          <a:p xmlns:a="http://schemas.openxmlformats.org/drawingml/2006/main">
            <a:r>
              <a:t/>
            </a:r>
          </a:p>
          <a:p xmlns:a="http://schemas.openxmlformats.org/drawingml/2006/main">
            <a:r>
              <a:t>Vertex 3 is already visited: do not add the edge or increase the cost.</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outer loop finds every vertex that has not been visited.</a:t>
            </a:r>
          </a:p>
          <a:p xmlns:a="http://schemas.openxmlformats.org/drawingml/2006/main">
            <a:r>
              <a:t/>
            </a:r>
          </a:p>
          <a:p xmlns:a="http://schemas.openxmlformats.org/drawingml/2006/main">
            <a:r>
              <a:t>Group {0,1,2,3} is complete. Start a separate component at 4.</a:t>
            </a:r>
          </a:p>
          <a:p xmlns:a="http://schemas.openxmlformats.org/drawingml/2006/main">
            <a:r>
              <a:t/>
            </a:r>
          </a:p>
          <a:p xmlns:a="http://schemas.openxmlformats.org/drawingml/2006/main">
            <a:r>
              <a:t>An empty queue completes only the current component. Without the outer loop, Prim misses other components and isolated vertices. For n=0 the outer loop does nothing: cost=0, edge_ids=[], components=0.</a:t>
            </a:r>
          </a:p>
          <a:p xmlns:a="http://schemas.openxmlformats.org/drawingml/2006/main">
            <a:r>
              <a:t/>
            </a:r>
          </a:p>
          <a:p xmlns:a="http://schemas.openxmlformats.org/drawingml/2006/main">
            <a:r>
              <a:t>Vertex 4 has no edges. components=2, cost=7, with 3 selected edges.</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Compare cost and forest validity. The ID lists may differ.</a:t>
            </a:r>
          </a:p>
          <a:p xmlns:a="http://schemas.openxmlformats.org/drawingml/2006/main">
            <a:r>
              <a:t/>
            </a:r>
          </a:p>
          <a:p xmlns:a="http://schemas.openxmlformats.org/drawingml/2006/main">
            <a:r>
              <a:t>A triangle has three edges of weight 1. Any two form an optimum.</a:t>
            </a:r>
          </a:p>
          <a:p xmlns:a="http://schemas.openxmlformats.org/drawingml/2006/main">
            <a:r>
              <a:t/>
            </a:r>
          </a:p>
          <a:p xmlns:a="http://schemas.openxmlformats.org/drawingml/2006/main">
            <a:r>
              <a:t>Check that IDs exist in the input, do not repeat, form no cycle and connect every input component. The edge count is n−c. Then independently check minimum cost on small graphs. Negative weights are allowed, parallel edges keep different IDs, and totals need 64-bit storage.</a:t>
            </a:r>
          </a:p>
          <a:p xmlns:a="http://schemas.openxmlformats.org/drawingml/2006/main">
            <a:r>
              <a:t/>
            </a:r>
          </a:p>
          <a:p xmlns:a="http://schemas.openxmlformats.org/drawingml/2006/main">
            <a:r>
              <a:t>Every valid optimum has cost 2 and no cycle.</a:t>
            </a:r>
          </a:p>
          <a:p xmlns:a="http://schemas.openxmlformats.org/drawingml/2006/main">
            <a:r>
              <a:t/>
            </a:r>
          </a:p>
          <a:p xmlns:a="http://schemas.openxmlformats.org/drawingml/2006/main">
            <a:r>
              <a:t>Must Kruskal and Prim return identical IDs?</a:t>
            </a:r>
          </a:p>
          <a:p xmlns:a="http://schemas.openxmlformats.org/drawingml/2006/main">
            <a:r>
              <a:t>No. Tied weights may allow different minimum forests.</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vertices share an SCC when each can reach the other along arrows.</a:t>
            </a:r>
          </a:p>
          <a:p xmlns:a="http://schemas.openxmlformats.org/drawingml/2006/main">
            <a:r>
              <a:t/>
            </a:r>
          </a:p>
          <a:p xmlns:a="http://schemas.openxmlformats.org/drawingml/2006/main">
            <a:r>
              <a:t>0 → 1 and 1 → 0. Therefore {0,1} is one group.</a:t>
            </a:r>
          </a:p>
          <a:p xmlns:a="http://schemas.openxmlformats.org/drawingml/2006/main">
            <a:r>
              <a:t/>
            </a:r>
          </a:p>
          <a:p xmlns:a="http://schemas.openxmlformats.org/drawingml/2006/main">
            <a:r>
              <a:t>SCC means strongly connected component. The group is maximal: include every vertex mutually reachable with its members. A single isolated vertex is also an SCC.</a:t>
            </a:r>
          </a:p>
          <a:p xmlns:a="http://schemas.openxmlformats.org/drawingml/2006/main">
            <a:r>
              <a:t/>
            </a:r>
          </a:p>
          <a:p xmlns:a="http://schemas.openxmlformats.org/drawingml/2006/main">
            <a:r>
              <a:t>A path 0 → 2 alone is insufficient: a path from 2 back to 0 is also needed.</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pair connects both ways. Between pairs there is only a forward connection.</a:t>
            </a:r>
          </a:p>
          <a:p xmlns:a="http://schemas.openxmlformats.org/drawingml/2006/main">
            <a:r>
              <a:t/>
            </a:r>
          </a:p>
          <a:p xmlns:a="http://schemas.openxmlformats.org/drawingml/2006/main">
            <a:r>
              <a:t>Edges: 0→1, 1→0, 1→2, 1→2, 2→3, 3→2. Vertex 4 is isolated.</a:t>
            </a:r>
          </a:p>
          <a:p xmlns:a="http://schemas.openxmlformats.org/drawingml/2006/main">
            <a:r>
              <a:t/>
            </a:r>
          </a:p>
          <a:p xmlns:a="http://schemas.openxmlformats.org/drawingml/2006/main">
            <a:r>
              <a:t>Correct groups: {0,1}, {2,3}, {4}. Duplicate 1→2 edges do not change them.</a:t>
            </a:r>
          </a:p>
          <a:p xmlns:a="http://schemas.openxmlformats.org/drawingml/2006/main">
            <a:r>
              <a:t/>
            </a:r>
          </a:p>
          <a:p xmlns:a="http://schemas.openxmlformats.org/drawingml/2006/main">
            <a:r>
              <a:t>Correct groups: {0,1}, {2,3}, {4}. Duplicate 1→2 edges do not change them.</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DFS follows an unvisited neighbor and completes that work before returning.</a:t>
            </a:r>
          </a:p>
          <a:p xmlns:a="http://schemas.openxmlformats.org/drawingml/2006/main">
            <a:r>
              <a:t/>
            </a:r>
          </a:p>
          <a:p xmlns:a="http://schemas.openxmlformats.org/drawingml/2006/main">
            <a:r>
              <a:t>From 0, visit 1, then 2, then 3.</a:t>
            </a:r>
          </a:p>
          <a:p xmlns:a="http://schemas.openxmlformats.org/drawingml/2006/main">
            <a:r>
              <a:t/>
            </a:r>
          </a:p>
          <a:p xmlns:a="http://schemas.openxmlformats.org/drawingml/2006/main">
            <a:r>
              <a:t>Entering means we have started processing a vertex. Finishing means its neighbors and their continuations are complete. In cycle 0→1→0, do not enter visited 0 again. Here the finish order is 3, then 2, 1, 0. The outer loop then visits 4.</a:t>
            </a:r>
          </a:p>
          <a:p xmlns:a="http://schemas.openxmlformats.org/drawingml/2006/main">
            <a:r>
              <a:t/>
            </a:r>
          </a:p>
          <a:p xmlns:a="http://schemas.openxmlformats.org/drawingml/2006/main">
            <a:r>
              <a:t>Record a vertex on exit, after all its outgoing edges have been inspected.</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transpose has the same vertices and every edge reversed.</a:t>
            </a:r>
          </a:p>
          <a:p xmlns:a="http://schemas.openxmlformats.org/drawingml/2006/main">
            <a:r>
              <a:t/>
            </a:r>
          </a:p>
          <a:p xmlns:a="http://schemas.openxmlformats.org/drawingml/2006/main">
            <a:r>
              <a:t>Originally 1→2. Now 2→1. Pairs 0↔1 and 2↔3 still connect both ways.</a:t>
            </a:r>
          </a:p>
          <a:p xmlns:a="http://schemas.openxmlformats.org/drawingml/2006/main">
            <a:r>
              <a:t/>
            </a:r>
          </a:p>
          <a:p xmlns:a="http://schemas.openxmlformats.org/drawingml/2006/main">
            <a:r>
              <a:t>The first pass used the original graph. The second uses its transpose in order 4,0,1,2,3. A symmetric version may start with the transpose if the second graph reverses it. This example consistently uses the first convention.</a:t>
            </a:r>
          </a:p>
          <a:p xmlns:a="http://schemas.openxmlformats.org/drawingml/2006/main">
            <a:r>
              <a:t/>
            </a:r>
          </a:p>
          <a:p xmlns:a="http://schemas.openxmlformats.org/drawingml/2006/main">
            <a:r>
              <a:t>Clear visited before the second pass. Otherwise every vertex is already marked.</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pass starts a new group at each vertex not yet labeled.</a:t>
            </a:r>
          </a:p>
          <a:p xmlns:a="http://schemas.openxmlformats.org/drawingml/2006/main">
            <a:r>
              <a:t/>
            </a:r>
          </a:p>
          <a:p xmlns:a="http://schemas.openxmlformats.org/drawingml/2006/main">
            <a:r>
              <a:t>Start order is 4,0,1,2,3. Skip vertices already assigned to a group.</a:t>
            </a:r>
          </a:p>
          <a:p xmlns:a="http://schemas.openxmlformats.org/drawingml/2006/main">
            <a:r>
              <a:t/>
            </a:r>
          </a:p>
          <a:p xmlns:a="http://schemas.openxmlformats.org/drawingml/2006/main">
            <a:r>
              <a:t>From 2 the transpose reaches 1, but 1 is already labeled. Do not traverse it again.</a:t>
            </a:r>
          </a:p>
          <a:p xmlns:a="http://schemas.openxmlformats.org/drawingml/2006/main">
            <a:r>
              <a:t/>
            </a:r>
          </a:p>
          <a:p xmlns:a="http://schemas.openxmlformats.org/drawingml/2006/main">
            <a:r>
              <a:t>From 2 the transpose reaches 1, but 1 is already labeled. Do not traverse it again.</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label means the same SCC. The label value itself is arbitrary.</a:t>
            </a:r>
          </a:p>
          <a:p xmlns:a="http://schemas.openxmlformats.org/drawingml/2006/main">
            <a:r>
              <a:t/>
            </a:r>
          </a:p>
          <a:p xmlns:a="http://schemas.openxmlformats.org/drawingml/2006/main">
            <a:r>
              <a:t>You may return [7,7,9,9,12] or [1,1,2,2,0].</a:t>
            </a:r>
          </a:p>
          <a:p xmlns:a="http://schemas.openxmlformats.org/drawingml/2006/main">
            <a:r>
              <a:t/>
            </a:r>
          </a:p>
          <a:p xmlns:a="http://schemas.openxmlformats.org/drawingml/2006/main">
            <a:r>
              <a:t>An array index identifies the vertex. Its value is a nonnegative integer group label. Correctness cannot require one exact reference label array. Check that equal labels correspond exactly to mutual reachability.</a:t>
            </a:r>
          </a:p>
          <a:p xmlns:a="http://schemas.openxmlformats.org/drawingml/2006/main">
            <a:r>
              <a:t/>
            </a:r>
          </a:p>
          <a:p xmlns:a="http://schemas.openxmlformats.org/drawingml/2006/main">
            <a:r>
              <a:t>Both answers represent the same groups: {0,1}, {2,3}, {4}.</a:t>
            </a:r>
          </a:p>
          <a:p xmlns:a="http://schemas.openxmlformats.org/drawingml/2006/main">
            <a:r>
              <a:t/>
            </a:r>
          </a:p>
          <a:p xmlns:a="http://schemas.openxmlformats.org/drawingml/2006/main">
            <a:r>
              <a:t>Is [7,9,9,9,12] valid for this graph?</a:t>
            </a:r>
          </a:p>
          <a:p xmlns:a="http://schemas.openxmlformats.org/drawingml/2006/main">
            <a:r>
              <a:t>No. Vertices 0 and 1 must share a label, while 1 and 2 must differ.</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only edges between different SCCs, with no duplicate pairs.</a:t>
            </a:r>
          </a:p>
          <a:p xmlns:a="http://schemas.openxmlformats.org/drawingml/2006/main">
            <a:r>
              <a:t/>
            </a:r>
          </a:p>
          <a:p xmlns:a="http://schemas.openxmlformats.org/drawingml/2006/main">
            <a:r>
              <a:t>With labels [7,7,9,9,12], two 1→2 edges become one [7,9] edge.</a:t>
            </a:r>
          </a:p>
          <a:p xmlns:a="http://schemas.openxmlformats.org/drawingml/2006/main">
            <a:r>
              <a:t/>
            </a:r>
          </a:p>
          <a:p xmlns:a="http://schemas.openxmlformats.org/drawingml/2006/main">
            <a:r>
              <a:t>For each input edge u→v, compute a=component[u] and b=component[v]. Skip it if a=b. Otherwise add the pair to a set to remove duplicates. The isolated group 12 needs no invented edge. There is no cycle between SCCs, since such groups would actually be one SCC.</a:t>
            </a:r>
          </a:p>
          <a:p xmlns:a="http://schemas.openxmlformats.org/drawingml/2006/main">
            <a:r>
              <a:t/>
            </a:r>
          </a:p>
          <a:p xmlns:a="http://schemas.openxmlformats.org/drawingml/2006/main">
            <a:r>
              <a:t>Edges inside a group disappear. condensation=[[7,9]].</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component gives a label for each of five vertices. condensation lists edges between labels.</a:t>
            </a:r>
          </a:p>
          <a:p xmlns:a="http://schemas.openxmlformats.org/drawingml/2006/main">
            <a:r>
              <a:t/>
            </a:r>
          </a:p>
          <a:p xmlns:a="http://schemas.openxmlformats.org/drawingml/2006/main">
            <a:r>
              <a:t>Two 1→2 edges yield only one [7,9] pair. Vertex 4 has its own label 12.</a:t>
            </a:r>
          </a:p>
          <a:p xmlns:a="http://schemas.openxmlformats.org/drawingml/2006/main">
            <a:r>
              <a:t/>
            </a:r>
          </a:p>
          <a:p xmlns:a="http://schemas.openxmlformats.org/drawingml/2006/main">
            <a:r>
              <a:t>Other nonnegative labels work if the groups and their connections remain the same.</a:t>
            </a:r>
          </a:p>
          <a:p xmlns:a="http://schemas.openxmlformats.org/drawingml/2006/main">
            <a:r>
              <a:t/>
            </a:r>
          </a:p>
          <a:p xmlns:a="http://schemas.openxmlformats.org/drawingml/2006/main">
            <a:r>
              <a:t>Other nonnegative labels work if the groups and their connections remain the same.</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edge u→v means task u must finish before v.</a:t>
            </a:r>
          </a:p>
          <a:p xmlns:a="http://schemas.openxmlformats.org/drawingml/2006/main">
            <a:r>
              <a:t/>
            </a:r>
          </a:p>
          <a:p xmlns:a="http://schemas.openxmlformats.org/drawingml/2006/main">
            <a:r>
              <a:t>0: prepare venue. 1: install stage. 2: connect power. 3: start concert.</a:t>
            </a:r>
          </a:p>
          <a:p xmlns:a="http://schemas.openxmlformats.org/drawingml/2006/main">
            <a:r>
              <a:t/>
            </a:r>
          </a:p>
          <a:p xmlns:a="http://schemas.openxmlformats.org/drawingml/2006/main">
            <a:r>
              <a:t>A topological order lists every vertex exactly once. For every edge, its source appears before its destination. Both [0,1,2,3] and [0,2,1,3] work. DFS discovery order is not automatically an answer: use finish order.</a:t>
            </a:r>
          </a:p>
          <a:p xmlns:a="http://schemas.openxmlformats.org/drawingml/2006/main">
            <a:r>
              <a:t/>
            </a:r>
          </a:p>
          <a:p xmlns:a="http://schemas.openxmlformats.org/drawingml/2006/main">
            <a:r>
              <a:t>Dependencies: 0→1, 0→2, 1→3, 2→3. The concert follows both preparations.</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Distinguish the current unfinished chain from a completed vertex.</a:t>
            </a:r>
          </a:p>
          <a:p xmlns:a="http://schemas.openxmlformats.org/drawingml/2006/main">
            <a:r>
              <a:t/>
            </a:r>
          </a:p>
          <a:p xmlns:a="http://schemas.openxmlformats.org/drawingml/2006/main">
            <a:r>
              <a:t>WHITE: not started. GRAY: entered, not exited. BLACK: completed.</a:t>
            </a:r>
          </a:p>
          <a:p xmlns:a="http://schemas.openxmlformats.org/drawingml/2006/main">
            <a:r>
              <a:t/>
            </a:r>
          </a:p>
          <a:p xmlns:a="http://schemas.openxmlformats.org/drawingml/2006/main">
            <a:r>
              <a:t>An edge to GRAY reveals a cycle. An edge to BLACK alone does not.</a:t>
            </a:r>
          </a:p>
          <a:p xmlns:a="http://schemas.openxmlformats.org/drawingml/2006/main">
            <a:r>
              <a:t/>
            </a:r>
          </a:p>
          <a:p xmlns:a="http://schemas.openxmlformats.org/drawingml/2006/main">
            <a:r>
              <a:t>An edge to GRAY reveals a cycle. An edge to BLACK alone does not.</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Inspect neighbors of 0 in order 1, then 2.</a:t>
            </a:r>
          </a:p>
          <a:p xmlns:a="http://schemas.openxmlformats.org/drawingml/2006/main">
            <a:r>
              <a:t/>
            </a:r>
          </a:p>
          <a:p xmlns:a="http://schemas.openxmlformats.org/drawingml/2006/main">
            <a:r>
              <a:t>Enter 0, then 1, then 3. Vertex 3 has no outgoing edges.</a:t>
            </a:r>
          </a:p>
          <a:p xmlns:a="http://schemas.openxmlformats.org/drawingml/2006/main">
            <a:r>
              <a:t/>
            </a:r>
          </a:p>
          <a:p xmlns:a="http://schemas.openxmlformats.org/drawingml/2006/main">
            <a:r>
              <a:t>Finish 3 and record [3]. Return to 1 and finish it: [3,1].</a:t>
            </a:r>
          </a:p>
          <a:p xmlns:a="http://schemas.openxmlformats.org/drawingml/2006/main">
            <a:r>
              <a:t/>
            </a:r>
          </a:p>
          <a:p xmlns:a="http://schemas.openxmlformats.org/drawingml/2006/main">
            <a:r>
              <a:t>Finish 3 and record [3]. Return to 1 and finish it: [3,1].</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From 0, enter 2. Its neighbor 3 is already BLACK.</a:t>
            </a:r>
          </a:p>
          <a:p xmlns:a="http://schemas.openxmlformats.org/drawingml/2006/main">
            <a:r>
              <a:t/>
            </a:r>
          </a:p>
          <a:p xmlns:a="http://schemas.openxmlformats.org/drawingml/2006/main">
            <a:r>
              <a:t>There is no cycle. Finish 2, then 0: [3,1,2,0].</a:t>
            </a:r>
          </a:p>
          <a:p xmlns:a="http://schemas.openxmlformats.org/drawingml/2006/main">
            <a:r>
              <a:t/>
            </a:r>
          </a:p>
          <a:p xmlns:a="http://schemas.openxmlformats.org/drawingml/2006/main">
            <a:r>
              <a:t>Why does reversal work? For an edge u→v in an acyclic graph, v either finishes inside the traversal of u or is already BLACK. In both cases v finishes before u. Reversal therefore puts u before v. Check all four example dependencies separately.</a:t>
            </a:r>
          </a:p>
          <a:p xmlns:a="http://schemas.openxmlformats.org/drawingml/2006/main">
            <a:r>
              <a:t/>
            </a:r>
          </a:p>
          <a:p xmlns:a="http://schemas.openxmlformats.org/drawingml/2006/main">
            <a:r>
              <a:t>Reverse the list: [0,2,1,3]. This is one valid topological order.</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Add 3→0. Now 0 must precede 3, while 3 must precede 0.</a:t>
            </a:r>
          </a:p>
          <a:p xmlns:a="http://schemas.openxmlformats.org/drawingml/2006/main">
            <a:r>
              <a:t/>
            </a:r>
          </a:p>
          <a:p xmlns:a="http://schemas.openxmlformats.org/drawingml/2006/main">
            <a:r>
              <a:t>On chain 0→1→3, an edge reaches GRAY vertex 0.</a:t>
            </a:r>
          </a:p>
          <a:p xmlns:a="http://schemas.openxmlformats.org/drawingml/2006/main">
            <a:r>
              <a:t/>
            </a:r>
          </a:p>
          <a:p xmlns:a="http://schemas.openxmlformats.org/drawingml/2006/main">
            <a:r>
              <a:t>acyclic means having no cycle. A closed dependency chain has no possible first task. A self-loop u→u is also a cycle. Check every component, since a cycle may be disconnected from vertex 0. A3 requires DFS with three states.</a:t>
            </a:r>
          </a:p>
          <a:p xmlns:a="http://schemas.openxmlformats.org/drawingml/2006/main">
            <a:r>
              <a:t/>
            </a:r>
          </a:p>
          <a:p xmlns:a="http://schemas.openxmlformats.org/drawingml/2006/main">
            <a:r>
              <a:t>Answer: {"acyclic":false,"order":[]}. Do not return a partial order.</a:t>
            </a:r>
          </a:p>
          <a:p xmlns:a="http://schemas.openxmlformats.org/drawingml/2006/main">
            <a:r>
              <a:t/>
            </a:r>
          </a:p>
          <a:p xmlns:a="http://schemas.openxmlformats.org/drawingml/2006/main">
            <a:r>
              <a:t>Why was edge 2→3 in the previous example not a cycle?</a:t>
            </a:r>
          </a:p>
          <a:p xmlns:a="http://schemas.openxmlformats.org/drawingml/2006/main">
            <a:r>
              <a:t>Vertex 3 was BLACK and outside the current chain. There was no path back to 2.</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long chain may overflow the recursive call stack. Use an explicit stack.</a:t>
            </a:r>
          </a:p>
          <a:p xmlns:a="http://schemas.openxmlformats.org/drawingml/2006/main">
            <a:r>
              <a:t/>
            </a:r>
          </a:p>
          <a:p xmlns:a="http://schemas.openxmlformats.org/drawingml/2006/main">
            <a:r>
              <a:t>A frame stores vertex v and the index next of its next neighbor.</a:t>
            </a:r>
          </a:p>
          <a:p xmlns:a="http://schemas.openxmlformats.org/drawingml/2006/main">
            <a:r>
              <a:t/>
            </a:r>
          </a:p>
          <a:p xmlns:a="http://schemas.openxmlformats.org/drawingml/2006/main">
            <a:r>
              <a:t>The stack represents unfinished calls. Its top frame is the current call. Before descending, advance the parent frame’s next index. When neighbors run out, mark the vertex BLACK, append it to finish and remove the frame. A stack of vertex IDs alone does not automatically preserve exit times.</a:t>
            </a:r>
          </a:p>
          <a:p xmlns:a="http://schemas.openxmlformats.org/drawingml/2006/main">
            <a:r>
              <a:t/>
            </a:r>
          </a:p>
          <a:p xmlns:a="http://schemas.openxmlformats.org/drawingml/2006/main">
            <a:r>
              <a:t>A vertex is unfinished while it still has a neighbor to inspect.</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order contains every vertex once. Every dependency points forward.</a:t>
            </a:r>
          </a:p>
          <a:p xmlns:a="http://schemas.openxmlformats.org/drawingml/2006/main">
            <a:r>
              <a:t/>
            </a:r>
          </a:p>
          <a:p xmlns:a="http://schemas.openxmlformats.org/drawingml/2006/main">
            <a:r>
              <a:t>For our example, both [0,2,1,3] and [0,1,2,3] work.</a:t>
            </a:r>
          </a:p>
          <a:p xmlns:a="http://schemas.openxmlformats.org/drawingml/2006/main">
            <a:r>
              <a:t/>
            </a:r>
          </a:p>
          <a:p xmlns:a="http://schemas.openxmlformats.org/drawingml/2006/main">
            <a:r>
              <a:t>Adding a cycle requires acyclic=false and order=[], regardless of any partial traversal.</a:t>
            </a:r>
          </a:p>
          <a:p xmlns:a="http://schemas.openxmlformats.org/drawingml/2006/main">
            <a:r>
              <a:t/>
            </a:r>
          </a:p>
          <a:p xmlns:a="http://schemas.openxmlformats.org/drawingml/2006/main">
            <a:r>
              <a:t>Adding a cycle requires acyclic=false and order=[], regardless of any partial traversal.</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find the cheapest route from a given source vertex.</a:t>
            </a:r>
          </a:p>
          <a:p xmlns:a="http://schemas.openxmlformats.org/drawingml/2006/main">
            <a:r>
              <a:t/>
            </a:r>
          </a:p>
          <a:p xmlns:a="http://schemas.openxmlformats.org/drawingml/2006/main">
            <a:r>
              <a:t>source=0. The table lists input edges with their original IDs.</a:t>
            </a:r>
          </a:p>
          <a:p xmlns:a="http://schemas.openxmlformats.org/drawingml/2006/main">
            <a:r>
              <a:t/>
            </a:r>
          </a:p>
          <a:p xmlns:a="http://schemas.openxmlformats.org/drawingml/2006/main">
            <a:r>
              <a:t>Weight −5 is allowed: it is a discount. A DAG has no cycle to repeat forever.</a:t>
            </a:r>
          </a:p>
          <a:p xmlns:a="http://schemas.openxmlformats.org/drawingml/2006/main">
            <a:r>
              <a:t/>
            </a:r>
          </a:p>
          <a:p xmlns:a="http://schemas.openxmlformats.org/drawingml/2006/main">
            <a:r>
              <a:t>Weight −5 is allowed: it is a discount. A DAG has no cycle to repeat forever.</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source costs 0. No route is known for other vertices yet: null.</a:t>
            </a:r>
          </a:p>
          <a:p xmlns:a="http://schemas.openxmlformats.org/drawingml/2006/main">
            <a:r>
              <a:t/>
            </a:r>
          </a:p>
          <a:p xmlns:a="http://schemas.openxmlformats.org/drawingml/2006/main">
            <a:r>
              <a:t>distance = [0, null, null, null, null]. parent_edge = [−1,−1,−1,−1,−1].</a:t>
            </a:r>
          </a:p>
          <a:p xmlns:a="http://schemas.openxmlformats.org/drawingml/2006/main">
            <a:r>
              <a:t/>
            </a:r>
          </a:p>
          <a:p xmlns:a="http://schemas.openxmlformats.org/drawingml/2006/main">
            <a:r>
              <a:t>An array index identifies a vertex. distance[v] is the cheapest known cost from source to v. parent_edge[v] is the ID of the final edge on that chosen route. In parent_edge, −1 means no parent edge, including at source. These arrays use different absence markers.</a:t>
            </a:r>
          </a:p>
          <a:p xmlns:a="http://schemas.openxmlformats.org/drawingml/2006/main">
            <a:r>
              <a:t/>
            </a:r>
          </a:p>
          <a:p xmlns:a="http://schemas.openxmlformats.org/drawingml/2006/main">
            <a:r>
              <a:t>null means no route is known. The number −1 can be a genuine route cost.</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an edge u→v, add the cost to u and the edge weight.</a:t>
            </a:r>
          </a:p>
          <a:p xmlns:a="http://schemas.openxmlformats.org/drawingml/2006/main">
            <a:r>
              <a:t/>
            </a:r>
          </a:p>
          <a:p xmlns:a="http://schemas.openxmlformats.org/drawingml/2006/main">
            <a:r>
              <a:t>Reaching 1 costs 3. Edge 1→2 weighs −5. The candidate for 2 is 3−5=−2.</a:t>
            </a:r>
          </a:p>
          <a:p xmlns:a="http://schemas.openxmlformats.org/drawingml/2006/main">
            <a:r>
              <a:t/>
            </a:r>
          </a:p>
          <a:p xmlns:a="http://schemas.openxmlformats.org/drawingml/2006/main">
            <a:r>
              <a:t>Here relaxation means one attempt to improve a neighbor’s answer. If distance[u]=null, u is unreachable and no addition is valid. Save the edge ID with the new distance so that reconstruction follows this exact route.</a:t>
            </a:r>
          </a:p>
          <a:p xmlns:a="http://schemas.openxmlformats.org/drawingml/2006/main">
            <a:r>
              <a:t/>
            </a:r>
          </a:p>
          <a:p xmlns:a="http://schemas.openxmlformats.org/drawingml/2006/main">
            <a:r>
              <a:t>If no route to v exists yet or the new route is cheaper, update distance and parent_edge.</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Order [0,1,2,3,4] works: every edge points forward.</a:t>
            </a:r>
          </a:p>
          <a:p xmlns:a="http://schemas.openxmlformats.org/drawingml/2006/main">
            <a:r>
              <a:t/>
            </a:r>
          </a:p>
          <a:p xmlns:a="http://schemas.openxmlformats.org/drawingml/2006/main">
            <a:r>
              <a:t>Edge ID 0 reaches 1 for 0+3=3. ID 1 reaches 2 for 0+8=8.</a:t>
            </a:r>
          </a:p>
          <a:p xmlns:a="http://schemas.openxmlformats.org/drawingml/2006/main">
            <a:r>
              <a:t/>
            </a:r>
          </a:p>
          <a:p xmlns:a="http://schemas.openxmlformats.org/drawingml/2006/main">
            <a:r>
              <a:t>After 0: distance=[0,3,8,null,null], parent_edge=[−1,0,1,−1,−1].</a:t>
            </a:r>
          </a:p>
          <a:p xmlns:a="http://schemas.openxmlformats.org/drawingml/2006/main">
            <a:r>
              <a:t/>
            </a:r>
          </a:p>
          <a:p xmlns:a="http://schemas.openxmlformats.org/drawingml/2006/main">
            <a:r>
              <a:t>After 0: distance=[0,3,8,null,null], parent_edge=[−1,0,1,−1,−1].</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Vertex 1 already has cost 3. Test edge ID 2: 1→2, weight −5.</a:t>
            </a:r>
          </a:p>
          <a:p xmlns:a="http://schemas.openxmlformats.org/drawingml/2006/main">
            <a:r>
              <a:t/>
            </a:r>
          </a:p>
          <a:p xmlns:a="http://schemas.openxmlformats.org/drawingml/2006/main">
            <a:r>
              <a:t>Candidate −2 is cheaper than 8. Update both entries for vertex 2.</a:t>
            </a:r>
          </a:p>
          <a:p xmlns:a="http://schemas.openxmlformats.org/drawingml/2006/main">
            <a:r>
              <a:t/>
            </a:r>
          </a:p>
          <a:p xmlns:a="http://schemas.openxmlformats.org/drawingml/2006/main">
            <a:r>
              <a:t>New route to 2: 0→1→2. parent_edge[2]=2, not predecessor vertex 1.</a:t>
            </a:r>
          </a:p>
          <a:p xmlns:a="http://schemas.openxmlformats.org/drawingml/2006/main">
            <a:r>
              <a:t/>
            </a:r>
          </a:p>
          <a:p xmlns:a="http://schemas.openxmlformats.org/drawingml/2006/main">
            <a:r>
              <a:t>New route to 2: 0→1→2. parent_edge[2]=2, not predecessor vertex 1.</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From 2, reach 3 for −2+4=2. Isolated vertex 4 stays unreachable.</a:t>
            </a:r>
          </a:p>
          <a:p xmlns:a="http://schemas.openxmlformats.org/drawingml/2006/main">
            <a:r>
              <a:t/>
            </a:r>
          </a:p>
          <a:p xmlns:a="http://schemas.openxmlformats.org/drawingml/2006/main">
            <a:r>
              <a:t>distance=[0,3,−2,2,null]. parent_edge=[−1,0,2,3,−1].</a:t>
            </a:r>
          </a:p>
          <a:p xmlns:a="http://schemas.openxmlformats.org/drawingml/2006/main">
            <a:r>
              <a:t/>
            </a:r>
          </a:p>
          <a:p xmlns:a="http://schemas.openxmlformats.org/drawingml/2006/main">
            <a:r>
              <a:t>Vertex 3 has no outgoing edges. Vertex 4 has distance=null, so relax nothing from it. Route 0→1→2→3 costs 3−5+4=2. Do not replace null by −1: an edge of weight −1 from the source produces a valid distance of −1.</a:t>
            </a:r>
          </a:p>
          <a:p xmlns:a="http://schemas.openxmlformats.org/drawingml/2006/main">
            <a:r>
              <a:t/>
            </a:r>
          </a:p>
          <a:p xmlns:a="http://schemas.openxmlformats.org/drawingml/2006/main">
            <a:r>
              <a:t>The result includes acyclic=true and both arrays with one entry per vertex.</a:t>
            </a:r>
          </a:p>
          <a:p xmlns:a="http://schemas.openxmlformats.org/drawingml/2006/main">
            <a:r>
              <a:t/>
            </a:r>
          </a:p>
          <a:p xmlns:a="http://schemas.openxmlformats.org/drawingml/2006/main">
            <a:r>
              <a:t>What distance should vertex 4 receive?</a:t>
            </a:r>
          </a:p>
          <a:p xmlns:a="http://schemas.openxmlformats.org/drawingml/2006/main">
            <a:r>
              <a:t>null. The input contains no path from 0 to 4.</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topological order, every possible predecessor is processed first.</a:t>
            </a:r>
          </a:p>
          <a:p xmlns:a="http://schemas.openxmlformats.org/drawingml/2006/main">
            <a:r>
              <a:t/>
            </a:r>
          </a:p>
          <a:p xmlns:a="http://schemas.openxmlformats.org/drawingml/2006/main">
            <a:r>
              <a:t>Before processing 2, we have already tested 0→2 and 1→2.</a:t>
            </a:r>
          </a:p>
          <a:p xmlns:a="http://schemas.openxmlformats.org/drawingml/2006/main">
            <a:r>
              <a:t/>
            </a:r>
          </a:p>
          <a:p xmlns:a="http://schemas.openxmlformats.org/drawingml/2006/main">
            <a:r>
              <a:t>Thus the best distance to u is final when u is processed. Pass it to every neighbor once. Negative weights are safe under this ordering. First check the entire graph for cycles. Even an unreachable cycle requires acyclic=false, distance=[], parent_edge=[].</a:t>
            </a:r>
          </a:p>
          <a:p xmlns:a="http://schemas.openxmlformats.org/drawingml/2006/main">
            <a:r>
              <a:t/>
            </a:r>
          </a:p>
          <a:p xmlns:a="http://schemas.openxmlformats.org/drawingml/2006/main">
            <a:r>
              <a:t>No later vertex can send an edge back to 2: that would violate the order.</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parent_edge stores each route’s final edge. Start at target 3.</a:t>
            </a:r>
          </a:p>
          <a:p xmlns:a="http://schemas.openxmlformats.org/drawingml/2006/main">
            <a:r>
              <a:t/>
            </a:r>
          </a:p>
          <a:p xmlns:a="http://schemas.openxmlformats.org/drawingml/2006/main">
            <a:r>
              <a:t>At 3, ID 3 comes from 2. At 2, ID 2 comes from 1. At 1, ID 0 comes from 0.</a:t>
            </a:r>
          </a:p>
          <a:p xmlns:a="http://schemas.openxmlformats.org/drawingml/2006/main">
            <a:r>
              <a:t/>
            </a:r>
          </a:p>
          <a:p xmlns:a="http://schemas.openxmlformats.org/drawingml/2006/main">
            <a:r>
              <a:t>Collected [3,2,1,0]. Reverse it: [0,1,2,3].</a:t>
            </a:r>
          </a:p>
          <a:p xmlns:a="http://schemas.openxmlformats.org/drawingml/2006/main">
            <a:r>
              <a:t/>
            </a:r>
          </a:p>
          <a:p xmlns:a="http://schemas.openxmlformats.org/drawingml/2006/main">
            <a:r>
              <a:t>Collected [3,2,1,0]. Reverse it: [0,1,2,3].</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your tests, call the helper for a reachable target, source and unreachable target.</a:t>
            </a:r>
          </a:p>
          <a:p xmlns:a="http://schemas.openxmlformats.org/drawingml/2006/main">
            <a:r>
              <a:t/>
            </a:r>
          </a:p>
          <a:p xmlns:a="http://schemas.openxmlformats.org/drawingml/2006/main">
            <a:r>
              <a:t>In our example, target=3 gives [0,1,2,3]. target=0 gives [0].</a:t>
            </a:r>
          </a:p>
          <a:p xmlns:a="http://schemas.openxmlformats.org/drawingml/2006/main">
            <a:r>
              <a:t/>
            </a:r>
          </a:p>
          <a:p xmlns:a="http://schemas.openxmlformats.org/drawingml/2006/main">
            <a:r>
              <a:t>The helper is an internal function, not a new JSON task. Check reachability before reconstructing. Do not look up edge ID −1. Return [source] for the source itself. For a reachable target, follow the source endpoint of each chosen input edge. Record actual calls and results in ANALYSIS.md.</a:t>
            </a:r>
          </a:p>
          <a:p xmlns:a="http://schemas.openxmlformats.org/drawingml/2006/main">
            <a:r>
              <a:t/>
            </a:r>
          </a:p>
          <a:p xmlns:a="http://schemas.openxmlformats.org/drawingml/2006/main">
            <a:r>
              <a:t>For target=4, choose and document a no-route result, for example [].</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 is the current vertex. id is the final edge ID on its route.</a:t>
            </a:r>
          </a:p>
          <a:p xmlns:a="http://schemas.openxmlformats.org/drawingml/2006/main">
            <a:r>
              <a:t/>
            </a:r>
          </a:p>
          <a:p xmlns:a="http://schemas.openxmlformats.org/drawingml/2006/main">
            <a:r>
              <a:t>For v=3, id=3. edges[3]=[2,3,4], so the previous vertex is 2.</a:t>
            </a:r>
          </a:p>
          <a:p xmlns:a="http://schemas.openxmlformats.org/drawingml/2006/main">
            <a:r>
              <a:t/>
            </a:r>
          </a:p>
          <a:p xmlns:a="http://schemas.openxmlformats.org/drawingml/2006/main">
            <a:r>
              <a:t>This snippet belongs inside a reconstruction loop for a reachable target while v differs from source. route collects vertices in reverse order. parentEdge is the internal Java name for the array returned as parent_edge. edges[id][0] is the source of the chosen input edge. Index −1 is invalid, so handle source separately.</a:t>
            </a:r>
          </a:p>
          <a:p xmlns:a="http://schemas.openxmlformats.org/drawingml/2006/main">
            <a:r>
              <a:t/>
            </a:r>
          </a:p>
          <a:p xmlns:a="http://schemas.openxmlformats.org/drawingml/2006/main">
            <a:r>
              <a:t>Save 3 in the route and continue from 2. Reverse the collected list at the end.</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Equal costs allow any consistent shortest route.</a:t>
            </a:r>
          </a:p>
          <a:p xmlns:a="http://schemas.openxmlformats.org/drawingml/2006/main">
            <a:r>
              <a:t/>
            </a:r>
          </a:p>
          <a:p xmlns:a="http://schemas.openxmlformats.org/drawingml/2006/main">
            <a:r>
              <a:t>ID 0: 0→1 for 2. ID 1: identical. ID 2: 1→2 for 1. ID 3: 0→2 for 3.</a:t>
            </a:r>
          </a:p>
          <a:p xmlns:a="http://schemas.openxmlformats.org/drawingml/2006/main">
            <a:r>
              <a:t/>
            </a:r>
          </a:p>
          <a:p xmlns:a="http://schemas.openxmlformats.org/drawingml/2006/main">
            <a:r>
              <a:t>Both the direct route and the route through 1 cost 3. Preserve the correct edge ID.</a:t>
            </a:r>
          </a:p>
          <a:p xmlns:a="http://schemas.openxmlformats.org/drawingml/2006/main">
            <a:r>
              <a:t/>
            </a:r>
          </a:p>
          <a:p xmlns:a="http://schemas.openxmlformats.org/drawingml/2006/main">
            <a:r>
              <a:t>Both the direct route and the route through 1 cost 3. Preserve the correct edge ID.</a:t>
            </a:r>
          </a:p>
          <a:p xmlns:a="http://schemas.openxmlformats.org/drawingml/2006/main">
            <a:r>
              <a:t/>
            </a:r>
          </a:p>
          <a:p xmlns:a="http://schemas.openxmlformats.org/drawingml/2006/main">
            <a:r>
              <a:t>Can parent_edge simply store the previous vertex?</a:t>
            </a:r>
          </a:p>
          <a:p xmlns:a="http://schemas.openxmlformats.org/drawingml/2006/main">
            <a:r>
              <a:t>No. It is an input edge ID. A predecessor vertex cannot identify a chosen parallel edge.</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the cost and final edge for every vertex.</a:t>
            </a:r>
          </a:p>
          <a:p xmlns:a="http://schemas.openxmlformats.org/drawingml/2006/main">
            <a:r>
              <a:t/>
            </a:r>
          </a:p>
          <a:p xmlns:a="http://schemas.openxmlformats.org/drawingml/2006/main">
            <a:r>
              <a:t>Return to the graph with weights 3, 8, −5, 4 and source=0.</a:t>
            </a:r>
          </a:p>
          <a:p xmlns:a="http://schemas.openxmlformats.org/drawingml/2006/main">
            <a:r>
              <a:t/>
            </a:r>
          </a:p>
          <a:p xmlns:a="http://schemas.openxmlformats.org/drawingml/2006/main">
            <a:r>
              <a:t>Only unreachable 4 has null. parent_edge uses −1 for the source and for 4.</a:t>
            </a:r>
          </a:p>
          <a:p xmlns:a="http://schemas.openxmlformats.org/drawingml/2006/main">
            <a:r>
              <a:t/>
            </a:r>
          </a:p>
          <a:p xmlns:a="http://schemas.openxmlformats.org/drawingml/2006/main">
            <a:r>
              <a:t>Only unreachable 4 has null. parent_edge uses −1 for the source and for 4.</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 counts vertices, m counts edges, q counts DSU operations.</a:t>
            </a:r>
          </a:p>
          <a:p xmlns:a="http://schemas.openxmlformats.org/drawingml/2006/main">
            <a:r>
              <a:t/>
            </a:r>
          </a:p>
          <a:p xmlns:a="http://schemas.openxmlformats.org/drawingml/2006/main">
            <a:r>
              <a:t>O(n+m): work grows with the total size of the vertex and edge lists.</a:t>
            </a:r>
          </a:p>
          <a:p xmlns:a="http://schemas.openxmlformats.org/drawingml/2006/main">
            <a:r>
              <a:t/>
            </a:r>
          </a:p>
          <a:p xmlns:a="http://schemas.openxmlformats.org/drawingml/2006/main">
            <a:r>
              <a:t>O describes an upper bound on growth, not an exact millisecond runtime. Kosaraju uses two DFS passes and builds a transpose, but a factor of 2 does not change O(n+m). DAG paths add one edge pass in topological order. Reconstruction costs O(L), where L is the number of returned route vertices.</a:t>
            </a:r>
          </a:p>
          <a:p xmlns:a="http://schemas.openxmlformats.org/drawingml/2006/main">
            <a:r>
              <a:t/>
            </a:r>
          </a:p>
          <a:p xmlns:a="http://schemas.openxmlformats.org/drawingml/2006/main">
            <a:r>
              <a:t>Kosaraju, topo and DAG inspect each list only a fixed number of times.</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Include initialization and the returned result.</a:t>
            </a:r>
          </a:p>
          <a:p xmlns:a="http://schemas.openxmlformats.org/drawingml/2006/main">
            <a:r>
              <a:t/>
            </a:r>
          </a:p>
          <a:p xmlns:a="http://schemas.openxmlformats.org/drawingml/2006/main">
            <a:r>
              <a:t>DSU states contains q rows. This result also needs memory.</a:t>
            </a:r>
          </a:p>
          <a:p xmlns:a="http://schemas.openxmlformats.org/drawingml/2006/main">
            <a:r>
              <a:t/>
            </a:r>
          </a:p>
          <a:p xmlns:a="http://schemas.openxmlformats.org/drawingml/2006/main">
            <a:r>
              <a:t>α(n) is an extremely slowly growing function in the amortized DSU bound with compression and union by size or rank. Initialization costs O(n). Lazy Prim queues edges, giving log(m+1). An indexed queue permits O((n+m) log(n+1)). Sums of many ±10^9 weights may exceed 32 bits. Three edges of 10^9 already total 3×10^9.</a:t>
            </a:r>
          </a:p>
          <a:p xmlns:a="http://schemas.openxmlformats.org/drawingml/2006/main">
            <a:r>
              <a:t/>
            </a:r>
          </a:p>
          <a:p xmlns:a="http://schemas.openxmlformats.org/drawingml/2006/main">
            <a:r>
              <a:t>In Java, use long for large weight totals and distances.</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Create your repository with Use this template. Choose one language in submission.json.</a:t>
            </a:r>
          </a:p>
          <a:p xmlns:a="http://schemas.openxmlformats.org/drawingml/2006/main">
            <a:r>
              <a:t/>
            </a:r>
          </a:p>
          <a:p xmlns:a="http://schemas.openxmlformats.org/drawingml/2006/main">
            <a:r>
              <a:t>For Java, implement methods in Java/source/Algorithms.java.</a:t>
            </a:r>
          </a:p>
          <a:p xmlns:a="http://schemas.openxmlformats.org/drawingml/2006/main">
            <a:r>
              <a:t/>
            </a:r>
          </a:p>
          <a:p xmlns:a="http://schemas.openxmlformats.org/drawingml/2006/main">
            <a:r>
              <a:t>Java is the main syllabus language, so lesson snippets use Java. A3 retains the choice of one of four languages. Spell the language value exactly as listed in the manifest. You do not implement all four languages. Write ANALYSIS.md in English.</a:t>
            </a:r>
          </a:p>
          <a:p xmlns:a="http://schemas.openxmlformats.org/drawingml/2006/main">
            <a:r>
              <a:t/>
            </a:r>
          </a:p>
          <a:p xmlns:a="http://schemas.openxmlformats.org/drawingml/2006/main">
            <a:r>
              <a:t>Adapters and runners are provided. Algorithm TODOs are your work.</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small cases whose answers you can compute by hand.</a:t>
            </a:r>
          </a:p>
          <a:p xmlns:a="http://schemas.openxmlformats.org/drawingml/2006/main">
            <a:r>
              <a:t/>
            </a:r>
          </a:p>
          <a:p xmlns:a="http://schemas.openxmlformats.org/drawingml/2006/main">
            <a:r>
              <a:t>Then test edge cases and deep graphs.</a:t>
            </a:r>
          </a:p>
          <a:p xmlns:a="http://schemas.openxmlformats.org/drawingml/2006/main">
            <a:r>
              <a:t/>
            </a:r>
          </a:p>
          <a:p xmlns:a="http://schemas.openxmlformats.org/drawingml/2006/main">
            <a:r>
              <a:t>Store tests in tests/student that catch specific mistakes.</a:t>
            </a:r>
          </a:p>
          <a:p xmlns:a="http://schemas.openxmlformats.org/drawingml/2006/main">
            <a:r>
              <a:t/>
            </a:r>
          </a:p>
          <a:p xmlns:a="http://schemas.openxmlformats.org/drawingml/2006/main">
            <a:r>
              <a:t>Store tests in tests/student that catch specific mistakes.</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requests may share a process, but they describe separate tasks.</a:t>
            </a:r>
          </a:p>
          <a:p xmlns:a="http://schemas.openxmlformats.org/drawingml/2006/main">
            <a:r>
              <a:t/>
            </a:r>
          </a:p>
          <a:p xmlns:a="http://schemas.openxmlformats.org/drawingml/2006/main">
            <a:r>
              <a:t>Request 1: DSU n=3, [0,1] → [2,2]. Request 2: DSU n=3, [1,2] → [2,2].</a:t>
            </a:r>
          </a:p>
          <a:p xmlns:a="http://schemas.openxmlformats.org/drawingml/2006/main">
            <a:r>
              <a:t/>
            </a:r>
          </a:p>
          <a:p xmlns:a="http://schemas.openxmlformats.org/drawingml/2006/main">
            <a:r>
              <a:t>Create fresh parent, size, visited, component, distance, queues and result lists for each call. Also test a mixed sequence: DSU, SCC, DAG, DSU again. Empty tasks are valid for DSU, MST, SCC and topo. DAG requires n≥1 and an existing source.</a:t>
            </a:r>
          </a:p>
          <a:p xmlns:a="http://schemas.openxmlformats.org/drawingml/2006/main">
            <a:r>
              <a:t/>
            </a:r>
          </a:p>
          <a:p xmlns:a="http://schemas.openxmlformats.org/drawingml/2006/main">
            <a:r>
              <a:t>If the second answer is [1,3], you accidentally retained the first request’s groups.</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Check correctness first. Then time the same scope on the same graphs.</a:t>
            </a:r>
          </a:p>
          <a:p xmlns:a="http://schemas.openxmlformats.org/drawingml/2006/main">
            <a:r>
              <a:t/>
            </a:r>
          </a:p>
          <a:p xmlns:a="http://schemas.openxmlformats.org/drawingml/2006/main">
            <a:r>
              <a:t>One size: Kruskal takes 12, 9, 10 ms. Prim takes 8, 6, 7 ms.</a:t>
            </a:r>
          </a:p>
          <a:p xmlns:a="http://schemas.openxmlformats.org/drawingml/2006/main">
            <a:r>
              <a:t/>
            </a:r>
          </a:p>
          <a:p xmlns:a="http://schemas.openxmlformats.org/drawingml/2006/main">
            <a:r>
              <a:t>These are teaching numbers, not measured template results. Use three sizes and at least three runs per method per size. Report n, m, generator/seed, language and versions, machine and timer boundary. For example, include construction of each method’s working structures but exclude file reading for both. Show all samples and the median. One run cannot prove asymptotic complexity.</a:t>
            </a:r>
          </a:p>
          <a:p xmlns:a="http://schemas.openxmlformats.org/drawingml/2006/main">
            <a:r>
              <a:t/>
            </a:r>
          </a:p>
          <a:p xmlns:a="http://schemas.openxmlformats.org/drawingml/2006/main">
            <a:r>
              <a:t>Sort the samples: 9,10,12 and 6,7,8. The medians are 10 ms and 7 ms.</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Write in English. Explain each method’s idea and why it is correct.</a:t>
            </a:r>
          </a:p>
          <a:p xmlns:a="http://schemas.openxmlformats.org/drawingml/2006/main">
            <a:r>
              <a:t/>
            </a:r>
          </a:p>
          <a:p xmlns:a="http://schemas.openxmlformats.org/drawingml/2006/main">
            <a:r>
              <a:t>Example: “I accept an edge only when its endpoints have different DSU roots.”</a:t>
            </a:r>
          </a:p>
          <a:p xmlns:a="http://schemas.openxmlformats.org/drawingml/2006/main">
            <a:r>
              <a:t/>
            </a:r>
          </a:p>
          <a:p xmlns:a="http://schemas.openxmlformats.org/drawingml/2006/main">
            <a:r>
              <a:t>Describe your actual implementation. For Kruskal, explain how cycles are avoided and why cheap crossing edges are safe. For DAG, explain topological order, null and parent_edge. Following the syllabus, disclose AI tools and their contributions in writing. Students remain responsible for understanding, code and verification.</a:t>
            </a:r>
          </a:p>
          <a:p xmlns:a="http://schemas.openxmlformats.org/drawingml/2006/main">
            <a:r>
              <a:t/>
            </a:r>
          </a:p>
          <a:p xmlns:a="http://schemas.openxmlformats.org/drawingml/2006/main">
            <a:r>
              <a:t>Include complexity, your tests, actual helper calls and benchmark results.</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check whether the project built. Then read the failing check.</a:t>
            </a:r>
          </a:p>
          <a:p xmlns:a="http://schemas.openxmlformats.org/drawingml/2006/main">
            <a:r>
              <a:t/>
            </a:r>
          </a:p>
          <a:p xmlns:a="http://schemas.openxmlformats.org/drawingml/2006/main">
            <a:r>
              <a:t>Setup passed, but DSU returned TODO: implement the method.</a:t>
            </a:r>
          </a:p>
          <a:p xmlns:a="http://schemas.openxmlformats.org/drawingml/2006/main">
            <a:r>
              <a:t/>
            </a:r>
          </a:p>
          <a:p xmlns:a="http://schemas.openxmlformats.org/drawingml/2006/main">
            <a:r>
              <a:t>An environment failure requires fixing the run and checking again.</a:t>
            </a:r>
          </a:p>
          <a:p xmlns:a="http://schemas.openxmlformats.org/drawingml/2006/main">
            <a:r>
              <a:t/>
            </a:r>
          </a:p>
          <a:p xmlns:a="http://schemas.openxmlformats.org/drawingml/2006/main">
            <a:r>
              <a:t>An environment failure requires fixing the run and checking again.</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a successful check, identify the exact commit.</a:t>
            </a:r>
          </a:p>
          <a:p xmlns:a="http://schemas.openxmlformats.org/drawingml/2006/main">
            <a:r>
              <a:t/>
            </a:r>
          </a:p>
          <a:p xmlns:a="http://schemas.openxmlformats.org/drawingml/2006/main">
            <a:r>
              <a:t>In Moodle Online text: 1) commit URL; 2) successful Public checks run URL for that commit.</a:t>
            </a:r>
          </a:p>
          <a:p xmlns:a="http://schemas.openxmlformats.org/drawingml/2006/main">
            <a:r>
              <a:t/>
            </a:r>
          </a:p>
          <a:p xmlns:a="http://schemas.openxmlformats.org/drawingml/2006/main">
            <a:r>
              <a:t>A SHA identifies one exact snapshot of code. Changing code after a successful run makes that old run insufficient for the new commit. This workflow needs no ZIP, project upload or student ID. Follow the dates and individual extensions shown in Moodle.</a:t>
            </a:r>
          </a:p>
          <a:p xmlns:a="http://schemas.openxmlformats.org/drawingml/2006/main">
            <a:r>
              <a:t/>
            </a:r>
          </a:p>
          <a:p xmlns:a="http://schemas.openxmlformats.org/drawingml/2006/main">
            <a:r>
              <a:t>Then click Submit assignment and confirm its status. Give the instructor access to a private repository.</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Practical: 50 automatic points. Quiz: 50 automatic points.</a:t>
            </a:r>
          </a:p>
          <a:p xmlns:a="http://schemas.openxmlformats.org/drawingml/2006/main">
            <a:r>
              <a:t/>
            </a:r>
          </a:p>
          <a:p xmlns:a="http://schemas.openxmlformats.org/drawingml/2006/main">
            <a:r>
              <a:t>Quiz: 30 questions in 30 minutes. 15 correct → 25 out of 50.</a:t>
            </a:r>
          </a:p>
          <a:p xmlns:a="http://schemas.openxmlformats.org/drawingml/2006/main">
            <a:r>
              <a:t/>
            </a:r>
          </a:p>
          <a:p xmlns:a="http://schemas.openxmlformats.org/drawingml/2006/main">
            <a:r>
              <a:t>The quiz has one attempt. A correct answer gives 1 raw point, an incorrect or blank answer gives 0. Scale as raw/30×50. The practical uses the published automatic groups in RUBRIC.md. There are no manual points or oral score recovery. Required deliverables and methods still apply.</a:t>
            </a:r>
          </a:p>
          <a:p xmlns:a="http://schemas.openxmlformats.org/drawingml/2006/main">
            <a:r>
              <a:t/>
            </a:r>
          </a:p>
          <a:p xmlns:a="http://schemas.openxmlformats.org/drawingml/2006/main">
            <a:r>
              <a:t>Check six methods, tests/student, English ANALYSIS.md and two links for one SHA.</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CONTRACTS.md for exact fields and limits. Use README and Moodle for submission.</a:t>
            </a:r>
          </a:p>
          <a:p xmlns:a="http://schemas.openxmlformats.org/drawingml/2006/main">
            <a:r>
              <a:t/>
            </a:r>
          </a:p>
          <a:p xmlns:a="http://schemas.openxmlformats.org/drawingml/2006/main">
            <a:r>
              <a:t>A supplementary English video is embedded in HTML and PowerPoint.</a:t>
            </a:r>
          </a:p>
          <a:p xmlns:a="http://schemas.openxmlformats.org/drawingml/2006/main">
            <a:r>
              <a:t/>
            </a:r>
          </a:p>
          <a:p xmlns:a="http://schemas.openxmlformats.org/drawingml/2006/main">
            <a:r>
              <a:t>Sources: current A3 materials, clarifications for lectures 6–7, CLRS 4e §§19.3–19.4,20.3–20.5,21.1–21.2,22.2; Sedgewick &amp; Wayne 4e §§1.5,4.2–4.4; Skiena 3e §§7.10,8.1,8.3. The synthetic-voice English video is a supplementary overview of the core methods. It does not replace the new detailed steps. For lecture 6 slide 9, Kruskal accepts an edge when find(x) != find(y).</a:t>
            </a:r>
          </a:p>
          <a:p xmlns:a="http://schemas.openxmlformats.org/drawingml/2006/main">
            <a:r>
              <a:t/>
            </a:r>
          </a:p>
          <a:p xmlns:a="http://schemas.openxmlformats.org/drawingml/2006/main">
            <a:r>
              <a:t>The lesson works without video: every step has a written explanation in both languages.</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d9580a898154fc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e5817750f4a453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fa88fe836734de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009cfdbd1564ef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07e3b999160402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fbe9c2d5305427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49E2120-F187-4228-AC12-CF0C13B68DA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0C3715E-9B23-4FF1-9676-DCC70C6DCCF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DAAE675-D5C3-4BA1-9CB3-F000D89589D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1A65EC3-A8A2-4E90-B8B9-76A0ADB322D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A0E5FC3-3779-4EE8-AE14-64F8AAE3B81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0F5416B-87F2-4133-8EB8-20778C58239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7180C58-474C-4D30-BBB0-2DCCC2E69B5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054CAE7-12E2-4DBD-A3CF-778AAC46B75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94BE7B7-AA7A-4D20-9394-0960855D9B5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7DF4AE4-943F-4799-8A5C-6125D3D0198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cb83181624946c0" /><Relationship Type="http://schemas.openxmlformats.org/officeDocument/2006/relationships/slideLayout" Target="/ppt/slideLayouts/slideLayout1.xml" Id="R044150a81cae4b65" /><Relationship Type="http://schemas.openxmlformats.org/officeDocument/2006/relationships/slideLayout" Target="/ppt/slideLayouts/slideLayout2.xml" Id="R5eb19e931ccd40dd" /><Relationship Type="http://schemas.openxmlformats.org/officeDocument/2006/relationships/slideLayout" Target="/ppt/slideLayouts/slideLayout3.xml" Id="R43fc71cae1264099" /><Relationship Type="http://schemas.openxmlformats.org/officeDocument/2006/relationships/slideLayout" Target="/ppt/slideLayouts/slideLayout4.xml" Id="R00ae70b222634766" /><Relationship Type="http://schemas.openxmlformats.org/officeDocument/2006/relationships/slideLayout" Target="/ppt/slideLayouts/slideLayout5.xml" Id="Rb6631625fa754178" /><Relationship Type="http://schemas.openxmlformats.org/officeDocument/2006/relationships/slideLayout" Target="/ppt/slideLayouts/slideLayout6.xml" Id="R66417285a453435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44150a81cae4b65"/>
    <p:sldLayoutId xmlns:r="http://schemas.openxmlformats.org/officeDocument/2006/relationships" id="2147483650" r:id="R5eb19e931ccd40dd"/>
    <p:sldLayoutId xmlns:r="http://schemas.openxmlformats.org/officeDocument/2006/relationships" id="2147483651" r:id="R43fc71cae1264099"/>
    <p:sldLayoutId xmlns:r="http://schemas.openxmlformats.org/officeDocument/2006/relationships" id="2147483652" r:id="R00ae70b222634766"/>
    <p:sldLayoutId xmlns:r="http://schemas.openxmlformats.org/officeDocument/2006/relationships" id="2147483653" r:id="Rb6631625fa754178"/>
    <p:sldLayoutId xmlns:r="http://schemas.openxmlformats.org/officeDocument/2006/relationships" id="2147483654" r:id="R66417285a453435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ae75765a07d4ae5" /><Relationship Type="http://schemas.openxmlformats.org/officeDocument/2006/relationships/image" Target="/ppt/media/image.png" Id="R5a058cacf44e4a5a" /><Relationship Type="http://schemas.openxmlformats.org/officeDocument/2006/relationships/notesSlide" Target="/ppt/notesSlides/notesSlide1.xml" Id="Raf6d1c1288b8468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a7cf8d20e46425f" /><Relationship Type="http://schemas.openxmlformats.org/officeDocument/2006/relationships/notesSlide" Target="/ppt/notesSlides/notesSlide2.xml" Id="R22cdd3e5c5804c1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8d342bcb0b94e8f" /><Relationship Type="http://schemas.openxmlformats.org/officeDocument/2006/relationships/notesSlide" Target="/ppt/notesSlides/notesSlide3.xml" Id="R964ea330c00446f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588148eb2084f54" /><Relationship Type="http://schemas.openxmlformats.org/officeDocument/2006/relationships/notesSlide" Target="/ppt/notesSlides/notesSlide4.xml" Id="Rcfb958131a0a4cf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462076f62584fbd" /><Relationship Type="http://schemas.openxmlformats.org/officeDocument/2006/relationships/notesSlide" Target="/ppt/notesSlides/notesSlide5.xml" Id="R8d17d9f9deb24ab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42e5df3f0f54bfd" /><Relationship Type="http://schemas.openxmlformats.org/officeDocument/2006/relationships/notesSlide" Target="/ppt/notesSlides/notesSlide6.xml" Id="Rd044706481ea491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59f5a3a27ce4177" /><Relationship Type="http://schemas.openxmlformats.org/officeDocument/2006/relationships/notesSlide" Target="/ppt/notesSlides/notesSlide7.xml" Id="Rbcda284536704ae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4906f07085a4ee3" /><Relationship Type="http://schemas.openxmlformats.org/officeDocument/2006/relationships/notesSlide" Target="/ppt/notesSlides/notesSlide8.xml" Id="R40705d135c6d460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7c40a16e446448e" /><Relationship Type="http://schemas.openxmlformats.org/officeDocument/2006/relationships/notesSlide" Target="/ppt/notesSlides/notesSlide9.xml" Id="Rb9af95dd3c8e441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7d0b3f31c2b48e1" /><Relationship Type="http://schemas.openxmlformats.org/officeDocument/2006/relationships/notesSlide" Target="/ppt/notesSlides/notesSlide10.xml" Id="R3c1a9637f1d24c5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86284326b0c4cc0" /><Relationship Type="http://schemas.openxmlformats.org/officeDocument/2006/relationships/notesSlide" Target="/ppt/notesSlides/notesSlide11.xml" Id="R7a23cd8052d44d1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f09062ac63e42cb" /><Relationship Type="http://schemas.openxmlformats.org/officeDocument/2006/relationships/notesSlide" Target="/ppt/notesSlides/notesSlide12.xml" Id="Re7c0379b8c2f458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5f0f751565d400a" /><Relationship Type="http://schemas.openxmlformats.org/officeDocument/2006/relationships/notesSlide" Target="/ppt/notesSlides/notesSlide13.xml" Id="R9dfb1cc244d54b6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c8fb38690a34d64" /><Relationship Type="http://schemas.openxmlformats.org/officeDocument/2006/relationships/notesSlide" Target="/ppt/notesSlides/notesSlide14.xml" Id="R4314a7cfe0c3415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4ca0c7acc464c36" /><Relationship Type="http://schemas.openxmlformats.org/officeDocument/2006/relationships/notesSlide" Target="/ppt/notesSlides/notesSlide15.xml" Id="R238a0f813429407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d0c61f14351e48c7" /><Relationship Type="http://schemas.openxmlformats.org/officeDocument/2006/relationships/notesSlide" Target="/ppt/notesSlides/notesSlide16.xml" Id="R01d5177a092f4d0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27be8c25cd94776" /><Relationship Type="http://schemas.openxmlformats.org/officeDocument/2006/relationships/image" Target="/ppt/media/image2.png" Id="Rcc840659a5ca4d14" /><Relationship Type="http://schemas.openxmlformats.org/officeDocument/2006/relationships/notesSlide" Target="/ppt/notesSlides/notesSlide17.xml" Id="Rf4e1c292f45944c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3e15042214094691" /><Relationship Type="http://schemas.openxmlformats.org/officeDocument/2006/relationships/notesSlide" Target="/ppt/notesSlides/notesSlide18.xml" Id="R02a86507235b44d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007323210154ea6" /><Relationship Type="http://schemas.openxmlformats.org/officeDocument/2006/relationships/notesSlide" Target="/ppt/notesSlides/notesSlide19.xml" Id="Re2086431b98f4e0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ba87216bf6f242c1" /><Relationship Type="http://schemas.openxmlformats.org/officeDocument/2006/relationships/notesSlide" Target="/ppt/notesSlides/notesSlide20.xml" Id="R8be278fa28bf4f3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fba36411413c47d6" /><Relationship Type="http://schemas.openxmlformats.org/officeDocument/2006/relationships/notesSlide" Target="/ppt/notesSlides/notesSlide21.xml" Id="R3e4ae0033c97435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7ab59c0d8f7c4264" /><Relationship Type="http://schemas.openxmlformats.org/officeDocument/2006/relationships/notesSlide" Target="/ppt/notesSlides/notesSlide22.xml" Id="Rd16fce4a11384dc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f244e70bf03a4aab" /><Relationship Type="http://schemas.openxmlformats.org/officeDocument/2006/relationships/notesSlide" Target="/ppt/notesSlides/notesSlide23.xml" Id="R738a22fcd5e4409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44cc78b0b9c04dcc" /><Relationship Type="http://schemas.openxmlformats.org/officeDocument/2006/relationships/notesSlide" Target="/ppt/notesSlides/notesSlide24.xml" Id="R15537c5aad654c7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0d5223b0e30a458d" /><Relationship Type="http://schemas.openxmlformats.org/officeDocument/2006/relationships/notesSlide" Target="/ppt/notesSlides/notesSlide25.xml" Id="R391a6ab900b84d9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808f38104746427b" /><Relationship Type="http://schemas.openxmlformats.org/officeDocument/2006/relationships/notesSlide" Target="/ppt/notesSlides/notesSlide26.xml" Id="Rabd24196ada4499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94525187d4774c36" /><Relationship Type="http://schemas.openxmlformats.org/officeDocument/2006/relationships/notesSlide" Target="/ppt/notesSlides/notesSlide27.xml" Id="R3f9ea77abac74ec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abec2e46c764932" /><Relationship Type="http://schemas.openxmlformats.org/officeDocument/2006/relationships/notesSlide" Target="/ppt/notesSlides/notesSlide28.xml" Id="R7d92d059f272482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503cdce6561a410f" /><Relationship Type="http://schemas.openxmlformats.org/officeDocument/2006/relationships/notesSlide" Target="/ppt/notesSlides/notesSlide29.xml" Id="R85be772263464ad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dc2f3a63580a498a" /><Relationship Type="http://schemas.openxmlformats.org/officeDocument/2006/relationships/notesSlide" Target="/ppt/notesSlides/notesSlide30.xml" Id="R569c3e3738184814"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47daa9f507024850" /><Relationship Type="http://schemas.openxmlformats.org/officeDocument/2006/relationships/notesSlide" Target="/ppt/notesSlides/notesSlide31.xml" Id="R82ed72622ddc4df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e1e4e426d4854b58" /><Relationship Type="http://schemas.openxmlformats.org/officeDocument/2006/relationships/notesSlide" Target="/ppt/notesSlides/notesSlide32.xml" Id="R106a0116185d4c13"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06a092e043b74c07" /><Relationship Type="http://schemas.openxmlformats.org/officeDocument/2006/relationships/notesSlide" Target="/ppt/notesSlides/notesSlide33.xml" Id="Rc96a67582e57483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e915ad4b2e0b4f37" /><Relationship Type="http://schemas.openxmlformats.org/officeDocument/2006/relationships/notesSlide" Target="/ppt/notesSlides/notesSlide34.xml" Id="R5248f788b2aa4ff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f6782616365146af" /><Relationship Type="http://schemas.openxmlformats.org/officeDocument/2006/relationships/notesSlide" Target="/ppt/notesSlides/notesSlide35.xml" Id="Ra376c81c94c54c5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7fdbeac563df4fee" /><Relationship Type="http://schemas.openxmlformats.org/officeDocument/2006/relationships/notesSlide" Target="/ppt/notesSlides/notesSlide36.xml" Id="R0118d0d041574043"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e101234907494f5a" /><Relationship Type="http://schemas.openxmlformats.org/officeDocument/2006/relationships/notesSlide" Target="/ppt/notesSlides/notesSlide37.xml" Id="R61cdf67e93334051"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6835f8d01dce44d0" /><Relationship Type="http://schemas.openxmlformats.org/officeDocument/2006/relationships/notesSlide" Target="/ppt/notesSlides/notesSlide38.xml" Id="R651e15b4f22d4c2e"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5b90f21da78c47f5" /><Relationship Type="http://schemas.openxmlformats.org/officeDocument/2006/relationships/notesSlide" Target="/ppt/notesSlides/notesSlide39.xml" Id="Rd21becbad6d649df"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6ea66b2308c54a7b" /><Relationship Type="http://schemas.openxmlformats.org/officeDocument/2006/relationships/notesSlide" Target="/ppt/notesSlides/notesSlide40.xml" Id="R84ccfeda9faf4616"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3ab1c8fddafd4e6e" /><Relationship Type="http://schemas.openxmlformats.org/officeDocument/2006/relationships/notesSlide" Target="/ppt/notesSlides/notesSlide41.xml" Id="Rfb1bfcb2682c448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49d56a9174994d3c" /><Relationship Type="http://schemas.openxmlformats.org/officeDocument/2006/relationships/notesSlide" Target="/ppt/notesSlides/notesSlide42.xml" Id="R8d6ce91f49ee4c00"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7201324f5d1740f7" /><Relationship Type="http://schemas.openxmlformats.org/officeDocument/2006/relationships/notesSlide" Target="/ppt/notesSlides/notesSlide43.xml" Id="Rc4fc1f3d3bcb43b1"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c0e36f60c06f4898" /><Relationship Type="http://schemas.openxmlformats.org/officeDocument/2006/relationships/notesSlide" Target="/ppt/notesSlides/notesSlide44.xml" Id="Recbadcd700a1404d"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eb6529454fa349bf" /><Relationship Type="http://schemas.openxmlformats.org/officeDocument/2006/relationships/notesSlide" Target="/ppt/notesSlides/notesSlide45.xml" Id="Rafbd502558854ca4"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3d024c8002c64126" /><Relationship Type="http://schemas.openxmlformats.org/officeDocument/2006/relationships/notesSlide" Target="/ppt/notesSlides/notesSlide46.xml" Id="R998b3db0072c43f1"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dffc886c043f428a" /><Relationship Type="http://schemas.openxmlformats.org/officeDocument/2006/relationships/notesSlide" Target="/ppt/notesSlides/notesSlide47.xml" Id="R7507211caa4247c3"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408c08e4cc4a4629" /><Relationship Type="http://schemas.openxmlformats.org/officeDocument/2006/relationships/notesSlide" Target="/ppt/notesSlides/notesSlide48.xml" Id="R5ad27ea5159c49e5"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c74282cbca644923" /><Relationship Type="http://schemas.openxmlformats.org/officeDocument/2006/relationships/notesSlide" Target="/ppt/notesSlides/notesSlide49.xml" Id="R03ba28b2a8624669"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d94f1fcdd09e49b7" /><Relationship Type="http://schemas.openxmlformats.org/officeDocument/2006/relationships/notesSlide" Target="/ppt/notesSlides/notesSlide50.xml" Id="Rde15c53b22484e92"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a3c38af65a664fc3" /><Relationship Type="http://schemas.openxmlformats.org/officeDocument/2006/relationships/notesSlide" Target="/ppt/notesSlides/notesSlide51.xml" Id="R4c6fbf4160ff4844"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ecae6c285c7a4402" /><Relationship Type="http://schemas.openxmlformats.org/officeDocument/2006/relationships/notesSlide" Target="/ppt/notesSlides/notesSlide52.xml" Id="Red9957e0e78d4877"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33227aa7ba4c42ab" /><Relationship Type="http://schemas.openxmlformats.org/officeDocument/2006/relationships/notesSlide" Target="/ppt/notesSlides/notesSlide53.xml" Id="R9ec7f2dfd43c4d8d"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ac1d724f478d43d1" /><Relationship Type="http://schemas.openxmlformats.org/officeDocument/2006/relationships/notesSlide" Target="/ppt/notesSlides/notesSlide54.xml" Id="Rb90c0a3bb69445e3"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be4b3e1f4b2e4d68" /><Relationship Type="http://schemas.openxmlformats.org/officeDocument/2006/relationships/notesSlide" Target="/ppt/notesSlides/notesSlide55.xml" Id="R96d37ad234364b3e"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e231dceadf5a47a5" /><Relationship Type="http://schemas.openxmlformats.org/officeDocument/2006/relationships/notesSlide" Target="/ppt/notesSlides/notesSlide56.xml" Id="R50feeab8ecd54c27"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46712e764e904cda" /><Relationship Type="http://schemas.openxmlformats.org/officeDocument/2006/relationships/notesSlide" Target="/ppt/notesSlides/notesSlide57.xml" Id="Rba6bae913977444e"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2fec23f7a0d849a8" /><Relationship Type="http://schemas.openxmlformats.org/officeDocument/2006/relationships/notesSlide" Target="/ppt/notesSlides/notesSlide58.xml" Id="Rcce8c46d5c3146b7"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d870942ccd704c4f" /><Relationship Type="http://schemas.openxmlformats.org/officeDocument/2006/relationships/notesSlide" Target="/ppt/notesSlides/notesSlide59.xml" Id="R02d17066225a4e31"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9ecd82b9f5b84ff0" /><Relationship Type="http://schemas.openxmlformats.org/officeDocument/2006/relationships/notesSlide" Target="/ppt/notesSlides/notesSlide60.xml" Id="Rc38a509a8cdb44b4"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1995d2f918174d5c" /><Relationship Type="http://schemas.openxmlformats.org/officeDocument/2006/relationships/notesSlide" Target="/ppt/notesSlides/notesSlide61.xml" Id="R1c9ef2bc835f45eb"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e1d53c2bcc3d424b" /><Relationship Type="http://schemas.openxmlformats.org/officeDocument/2006/relationships/notesSlide" Target="/ppt/notesSlides/notesSlide62.xml" Id="R7f273523c66a4f91"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a6903b87054943f5" /><Relationship Type="http://schemas.openxmlformats.org/officeDocument/2006/relationships/notesSlide" Target="/ppt/notesSlides/notesSlide63.xml" Id="Raee4f106ab2b4842" /></Relationships>
</file>

<file path=ppt/slides/_rels/slide64.xml.rels><?xml version='1.0' encoding='UTF-8' standalone='yes'?>
<Relationships xmlns="http://schemas.openxmlformats.org/package/2006/relationships"><Relationship Type="http://schemas.openxmlformats.org/officeDocument/2006/relationships/slideLayout" Target="/ppt/slideLayouts/slideLayout6.xml" Id="R314c44d54f8b476b"/><Relationship Type="http://schemas.openxmlformats.org/officeDocument/2006/relationships/image" Target="/ppt/media/image3.png" Id="Ree38f9cb6ef441a7"/><Relationship Type="http://schemas.openxmlformats.org/officeDocument/2006/relationships/notesSlide" Target="/ppt/notesSlides/notesSlide64.xml" Id="Raf413281e30940bf"/><Relationship Id="rIdA3Video" Type="http://schemas.openxmlformats.org/officeDocument/2006/relationships/video" Target="../media/A3_walkthrough.mp4"/><Relationship Id="rIdA3Media" Type="http://schemas.microsoft.com/office/2007/relationships/media" Target="../media/A3_walkthrough.mp4"/></Relationships>
</file>

<file path=ppt/slides/slide1.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A711BF5F-2956-41D9-999A-F7448EA7F5D0}"/>
              </a:ext>
            </a:extLst>
          </p:cNvPr>
          <p:cNvPicPr>
            <a:picLocks xmlns:a="http://schemas.openxmlformats.org/drawingml/2006/main" noChangeAspect="1"/>
          </p:cNvPicPr>
          <p:nvPr/>
        </p:nvPicPr>
        <p:blipFill>
          <a:blip xmlns:r="http://schemas.openxmlformats.org/officeDocument/2006/relationships" xmlns:a="http://schemas.openxmlformats.org/drawingml/2006/main" r:embed="R5a058cacf44e4a5a"/>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7CE3AE1-A9E1-43D2-9B14-45E86F51E4F5}"/>
              </a:ext>
            </a:extLst>
          </p:cNvPr>
          <p:cNvSpPr>
            <a:spLocks xmlns:a="http://schemas.openxmlformats.org/drawingml/2006/main" noGrp="1"/>
          </p:cNvSpPr>
          <p:nvPr/>
        </p:nvSpPr>
        <p:spPr>
          <a:xfrm xmlns:a="http://schemas.openxmlformats.org/drawingml/2006/main">
            <a:off x="590550" y="1333500"/>
            <a:ext cx="504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ASSIGNMENT 3</a:t>
            </a:r>
          </a:p>
        </p:txBody>
      </p:sp>
      <p:sp>
        <p:nvSpPr>
          <p:cNvPr id="3" name="">
            <a:extLst xmlns:a="http://schemas.openxmlformats.org/drawingml/2006/main">
              <a:ext uri="{FF2B5EF4-FFF2-40B4-BE49-F238E27FC236}">
                <a16:creationId xmlns:a16="http://schemas.microsoft.com/office/drawing/2014/main" id="{221768BE-2F35-4177-A997-8E250245755B}"/>
              </a:ext>
            </a:extLst>
          </p:cNvPr>
          <p:cNvSpPr>
            <a:spLocks xmlns:a="http://schemas.openxmlformats.org/drawingml/2006/main" noGrp="1"/>
          </p:cNvSpPr>
          <p:nvPr/>
        </p:nvSpPr>
        <p:spPr>
          <a:xfrm xmlns:a="http://schemas.openxmlformats.org/drawingml/2006/main">
            <a:off x="590550" y="2047875"/>
            <a:ext cx="5810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5175" b="1">
                <a:solidFill>
                  <a:srgbClr val="192E43"/>
                </a:solidFill>
                <a:latin typeface="Arial"/>
                <a:ea typeface="Arial"/>
                <a:cs typeface="Arial"/>
              </a:defRPr>
            </a:defPPr>
          </a:lstStyle>
          <a:p xmlns:a="http://schemas.openxmlformats.org/drawingml/2006/main">
            <a:pPr>
              <a:defRPr sz="5175" b="1">
                <a:solidFill>
                  <a:srgbClr val="192E43"/>
                </a:solidFill>
                <a:latin typeface="Arial"/>
                <a:ea typeface="Arial"/>
                <a:cs typeface="Arial"/>
              </a:defRPr>
            </a:pPr>
            <a:r>
              <a:rPr sz="5175" b="1">
                <a:solidFill>
                  <a:srgbClr val="192E43"/>
                </a:solidFill>
                <a:latin typeface="Arial"/>
                <a:ea typeface="Arial"/>
                <a:cs typeface="Arial"/>
              </a:rPr>
              <a:t>Graphs</a:t>
            </a:r>
          </a:p>
          <a:p xmlns:a="http://schemas.openxmlformats.org/drawingml/2006/main">
            <a:pPr>
              <a:defRPr sz="5175" b="1">
                <a:solidFill>
                  <a:srgbClr val="192E43"/>
                </a:solidFill>
                <a:latin typeface="Arial"/>
                <a:ea typeface="Arial"/>
                <a:cs typeface="Arial"/>
              </a:defRPr>
            </a:pPr>
            <a:r>
              <a:rPr sz="5175" b="1">
                <a:solidFill>
                  <a:srgbClr val="192E43"/>
                </a:solidFill>
                <a:latin typeface="Arial"/>
                <a:ea typeface="Arial"/>
                <a:cs typeface="Arial"/>
              </a:rPr>
              <a:t>step by step</a:t>
            </a:r>
          </a:p>
        </p:txBody>
      </p:sp>
      <p:sp>
        <p:nvSpPr>
          <p:cNvPr id="4" name="">
            <a:extLst xmlns:a="http://schemas.openxmlformats.org/drawingml/2006/main">
              <a:ext uri="{FF2B5EF4-FFF2-40B4-BE49-F238E27FC236}">
                <a16:creationId xmlns:a16="http://schemas.microsoft.com/office/drawing/2014/main" id="{591C9A52-DA72-4E81-BB48-46FC0AF4BFE3}"/>
              </a:ext>
            </a:extLst>
          </p:cNvPr>
          <p:cNvSpPr>
            <a:spLocks xmlns:a="http://schemas.openxmlformats.org/drawingml/2006/main" noGrp="1"/>
          </p:cNvSpPr>
          <p:nvPr/>
        </p:nvSpPr>
        <p:spPr>
          <a:xfrm xmlns:a="http://schemas.openxmlformats.org/drawingml/2006/main">
            <a:off x="590550" y="4191000"/>
            <a:ext cx="5619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Plain explanations.</a:t>
            </a:r>
          </a:p>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One example at a time.</a:t>
            </a:r>
          </a:p>
        </p:txBody>
      </p:sp>
      <p:sp>
        <p:nvSpPr>
          <p:cNvPr id="5" name="">
            <a:extLst xmlns:a="http://schemas.openxmlformats.org/drawingml/2006/main">
              <a:ext uri="{FF2B5EF4-FFF2-40B4-BE49-F238E27FC236}">
                <a16:creationId xmlns:a16="http://schemas.microsoft.com/office/drawing/2014/main" id="{AB79FE7C-0D7D-4CF2-BC63-E1EDDC956321}"/>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6" name="">
            <a:extLst xmlns:a="http://schemas.openxmlformats.org/drawingml/2006/main">
              <a:ext uri="{FF2B5EF4-FFF2-40B4-BE49-F238E27FC236}">
                <a16:creationId xmlns:a16="http://schemas.microsoft.com/office/drawing/2014/main" id="{5E907BA8-7680-4A0B-89AF-FD4814EDBBD2}"/>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1 / 64</a:t>
            </a:r>
          </a:p>
        </p:txBody>
      </p:sp>
    </p:spTree>
    <p:extLst>
      <p:ext uri="{BB962C8B-B14F-4D97-AF65-F5344CB8AC3E}">
        <p14:creationId xmlns:p14="http://schemas.microsoft.com/office/powerpoint/2010/main" val="2078381933"/>
      </p:ext>
    </p:extLst>
  </p:cSld>
</p:sld>
</file>

<file path=ppt/slides/slide2.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2A0F02E-6336-4F64-8F93-C8F86E24BD19}"/>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The basics</a:t>
            </a:r>
          </a:p>
        </p:txBody>
      </p:sp>
      <p:sp>
        <p:nvSpPr>
          <p:cNvPr id="2" name="">
            <a:extLst xmlns:a="http://schemas.openxmlformats.org/drawingml/2006/main">
              <a:ext uri="{FF2B5EF4-FFF2-40B4-BE49-F238E27FC236}">
                <a16:creationId xmlns:a16="http://schemas.microsoft.com/office/drawing/2014/main" id="{87CE7187-8F3B-49FF-9075-D9693788B581}"/>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A graph: points and connections</a:t>
            </a:r>
          </a:p>
        </p:txBody>
      </p:sp>
      <p:sp>
        <p:nvSpPr>
          <p:cNvPr id="3" name="">
            <a:extLst xmlns:a="http://schemas.openxmlformats.org/drawingml/2006/main">
              <a:ext uri="{FF2B5EF4-FFF2-40B4-BE49-F238E27FC236}">
                <a16:creationId xmlns:a16="http://schemas.microsoft.com/office/drawing/2014/main" id="{58ADBEC1-9CEA-4C82-8A8E-216C3CD2E63A}"/>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A vertex is an object. An edge connects two objects.</a:t>
            </a:r>
          </a:p>
        </p:txBody>
      </p:sp>
      <p:sp>
        <p:nvSpPr>
          <p:cNvPr id="4" name="">
            <a:extLst xmlns:a="http://schemas.openxmlformats.org/drawingml/2006/main">
              <a:ext uri="{FF2B5EF4-FFF2-40B4-BE49-F238E27FC236}">
                <a16:creationId xmlns:a16="http://schemas.microsoft.com/office/drawing/2014/main" id="{1E9214CA-D214-4892-96BE-EEC235040624}"/>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Three venues: 0, 1, 2. Cables connect 0 to 1 and 1 to 2.</a:t>
            </a:r>
          </a:p>
        </p:txBody>
      </p:sp>
      <p:graphicFrame>
        <p:nvGraphicFramePr>
          <p:cNvPr id="5" name="">
            <a:extLst xmlns:a="http://schemas.openxmlformats.org/drawingml/2006/main">
              <a:ext uri="{FF2B5EF4-FFF2-40B4-BE49-F238E27FC236}">
                <a16:creationId xmlns:a16="http://schemas.microsoft.com/office/drawing/2014/main" id="{B660ABA8-4062-4D0B-A268-2448846BBD83}"/>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3997707"/>
                <a:gridCol w="7051293"/>
              </a:tblGrid>
              <a:tr h="690563">
                <a:tc>
                  <a:txBody>
                    <a:bodyPr/>
                    <a:lstStyle/>
                    <a:p>
                      <a:r>
                        <a:rPr sz="1725" b="1">
                          <a:solidFill>
                            <a:srgbClr val="192E43"/>
                          </a:solidFill>
                          <a:latin typeface="Arial"/>
                          <a:ea typeface="Arial"/>
                          <a:cs typeface="Arial"/>
                        </a:rPr>
                        <a:t>Notation</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Meaning</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690563">
                <a:tc>
                  <a:txBody>
                    <a:bodyPr/>
                    <a:lstStyle/>
                    <a:p>
                      <a:r>
                        <a:rPr sz="1725" b="0">
                          <a:solidFill>
                            <a:srgbClr val="192E43"/>
                          </a:solidFill>
                          <a:latin typeface="Arial"/>
                          <a:ea typeface="Arial"/>
                          <a:cs typeface="Arial"/>
                        </a:rPr>
                        <a:t>n = 3</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Three vertices: 0, 1, 2</a:t>
                      </a:r>
                    </a:p>
                  </a:txBody>
                  <a:tcPr marL="91440" marR="91440" marT="45720" marB="45720">
                    <a:lnR w="9525">
                      <a:solidFill>
                        <a:srgbClr val="E2DCE0"/>
                      </a:solidFill>
                      <a:prstDash val="solid"/>
                    </a:lnR>
                    <a:lnB w="9525">
                      <a:solidFill>
                        <a:srgbClr val="E2DCE0"/>
                      </a:solidFill>
                      <a:prstDash val="solid"/>
                    </a:lnB>
                    <a:solidFill>
                      <a:srgbClr val="FFFEFC"/>
                    </a:solidFill>
                  </a:tcPr>
                </a:tc>
              </a:tr>
              <a:tr h="690563">
                <a:tc>
                  <a:txBody>
                    <a:bodyPr/>
                    <a:lstStyle/>
                    <a:p>
                      <a:r>
                        <a:rPr sz="1725" b="0">
                          <a:solidFill>
                            <a:srgbClr val="192E43"/>
                          </a:solidFill>
                          <a:latin typeface="Arial"/>
                          <a:ea typeface="Arial"/>
                          <a:cs typeface="Arial"/>
                        </a:rPr>
                        <a:t>[0, 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A connection between 0 and 1</a:t>
                      </a:r>
                    </a:p>
                  </a:txBody>
                  <a:tcPr marL="91440" marR="91440" marT="45720" marB="45720">
                    <a:lnR w="9525">
                      <a:solidFill>
                        <a:srgbClr val="E2DCE0"/>
                      </a:solidFill>
                      <a:prstDash val="solid"/>
                    </a:lnR>
                    <a:lnB w="9525">
                      <a:solidFill>
                        <a:srgbClr val="E2DCE0"/>
                      </a:solidFill>
                      <a:prstDash val="solid"/>
                    </a:lnB>
                    <a:solidFill>
                      <a:srgbClr val="FAF8F8"/>
                    </a:solidFill>
                  </a:tcPr>
                </a:tc>
              </a:tr>
              <a:tr h="690563">
                <a:tc>
                  <a:txBody>
                    <a:bodyPr/>
                    <a:lstStyle/>
                    <a:p>
                      <a:r>
                        <a:rPr sz="1725" b="0">
                          <a:solidFill>
                            <a:srgbClr val="192E43"/>
                          </a:solidFill>
                          <a:latin typeface="Arial"/>
                          <a:ea typeface="Arial"/>
                          <a:cs typeface="Arial"/>
                        </a:rPr>
                        <a:t>[1, 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A connection between 1 and 2</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AB1811DF-A0E9-467A-AE23-35529E77AECE}"/>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You can reach 2 from 0 through 1. A direct edge 0–2 is unnecessary.</a:t>
            </a:r>
          </a:p>
        </p:txBody>
      </p:sp>
      <p:sp>
        <p:nvSpPr>
          <p:cNvPr id="7" name="">
            <a:extLst xmlns:a="http://schemas.openxmlformats.org/drawingml/2006/main">
              <a:ext uri="{FF2B5EF4-FFF2-40B4-BE49-F238E27FC236}">
                <a16:creationId xmlns:a16="http://schemas.microsoft.com/office/drawing/2014/main" id="{55654F71-57C7-4034-9B3A-9C6D20EAC4FF}"/>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52D668B5-3F74-4D11-8A83-D98B6BC7BFC3}"/>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2 / 64</a:t>
            </a:r>
          </a:p>
        </p:txBody>
      </p:sp>
    </p:spTree>
    <p:extLst>
      <p:ext uri="{BB962C8B-B14F-4D97-AF65-F5344CB8AC3E}">
        <p14:creationId xmlns:p14="http://schemas.microsoft.com/office/powerpoint/2010/main" val="1670874571"/>
      </p:ext>
    </p:extLst>
  </p:cSld>
</p:sld>
</file>

<file path=ppt/slides/slide3.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983949F-530B-41C6-9322-5F8D5263D4F8}"/>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The basics</a:t>
            </a:r>
          </a:p>
        </p:txBody>
      </p:sp>
      <p:sp>
        <p:nvSpPr>
          <p:cNvPr id="2" name="">
            <a:extLst xmlns:a="http://schemas.openxmlformats.org/drawingml/2006/main">
              <a:ext uri="{FF2B5EF4-FFF2-40B4-BE49-F238E27FC236}">
                <a16:creationId xmlns:a16="http://schemas.microsoft.com/office/drawing/2014/main" id="{0C391B61-DBDF-4EAB-AF82-73DE78E7B8ED}"/>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Edge direction and weight</a:t>
            </a:r>
          </a:p>
        </p:txBody>
      </p:sp>
      <p:sp>
        <p:nvSpPr>
          <p:cNvPr id="3" name="">
            <a:extLst xmlns:a="http://schemas.openxmlformats.org/drawingml/2006/main">
              <a:ext uri="{FF2B5EF4-FFF2-40B4-BE49-F238E27FC236}">
                <a16:creationId xmlns:a16="http://schemas.microsoft.com/office/drawing/2014/main" id="{C8320258-27CB-4699-8D41-CFC690877AC0}"/>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An arrow permits one direction. A weight is a number attached to an edge.</a:t>
            </a:r>
          </a:p>
        </p:txBody>
      </p:sp>
      <p:sp>
        <p:nvSpPr>
          <p:cNvPr id="4" name="">
            <a:extLst xmlns:a="http://schemas.openxmlformats.org/drawingml/2006/main">
              <a:ext uri="{FF2B5EF4-FFF2-40B4-BE49-F238E27FC236}">
                <a16:creationId xmlns:a16="http://schemas.microsoft.com/office/drawing/2014/main" id="{AAA07918-5407-4B79-B142-067D5220FA0F}"/>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[0, 1, 4]: from 0 to 1, cost 4. In MST the connection works both ways.</a:t>
            </a:r>
          </a:p>
        </p:txBody>
      </p:sp>
      <p:sp>
        <p:nvSpPr>
          <p:cNvPr id="5" name="">
            <a:extLst xmlns:a="http://schemas.openxmlformats.org/drawingml/2006/main">
              <a:ext uri="{FF2B5EF4-FFF2-40B4-BE49-F238E27FC236}">
                <a16:creationId xmlns:a16="http://schemas.microsoft.com/office/drawing/2014/main" id="{2061FBA7-D72B-4DB9-AB8E-0BFB056AA36A}"/>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The task chooses the model: cables, work dependencies and delivery use separate graphs.</a:t>
            </a:r>
          </a:p>
        </p:txBody>
      </p:sp>
      <p:sp>
        <p:nvSpPr>
          <p:cNvPr id="6" name="">
            <a:extLst xmlns:a="http://schemas.openxmlformats.org/drawingml/2006/main">
              <a:ext uri="{FF2B5EF4-FFF2-40B4-BE49-F238E27FC236}">
                <a16:creationId xmlns:a16="http://schemas.microsoft.com/office/drawing/2014/main" id="{2090BEE6-5231-43B4-84F7-C464964D26FD}"/>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7" name="">
            <a:extLst xmlns:a="http://schemas.openxmlformats.org/drawingml/2006/main">
              <a:ext uri="{FF2B5EF4-FFF2-40B4-BE49-F238E27FC236}">
                <a16:creationId xmlns:a16="http://schemas.microsoft.com/office/drawing/2014/main" id="{13DE40FF-2AD9-4699-B7C9-B7F859D9604F}"/>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3 / 64</a:t>
            </a:r>
          </a:p>
        </p:txBody>
      </p:sp>
    </p:spTree>
    <p:extLst>
      <p:ext uri="{BB962C8B-B14F-4D97-AF65-F5344CB8AC3E}">
        <p14:creationId xmlns:p14="http://schemas.microsoft.com/office/powerpoint/2010/main" val="1965736409"/>
      </p:ext>
    </p:extLst>
  </p:cSld>
</p:sld>
</file>

<file path=ppt/slides/slide4.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E8A0280-516B-4D30-ADAA-1EFA969C30F4}"/>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The basics</a:t>
            </a:r>
          </a:p>
        </p:txBody>
      </p:sp>
      <p:sp>
        <p:nvSpPr>
          <p:cNvPr id="2" name="">
            <a:extLst xmlns:a="http://schemas.openxmlformats.org/drawingml/2006/main">
              <a:ext uri="{FF2B5EF4-FFF2-40B4-BE49-F238E27FC236}">
                <a16:creationId xmlns:a16="http://schemas.microsoft.com/office/drawing/2014/main" id="{D6684F6F-2A85-4BA5-A946-12AC5ED00B7F}"/>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What each method answers</a:t>
            </a:r>
          </a:p>
        </p:txBody>
      </p:sp>
      <p:sp>
        <p:nvSpPr>
          <p:cNvPr id="3" name="">
            <a:extLst xmlns:a="http://schemas.openxmlformats.org/drawingml/2006/main">
              <a:ext uri="{FF2B5EF4-FFF2-40B4-BE49-F238E27FC236}">
                <a16:creationId xmlns:a16="http://schemas.microsoft.com/office/drawing/2014/main" id="{28AA988B-0192-4025-A0E2-62C7BF7F4DD1}"/>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First identify the required result. Then use the required method.</a:t>
            </a:r>
          </a:p>
        </p:txBody>
      </p:sp>
      <p:sp>
        <p:nvSpPr>
          <p:cNvPr id="4" name="">
            <a:extLst xmlns:a="http://schemas.openxmlformats.org/drawingml/2006/main">
              <a:ext uri="{FF2B5EF4-FFF2-40B4-BE49-F238E27FC236}">
                <a16:creationId xmlns:a16="http://schemas.microsoft.com/office/drawing/2014/main" id="{7D03540A-AA71-4747-9E07-C30AF0757AD0}"/>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The festival story leads to different mathematical tasks.</a:t>
            </a:r>
          </a:p>
        </p:txBody>
      </p:sp>
      <p:graphicFrame>
        <p:nvGraphicFramePr>
          <p:cNvPr id="5" name="">
            <a:extLst xmlns:a="http://schemas.openxmlformats.org/drawingml/2006/main">
              <a:ext uri="{FF2B5EF4-FFF2-40B4-BE49-F238E27FC236}">
                <a16:creationId xmlns:a16="http://schemas.microsoft.com/office/drawing/2014/main" id="{7415A939-44B8-4F9F-A28D-26778BC6B9B6}"/>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3774535"/>
                <a:gridCol w="7274465"/>
              </a:tblGrid>
              <a:tr h="460375">
                <a:tc>
                  <a:txBody>
                    <a:bodyPr/>
                    <a:lstStyle/>
                    <a:p>
                      <a:r>
                        <a:rPr sz="1725" b="1">
                          <a:solidFill>
                            <a:srgbClr val="192E43"/>
                          </a:solidFill>
                          <a:latin typeface="Arial"/>
                          <a:ea typeface="Arial"/>
                          <a:cs typeface="Arial"/>
                        </a:rPr>
                        <a:t>Method</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Question in plain words</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460375">
                <a:tc>
                  <a:txBody>
                    <a:bodyPr/>
                    <a:lstStyle/>
                    <a:p>
                      <a:r>
                        <a:rPr sz="1725" b="0">
                          <a:solidFill>
                            <a:srgbClr val="192E43"/>
                          </a:solidFill>
                          <a:latin typeface="Arial"/>
                          <a:ea typeface="Arial"/>
                          <a:cs typeface="Arial"/>
                        </a:rPr>
                        <a:t>DSU</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Which vertices already belong to one group?</a:t>
                      </a:r>
                    </a:p>
                  </a:txBody>
                  <a:tcPr marL="91440" marR="91440" marT="45720" marB="45720">
                    <a:lnR w="9525">
                      <a:solidFill>
                        <a:srgbClr val="E2DCE0"/>
                      </a:solidFill>
                      <a:prstDash val="solid"/>
                    </a:lnR>
                    <a:lnB w="9525">
                      <a:solidFill>
                        <a:srgbClr val="E2DCE0"/>
                      </a:solidFill>
                      <a:prstDash val="solid"/>
                    </a:lnB>
                    <a:solidFill>
                      <a:srgbClr val="FFFEFC"/>
                    </a:solidFill>
                  </a:tcPr>
                </a:tc>
              </a:tr>
              <a:tr h="460375">
                <a:tc>
                  <a:txBody>
                    <a:bodyPr/>
                    <a:lstStyle/>
                    <a:p>
                      <a:r>
                        <a:rPr sz="1725" b="0">
                          <a:solidFill>
                            <a:srgbClr val="192E43"/>
                          </a:solidFill>
                          <a:latin typeface="Arial"/>
                          <a:ea typeface="Arial"/>
                          <a:cs typeface="Arial"/>
                        </a:rPr>
                        <a:t>Kruskal / Prim</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How can each connected group be linked most cheaply?</a:t>
                      </a:r>
                    </a:p>
                  </a:txBody>
                  <a:tcPr marL="91440" marR="91440" marT="45720" marB="45720">
                    <a:lnR w="9525">
                      <a:solidFill>
                        <a:srgbClr val="E2DCE0"/>
                      </a:solidFill>
                      <a:prstDash val="solid"/>
                    </a:lnR>
                    <a:lnB w="9525">
                      <a:solidFill>
                        <a:srgbClr val="E2DCE0"/>
                      </a:solidFill>
                      <a:prstDash val="solid"/>
                    </a:lnB>
                    <a:solidFill>
                      <a:srgbClr val="FAF8F8"/>
                    </a:solidFill>
                  </a:tcPr>
                </a:tc>
              </a:tr>
              <a:tr h="460375">
                <a:tc>
                  <a:txBody>
                    <a:bodyPr/>
                    <a:lstStyle/>
                    <a:p>
                      <a:r>
                        <a:rPr sz="1725" b="0">
                          <a:solidFill>
                            <a:srgbClr val="192E43"/>
                          </a:solidFill>
                          <a:latin typeface="Arial"/>
                          <a:ea typeface="Arial"/>
                          <a:cs typeface="Arial"/>
                        </a:rPr>
                        <a:t>Kosaraju</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Where can we travel both ways along paths?</a:t>
                      </a:r>
                    </a:p>
                  </a:txBody>
                  <a:tcPr marL="91440" marR="91440" marT="45720" marB="45720">
                    <a:lnR w="9525">
                      <a:solidFill>
                        <a:srgbClr val="E2DCE0"/>
                      </a:solidFill>
                      <a:prstDash val="solid"/>
                    </a:lnR>
                    <a:lnB w="9525">
                      <a:solidFill>
                        <a:srgbClr val="E2DCE0"/>
                      </a:solidFill>
                      <a:prstDash val="solid"/>
                    </a:lnB>
                    <a:solidFill>
                      <a:srgbClr val="FFFEFC"/>
                    </a:solidFill>
                  </a:tcPr>
                </a:tc>
              </a:tr>
              <a:tr h="460375">
                <a:tc>
                  <a:txBody>
                    <a:bodyPr/>
                    <a:lstStyle/>
                    <a:p>
                      <a:r>
                        <a:rPr sz="1725" b="0">
                          <a:solidFill>
                            <a:srgbClr val="192E43"/>
                          </a:solidFill>
                          <a:latin typeface="Arial"/>
                          <a:ea typeface="Arial"/>
                          <a:cs typeface="Arial"/>
                        </a:rPr>
                        <a:t>DFS topo</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In what order can tasks be completed?</a:t>
                      </a:r>
                    </a:p>
                  </a:txBody>
                  <a:tcPr marL="91440" marR="91440" marT="45720" marB="45720">
                    <a:lnR w="9525">
                      <a:solidFill>
                        <a:srgbClr val="E2DCE0"/>
                      </a:solidFill>
                      <a:prstDash val="solid"/>
                    </a:lnR>
                    <a:lnB w="9525">
                      <a:solidFill>
                        <a:srgbClr val="E2DCE0"/>
                      </a:solidFill>
                      <a:prstDash val="solid"/>
                    </a:lnB>
                    <a:solidFill>
                      <a:srgbClr val="FAF8F8"/>
                    </a:solidFill>
                  </a:tcPr>
                </a:tc>
              </a:tr>
              <a:tr h="460375">
                <a:tc>
                  <a:txBody>
                    <a:bodyPr/>
                    <a:lstStyle/>
                    <a:p>
                      <a:r>
                        <a:rPr sz="1725" b="0">
                          <a:solidFill>
                            <a:srgbClr val="192E43"/>
                          </a:solidFill>
                          <a:latin typeface="Arial"/>
                          <a:ea typeface="Arial"/>
                          <a:cs typeface="Arial"/>
                        </a:rPr>
                        <a:t>DAG paths</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What is the cheapest route from a given source?</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96FE7901-BA1D-4B01-9516-46EDDEDD623F}"/>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Kruskal and Prim solve the same problem, but A3 requires separate implementations.</a:t>
            </a:r>
          </a:p>
        </p:txBody>
      </p:sp>
      <p:sp>
        <p:nvSpPr>
          <p:cNvPr id="7" name="">
            <a:extLst xmlns:a="http://schemas.openxmlformats.org/drawingml/2006/main">
              <a:ext uri="{FF2B5EF4-FFF2-40B4-BE49-F238E27FC236}">
                <a16:creationId xmlns:a16="http://schemas.microsoft.com/office/drawing/2014/main" id="{9292136D-76C1-4FC1-BA5A-DE9BCDE1A2A5}"/>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8E61547A-748C-4B20-BC5B-0C3F23404077}"/>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4 / 64</a:t>
            </a:r>
          </a:p>
        </p:txBody>
      </p:sp>
    </p:spTree>
    <p:extLst>
      <p:ext uri="{BB962C8B-B14F-4D97-AF65-F5344CB8AC3E}">
        <p14:creationId xmlns:p14="http://schemas.microsoft.com/office/powerpoint/2010/main" val="121700387"/>
      </p:ext>
    </p:extLst>
  </p:cSld>
</p:sld>
</file>

<file path=ppt/slides/slide5.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DEA585F-E7B5-4DED-9E12-73A9C6735D47}"/>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The basics</a:t>
            </a:r>
          </a:p>
        </p:txBody>
      </p:sp>
      <p:sp>
        <p:nvSpPr>
          <p:cNvPr id="2" name="">
            <a:extLst xmlns:a="http://schemas.openxmlformats.org/drawingml/2006/main">
              <a:ext uri="{FF2B5EF4-FFF2-40B4-BE49-F238E27FC236}">
                <a16:creationId xmlns:a16="http://schemas.microsoft.com/office/drawing/2014/main" id="{B9350139-4312-4A4F-ADC1-FD4812529709}"/>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An edge ID is its input position</a:t>
            </a:r>
          </a:p>
        </p:txBody>
      </p:sp>
      <p:sp>
        <p:nvSpPr>
          <p:cNvPr id="3" name="">
            <a:extLst xmlns:a="http://schemas.openxmlformats.org/drawingml/2006/main">
              <a:ext uri="{FF2B5EF4-FFF2-40B4-BE49-F238E27FC236}">
                <a16:creationId xmlns:a16="http://schemas.microsoft.com/office/drawing/2014/main" id="{1186452D-27A4-4B8F-A1BB-B57C062576BA}"/>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Numbering starts at zero. Sorting must preserve the original ID.</a:t>
            </a:r>
          </a:p>
        </p:txBody>
      </p:sp>
      <p:sp>
        <p:nvSpPr>
          <p:cNvPr id="4" name="">
            <a:extLst xmlns:a="http://schemas.openxmlformats.org/drawingml/2006/main">
              <a:ext uri="{FF2B5EF4-FFF2-40B4-BE49-F238E27FC236}">
                <a16:creationId xmlns:a16="http://schemas.microsoft.com/office/drawing/2014/main" id="{05CE3D2C-E90F-462A-90AD-D66655EEFD1A}"/>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Two identical edges may still have different IDs.</a:t>
            </a:r>
          </a:p>
        </p:txBody>
      </p:sp>
      <p:graphicFrame>
        <p:nvGraphicFramePr>
          <p:cNvPr id="5" name="">
            <a:extLst xmlns:a="http://schemas.openxmlformats.org/drawingml/2006/main">
              <a:ext uri="{FF2B5EF4-FFF2-40B4-BE49-F238E27FC236}">
                <a16:creationId xmlns:a16="http://schemas.microsoft.com/office/drawing/2014/main" id="{389D0936-4599-48C7-BF28-28DEE7DA099B}"/>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5379018"/>
                <a:gridCol w="5669982"/>
              </a:tblGrid>
              <a:tr h="690563">
                <a:tc>
                  <a:txBody>
                    <a:bodyPr/>
                    <a:lstStyle/>
                    <a:p>
                      <a:r>
                        <a:rPr sz="1725" b="1">
                          <a:solidFill>
                            <a:srgbClr val="192E43"/>
                          </a:solidFill>
                          <a:latin typeface="Arial"/>
                          <a:ea typeface="Arial"/>
                          <a:cs typeface="Arial"/>
                        </a:rPr>
                        <a:t>ID</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Input edge</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690563">
                <a:tc>
                  <a:txBody>
                    <a:bodyPr/>
                    <a:lstStyle/>
                    <a:p>
                      <a:r>
                        <a:rPr sz="1725" b="0">
                          <a:solidFill>
                            <a:srgbClr val="192E43"/>
                          </a:solidFill>
                          <a:latin typeface="Arial"/>
                          <a:ea typeface="Arial"/>
                          <a:cs typeface="Arial"/>
                        </a:rPr>
                        <a:t>0</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 1, 4]</a:t>
                      </a:r>
                    </a:p>
                  </a:txBody>
                  <a:tcPr marL="91440" marR="91440" marT="45720" marB="45720">
                    <a:lnR w="9525">
                      <a:solidFill>
                        <a:srgbClr val="E2DCE0"/>
                      </a:solidFill>
                      <a:prstDash val="solid"/>
                    </a:lnR>
                    <a:lnB w="9525">
                      <a:solidFill>
                        <a:srgbClr val="E2DCE0"/>
                      </a:solidFill>
                      <a:prstDash val="solid"/>
                    </a:lnB>
                    <a:solidFill>
                      <a:srgbClr val="FFFEFC"/>
                    </a:solidFill>
                  </a:tcPr>
                </a:tc>
              </a:tr>
              <a:tr h="690563">
                <a:tc>
                  <a:txBody>
                    <a:bodyPr/>
                    <a:lstStyle/>
                    <a:p>
                      <a:r>
                        <a:rPr sz="1725" b="0">
                          <a:solidFill>
                            <a:srgbClr val="192E43"/>
                          </a:solidFill>
                          <a:latin typeface="Arial"/>
                          <a:ea typeface="Arial"/>
                          <a:cs typeface="Arial"/>
                        </a:rPr>
                        <a:t>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[1, 2, 1]</a:t>
                      </a:r>
                    </a:p>
                  </a:txBody>
                  <a:tcPr marL="91440" marR="91440" marT="45720" marB="45720">
                    <a:lnR w="9525">
                      <a:solidFill>
                        <a:srgbClr val="E2DCE0"/>
                      </a:solidFill>
                      <a:prstDash val="solid"/>
                    </a:lnR>
                    <a:lnB w="9525">
                      <a:solidFill>
                        <a:srgbClr val="E2DCE0"/>
                      </a:solidFill>
                      <a:prstDash val="solid"/>
                    </a:lnB>
                    <a:solidFill>
                      <a:srgbClr val="FAF8F8"/>
                    </a:solidFill>
                  </a:tcPr>
                </a:tc>
              </a:tr>
              <a:tr h="690563">
                <a:tc>
                  <a:txBody>
                    <a:bodyPr/>
                    <a:lstStyle/>
                    <a:p>
                      <a:r>
                        <a:rPr sz="1725" b="0">
                          <a:solidFill>
                            <a:srgbClr val="192E43"/>
                          </a:solidFill>
                          <a:latin typeface="Arial"/>
                          <a:ea typeface="Arial"/>
                          <a:cs typeface="Arial"/>
                        </a:rPr>
                        <a:t>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 1, 4]</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2A05CCCD-3B71-4182-AD05-2D27E973625D}"/>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When the answer needs edge_ids or parent_edge, return the input ID.</a:t>
            </a:r>
          </a:p>
        </p:txBody>
      </p:sp>
      <p:sp>
        <p:nvSpPr>
          <p:cNvPr id="7" name="">
            <a:extLst xmlns:a="http://schemas.openxmlformats.org/drawingml/2006/main">
              <a:ext uri="{FF2B5EF4-FFF2-40B4-BE49-F238E27FC236}">
                <a16:creationId xmlns:a16="http://schemas.microsoft.com/office/drawing/2014/main" id="{25B8B9E8-AF33-48D1-841A-9A2B9668A38E}"/>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9EC1BD2C-BD93-4032-AF8A-9E504F2ADFFC}"/>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5 / 64</a:t>
            </a:r>
          </a:p>
        </p:txBody>
      </p:sp>
    </p:spTree>
    <p:extLst>
      <p:ext uri="{BB962C8B-B14F-4D97-AF65-F5344CB8AC3E}">
        <p14:creationId xmlns:p14="http://schemas.microsoft.com/office/powerpoint/2010/main" val="767933375"/>
      </p:ext>
    </p:extLst>
  </p:cSld>
</p:sld>
</file>

<file path=ppt/slides/slide6.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45F3DD9-9F1B-4F2B-BA07-A968799CE1F8}"/>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The basics</a:t>
            </a:r>
          </a:p>
        </p:txBody>
      </p:sp>
      <p:sp>
        <p:nvSpPr>
          <p:cNvPr id="2" name="">
            <a:extLst xmlns:a="http://schemas.openxmlformats.org/drawingml/2006/main">
              <a:ext uri="{FF2B5EF4-FFF2-40B4-BE49-F238E27FC236}">
                <a16:creationId xmlns:a16="http://schemas.microsoft.com/office/drawing/2014/main" id="{5189A10D-8B7B-48BB-A994-6966D32B5E6A}"/>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Input and output: one line per request</a:t>
            </a:r>
          </a:p>
        </p:txBody>
      </p:sp>
      <p:sp>
        <p:nvSpPr>
          <p:cNvPr id="3" name="">
            <a:extLst xmlns:a="http://schemas.openxmlformats.org/drawingml/2006/main">
              <a:ext uri="{FF2B5EF4-FFF2-40B4-BE49-F238E27FC236}">
                <a16:creationId xmlns:a16="http://schemas.microsoft.com/office/drawing/2014/main" id="{3FEA9A8B-DDF9-4563-8040-A43A59C49A05}"/>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The adapter already reads JSON and calls your method.</a:t>
            </a:r>
          </a:p>
        </p:txBody>
      </p:sp>
      <p:sp>
        <p:nvSpPr>
          <p:cNvPr id="4" name="">
            <a:extLst xmlns:a="http://schemas.openxmlformats.org/drawingml/2006/main">
              <a:ext uri="{FF2B5EF4-FFF2-40B4-BE49-F238E27FC236}">
                <a16:creationId xmlns:a16="http://schemas.microsoft.com/office/drawing/2014/main" id="{32FD6FD5-B356-482C-98E0-54CDB01EC9A7}"/>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Input: {"task":"dsu","n":3,"operations":[[0,1]]}</a:t>
            </a:r>
          </a:p>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Output: {"states":[[2,2]]}</a:t>
            </a:r>
          </a:p>
        </p:txBody>
      </p:sp>
      <p:sp>
        <p:nvSpPr>
          <p:cNvPr id="5" name="">
            <a:extLst xmlns:a="http://schemas.openxmlformats.org/drawingml/2006/main">
              <a:ext uri="{FF2B5EF4-FFF2-40B4-BE49-F238E27FC236}">
                <a16:creationId xmlns:a16="http://schemas.microsoft.com/office/drawing/2014/main" id="{09F87F57-3879-4778-AD68-AC03FF3C6516}"/>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After linking 0–1, two groups remain. The largest contains two vertices.</a:t>
            </a:r>
          </a:p>
        </p:txBody>
      </p:sp>
      <p:sp>
        <p:nvSpPr>
          <p:cNvPr id="6" name="">
            <a:extLst xmlns:a="http://schemas.openxmlformats.org/drawingml/2006/main">
              <a:ext uri="{FF2B5EF4-FFF2-40B4-BE49-F238E27FC236}">
                <a16:creationId xmlns:a16="http://schemas.microsoft.com/office/drawing/2014/main" id="{CCC7A3F6-F37E-4EB9-AE00-0F616711AA46}"/>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7" name="">
            <a:extLst xmlns:a="http://schemas.openxmlformats.org/drawingml/2006/main">
              <a:ext uri="{FF2B5EF4-FFF2-40B4-BE49-F238E27FC236}">
                <a16:creationId xmlns:a16="http://schemas.microsoft.com/office/drawing/2014/main" id="{257E4CA4-9EC1-408A-B30D-6DFDE5D75B31}"/>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6 / 64</a:t>
            </a:r>
          </a:p>
        </p:txBody>
      </p:sp>
    </p:spTree>
    <p:extLst>
      <p:ext uri="{BB962C8B-B14F-4D97-AF65-F5344CB8AC3E}">
        <p14:creationId xmlns:p14="http://schemas.microsoft.com/office/powerpoint/2010/main" val="1246109888"/>
      </p:ext>
    </p:extLst>
  </p:cSld>
</p:sld>
</file>

<file path=ppt/slides/slide7.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ADBD411-86B0-447B-966E-75ADC54D1B8C}"/>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DSU</a:t>
            </a:r>
          </a:p>
        </p:txBody>
      </p:sp>
      <p:sp>
        <p:nvSpPr>
          <p:cNvPr id="2" name="">
            <a:extLst xmlns:a="http://schemas.openxmlformats.org/drawingml/2006/main">
              <a:ext uri="{FF2B5EF4-FFF2-40B4-BE49-F238E27FC236}">
                <a16:creationId xmlns:a16="http://schemas.microsoft.com/office/drawing/2014/main" id="{18C586DE-47F4-4531-B214-F88D3404C7BB}"/>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DSU: groups after each connection</a:t>
            </a:r>
          </a:p>
        </p:txBody>
      </p:sp>
      <p:sp>
        <p:nvSpPr>
          <p:cNvPr id="3" name="">
            <a:extLst xmlns:a="http://schemas.openxmlformats.org/drawingml/2006/main">
              <a:ext uri="{FF2B5EF4-FFF2-40B4-BE49-F238E27FC236}">
                <a16:creationId xmlns:a16="http://schemas.microsoft.com/office/drawing/2014/main" id="{C3ABEDF4-E038-4412-BFEA-6909FD412EB7}"/>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DSU tracks vertices already connected by a chain of links.</a:t>
            </a:r>
          </a:p>
        </p:txBody>
      </p:sp>
      <p:sp>
        <p:nvSpPr>
          <p:cNvPr id="4" name="">
            <a:extLst xmlns:a="http://schemas.openxmlformats.org/drawingml/2006/main">
              <a:ext uri="{FF2B5EF4-FFF2-40B4-BE49-F238E27FC236}">
                <a16:creationId xmlns:a16="http://schemas.microsoft.com/office/drawing/2014/main" id="{BA4DE40D-E8B5-4DCE-9F5D-106CE600079E}"/>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Start: {0}, {1}, {2}, {3}, {4}. Add 0–1, then 1–2.</a:t>
            </a:r>
          </a:p>
        </p:txBody>
      </p:sp>
      <p:graphicFrame>
        <p:nvGraphicFramePr>
          <p:cNvPr id="5" name="">
            <a:extLst xmlns:a="http://schemas.openxmlformats.org/drawingml/2006/main">
              <a:ext uri="{FF2B5EF4-FFF2-40B4-BE49-F238E27FC236}">
                <a16:creationId xmlns:a16="http://schemas.microsoft.com/office/drawing/2014/main" id="{01B23BDF-6F40-4313-B5CD-0E9B9736AA4F}"/>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3487000"/>
                <a:gridCol w="3686416"/>
                <a:gridCol w="3875584"/>
              </a:tblGrid>
              <a:tr h="690563">
                <a:tc>
                  <a:txBody>
                    <a:bodyPr/>
                    <a:lstStyle/>
                    <a:p>
                      <a:r>
                        <a:rPr sz="1725" b="1">
                          <a:solidFill>
                            <a:srgbClr val="192E43"/>
                          </a:solidFill>
                          <a:latin typeface="Arial"/>
                          <a:ea typeface="Arial"/>
                          <a:cs typeface="Arial"/>
                        </a:rPr>
                        <a:t>Moment</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Groups</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[components, largest]</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690563">
                <a:tc>
                  <a:txBody>
                    <a:bodyPr/>
                    <a:lstStyle/>
                    <a:p>
                      <a:r>
                        <a:rPr sz="1725" b="0">
                          <a:solidFill>
                            <a:srgbClr val="192E43"/>
                          </a:solidFill>
                          <a:latin typeface="Arial"/>
                          <a:ea typeface="Arial"/>
                          <a:cs typeface="Arial"/>
                        </a:rPr>
                        <a:t>Before operations</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 {1} {2} {3} {4}</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[5, 1]</a:t>
                      </a:r>
                    </a:p>
                  </a:txBody>
                  <a:tcPr marL="91440" marR="91440" marT="45720" marB="45720">
                    <a:lnR w="9525">
                      <a:solidFill>
                        <a:srgbClr val="E2DCE0"/>
                      </a:solidFill>
                      <a:prstDash val="solid"/>
                    </a:lnR>
                    <a:lnB w="9525">
                      <a:solidFill>
                        <a:srgbClr val="E2DCE0"/>
                      </a:solidFill>
                      <a:prstDash val="solid"/>
                    </a:lnB>
                    <a:solidFill>
                      <a:srgbClr val="FFFEFC"/>
                    </a:solidFill>
                  </a:tcPr>
                </a:tc>
              </a:tr>
              <a:tr h="690563">
                <a:tc>
                  <a:txBody>
                    <a:bodyPr/>
                    <a:lstStyle/>
                    <a:p>
                      <a:r>
                        <a:rPr sz="1725" b="0">
                          <a:solidFill>
                            <a:srgbClr val="192E43"/>
                          </a:solidFill>
                          <a:latin typeface="Arial"/>
                          <a:ea typeface="Arial"/>
                          <a:cs typeface="Arial"/>
                        </a:rPr>
                        <a:t>After [0,1]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{0,1} {2} {3} {4}</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[4, 2]</a:t>
                      </a:r>
                    </a:p>
                  </a:txBody>
                  <a:tcPr marL="91440" marR="91440" marT="45720" marB="45720">
                    <a:lnR w="9525">
                      <a:solidFill>
                        <a:srgbClr val="E2DCE0"/>
                      </a:solidFill>
                      <a:prstDash val="solid"/>
                    </a:lnR>
                    <a:lnB w="9525">
                      <a:solidFill>
                        <a:srgbClr val="E2DCE0"/>
                      </a:solidFill>
                      <a:prstDash val="solid"/>
                    </a:lnB>
                    <a:solidFill>
                      <a:srgbClr val="FAF8F8"/>
                    </a:solidFill>
                  </a:tcPr>
                </a:tc>
              </a:tr>
              <a:tr h="690563">
                <a:tc>
                  <a:txBody>
                    <a:bodyPr/>
                    <a:lstStyle/>
                    <a:p>
                      <a:r>
                        <a:rPr sz="1725" b="0">
                          <a:solidFill>
                            <a:srgbClr val="192E43"/>
                          </a:solidFill>
                          <a:latin typeface="Arial"/>
                          <a:ea typeface="Arial"/>
                          <a:cs typeface="Arial"/>
                        </a:rPr>
                        <a:t>After [1,2]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{0,1,2} {3} {4}</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[3, 3]</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52611299-A72F-4511-8816-11AEA3E71348}"/>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Each connection merges two groups into one: 5, then 4, then 3 groups. Group {0,1,2} has three vertices, so largest=3.</a:t>
            </a:r>
          </a:p>
        </p:txBody>
      </p:sp>
      <p:sp>
        <p:nvSpPr>
          <p:cNvPr id="7" name="">
            <a:extLst xmlns:a="http://schemas.openxmlformats.org/drawingml/2006/main">
              <a:ext uri="{FF2B5EF4-FFF2-40B4-BE49-F238E27FC236}">
                <a16:creationId xmlns:a16="http://schemas.microsoft.com/office/drawing/2014/main" id="{5E0BC948-2C36-44B8-A527-7DABEDAFE06F}"/>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8DD18CF9-9768-4368-8ABB-084F60178F13}"/>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7 / 64</a:t>
            </a:r>
          </a:p>
        </p:txBody>
      </p:sp>
    </p:spTree>
    <p:extLst>
      <p:ext uri="{BB962C8B-B14F-4D97-AF65-F5344CB8AC3E}">
        <p14:creationId xmlns:p14="http://schemas.microsoft.com/office/powerpoint/2010/main" val="1036389044"/>
      </p:ext>
    </p:extLst>
  </p:cSld>
</p:sld>
</file>

<file path=ppt/slides/slide8.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9E2A9A2-BABA-4CF4-9D0E-DE8AB3001EF1}"/>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DSU</a:t>
            </a:r>
          </a:p>
        </p:txBody>
      </p:sp>
      <p:sp>
        <p:nvSpPr>
          <p:cNvPr id="2" name="">
            <a:extLst xmlns:a="http://schemas.openxmlformats.org/drawingml/2006/main">
              <a:ext uri="{FF2B5EF4-FFF2-40B4-BE49-F238E27FC236}">
                <a16:creationId xmlns:a16="http://schemas.microsoft.com/office/drawing/2014/main" id="{3E57A93E-8A39-49AD-88AA-0D9058C660EA}"/>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parent: the next vertex to follow</a:t>
            </a:r>
          </a:p>
        </p:txBody>
      </p:sp>
      <p:sp>
        <p:nvSpPr>
          <p:cNvPr id="3" name="">
            <a:extLst xmlns:a="http://schemas.openxmlformats.org/drawingml/2006/main">
              <a:ext uri="{FF2B5EF4-FFF2-40B4-BE49-F238E27FC236}">
                <a16:creationId xmlns:a16="http://schemas.microsoft.com/office/drawing/2014/main" id="{3DFDB94D-E976-4DEE-B082-A3E34DC744AF}"/>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parent[x] stores the next vertex on the way to the group representative.</a:t>
            </a:r>
          </a:p>
        </p:txBody>
      </p:sp>
      <p:sp>
        <p:nvSpPr>
          <p:cNvPr id="4" name="">
            <a:extLst xmlns:a="http://schemas.openxmlformats.org/drawingml/2006/main">
              <a:ext uri="{FF2B5EF4-FFF2-40B4-BE49-F238E27FC236}">
                <a16:creationId xmlns:a16="http://schemas.microsoft.com/office/drawing/2014/main" id="{242550E3-47D8-46D2-A300-260FE3372930}"/>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parent = [0, 0, 1, 3, 4]. For vertex 2, follow 2 → 1 → 0.</a:t>
            </a:r>
          </a:p>
        </p:txBody>
      </p:sp>
      <p:graphicFrame>
        <p:nvGraphicFramePr>
          <p:cNvPr id="5" name="">
            <a:extLst xmlns:a="http://schemas.openxmlformats.org/drawingml/2006/main">
              <a:ext uri="{FF2B5EF4-FFF2-40B4-BE49-F238E27FC236}">
                <a16:creationId xmlns:a16="http://schemas.microsoft.com/office/drawing/2014/main" id="{F9A20AA8-70A4-4C63-9CBE-90EA646B9D39}"/>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1841500"/>
                <a:gridCol w="1841500"/>
                <a:gridCol w="1841500"/>
                <a:gridCol w="1841500"/>
                <a:gridCol w="1841500"/>
                <a:gridCol w="1841500"/>
              </a:tblGrid>
              <a:tr h="1381125">
                <a:tc>
                  <a:txBody>
                    <a:bodyPr/>
                    <a:lstStyle/>
                    <a:p>
                      <a:r>
                        <a:rPr sz="1725" b="1">
                          <a:solidFill>
                            <a:srgbClr val="192E43"/>
                          </a:solidFill>
                          <a:latin typeface="Arial"/>
                          <a:ea typeface="Arial"/>
                          <a:cs typeface="Arial"/>
                        </a:rPr>
                        <a:t>x</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0</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1</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2</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3</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4</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1381125">
                <a:tc>
                  <a:txBody>
                    <a:bodyPr/>
                    <a:lstStyle/>
                    <a:p>
                      <a:r>
                        <a:rPr sz="1725" b="0">
                          <a:solidFill>
                            <a:srgbClr val="192E43"/>
                          </a:solidFill>
                          <a:latin typeface="Arial"/>
                          <a:ea typeface="Arial"/>
                          <a:cs typeface="Arial"/>
                        </a:rPr>
                        <a:t>parent[x]</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1</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3</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4</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68B03020-8771-4864-8475-852CC6F7B35E}"/>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Vertex 0 points to itself. It is the root, or group representative.</a:t>
            </a:r>
          </a:p>
        </p:txBody>
      </p:sp>
      <p:sp>
        <p:nvSpPr>
          <p:cNvPr id="7" name="">
            <a:extLst xmlns:a="http://schemas.openxmlformats.org/drawingml/2006/main">
              <a:ext uri="{FF2B5EF4-FFF2-40B4-BE49-F238E27FC236}">
                <a16:creationId xmlns:a16="http://schemas.microsoft.com/office/drawing/2014/main" id="{B0E4687F-9937-4BE2-B52B-F433B7A3F0E2}"/>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94B34150-252D-4E76-A01F-5D509C729FF4}"/>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8 / 64</a:t>
            </a:r>
          </a:p>
        </p:txBody>
      </p:sp>
    </p:spTree>
    <p:extLst>
      <p:ext uri="{BB962C8B-B14F-4D97-AF65-F5344CB8AC3E}">
        <p14:creationId xmlns:p14="http://schemas.microsoft.com/office/powerpoint/2010/main" val="1234948731"/>
      </p:ext>
    </p:extLst>
  </p:cSld>
</p:sld>
</file>

<file path=ppt/slides/slide9.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721034D-FA6E-4DA8-8BFA-1081A2B93833}"/>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DSU</a:t>
            </a:r>
          </a:p>
        </p:txBody>
      </p:sp>
      <p:sp>
        <p:nvSpPr>
          <p:cNvPr id="2" name="">
            <a:extLst xmlns:a="http://schemas.openxmlformats.org/drawingml/2006/main">
              <a:ext uri="{FF2B5EF4-FFF2-40B4-BE49-F238E27FC236}">
                <a16:creationId xmlns:a16="http://schemas.microsoft.com/office/drawing/2014/main" id="{C9FF455A-F9F1-4BF2-B1F8-338D74BEF522}"/>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find(2): follow pointers to the root</a:t>
            </a:r>
          </a:p>
        </p:txBody>
      </p:sp>
      <p:sp>
        <p:nvSpPr>
          <p:cNvPr id="3" name="">
            <a:extLst xmlns:a="http://schemas.openxmlformats.org/drawingml/2006/main">
              <a:ext uri="{FF2B5EF4-FFF2-40B4-BE49-F238E27FC236}">
                <a16:creationId xmlns:a16="http://schemas.microsoft.com/office/drawing/2014/main" id="{6518BF32-62CA-4DD5-80B6-58D4F5BFCF47}"/>
              </a:ext>
            </a:extLst>
          </p:cNvPr>
          <p:cNvSpPr>
            <a:spLocks xmlns:a="http://schemas.openxmlformats.org/drawingml/2006/main" noGrp="1"/>
          </p:cNvSpPr>
          <p:nvPr/>
        </p:nvSpPr>
        <p:spPr>
          <a:xfrm xmlns:a="http://schemas.openxmlformats.org/drawingml/2006/main">
            <a:off x="571500" y="1638300"/>
            <a:ext cx="1104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192E43"/>
                </a:solidFill>
                <a:latin typeface="Arial"/>
                <a:ea typeface="Arial"/>
                <a:cs typeface="Arial"/>
              </a:defRPr>
            </a:defPPr>
          </a:lstStyle>
          <a:p xmlns:a="http://schemas.openxmlformats.org/drawingml/2006/main">
            <a:pPr>
              <a:defRPr sz="2175" b="0">
                <a:solidFill>
                  <a:srgbClr val="192E43"/>
                </a:solidFill>
                <a:latin typeface="Arial"/>
                <a:ea typeface="Arial"/>
                <a:cs typeface="Arial"/>
              </a:defRPr>
            </a:pPr>
            <a:r>
              <a:rPr sz="2175" b="0">
                <a:solidFill>
                  <a:srgbClr val="192E43"/>
                </a:solidFill>
                <a:latin typeface="Arial"/>
                <a:ea typeface="Arial"/>
                <a:cs typeface="Arial"/>
              </a:rPr>
              <a:t>find returns a root. Comparing roots checks group membership.</a:t>
            </a:r>
          </a:p>
        </p:txBody>
      </p:sp>
      <p:sp>
        <p:nvSpPr>
          <p:cNvPr id="4" name="">
            <a:extLst xmlns:a="http://schemas.openxmlformats.org/drawingml/2006/main">
              <a:ext uri="{FF2B5EF4-FFF2-40B4-BE49-F238E27FC236}">
                <a16:creationId xmlns:a16="http://schemas.microsoft.com/office/drawing/2014/main" id="{EC76AA7F-D96D-41D6-9CC9-8129B6FCF245}"/>
              </a:ext>
            </a:extLst>
          </p:cNvPr>
          <p:cNvSpPr>
            <a:spLocks xmlns:a="http://schemas.openxmlformats.org/drawingml/2006/main" noGrp="1"/>
          </p:cNvSpPr>
          <p:nvPr/>
        </p:nvSpPr>
        <p:spPr>
          <a:xfrm xmlns:a="http://schemas.openxmlformats.org/drawingml/2006/main">
            <a:off x="571500" y="250507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2 → 1 → 0. Stop because parent[0] = 0.</a:t>
            </a:r>
          </a:p>
        </p:txBody>
      </p:sp>
      <p:sp>
        <p:nvSpPr>
          <p:cNvPr id="5" name="">
            <a:extLst xmlns:a="http://schemas.openxmlformats.org/drawingml/2006/main">
              <a:ext uri="{FF2B5EF4-FFF2-40B4-BE49-F238E27FC236}">
                <a16:creationId xmlns:a16="http://schemas.microsoft.com/office/drawing/2014/main" id="{823F61E5-3BFC-40AA-9EBB-71FD3343006B}"/>
              </a:ext>
            </a:extLst>
          </p:cNvPr>
          <p:cNvSpPr>
            <a:spLocks xmlns:a="http://schemas.openxmlformats.org/drawingml/2006/main" noGrp="1"/>
          </p:cNvSpPr>
          <p:nvPr/>
        </p:nvSpPr>
        <p:spPr>
          <a:xfrm xmlns:a="http://schemas.openxmlformats.org/drawingml/2006/main">
            <a:off x="781050" y="3448050"/>
            <a:ext cx="106299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Courier New"/>
                <a:ea typeface="Courier New"/>
                <a:cs typeface="Courier New"/>
              </a:defRPr>
            </a:defPPr>
          </a:lstStyle>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int root = x;</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while (parent[root] != root) {</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root = parent[root];</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E36BE0F9-AB75-435B-A657-F1A5110392EA}"/>
              </a:ext>
            </a:extLst>
          </p:cNvPr>
          <p:cNvSpPr>
            <a:spLocks xmlns:a="http://schemas.openxmlformats.org/drawingml/2006/main" noGrp="1"/>
          </p:cNvSpPr>
          <p:nvPr/>
        </p:nvSpPr>
        <p:spPr>
          <a:xfrm xmlns:a="http://schemas.openxmlformats.org/drawingml/2006/main">
            <a:off x="571500" y="564832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1">
                <a:solidFill>
                  <a:srgbClr val="AC4D73"/>
                </a:solidFill>
                <a:latin typeface="Arial"/>
                <a:ea typeface="Arial"/>
                <a:cs typeface="Arial"/>
              </a:defRPr>
            </a:defPPr>
          </a:lstStyle>
          <a:p xmlns:a="http://schemas.openxmlformats.org/drawingml/2006/main">
            <a:pPr>
              <a:defRPr sz="2025" b="1">
                <a:solidFill>
                  <a:srgbClr val="AC4D73"/>
                </a:solidFill>
                <a:latin typeface="Arial"/>
                <a:ea typeface="Arial"/>
                <a:cs typeface="Arial"/>
              </a:defRPr>
            </a:pPr>
            <a:r>
              <a:rPr sz="2025" b="1">
                <a:solidFill>
                  <a:srgbClr val="AC4D73"/>
                </a:solidFill>
                <a:latin typeface="Arial"/>
                <a:ea typeface="Arial"/>
                <a:cs typeface="Arial"/>
              </a:rPr>
              <a:t>find(2) = 0 and find(1) = 0: vertices 2 and 1 already share a group.</a:t>
            </a:r>
          </a:p>
        </p:txBody>
      </p:sp>
      <p:sp>
        <p:nvSpPr>
          <p:cNvPr id="7" name="">
            <a:extLst xmlns:a="http://schemas.openxmlformats.org/drawingml/2006/main">
              <a:ext uri="{FF2B5EF4-FFF2-40B4-BE49-F238E27FC236}">
                <a16:creationId xmlns:a16="http://schemas.microsoft.com/office/drawing/2014/main" id="{654E1AF3-6A20-465D-A0AD-D25588DACDA3}"/>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1EE03807-1C3E-4CB8-A22F-982B91183138}"/>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9 / 64</a:t>
            </a:r>
          </a:p>
        </p:txBody>
      </p:sp>
    </p:spTree>
    <p:extLst>
      <p:ext uri="{BB962C8B-B14F-4D97-AF65-F5344CB8AC3E}">
        <p14:creationId xmlns:p14="http://schemas.microsoft.com/office/powerpoint/2010/main" val="1128875117"/>
      </p:ext>
    </p:extLst>
  </p:cSld>
</p:sld>
</file>

<file path=ppt/slides/slide10.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6B3A268-7A18-4F48-8F2F-7697CDEE922E}"/>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DSU</a:t>
            </a:r>
          </a:p>
        </p:txBody>
      </p:sp>
      <p:sp>
        <p:nvSpPr>
          <p:cNvPr id="2" name="">
            <a:extLst xmlns:a="http://schemas.openxmlformats.org/drawingml/2006/main">
              <a:ext uri="{FF2B5EF4-FFF2-40B4-BE49-F238E27FC236}">
                <a16:creationId xmlns:a16="http://schemas.microsoft.com/office/drawing/2014/main" id="{F06BC4FD-3503-41D2-AE8A-0F7346024A37}"/>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Path compression: shorten future searches</a:t>
            </a:r>
          </a:p>
        </p:txBody>
      </p:sp>
      <p:sp>
        <p:nvSpPr>
          <p:cNvPr id="3" name="">
            <a:extLst xmlns:a="http://schemas.openxmlformats.org/drawingml/2006/main">
              <a:ext uri="{FF2B5EF4-FFF2-40B4-BE49-F238E27FC236}">
                <a16:creationId xmlns:a16="http://schemas.microsoft.com/office/drawing/2014/main" id="{46CB4A8F-F133-4F8B-B527-4D9FB213F776}"/>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After find, point visited vertices directly to the root we found.</a:t>
            </a:r>
          </a:p>
        </p:txBody>
      </p:sp>
      <p:sp>
        <p:nvSpPr>
          <p:cNvPr id="4" name="">
            <a:extLst xmlns:a="http://schemas.openxmlformats.org/drawingml/2006/main">
              <a:ext uri="{FF2B5EF4-FFF2-40B4-BE49-F238E27FC236}">
                <a16:creationId xmlns:a16="http://schemas.microsoft.com/office/drawing/2014/main" id="{12678632-EEE1-4950-AFAB-B5BAA4928125}"/>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Before: 2 → 1 → 0. After: 2 → 0 and 1 → 0.</a:t>
            </a:r>
          </a:p>
        </p:txBody>
      </p:sp>
      <p:graphicFrame>
        <p:nvGraphicFramePr>
          <p:cNvPr id="5" name="">
            <a:extLst xmlns:a="http://schemas.openxmlformats.org/drawingml/2006/main">
              <a:ext uri="{FF2B5EF4-FFF2-40B4-BE49-F238E27FC236}">
                <a16:creationId xmlns:a16="http://schemas.microsoft.com/office/drawing/2014/main" id="{843205F4-0746-4EAC-A650-05D02E74DB8C}"/>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2141175"/>
                <a:gridCol w="1781565"/>
                <a:gridCol w="1781565"/>
                <a:gridCol w="1781565"/>
                <a:gridCol w="1781565"/>
                <a:gridCol w="1781565"/>
              </a:tblGrid>
              <a:tr h="920750">
                <a:tc>
                  <a:txBody>
                    <a:bodyPr/>
                    <a:lstStyle/>
                    <a:p>
                      <a:r>
                        <a:rPr sz="1725" b="1">
                          <a:solidFill>
                            <a:srgbClr val="192E43"/>
                          </a:solidFill>
                          <a:latin typeface="Arial"/>
                          <a:ea typeface="Arial"/>
                          <a:cs typeface="Arial"/>
                        </a:rPr>
                        <a:t>Array</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0</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1</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2</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3</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4</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920750">
                <a:tc>
                  <a:txBody>
                    <a:bodyPr/>
                    <a:lstStyle/>
                    <a:p>
                      <a:r>
                        <a:rPr sz="1725" b="0">
                          <a:solidFill>
                            <a:srgbClr val="192E43"/>
                          </a:solidFill>
                          <a:latin typeface="Arial"/>
                          <a:ea typeface="Arial"/>
                          <a:cs typeface="Arial"/>
                        </a:rPr>
                        <a:t>parent before</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1</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3</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4</a:t>
                      </a:r>
                    </a:p>
                  </a:txBody>
                  <a:tcPr marL="91440" marR="91440" marT="45720" marB="45720">
                    <a:lnR w="9525">
                      <a:solidFill>
                        <a:srgbClr val="E2DCE0"/>
                      </a:solidFill>
                      <a:prstDash val="solid"/>
                    </a:lnR>
                    <a:lnB w="9525">
                      <a:solidFill>
                        <a:srgbClr val="E2DCE0"/>
                      </a:solidFill>
                      <a:prstDash val="solid"/>
                    </a:lnB>
                    <a:solidFill>
                      <a:srgbClr val="FFFEFC"/>
                    </a:solidFill>
                  </a:tcPr>
                </a:tc>
              </a:tr>
              <a:tr h="920750">
                <a:tc>
                  <a:txBody>
                    <a:bodyPr/>
                    <a:lstStyle/>
                    <a:p>
                      <a:r>
                        <a:rPr sz="1725" b="0">
                          <a:solidFill>
                            <a:srgbClr val="192E43"/>
                          </a:solidFill>
                          <a:latin typeface="Arial"/>
                          <a:ea typeface="Arial"/>
                          <a:cs typeface="Arial"/>
                        </a:rPr>
                        <a:t>parent after</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0</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0</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0</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3</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4</a:t>
                      </a:r>
                    </a:p>
                  </a:txBody>
                  <a:tcPr marL="91440" marR="91440" marT="45720" marB="45720">
                    <a:lnR w="9525">
                      <a:solidFill>
                        <a:srgbClr val="E2DCE0"/>
                      </a:solidFill>
                      <a:prstDash val="solid"/>
                    </a:lnR>
                    <a:lnB w="9525">
                      <a:solidFill>
                        <a:srgbClr val="E2DCE0"/>
                      </a:solidFill>
                      <a:prstDash val="solid"/>
                    </a:lnB>
                    <a:solidFill>
                      <a:srgbClr val="FAF8F8"/>
                    </a:solidFill>
                  </a:tcPr>
                </a:tc>
              </a:tr>
            </a:tbl>
          </a:graphicData>
        </a:graphic>
      </p:graphicFrame>
      <p:sp>
        <p:nvSpPr>
          <p:cNvPr id="6" name="">
            <a:extLst xmlns:a="http://schemas.openxmlformats.org/drawingml/2006/main">
              <a:ext uri="{FF2B5EF4-FFF2-40B4-BE49-F238E27FC236}">
                <a16:creationId xmlns:a16="http://schemas.microsoft.com/office/drawing/2014/main" id="{F11EA3C3-08FB-4D0C-BC5A-1303E48149E6}"/>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The group stays the same. Only the internal parent tree changes.</a:t>
            </a:r>
          </a:p>
        </p:txBody>
      </p:sp>
      <p:sp>
        <p:nvSpPr>
          <p:cNvPr id="7" name="">
            <a:extLst xmlns:a="http://schemas.openxmlformats.org/drawingml/2006/main">
              <a:ext uri="{FF2B5EF4-FFF2-40B4-BE49-F238E27FC236}">
                <a16:creationId xmlns:a16="http://schemas.microsoft.com/office/drawing/2014/main" id="{3942F08E-54ED-40B0-AC8B-65BE14D0CCAB}"/>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9D09CF3D-C255-4321-9D74-99B41F3E70A2}"/>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10 / 64</a:t>
            </a:r>
          </a:p>
        </p:txBody>
      </p:sp>
    </p:spTree>
    <p:extLst>
      <p:ext uri="{BB962C8B-B14F-4D97-AF65-F5344CB8AC3E}">
        <p14:creationId xmlns:p14="http://schemas.microsoft.com/office/powerpoint/2010/main" val="662045786"/>
      </p:ext>
    </p:extLst>
  </p:cSld>
</p:sld>
</file>

<file path=ppt/slides/slide11.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43D4E1D-6B6C-4D33-B4C6-F6D1DB82703C}"/>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DSU</a:t>
            </a:r>
          </a:p>
        </p:txBody>
      </p:sp>
      <p:sp>
        <p:nvSpPr>
          <p:cNvPr id="2" name="">
            <a:extLst xmlns:a="http://schemas.openxmlformats.org/drawingml/2006/main">
              <a:ext uri="{FF2B5EF4-FFF2-40B4-BE49-F238E27FC236}">
                <a16:creationId xmlns:a16="http://schemas.microsoft.com/office/drawing/2014/main" id="{6702BC6D-4674-43CB-ACA2-3187D7E50234}"/>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Why compression saves next first</a:t>
            </a:r>
          </a:p>
        </p:txBody>
      </p:sp>
      <p:sp>
        <p:nvSpPr>
          <p:cNvPr id="3" name="">
            <a:extLst xmlns:a="http://schemas.openxmlformats.org/drawingml/2006/main">
              <a:ext uri="{FF2B5EF4-FFF2-40B4-BE49-F238E27FC236}">
                <a16:creationId xmlns:a16="http://schemas.microsoft.com/office/drawing/2014/main" id="{B5D97CE6-8F59-48BA-BEDB-F838E51A54EE}"/>
              </a:ext>
            </a:extLst>
          </p:cNvPr>
          <p:cNvSpPr>
            <a:spLocks xmlns:a="http://schemas.openxmlformats.org/drawingml/2006/main" noGrp="1"/>
          </p:cNvSpPr>
          <p:nvPr/>
        </p:nvSpPr>
        <p:spPr>
          <a:xfrm xmlns:a="http://schemas.openxmlformats.org/drawingml/2006/main">
            <a:off x="571500" y="1638300"/>
            <a:ext cx="1104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192E43"/>
                </a:solidFill>
                <a:latin typeface="Arial"/>
                <a:ea typeface="Arial"/>
                <a:cs typeface="Arial"/>
              </a:defRPr>
            </a:defPPr>
          </a:lstStyle>
          <a:p xmlns:a="http://schemas.openxmlformats.org/drawingml/2006/main">
            <a:pPr>
              <a:defRPr sz="2175" b="0">
                <a:solidFill>
                  <a:srgbClr val="192E43"/>
                </a:solidFill>
                <a:latin typeface="Arial"/>
                <a:ea typeface="Arial"/>
                <a:cs typeface="Arial"/>
              </a:defRPr>
            </a:pPr>
            <a:r>
              <a:rPr sz="2175" b="0">
                <a:solidFill>
                  <a:srgbClr val="192E43"/>
                </a:solidFill>
                <a:latin typeface="Arial"/>
                <a:ea typeface="Arial"/>
                <a:cs typeface="Arial"/>
              </a:rPr>
              <a:t>Before changing parent[x], remember its old destination.</a:t>
            </a:r>
          </a:p>
        </p:txBody>
      </p:sp>
      <p:sp>
        <p:nvSpPr>
          <p:cNvPr id="4" name="">
            <a:extLst xmlns:a="http://schemas.openxmlformats.org/drawingml/2006/main">
              <a:ext uri="{FF2B5EF4-FFF2-40B4-BE49-F238E27FC236}">
                <a16:creationId xmlns:a16="http://schemas.microsoft.com/office/drawing/2014/main" id="{A6E8C4E1-8168-4502-86DE-070BF034616F}"/>
              </a:ext>
            </a:extLst>
          </p:cNvPr>
          <p:cNvSpPr>
            <a:spLocks xmlns:a="http://schemas.openxmlformats.org/drawingml/2006/main" noGrp="1"/>
          </p:cNvSpPr>
          <p:nvPr/>
        </p:nvSpPr>
        <p:spPr>
          <a:xfrm xmlns:a="http://schemas.openxmlformats.org/drawingml/2006/main">
            <a:off x="571500" y="250507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A separate longer path: 3→2→1→0. For x=3, save next=2 before setting parent[3]=0.</a:t>
            </a:r>
          </a:p>
        </p:txBody>
      </p:sp>
      <p:sp>
        <p:nvSpPr>
          <p:cNvPr id="5" name="">
            <a:extLst xmlns:a="http://schemas.openxmlformats.org/drawingml/2006/main">
              <a:ext uri="{FF2B5EF4-FFF2-40B4-BE49-F238E27FC236}">
                <a16:creationId xmlns:a16="http://schemas.microsoft.com/office/drawing/2014/main" id="{EB5CC00E-74E4-43C0-B876-03784ACC0D9E}"/>
              </a:ext>
            </a:extLst>
          </p:cNvPr>
          <p:cNvSpPr>
            <a:spLocks xmlns:a="http://schemas.openxmlformats.org/drawingml/2006/main" noGrp="1"/>
          </p:cNvSpPr>
          <p:nvPr/>
        </p:nvSpPr>
        <p:spPr>
          <a:xfrm xmlns:a="http://schemas.openxmlformats.org/drawingml/2006/main">
            <a:off x="781050" y="3448050"/>
            <a:ext cx="106299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Courier New"/>
                <a:ea typeface="Courier New"/>
                <a:cs typeface="Courier New"/>
              </a:defRPr>
            </a:defPPr>
          </a:lstStyle>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while (x != root) {</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int next = parent[x];</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parent[x] = root;</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x = next;</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C19E6E36-0D07-47B5-9CC1-946A0465B16F}"/>
              </a:ext>
            </a:extLst>
          </p:cNvPr>
          <p:cNvSpPr>
            <a:spLocks xmlns:a="http://schemas.openxmlformats.org/drawingml/2006/main" noGrp="1"/>
          </p:cNvSpPr>
          <p:nvPr/>
        </p:nvSpPr>
        <p:spPr>
          <a:xfrm xmlns:a="http://schemas.openxmlformats.org/drawingml/2006/main">
            <a:off x="571500" y="564832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1">
                <a:solidFill>
                  <a:srgbClr val="AC4D73"/>
                </a:solidFill>
                <a:latin typeface="Arial"/>
                <a:ea typeface="Arial"/>
                <a:cs typeface="Arial"/>
              </a:defRPr>
            </a:defPPr>
          </a:lstStyle>
          <a:p xmlns:a="http://schemas.openxmlformats.org/drawingml/2006/main">
            <a:pPr>
              <a:defRPr sz="2025" b="1">
                <a:solidFill>
                  <a:srgbClr val="AC4D73"/>
                </a:solidFill>
                <a:latin typeface="Arial"/>
                <a:ea typeface="Arial"/>
                <a:cs typeface="Arial"/>
              </a:defRPr>
            </a:pPr>
            <a:r>
              <a:rPr sz="2025" b="1">
                <a:solidFill>
                  <a:srgbClr val="AC4D73"/>
                </a:solidFill>
                <a:latin typeface="Arial"/>
                <a:ea typeface="Arial"/>
                <a:cs typeface="Arial"/>
              </a:rPr>
              <a:t>next lets us continue along the old path and compress the remaining vertices.</a:t>
            </a:r>
          </a:p>
        </p:txBody>
      </p:sp>
      <p:sp>
        <p:nvSpPr>
          <p:cNvPr id="7" name="">
            <a:extLst xmlns:a="http://schemas.openxmlformats.org/drawingml/2006/main">
              <a:ext uri="{FF2B5EF4-FFF2-40B4-BE49-F238E27FC236}">
                <a16:creationId xmlns:a16="http://schemas.microsoft.com/office/drawing/2014/main" id="{B8FF964B-70E7-41FB-8AB4-D4A7F278D4FD}"/>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FD4BDCD9-6510-4EDE-91D3-F1875C8E3022}"/>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11 / 64</a:t>
            </a:r>
          </a:p>
        </p:txBody>
      </p:sp>
    </p:spTree>
    <p:extLst>
      <p:ext uri="{BB962C8B-B14F-4D97-AF65-F5344CB8AC3E}">
        <p14:creationId xmlns:p14="http://schemas.microsoft.com/office/powerpoint/2010/main" val="99675075"/>
      </p:ext>
    </p:extLst>
  </p:cSld>
</p:sld>
</file>

<file path=ppt/slides/slide12.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2701907-F871-4398-AD0F-E037EEE79D32}"/>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DSU</a:t>
            </a:r>
          </a:p>
        </p:txBody>
      </p:sp>
      <p:sp>
        <p:nvSpPr>
          <p:cNvPr id="2" name="">
            <a:extLst xmlns:a="http://schemas.openxmlformats.org/drawingml/2006/main">
              <a:ext uri="{FF2B5EF4-FFF2-40B4-BE49-F238E27FC236}">
                <a16:creationId xmlns:a16="http://schemas.microsoft.com/office/drawing/2014/main" id="{35A288DC-2F17-44E0-8074-A1AB870F877E}"/>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union: attach the smaller group</a:t>
            </a:r>
          </a:p>
        </p:txBody>
      </p:sp>
      <p:sp>
        <p:nvSpPr>
          <p:cNvPr id="3" name="">
            <a:extLst xmlns:a="http://schemas.openxmlformats.org/drawingml/2006/main">
              <a:ext uri="{FF2B5EF4-FFF2-40B4-BE49-F238E27FC236}">
                <a16:creationId xmlns:a16="http://schemas.microsoft.com/office/drawing/2014/main" id="{AC79953D-4A1B-44A3-9B42-1E6BEFBE12CC}"/>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Find both roots first. If they differ, join the trees.</a:t>
            </a:r>
          </a:p>
        </p:txBody>
      </p:sp>
      <p:sp>
        <p:nvSpPr>
          <p:cNvPr id="4" name="">
            <a:extLst xmlns:a="http://schemas.openxmlformats.org/drawingml/2006/main">
              <a:ext uri="{FF2B5EF4-FFF2-40B4-BE49-F238E27FC236}">
                <a16:creationId xmlns:a16="http://schemas.microsoft.com/office/drawing/2014/main" id="{5F1EA0F2-7024-41F7-B112-03780D19BF85}"/>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Root 0: size=3. Root 3: size=1. Set parent[3]=0.</a:t>
            </a:r>
          </a:p>
        </p:txBody>
      </p:sp>
      <p:graphicFrame>
        <p:nvGraphicFramePr>
          <p:cNvPr id="5" name="">
            <a:extLst xmlns:a="http://schemas.openxmlformats.org/drawingml/2006/main">
              <a:ext uri="{FF2B5EF4-FFF2-40B4-BE49-F238E27FC236}">
                <a16:creationId xmlns:a16="http://schemas.microsoft.com/office/drawing/2014/main" id="{7228158B-0433-455B-BD27-F9BBBD2E46B7}"/>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3653783"/>
                <a:gridCol w="3432132"/>
                <a:gridCol w="3963085"/>
              </a:tblGrid>
              <a:tr h="920750">
                <a:tc>
                  <a:txBody>
                    <a:bodyPr/>
                    <a:lstStyle/>
                    <a:p>
                      <a:r>
                        <a:rPr sz="1725" b="1">
                          <a:solidFill>
                            <a:srgbClr val="192E43"/>
                          </a:solidFill>
                          <a:latin typeface="Arial"/>
                          <a:ea typeface="Arial"/>
                          <a:cs typeface="Arial"/>
                        </a:rPr>
                        <a:t>State</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Groups</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components / largest</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920750">
                <a:tc>
                  <a:txBody>
                    <a:bodyPr/>
                    <a:lstStyle/>
                    <a:p>
                      <a:r>
                        <a:rPr sz="1725" b="0">
                          <a:solidFill>
                            <a:srgbClr val="192E43"/>
                          </a:solidFill>
                          <a:latin typeface="Arial"/>
                          <a:ea typeface="Arial"/>
                          <a:cs typeface="Arial"/>
                        </a:rPr>
                        <a:t>Before union(2,3)</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{0,1,2} {3} {4}</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3 / 3</a:t>
                      </a:r>
                    </a:p>
                  </a:txBody>
                  <a:tcPr marL="91440" marR="91440" marT="45720" marB="45720">
                    <a:lnR w="9525">
                      <a:solidFill>
                        <a:srgbClr val="E2DCE0"/>
                      </a:solidFill>
                      <a:prstDash val="solid"/>
                    </a:lnR>
                    <a:lnB w="9525">
                      <a:solidFill>
                        <a:srgbClr val="E2DCE0"/>
                      </a:solidFill>
                      <a:prstDash val="solid"/>
                    </a:lnB>
                    <a:solidFill>
                      <a:srgbClr val="FFFEFC"/>
                    </a:solidFill>
                  </a:tcPr>
                </a:tc>
              </a:tr>
              <a:tr h="920750">
                <a:tc>
                  <a:txBody>
                    <a:bodyPr/>
                    <a:lstStyle/>
                    <a:p>
                      <a:r>
                        <a:rPr sz="1725" b="0">
                          <a:solidFill>
                            <a:srgbClr val="192E43"/>
                          </a:solidFill>
                          <a:latin typeface="Arial"/>
                          <a:ea typeface="Arial"/>
                          <a:cs typeface="Arial"/>
                        </a:rPr>
                        <a:t>After union(2,3)</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{0,1,2,3} {4}</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2 / 4</a:t>
                      </a:r>
                    </a:p>
                  </a:txBody>
                  <a:tcPr marL="91440" marR="91440" marT="45720" marB="45720">
                    <a:lnR w="9525">
                      <a:solidFill>
                        <a:srgbClr val="E2DCE0"/>
                      </a:solidFill>
                      <a:prstDash val="solid"/>
                    </a:lnR>
                    <a:lnB w="9525">
                      <a:solidFill>
                        <a:srgbClr val="E2DCE0"/>
                      </a:solidFill>
                      <a:prstDash val="solid"/>
                    </a:lnB>
                    <a:solidFill>
                      <a:srgbClr val="FAF8F8"/>
                    </a:solidFill>
                  </a:tcPr>
                </a:tc>
              </a:tr>
            </a:tbl>
          </a:graphicData>
        </a:graphic>
      </p:graphicFrame>
      <p:sp>
        <p:nvSpPr>
          <p:cNvPr id="6" name="">
            <a:extLst xmlns:a="http://schemas.openxmlformats.org/drawingml/2006/main">
              <a:ext uri="{FF2B5EF4-FFF2-40B4-BE49-F238E27FC236}">
                <a16:creationId xmlns:a16="http://schemas.microsoft.com/office/drawing/2014/main" id="{BAC7BB7E-7D69-46CF-ADE5-543538D8D5F4}"/>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The new size[0] is 4. The group count drops by 1. largest becomes 4.</a:t>
            </a:r>
          </a:p>
        </p:txBody>
      </p:sp>
      <p:sp>
        <p:nvSpPr>
          <p:cNvPr id="7" name="">
            <a:extLst xmlns:a="http://schemas.openxmlformats.org/drawingml/2006/main">
              <a:ext uri="{FF2B5EF4-FFF2-40B4-BE49-F238E27FC236}">
                <a16:creationId xmlns:a16="http://schemas.microsoft.com/office/drawing/2014/main" id="{118EF510-BBA2-455D-940B-005D02A18604}"/>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385D4882-C6F8-4205-A3FB-AD3CD3A3C80C}"/>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12 / 64</a:t>
            </a:r>
          </a:p>
        </p:txBody>
      </p:sp>
    </p:spTree>
    <p:extLst>
      <p:ext uri="{BB962C8B-B14F-4D97-AF65-F5344CB8AC3E}">
        <p14:creationId xmlns:p14="http://schemas.microsoft.com/office/powerpoint/2010/main" val="1096227783"/>
      </p:ext>
    </p:extLst>
  </p:cSld>
</p:sld>
</file>

<file path=ppt/slides/slide13.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3632CC6-6E9B-424C-8E3A-44888F99668B}"/>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DSU</a:t>
            </a:r>
          </a:p>
        </p:txBody>
      </p:sp>
      <p:sp>
        <p:nvSpPr>
          <p:cNvPr id="2" name="">
            <a:extLst xmlns:a="http://schemas.openxmlformats.org/drawingml/2006/main">
              <a:ext uri="{FF2B5EF4-FFF2-40B4-BE49-F238E27FC236}">
                <a16:creationId xmlns:a16="http://schemas.microsoft.com/office/drawing/2014/main" id="{9B00179B-BA91-4505-BE59-CF286E57DD0E}"/>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A repeated union changes no sizes</a:t>
            </a:r>
          </a:p>
        </p:txBody>
      </p:sp>
      <p:sp>
        <p:nvSpPr>
          <p:cNvPr id="3" name="">
            <a:extLst xmlns:a="http://schemas.openxmlformats.org/drawingml/2006/main">
              <a:ext uri="{FF2B5EF4-FFF2-40B4-BE49-F238E27FC236}">
                <a16:creationId xmlns:a16="http://schemas.microsoft.com/office/drawing/2014/main" id="{EA73DFD7-4972-44A3-B00A-24B2F854F9E7}"/>
              </a:ext>
            </a:extLst>
          </p:cNvPr>
          <p:cNvSpPr>
            <a:spLocks xmlns:a="http://schemas.openxmlformats.org/drawingml/2006/main" noGrp="1"/>
          </p:cNvSpPr>
          <p:nvPr/>
        </p:nvSpPr>
        <p:spPr>
          <a:xfrm xmlns:a="http://schemas.openxmlformats.org/drawingml/2006/main">
            <a:off x="571500" y="1638300"/>
            <a:ext cx="1104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192E43"/>
                </a:solidFill>
                <a:latin typeface="Arial"/>
                <a:ea typeface="Arial"/>
                <a:cs typeface="Arial"/>
              </a:defRPr>
            </a:defPPr>
          </a:lstStyle>
          <a:p xmlns:a="http://schemas.openxmlformats.org/drawingml/2006/main">
            <a:pPr>
              <a:defRPr sz="2175" b="0">
                <a:solidFill>
                  <a:srgbClr val="192E43"/>
                </a:solidFill>
                <a:latin typeface="Arial"/>
                <a:ea typeface="Arial"/>
                <a:cs typeface="Arial"/>
              </a:defRPr>
            </a:pPr>
            <a:r>
              <a:rPr sz="2175" b="0">
                <a:solidFill>
                  <a:srgbClr val="192E43"/>
                </a:solidFill>
                <a:latin typeface="Arial"/>
                <a:ea typeface="Arial"/>
                <a:cs typeface="Arial"/>
              </a:rPr>
              <a:t>If the roots match, keep the current statistics.</a:t>
            </a:r>
          </a:p>
        </p:txBody>
      </p:sp>
      <p:sp>
        <p:nvSpPr>
          <p:cNvPr id="4" name="">
            <a:extLst xmlns:a="http://schemas.openxmlformats.org/drawingml/2006/main">
              <a:ext uri="{FF2B5EF4-FFF2-40B4-BE49-F238E27FC236}">
                <a16:creationId xmlns:a16="http://schemas.microsoft.com/office/drawing/2014/main" id="{A99ABCE4-BEF0-4537-8245-A3C9324CFF89}"/>
              </a:ext>
            </a:extLst>
          </p:cNvPr>
          <p:cNvSpPr>
            <a:spLocks xmlns:a="http://schemas.openxmlformats.org/drawingml/2006/main" noGrp="1"/>
          </p:cNvSpPr>
          <p:nvPr/>
        </p:nvSpPr>
        <p:spPr>
          <a:xfrm xmlns:a="http://schemas.openxmlformats.org/drawingml/2006/main">
            <a:off x="571500" y="250507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With {0,1,2,3} already connected, add [0,2] and [4,4].</a:t>
            </a:r>
          </a:p>
        </p:txBody>
      </p:sp>
      <p:sp>
        <p:nvSpPr>
          <p:cNvPr id="5" name="">
            <a:extLst xmlns:a="http://schemas.openxmlformats.org/drawingml/2006/main">
              <a:ext uri="{FF2B5EF4-FFF2-40B4-BE49-F238E27FC236}">
                <a16:creationId xmlns:a16="http://schemas.microsoft.com/office/drawing/2014/main" id="{8CF88050-7EB1-4EF1-98BB-ACECABF5C8C6}"/>
              </a:ext>
            </a:extLst>
          </p:cNvPr>
          <p:cNvSpPr>
            <a:spLocks xmlns:a="http://schemas.openxmlformats.org/drawingml/2006/main" noGrp="1"/>
          </p:cNvSpPr>
          <p:nvPr/>
        </p:nvSpPr>
        <p:spPr>
          <a:xfrm xmlns:a="http://schemas.openxmlformats.org/drawingml/2006/main">
            <a:off x="781050" y="3448050"/>
            <a:ext cx="106299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Courier New"/>
                <a:ea typeface="Courier New"/>
                <a:cs typeface="Courier New"/>
              </a:defRPr>
            </a:defPPr>
          </a:lstStyle>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if (a == b) {</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 No merge: keep components and largest.</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else {</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 Join roots and update statistics.</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FA1F6E64-1596-4A9D-A593-DACA957754F4}"/>
              </a:ext>
            </a:extLst>
          </p:cNvPr>
          <p:cNvSpPr>
            <a:spLocks xmlns:a="http://schemas.openxmlformats.org/drawingml/2006/main" noGrp="1"/>
          </p:cNvSpPr>
          <p:nvPr/>
        </p:nvSpPr>
        <p:spPr>
          <a:xfrm xmlns:a="http://schemas.openxmlformats.org/drawingml/2006/main">
            <a:off x="571500" y="564832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1">
                <a:solidFill>
                  <a:srgbClr val="AC4D73"/>
                </a:solidFill>
                <a:latin typeface="Arial"/>
                <a:ea typeface="Arial"/>
                <a:cs typeface="Arial"/>
              </a:defRPr>
            </a:defPPr>
          </a:lstStyle>
          <a:p xmlns:a="http://schemas.openxmlformats.org/drawingml/2006/main">
            <a:pPr>
              <a:defRPr sz="2025" b="1">
                <a:solidFill>
                  <a:srgbClr val="AC4D73"/>
                </a:solidFill>
                <a:latin typeface="Arial"/>
                <a:ea typeface="Arial"/>
                <a:cs typeface="Arial"/>
              </a:defRPr>
            </a:pPr>
            <a:r>
              <a:rPr sz="2025" b="1">
                <a:solidFill>
                  <a:srgbClr val="AC4D73"/>
                </a:solidFill>
                <a:latin typeface="Arial"/>
                <a:ea typeface="Arial"/>
                <a:cs typeface="Arial"/>
              </a:rPr>
              <a:t>Both operations preserve components=2 and largest=4.</a:t>
            </a:r>
          </a:p>
        </p:txBody>
      </p:sp>
      <p:sp>
        <p:nvSpPr>
          <p:cNvPr id="7" name="">
            <a:extLst xmlns:a="http://schemas.openxmlformats.org/drawingml/2006/main">
              <a:ext uri="{FF2B5EF4-FFF2-40B4-BE49-F238E27FC236}">
                <a16:creationId xmlns:a16="http://schemas.microsoft.com/office/drawing/2014/main" id="{97E5E4B0-60E1-4765-AFF5-471E33460BD6}"/>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6FD3ED0E-6F04-40B6-9676-C490C7A4040B}"/>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13 / 64</a:t>
            </a:r>
          </a:p>
        </p:txBody>
      </p:sp>
    </p:spTree>
    <p:extLst>
      <p:ext uri="{BB962C8B-B14F-4D97-AF65-F5344CB8AC3E}">
        <p14:creationId xmlns:p14="http://schemas.microsoft.com/office/powerpoint/2010/main" val="1441324065"/>
      </p:ext>
    </p:extLst>
  </p:cSld>
</p:sld>
</file>

<file path=ppt/slides/slide14.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C8571BD-27DE-4CCF-9634-152D80334F33}"/>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DSU</a:t>
            </a:r>
          </a:p>
        </p:txBody>
      </p:sp>
      <p:sp>
        <p:nvSpPr>
          <p:cNvPr id="2" name="">
            <a:extLst xmlns:a="http://schemas.openxmlformats.org/drawingml/2006/main">
              <a:ext uri="{FF2B5EF4-FFF2-40B4-BE49-F238E27FC236}">
                <a16:creationId xmlns:a16="http://schemas.microsoft.com/office/drawing/2014/main" id="{2D470352-1076-47E7-85F4-C9FCC54CFEBE}"/>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rank and size answer different questions</a:t>
            </a:r>
          </a:p>
        </p:txBody>
      </p:sp>
      <p:sp>
        <p:nvSpPr>
          <p:cNvPr id="3" name="">
            <a:extLst xmlns:a="http://schemas.openxmlformats.org/drawingml/2006/main">
              <a:ext uri="{FF2B5EF4-FFF2-40B4-BE49-F238E27FC236}">
                <a16:creationId xmlns:a16="http://schemas.microsoft.com/office/drawing/2014/main" id="{AE9BB4E4-0868-4F40-8AD2-9F4F7BDA7CA6}"/>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size counts vertices. rank helps choose a root when merging.</a:t>
            </a:r>
          </a:p>
        </p:txBody>
      </p:sp>
      <p:sp>
        <p:nvSpPr>
          <p:cNvPr id="4" name="">
            <a:extLst xmlns:a="http://schemas.openxmlformats.org/drawingml/2006/main">
              <a:ext uri="{FF2B5EF4-FFF2-40B4-BE49-F238E27FC236}">
                <a16:creationId xmlns:a16="http://schemas.microsoft.com/office/drawing/2014/main" id="{A884A8C6-49D2-440D-997A-4C334F79A3EE}"/>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Two singletons have ranks 0 and 0. After merging, the root rank is 1.</a:t>
            </a:r>
          </a:p>
        </p:txBody>
      </p:sp>
      <p:graphicFrame>
        <p:nvGraphicFramePr>
          <p:cNvPr id="5" name="">
            <a:extLst xmlns:a="http://schemas.openxmlformats.org/drawingml/2006/main">
              <a:ext uri="{FF2B5EF4-FFF2-40B4-BE49-F238E27FC236}">
                <a16:creationId xmlns:a16="http://schemas.microsoft.com/office/drawing/2014/main" id="{5104BD68-BDE7-4741-BE06-DEE094AB48F4}"/>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3683000"/>
                <a:gridCol w="3683000"/>
                <a:gridCol w="3683000"/>
              </a:tblGrid>
              <a:tr h="690563">
                <a:tc>
                  <a:txBody>
                    <a:bodyPr/>
                    <a:lstStyle/>
                    <a:p>
                      <a:r>
                        <a:rPr sz="1725" b="1">
                          <a:solidFill>
                            <a:srgbClr val="192E43"/>
                          </a:solidFill>
                          <a:latin typeface="Arial"/>
                          <a:ea typeface="Arial"/>
                          <a:cs typeface="Arial"/>
                        </a:rPr>
                        <a:t>Group</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size</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Root rank</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690563">
                <a:tc>
                  <a:txBody>
                    <a:bodyPr/>
                    <a:lstStyle/>
                    <a:p>
                      <a:r>
                        <a:rPr sz="1725" b="0">
                          <a:solidFill>
                            <a:srgbClr val="192E43"/>
                          </a:solidFill>
                          <a:latin typeface="Arial"/>
                          <a:ea typeface="Arial"/>
                          <a:cs typeface="Arial"/>
                        </a:rPr>
                        <a:t>{0}</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1</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a:t>
                      </a:r>
                    </a:p>
                  </a:txBody>
                  <a:tcPr marL="91440" marR="91440" marT="45720" marB="45720">
                    <a:lnR w="9525">
                      <a:solidFill>
                        <a:srgbClr val="E2DCE0"/>
                      </a:solidFill>
                      <a:prstDash val="solid"/>
                    </a:lnR>
                    <a:lnB w="9525">
                      <a:solidFill>
                        <a:srgbClr val="E2DCE0"/>
                      </a:solidFill>
                      <a:prstDash val="solid"/>
                    </a:lnB>
                    <a:solidFill>
                      <a:srgbClr val="FFFEFC"/>
                    </a:solidFill>
                  </a:tcPr>
                </a:tc>
              </a:tr>
              <a:tr h="690563">
                <a:tc>
                  <a:txBody>
                    <a:bodyPr/>
                    <a:lstStyle/>
                    <a:p>
                      <a:r>
                        <a:rPr sz="1725" b="0">
                          <a:solidFill>
                            <a:srgbClr val="192E43"/>
                          </a:solidFill>
                          <a:latin typeface="Arial"/>
                          <a:ea typeface="Arial"/>
                          <a:cs typeface="Arial"/>
                        </a:rPr>
                        <a:t>{0,1}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2</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1</a:t>
                      </a:r>
                    </a:p>
                  </a:txBody>
                  <a:tcPr marL="91440" marR="91440" marT="45720" marB="45720">
                    <a:lnR w="9525">
                      <a:solidFill>
                        <a:srgbClr val="E2DCE0"/>
                      </a:solidFill>
                      <a:prstDash val="solid"/>
                    </a:lnR>
                    <a:lnB w="9525">
                      <a:solidFill>
                        <a:srgbClr val="E2DCE0"/>
                      </a:solidFill>
                      <a:prstDash val="solid"/>
                    </a:lnB>
                    <a:solidFill>
                      <a:srgbClr val="FAF8F8"/>
                    </a:solidFill>
                  </a:tcPr>
                </a:tc>
              </a:tr>
              <a:tr h="690563">
                <a:tc>
                  <a:txBody>
                    <a:bodyPr/>
                    <a:lstStyle/>
                    <a:p>
                      <a:r>
                        <a:rPr sz="1725" b="0">
                          <a:solidFill>
                            <a:srgbClr val="192E43"/>
                          </a:solidFill>
                          <a:latin typeface="Arial"/>
                          <a:ea typeface="Arial"/>
                          <a:cs typeface="Arial"/>
                        </a:rPr>
                        <a:t>{0,1,2}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3</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1</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8C1DBF2C-D63B-46BF-99D0-1C706DADD685}"/>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Attach a third singleton: size=3, but rank remains 1.</a:t>
            </a:r>
          </a:p>
        </p:txBody>
      </p:sp>
      <p:sp>
        <p:nvSpPr>
          <p:cNvPr id="7" name="">
            <a:extLst xmlns:a="http://schemas.openxmlformats.org/drawingml/2006/main">
              <a:ext uri="{FF2B5EF4-FFF2-40B4-BE49-F238E27FC236}">
                <a16:creationId xmlns:a16="http://schemas.microsoft.com/office/drawing/2014/main" id="{A8EB44A6-30F0-4D5E-B18D-61FF3427ECA2}"/>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805CAE04-02D9-4F9E-B0F5-0F3947C882BC}"/>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14 / 64</a:t>
            </a:r>
          </a:p>
        </p:txBody>
      </p:sp>
    </p:spTree>
    <p:extLst>
      <p:ext uri="{BB962C8B-B14F-4D97-AF65-F5344CB8AC3E}">
        <p14:creationId xmlns:p14="http://schemas.microsoft.com/office/powerpoint/2010/main" val="1230255803"/>
      </p:ext>
    </p:extLst>
  </p:cSld>
</p:sld>
</file>

<file path=ppt/slides/slide15.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A694741-49A1-41F0-92C0-6DBDA2521666}"/>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DSU</a:t>
            </a:r>
          </a:p>
        </p:txBody>
      </p:sp>
      <p:sp>
        <p:nvSpPr>
          <p:cNvPr id="2" name="">
            <a:extLst xmlns:a="http://schemas.openxmlformats.org/drawingml/2006/main">
              <a:ext uri="{FF2B5EF4-FFF2-40B4-BE49-F238E27FC236}">
                <a16:creationId xmlns:a16="http://schemas.microsoft.com/office/drawing/2014/main" id="{F370D381-CC22-495E-A38F-7CED372DECB0}"/>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DSU: complete input and result</a:t>
            </a:r>
          </a:p>
        </p:txBody>
      </p:sp>
      <p:sp>
        <p:nvSpPr>
          <p:cNvPr id="3" name="">
            <a:extLst xmlns:a="http://schemas.openxmlformats.org/drawingml/2006/main">
              <a:ext uri="{FF2B5EF4-FFF2-40B4-BE49-F238E27FC236}">
                <a16:creationId xmlns:a16="http://schemas.microsoft.com/office/drawing/2014/main" id="{49FC7085-4E95-4A57-9931-0B4605054B82}"/>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Return a state after every operation, including repeats and self-unions.</a:t>
            </a:r>
          </a:p>
        </p:txBody>
      </p:sp>
      <p:sp>
        <p:nvSpPr>
          <p:cNvPr id="4" name="">
            <a:extLst xmlns:a="http://schemas.openxmlformats.org/drawingml/2006/main">
              <a:ext uri="{FF2B5EF4-FFF2-40B4-BE49-F238E27FC236}">
                <a16:creationId xmlns:a16="http://schemas.microsoft.com/office/drawing/2014/main" id="{7824FBBD-E40D-4F64-9410-A6821C330613}"/>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The same five vertices. After [2,3], group {0,1,2,3} contains four vertices.</a:t>
            </a:r>
          </a:p>
        </p:txBody>
      </p:sp>
      <p:graphicFrame>
        <p:nvGraphicFramePr>
          <p:cNvPr id="5" name="">
            <a:extLst xmlns:a="http://schemas.openxmlformats.org/drawingml/2006/main">
              <a:ext uri="{FF2B5EF4-FFF2-40B4-BE49-F238E27FC236}">
                <a16:creationId xmlns:a16="http://schemas.microsoft.com/office/drawing/2014/main" id="{56030006-B98C-4FCF-BBCF-5FF1EDF64AB4}"/>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2996405"/>
                <a:gridCol w="8052595"/>
              </a:tblGrid>
              <a:tr h="920750">
                <a:tc>
                  <a:txBody>
                    <a:bodyPr/>
                    <a:lstStyle/>
                    <a:p>
                      <a:r>
                        <a:rPr sz="1725" b="1">
                          <a:solidFill>
                            <a:srgbClr val="192E43"/>
                          </a:solidFill>
                          <a:latin typeface="Arial"/>
                          <a:ea typeface="Arial"/>
                          <a:cs typeface="Arial"/>
                        </a:rPr>
                        <a:t>Item</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JSON</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920750">
                <a:tc>
                  <a:txBody>
                    <a:bodyPr/>
                    <a:lstStyle/>
                    <a:p>
                      <a:r>
                        <a:rPr sz="1725" b="0">
                          <a:solidFill>
                            <a:srgbClr val="192E43"/>
                          </a:solidFill>
                          <a:latin typeface="Arial"/>
                          <a:ea typeface="Arial"/>
                          <a:cs typeface="Arial"/>
                        </a:rPr>
                        <a:t>Input</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{"task":"dsu","n":5,"operations":[[0,1],[1,2],[2,3],[0,2],[4,4]]}</a:t>
                      </a:r>
                    </a:p>
                  </a:txBody>
                  <a:tcPr marL="91440" marR="91440" marT="45720" marB="45720">
                    <a:lnR w="9525">
                      <a:solidFill>
                        <a:srgbClr val="E2DCE0"/>
                      </a:solidFill>
                      <a:prstDash val="solid"/>
                    </a:lnR>
                    <a:lnB w="9525">
                      <a:solidFill>
                        <a:srgbClr val="E2DCE0"/>
                      </a:solidFill>
                      <a:prstDash val="solid"/>
                    </a:lnB>
                    <a:solidFill>
                      <a:srgbClr val="FFFEFC"/>
                    </a:solidFill>
                  </a:tcPr>
                </a:tc>
              </a:tr>
              <a:tr h="920750">
                <a:tc>
                  <a:txBody>
                    <a:bodyPr/>
                    <a:lstStyle/>
                    <a:p>
                      <a:r>
                        <a:rPr sz="1725" b="0">
                          <a:solidFill>
                            <a:srgbClr val="192E43"/>
                          </a:solidFill>
                          <a:latin typeface="Arial"/>
                          <a:ea typeface="Arial"/>
                          <a:cs typeface="Arial"/>
                        </a:rPr>
                        <a:t>Output</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{"states":[[4,2],[3,3],[2,4],[2,4],[2,4]]}</a:t>
                      </a:r>
                    </a:p>
                  </a:txBody>
                  <a:tcPr marL="91440" marR="91440" marT="45720" marB="45720">
                    <a:lnR w="9525">
                      <a:solidFill>
                        <a:srgbClr val="E2DCE0"/>
                      </a:solidFill>
                      <a:prstDash val="solid"/>
                    </a:lnR>
                    <a:lnB w="9525">
                      <a:solidFill>
                        <a:srgbClr val="E2DCE0"/>
                      </a:solidFill>
                      <a:prstDash val="solid"/>
                    </a:lnB>
                    <a:solidFill>
                      <a:srgbClr val="FAF8F8"/>
                    </a:solidFill>
                  </a:tcPr>
                </a:tc>
              </a:tr>
            </a:tbl>
          </a:graphicData>
        </a:graphic>
      </p:graphicFrame>
      <p:sp>
        <p:nvSpPr>
          <p:cNvPr id="6" name="">
            <a:extLst xmlns:a="http://schemas.openxmlformats.org/drawingml/2006/main">
              <a:ext uri="{FF2B5EF4-FFF2-40B4-BE49-F238E27FC236}">
                <a16:creationId xmlns:a16="http://schemas.microsoft.com/office/drawing/2014/main" id="{7DF9560D-ED8B-49BC-AEC5-82C3BA25ECBC}"/>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Five operations produce exactly five states rows. Do not add an extra initial row.</a:t>
            </a:r>
          </a:p>
        </p:txBody>
      </p:sp>
      <p:sp>
        <p:nvSpPr>
          <p:cNvPr id="7" name="">
            <a:extLst xmlns:a="http://schemas.openxmlformats.org/drawingml/2006/main">
              <a:ext uri="{FF2B5EF4-FFF2-40B4-BE49-F238E27FC236}">
                <a16:creationId xmlns:a16="http://schemas.microsoft.com/office/drawing/2014/main" id="{0611705D-32A3-45CC-99F6-0CB4F83E7468}"/>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90E43535-2B14-494D-8B7C-E79784B50EF5}"/>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15 / 64</a:t>
            </a:r>
          </a:p>
        </p:txBody>
      </p:sp>
    </p:spTree>
    <p:extLst>
      <p:ext uri="{BB962C8B-B14F-4D97-AF65-F5344CB8AC3E}">
        <p14:creationId xmlns:p14="http://schemas.microsoft.com/office/powerpoint/2010/main" val="148046376"/>
      </p:ext>
    </p:extLst>
  </p:cSld>
</p:sld>
</file>

<file path=ppt/slides/slide16.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878E35-D937-4926-BA8A-448B3204A7F4}"/>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Kruskal and Prim</a:t>
            </a:r>
          </a:p>
        </p:txBody>
      </p:sp>
      <p:sp>
        <p:nvSpPr>
          <p:cNvPr id="2" name="">
            <a:extLst xmlns:a="http://schemas.openxmlformats.org/drawingml/2006/main">
              <a:ext uri="{FF2B5EF4-FFF2-40B4-BE49-F238E27FC236}">
                <a16:creationId xmlns:a16="http://schemas.microsoft.com/office/drawing/2014/main" id="{3F7BC4F8-F0F4-44E2-BC94-339ED1000BB7}"/>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A spanning tree connects without extra edges</a:t>
            </a:r>
          </a:p>
        </p:txBody>
      </p:sp>
      <p:sp>
        <p:nvSpPr>
          <p:cNvPr id="3" name="">
            <a:extLst xmlns:a="http://schemas.openxmlformats.org/drawingml/2006/main">
              <a:ext uri="{FF2B5EF4-FFF2-40B4-BE49-F238E27FC236}">
                <a16:creationId xmlns:a16="http://schemas.microsoft.com/office/drawing/2014/main" id="{5C8233C8-675D-4DA6-8049-92FEB2D0A3CE}"/>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Connect the available venues at the smallest total cable cost.</a:t>
            </a:r>
          </a:p>
        </p:txBody>
      </p:sp>
      <p:sp>
        <p:nvSpPr>
          <p:cNvPr id="4" name="">
            <a:extLst xmlns:a="http://schemas.openxmlformats.org/drawingml/2006/main">
              <a:ext uri="{FF2B5EF4-FFF2-40B4-BE49-F238E27FC236}">
                <a16:creationId xmlns:a16="http://schemas.microsoft.com/office/drawing/2014/main" id="{A1FB6471-873A-4771-A863-F59F7165A419}"/>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We have 0, 1, 2, 3, plus venue 4 with no available cable.</a:t>
            </a:r>
          </a:p>
        </p:txBody>
      </p:sp>
      <p:sp>
        <p:nvSpPr>
          <p:cNvPr id="5" name="">
            <a:extLst xmlns:a="http://schemas.openxmlformats.org/drawingml/2006/main">
              <a:ext uri="{FF2B5EF4-FFF2-40B4-BE49-F238E27FC236}">
                <a16:creationId xmlns:a16="http://schemas.microsoft.com/office/drawing/2014/main" id="{C3E19740-93B1-4C09-A4CD-981BCBC2A8A5}"/>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Venue 4 cannot be connected. The answer is a forest: one group tree and one singleton.</a:t>
            </a:r>
          </a:p>
        </p:txBody>
      </p:sp>
      <p:sp>
        <p:nvSpPr>
          <p:cNvPr id="6" name="">
            <a:extLst xmlns:a="http://schemas.openxmlformats.org/drawingml/2006/main">
              <a:ext uri="{FF2B5EF4-FFF2-40B4-BE49-F238E27FC236}">
                <a16:creationId xmlns:a16="http://schemas.microsoft.com/office/drawing/2014/main" id="{0DCED669-864D-42D7-99A9-848D0820425E}"/>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7" name="">
            <a:extLst xmlns:a="http://schemas.openxmlformats.org/drawingml/2006/main">
              <a:ext uri="{FF2B5EF4-FFF2-40B4-BE49-F238E27FC236}">
                <a16:creationId xmlns:a16="http://schemas.microsoft.com/office/drawing/2014/main" id="{74375899-D50E-470C-A9F5-1CF50533A087}"/>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16 / 64</a:t>
            </a:r>
          </a:p>
        </p:txBody>
      </p:sp>
    </p:spTree>
    <p:extLst>
      <p:ext uri="{BB962C8B-B14F-4D97-AF65-F5344CB8AC3E}">
        <p14:creationId xmlns:p14="http://schemas.microsoft.com/office/powerpoint/2010/main" val="1616303773"/>
      </p:ext>
    </p:extLst>
  </p:cSld>
</p:sld>
</file>

<file path=ppt/slides/slide17.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42E7FA6-50B5-4CBC-88E3-4AE9599521FD}"/>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Kruskal and Prim</a:t>
            </a:r>
          </a:p>
        </p:txBody>
      </p:sp>
      <p:sp>
        <p:nvSpPr>
          <p:cNvPr id="2" name="">
            <a:extLst xmlns:a="http://schemas.openxmlformats.org/drawingml/2006/main">
              <a:ext uri="{FF2B5EF4-FFF2-40B4-BE49-F238E27FC236}">
                <a16:creationId xmlns:a16="http://schemas.microsoft.com/office/drawing/2014/main" id="{0368CFB5-5196-4259-899B-C64F5D388B0F}"/>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One example for Kruskal and Prim</a:t>
            </a:r>
          </a:p>
        </p:txBody>
      </p:sp>
      <p:sp>
        <p:nvSpPr>
          <p:cNvPr id="3" name="">
            <a:extLst xmlns:a="http://schemas.openxmlformats.org/drawingml/2006/main">
              <a:ext uri="{FF2B5EF4-FFF2-40B4-BE49-F238E27FC236}">
                <a16:creationId xmlns:a16="http://schemas.microsoft.com/office/drawing/2014/main" id="{75556F1B-374C-4376-A7E7-051ED68A66BC}"/>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Five available cables. Every connection works in both directions.</a:t>
            </a:r>
          </a:p>
        </p:txBody>
      </p:sp>
      <p:sp>
        <p:nvSpPr>
          <p:cNvPr id="4" name="">
            <a:extLst xmlns:a="http://schemas.openxmlformats.org/drawingml/2006/main">
              <a:ext uri="{FF2B5EF4-FFF2-40B4-BE49-F238E27FC236}">
                <a16:creationId xmlns:a16="http://schemas.microsoft.com/office/drawing/2014/main" id="{06F94A79-2EA2-44F9-B44B-62B3F83ECC67}"/>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n=5. Vertex 4 is isolated, so c=2 and we need 5−2=3 edges.</a:t>
            </a:r>
          </a:p>
        </p:txBody>
      </p:sp>
      <p:pic>
        <p:nvPicPr>
          <p:cNvPr id="5" name="">
            <a:extLst xmlns:a="http://schemas.openxmlformats.org/drawingml/2006/main">
              <a:ext uri="{FF2B5EF4-FFF2-40B4-BE49-F238E27FC236}">
                <a16:creationId xmlns:a16="http://schemas.microsoft.com/office/drawing/2014/main" id="{0AD3DE74-72BA-4C39-9175-B6CE41C783FE}"/>
              </a:ext>
            </a:extLst>
          </p:cNvPr>
          <p:cNvPicPr>
            <a:picLocks xmlns:a="http://schemas.openxmlformats.org/drawingml/2006/main" noChangeAspect="1"/>
          </p:cNvPicPr>
          <p:nvPr/>
        </p:nvPicPr>
        <p:blipFill>
          <a:blip xmlns:r="http://schemas.openxmlformats.org/officeDocument/2006/relationships" xmlns:a="http://schemas.openxmlformats.org/drawingml/2006/main" r:embed="Rcc840659a5ca4d14"/>
          <a:stretch xmlns:a="http://schemas.openxmlformats.org/drawingml/2006/main"/>
        </p:blipFill>
        <p:spPr>
          <a:xfrm xmlns:a="http://schemas.openxmlformats.org/drawingml/2006/main">
            <a:off x="6451846" y="3048000"/>
            <a:ext cx="4908057" cy="2762250"/>
          </a:xfrm>
          <a:prstGeom xmlns:a="http://schemas.openxmlformats.org/drawingml/2006/main" prst="rect">
            <a:avLst/>
          </a:prstGeom>
        </p:spPr>
      </p:pic>
      <p:graphicFrame>
        <p:nvGraphicFramePr>
          <p:cNvPr id="6" name="">
            <a:extLst xmlns:a="http://schemas.openxmlformats.org/drawingml/2006/main">
              <a:ext uri="{FF2B5EF4-FFF2-40B4-BE49-F238E27FC236}">
                <a16:creationId xmlns:a16="http://schemas.microsoft.com/office/drawing/2014/main" id="{F3F57832-0EB9-4330-A318-138FBC996DE0}"/>
              </a:ext>
            </a:extLst>
          </p:cNvPr>
          <p:cNvGraphicFramePr/>
          <p:nvPr/>
        </p:nvGraphicFramePr>
        <p:xfrm>
          <a:off xmlns:a="http://schemas.openxmlformats.org/drawingml/2006/main" x="571500" y="3048000"/>
          <a:ext xmlns:a="http://schemas.openxmlformats.org/drawingml/2006/main" cx="5334000" cy="2762250"/>
        </p:xfrm>
        <a:graphic xmlns:a="http://schemas.openxmlformats.org/drawingml/2006/main">
          <a:graphicData uri="http://schemas.openxmlformats.org/drawingml/2006/table">
            <a:tbl>
              <a:tblPr/>
              <a:tblGrid>
                <a:gridCol w="1238250"/>
                <a:gridCol w="2476500"/>
                <a:gridCol w="1619250"/>
              </a:tblGrid>
              <a:tr h="460375">
                <a:tc>
                  <a:txBody>
                    <a:bodyPr/>
                    <a:lstStyle/>
                    <a:p>
                      <a:r>
                        <a:rPr sz="1725" b="1">
                          <a:solidFill>
                            <a:srgbClr val="192E43"/>
                          </a:solidFill>
                          <a:latin typeface="Arial"/>
                          <a:ea typeface="Arial"/>
                          <a:cs typeface="Arial"/>
                        </a:rPr>
                        <a:t>ID</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Edge</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Weight</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460375">
                <a:tc>
                  <a:txBody>
                    <a:bodyPr/>
                    <a:lstStyle/>
                    <a:p>
                      <a:r>
                        <a:rPr sz="1725" b="0">
                          <a:solidFill>
                            <a:srgbClr val="192E43"/>
                          </a:solidFill>
                          <a:latin typeface="Arial"/>
                          <a:ea typeface="Arial"/>
                          <a:cs typeface="Arial"/>
                        </a:rPr>
                        <a:t>0</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 – 1</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4</a:t>
                      </a:r>
                    </a:p>
                  </a:txBody>
                  <a:tcPr marL="91440" marR="91440" marT="45720" marB="45720">
                    <a:lnR w="9525">
                      <a:solidFill>
                        <a:srgbClr val="E2DCE0"/>
                      </a:solidFill>
                      <a:prstDash val="solid"/>
                    </a:lnR>
                    <a:lnB w="9525">
                      <a:solidFill>
                        <a:srgbClr val="E2DCE0"/>
                      </a:solidFill>
                      <a:prstDash val="solid"/>
                    </a:lnB>
                    <a:solidFill>
                      <a:srgbClr val="FFFEFC"/>
                    </a:solidFill>
                  </a:tcPr>
                </a:tc>
              </a:tr>
              <a:tr h="460375">
                <a:tc>
                  <a:txBody>
                    <a:bodyPr/>
                    <a:lstStyle/>
                    <a:p>
                      <a:r>
                        <a:rPr sz="1725" b="0">
                          <a:solidFill>
                            <a:srgbClr val="192E43"/>
                          </a:solidFill>
                          <a:latin typeface="Arial"/>
                          <a:ea typeface="Arial"/>
                          <a:cs typeface="Arial"/>
                        </a:rPr>
                        <a:t>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1 – 2</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1</a:t>
                      </a:r>
                    </a:p>
                  </a:txBody>
                  <a:tcPr marL="91440" marR="91440" marT="45720" marB="45720">
                    <a:lnR w="9525">
                      <a:solidFill>
                        <a:srgbClr val="E2DCE0"/>
                      </a:solidFill>
                      <a:prstDash val="solid"/>
                    </a:lnR>
                    <a:lnB w="9525">
                      <a:solidFill>
                        <a:srgbClr val="E2DCE0"/>
                      </a:solidFill>
                      <a:prstDash val="solid"/>
                    </a:lnB>
                    <a:solidFill>
                      <a:srgbClr val="FAF8F8"/>
                    </a:solidFill>
                  </a:tcPr>
                </a:tc>
              </a:tr>
              <a:tr h="460375">
                <a:tc>
                  <a:txBody>
                    <a:bodyPr/>
                    <a:lstStyle/>
                    <a:p>
                      <a:r>
                        <a:rPr sz="1725" b="0">
                          <a:solidFill>
                            <a:srgbClr val="192E43"/>
                          </a:solidFill>
                          <a:latin typeface="Arial"/>
                          <a:ea typeface="Arial"/>
                          <a:cs typeface="Arial"/>
                        </a:rPr>
                        <a:t>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 – 2</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6</a:t>
                      </a:r>
                    </a:p>
                  </a:txBody>
                  <a:tcPr marL="91440" marR="91440" marT="45720" marB="45720">
                    <a:lnR w="9525">
                      <a:solidFill>
                        <a:srgbClr val="E2DCE0"/>
                      </a:solidFill>
                      <a:prstDash val="solid"/>
                    </a:lnR>
                    <a:lnB w="9525">
                      <a:solidFill>
                        <a:srgbClr val="E2DCE0"/>
                      </a:solidFill>
                      <a:prstDash val="solid"/>
                    </a:lnB>
                    <a:solidFill>
                      <a:srgbClr val="FFFEFC"/>
                    </a:solidFill>
                  </a:tcPr>
                </a:tc>
              </a:tr>
              <a:tr h="460375">
                <a:tc>
                  <a:txBody>
                    <a:bodyPr/>
                    <a:lstStyle/>
                    <a:p>
                      <a:r>
                        <a:rPr sz="1725" b="0">
                          <a:solidFill>
                            <a:srgbClr val="192E43"/>
                          </a:solidFill>
                          <a:latin typeface="Arial"/>
                          <a:ea typeface="Arial"/>
                          <a:cs typeface="Arial"/>
                        </a:rPr>
                        <a:t>3</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2 – 3</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2</a:t>
                      </a:r>
                    </a:p>
                  </a:txBody>
                  <a:tcPr marL="91440" marR="91440" marT="45720" marB="45720">
                    <a:lnR w="9525">
                      <a:solidFill>
                        <a:srgbClr val="E2DCE0"/>
                      </a:solidFill>
                      <a:prstDash val="solid"/>
                    </a:lnR>
                    <a:lnB w="9525">
                      <a:solidFill>
                        <a:srgbClr val="E2DCE0"/>
                      </a:solidFill>
                      <a:prstDash val="solid"/>
                    </a:lnB>
                    <a:solidFill>
                      <a:srgbClr val="FAF8F8"/>
                    </a:solidFill>
                  </a:tcPr>
                </a:tc>
              </a:tr>
              <a:tr h="460375">
                <a:tc>
                  <a:txBody>
                    <a:bodyPr/>
                    <a:lstStyle/>
                    <a:p>
                      <a:r>
                        <a:rPr sz="1725" b="0">
                          <a:solidFill>
                            <a:srgbClr val="192E43"/>
                          </a:solidFill>
                          <a:latin typeface="Arial"/>
                          <a:ea typeface="Arial"/>
                          <a:cs typeface="Arial"/>
                        </a:rPr>
                        <a:t>4</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1 – 3</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5</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7" name="">
            <a:extLst xmlns:a="http://schemas.openxmlformats.org/drawingml/2006/main">
              <a:ext uri="{FF2B5EF4-FFF2-40B4-BE49-F238E27FC236}">
                <a16:creationId xmlns:a16="http://schemas.microsoft.com/office/drawing/2014/main" id="{356DF070-1964-4097-A30C-43FFC316ABD6}"/>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Minimize the sum of selected weights, not a route from one source.</a:t>
            </a:r>
          </a:p>
        </p:txBody>
      </p:sp>
      <p:sp>
        <p:nvSpPr>
          <p:cNvPr id="8" name="">
            <a:extLst xmlns:a="http://schemas.openxmlformats.org/drawingml/2006/main">
              <a:ext uri="{FF2B5EF4-FFF2-40B4-BE49-F238E27FC236}">
                <a16:creationId xmlns:a16="http://schemas.microsoft.com/office/drawing/2014/main" id="{E49E3D89-6CF6-465F-86E0-9ADF33FBD6A8}"/>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9" name="">
            <a:extLst xmlns:a="http://schemas.openxmlformats.org/drawingml/2006/main">
              <a:ext uri="{FF2B5EF4-FFF2-40B4-BE49-F238E27FC236}">
                <a16:creationId xmlns:a16="http://schemas.microsoft.com/office/drawing/2014/main" id="{926B9339-5C89-4CAD-9F06-8F393EDD4B13}"/>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17 / 64</a:t>
            </a:r>
          </a:p>
        </p:txBody>
      </p:sp>
    </p:spTree>
    <p:extLst>
      <p:ext uri="{BB962C8B-B14F-4D97-AF65-F5344CB8AC3E}">
        <p14:creationId xmlns:p14="http://schemas.microsoft.com/office/powerpoint/2010/main" val="2098577831"/>
      </p:ext>
    </p:extLst>
  </p:cSld>
</p:sld>
</file>

<file path=ppt/slides/slide18.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1365F77-4D36-4C23-8610-F9C69F604985}"/>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Kruskal and Prim</a:t>
            </a:r>
          </a:p>
        </p:txBody>
      </p:sp>
      <p:sp>
        <p:nvSpPr>
          <p:cNvPr id="2" name="">
            <a:extLst xmlns:a="http://schemas.openxmlformats.org/drawingml/2006/main">
              <a:ext uri="{FF2B5EF4-FFF2-40B4-BE49-F238E27FC236}">
                <a16:creationId xmlns:a16="http://schemas.microsoft.com/office/drawing/2014/main" id="{E6A1A02B-755F-479F-9280-DDE29B8AC896}"/>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Kruskal: consider cheaper edges first</a:t>
            </a:r>
          </a:p>
        </p:txBody>
      </p:sp>
      <p:sp>
        <p:nvSpPr>
          <p:cNvPr id="3" name="">
            <a:extLst xmlns:a="http://schemas.openxmlformats.org/drawingml/2006/main">
              <a:ext uri="{FF2B5EF4-FFF2-40B4-BE49-F238E27FC236}">
                <a16:creationId xmlns:a16="http://schemas.microsoft.com/office/drawing/2014/main" id="{5B1543E3-4844-4853-87E0-A2463224D49D}"/>
              </a:ext>
            </a:extLst>
          </p:cNvPr>
          <p:cNvSpPr>
            <a:spLocks xmlns:a="http://schemas.openxmlformats.org/drawingml/2006/main" noGrp="1"/>
          </p:cNvSpPr>
          <p:nvPr/>
        </p:nvSpPr>
        <p:spPr>
          <a:xfrm xmlns:a="http://schemas.openxmlformats.org/drawingml/2006/main">
            <a:off x="571500" y="1638300"/>
            <a:ext cx="1104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192E43"/>
                </a:solidFill>
                <a:latin typeface="Arial"/>
                <a:ea typeface="Arial"/>
                <a:cs typeface="Arial"/>
              </a:defRPr>
            </a:defPPr>
          </a:lstStyle>
          <a:p xmlns:a="http://schemas.openxmlformats.org/drawingml/2006/main">
            <a:pPr>
              <a:defRPr sz="2175" b="0">
                <a:solidFill>
                  <a:srgbClr val="192E43"/>
                </a:solidFill>
                <a:latin typeface="Arial"/>
                <a:ea typeface="Arial"/>
                <a:cs typeface="Arial"/>
              </a:defRPr>
            </a:pPr>
            <a:r>
              <a:rPr sz="2175" b="0">
                <a:solidFill>
                  <a:srgbClr val="192E43"/>
                </a:solidFill>
                <a:latin typeface="Arial"/>
                <a:ea typeface="Arial"/>
                <a:cs typeface="Arial"/>
              </a:rPr>
              <a:t>Sort all edges by weight. Use DSU to track groups.</a:t>
            </a:r>
          </a:p>
        </p:txBody>
      </p:sp>
      <p:sp>
        <p:nvSpPr>
          <p:cNvPr id="4" name="">
            <a:extLst xmlns:a="http://schemas.openxmlformats.org/drawingml/2006/main">
              <a:ext uri="{FF2B5EF4-FFF2-40B4-BE49-F238E27FC236}">
                <a16:creationId xmlns:a16="http://schemas.microsoft.com/office/drawing/2014/main" id="{D195966F-0763-4B0A-8569-69609DB980E8}"/>
              </a:ext>
            </a:extLst>
          </p:cNvPr>
          <p:cNvSpPr>
            <a:spLocks xmlns:a="http://schemas.openxmlformats.org/drawingml/2006/main" noGrp="1"/>
          </p:cNvSpPr>
          <p:nvPr/>
        </p:nvSpPr>
        <p:spPr>
          <a:xfrm xmlns:a="http://schemas.openxmlformats.org/drawingml/2006/main">
            <a:off x="571500" y="250507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ID order: 1, 3, 0, 4, 2. Weights: 1, 2, 4, 5, 6.</a:t>
            </a:r>
          </a:p>
        </p:txBody>
      </p:sp>
      <p:sp>
        <p:nvSpPr>
          <p:cNvPr id="5" name="">
            <a:extLst xmlns:a="http://schemas.openxmlformats.org/drawingml/2006/main">
              <a:ext uri="{FF2B5EF4-FFF2-40B4-BE49-F238E27FC236}">
                <a16:creationId xmlns:a16="http://schemas.microsoft.com/office/drawing/2014/main" id="{CB64AA13-6863-4069-8E95-D93C81218913}"/>
              </a:ext>
            </a:extLst>
          </p:cNvPr>
          <p:cNvSpPr>
            <a:spLocks xmlns:a="http://schemas.openxmlformats.org/drawingml/2006/main" noGrp="1"/>
          </p:cNvSpPr>
          <p:nvPr/>
        </p:nvSpPr>
        <p:spPr>
          <a:xfrm xmlns:a="http://schemas.openxmlformats.org/drawingml/2006/main">
            <a:off x="781050" y="3448050"/>
            <a:ext cx="106299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Courier New"/>
                <a:ea typeface="Courier New"/>
                <a:cs typeface="Courier New"/>
              </a:defRPr>
            </a:defPPr>
          </a:lstStyle>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if (find(u) != find(v)) {</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 Select the edge with its original ID.</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 Merge the two groups.</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77B0D869-6373-4E02-B4A3-14499C1D1D85}"/>
              </a:ext>
            </a:extLst>
          </p:cNvPr>
          <p:cNvSpPr>
            <a:spLocks xmlns:a="http://schemas.openxmlformats.org/drawingml/2006/main" noGrp="1"/>
          </p:cNvSpPr>
          <p:nvPr/>
        </p:nvSpPr>
        <p:spPr>
          <a:xfrm xmlns:a="http://schemas.openxmlformats.org/drawingml/2006/main">
            <a:off x="571500" y="564832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1">
                <a:solidFill>
                  <a:srgbClr val="AC4D73"/>
                </a:solidFill>
                <a:latin typeface="Arial"/>
                <a:ea typeface="Arial"/>
                <a:cs typeface="Arial"/>
              </a:defRPr>
            </a:defPPr>
          </a:lstStyle>
          <a:p xmlns:a="http://schemas.openxmlformats.org/drawingml/2006/main">
            <a:pPr>
              <a:defRPr sz="2025" b="1">
                <a:solidFill>
                  <a:srgbClr val="AC4D73"/>
                </a:solidFill>
                <a:latin typeface="Arial"/>
                <a:ea typeface="Arial"/>
                <a:cs typeface="Arial"/>
              </a:defRPr>
            </a:pPr>
            <a:r>
              <a:rPr sz="2025" b="1">
                <a:solidFill>
                  <a:srgbClr val="AC4D73"/>
                </a:solidFill>
                <a:latin typeface="Arial"/>
                <a:ea typeface="Arial"/>
                <a:cs typeface="Arial"/>
              </a:rPr>
              <a:t>Take an edge when it connects two separate groups.</a:t>
            </a:r>
          </a:p>
        </p:txBody>
      </p:sp>
      <p:sp>
        <p:nvSpPr>
          <p:cNvPr id="7" name="">
            <a:extLst xmlns:a="http://schemas.openxmlformats.org/drawingml/2006/main">
              <a:ext uri="{FF2B5EF4-FFF2-40B4-BE49-F238E27FC236}">
                <a16:creationId xmlns:a16="http://schemas.microsoft.com/office/drawing/2014/main" id="{44C332DC-35CF-4158-8A53-38FFD498CBB3}"/>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74379652-39A7-42EB-98E1-4FA936D52DDD}"/>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18 / 64</a:t>
            </a:r>
          </a:p>
        </p:txBody>
      </p:sp>
    </p:spTree>
    <p:extLst>
      <p:ext uri="{BB962C8B-B14F-4D97-AF65-F5344CB8AC3E}">
        <p14:creationId xmlns:p14="http://schemas.microsoft.com/office/powerpoint/2010/main" val="1159047344"/>
      </p:ext>
    </p:extLst>
  </p:cSld>
</p:sld>
</file>

<file path=ppt/slides/slide19.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8B668AB-72D5-485A-8C14-3F2018E9698E}"/>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Kruskal and Prim</a:t>
            </a:r>
          </a:p>
        </p:txBody>
      </p:sp>
      <p:sp>
        <p:nvSpPr>
          <p:cNvPr id="2" name="">
            <a:extLst xmlns:a="http://schemas.openxmlformats.org/drawingml/2006/main">
              <a:ext uri="{FF2B5EF4-FFF2-40B4-BE49-F238E27FC236}">
                <a16:creationId xmlns:a16="http://schemas.microsoft.com/office/drawing/2014/main" id="{5C37B2E3-22CE-4437-9B85-4A8215A199C7}"/>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Kruskal: the first two selected edges</a:t>
            </a:r>
          </a:p>
        </p:txBody>
      </p:sp>
      <p:sp>
        <p:nvSpPr>
          <p:cNvPr id="3" name="">
            <a:extLst xmlns:a="http://schemas.openxmlformats.org/drawingml/2006/main">
              <a:ext uri="{FF2B5EF4-FFF2-40B4-BE49-F238E27FC236}">
                <a16:creationId xmlns:a16="http://schemas.microsoft.com/office/drawing/2014/main" id="{C61DCFF4-8D24-4C47-AB48-D959570A5F52}"/>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Both edges connect separate groups, so select them.</a:t>
            </a:r>
          </a:p>
        </p:txBody>
      </p:sp>
      <p:sp>
        <p:nvSpPr>
          <p:cNvPr id="4" name="">
            <a:extLst xmlns:a="http://schemas.openxmlformats.org/drawingml/2006/main">
              <a:ext uri="{FF2B5EF4-FFF2-40B4-BE49-F238E27FC236}">
                <a16:creationId xmlns:a16="http://schemas.microsoft.com/office/drawing/2014/main" id="{24713325-3A9B-4366-8C3D-395FF9427A94}"/>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ID 1 links 1–2 for 1. Then ID 3 links 2–3 for 2.</a:t>
            </a:r>
          </a:p>
        </p:txBody>
      </p:sp>
      <p:graphicFrame>
        <p:nvGraphicFramePr>
          <p:cNvPr id="5" name="">
            <a:extLst xmlns:a="http://schemas.openxmlformats.org/drawingml/2006/main">
              <a:ext uri="{FF2B5EF4-FFF2-40B4-BE49-F238E27FC236}">
                <a16:creationId xmlns:a16="http://schemas.microsoft.com/office/drawing/2014/main" id="{F2263224-49DA-456E-B993-B29E66347D34}"/>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3724279"/>
                <a:gridCol w="4338654"/>
                <a:gridCol w="2986067"/>
              </a:tblGrid>
              <a:tr h="690563">
                <a:tc>
                  <a:txBody>
                    <a:bodyPr/>
                    <a:lstStyle/>
                    <a:p>
                      <a:r>
                        <a:rPr sz="1725" b="1">
                          <a:solidFill>
                            <a:srgbClr val="192E43"/>
                          </a:solidFill>
                          <a:latin typeface="Arial"/>
                          <a:ea typeface="Arial"/>
                          <a:cs typeface="Arial"/>
                        </a:rPr>
                        <a:t>Step</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Groups afterwards</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Cost</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690563">
                <a:tc>
                  <a:txBody>
                    <a:bodyPr/>
                    <a:lstStyle/>
                    <a:p>
                      <a:r>
                        <a:rPr sz="1725" b="0">
                          <a:solidFill>
                            <a:srgbClr val="192E43"/>
                          </a:solidFill>
                          <a:latin typeface="Arial"/>
                          <a:ea typeface="Arial"/>
                          <a:cs typeface="Arial"/>
                        </a:rPr>
                        <a:t>Start</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 {1} {2} {3} {4}</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a:t>
                      </a:r>
                    </a:p>
                  </a:txBody>
                  <a:tcPr marL="91440" marR="91440" marT="45720" marB="45720">
                    <a:lnR w="9525">
                      <a:solidFill>
                        <a:srgbClr val="E2DCE0"/>
                      </a:solidFill>
                      <a:prstDash val="solid"/>
                    </a:lnR>
                    <a:lnB w="9525">
                      <a:solidFill>
                        <a:srgbClr val="E2DCE0"/>
                      </a:solidFill>
                      <a:prstDash val="solid"/>
                    </a:lnB>
                    <a:solidFill>
                      <a:srgbClr val="FFFEFC"/>
                    </a:solidFill>
                  </a:tcPr>
                </a:tc>
              </a:tr>
              <a:tr h="690563">
                <a:tc>
                  <a:txBody>
                    <a:bodyPr/>
                    <a:lstStyle/>
                    <a:p>
                      <a:r>
                        <a:rPr sz="1725" b="0">
                          <a:solidFill>
                            <a:srgbClr val="192E43"/>
                          </a:solidFill>
                          <a:latin typeface="Arial"/>
                          <a:ea typeface="Arial"/>
                          <a:cs typeface="Arial"/>
                        </a:rPr>
                        <a:t>ID 1, weight 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{0} {1,2} {3} {4}</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1</a:t>
                      </a:r>
                    </a:p>
                  </a:txBody>
                  <a:tcPr marL="91440" marR="91440" marT="45720" marB="45720">
                    <a:lnR w="9525">
                      <a:solidFill>
                        <a:srgbClr val="E2DCE0"/>
                      </a:solidFill>
                      <a:prstDash val="solid"/>
                    </a:lnR>
                    <a:lnB w="9525">
                      <a:solidFill>
                        <a:srgbClr val="E2DCE0"/>
                      </a:solidFill>
                      <a:prstDash val="solid"/>
                    </a:lnB>
                    <a:solidFill>
                      <a:srgbClr val="FAF8F8"/>
                    </a:solidFill>
                  </a:tcPr>
                </a:tc>
              </a:tr>
              <a:tr h="690563">
                <a:tc>
                  <a:txBody>
                    <a:bodyPr/>
                    <a:lstStyle/>
                    <a:p>
                      <a:r>
                        <a:rPr sz="1725" b="0">
                          <a:solidFill>
                            <a:srgbClr val="192E43"/>
                          </a:solidFill>
                          <a:latin typeface="Arial"/>
                          <a:ea typeface="Arial"/>
                          <a:cs typeface="Arial"/>
                        </a:rPr>
                        <a:t>ID 3, weight 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 {1,2,3} {4}</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3</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6790C644-8E97-4809-A0AE-319170187A34}"/>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Now {1,2,3} is one group with cost 3. Vertices 0 and 4 remain separate.</a:t>
            </a:r>
          </a:p>
        </p:txBody>
      </p:sp>
      <p:sp>
        <p:nvSpPr>
          <p:cNvPr id="7" name="">
            <a:extLst xmlns:a="http://schemas.openxmlformats.org/drawingml/2006/main">
              <a:ext uri="{FF2B5EF4-FFF2-40B4-BE49-F238E27FC236}">
                <a16:creationId xmlns:a16="http://schemas.microsoft.com/office/drawing/2014/main" id="{17691CD6-E817-45E2-A4D2-2857137BC86C}"/>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16F1AA81-DB31-4E54-9F82-3E49719C0F06}"/>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19 / 64</a:t>
            </a:r>
          </a:p>
        </p:txBody>
      </p:sp>
    </p:spTree>
    <p:extLst>
      <p:ext uri="{BB962C8B-B14F-4D97-AF65-F5344CB8AC3E}">
        <p14:creationId xmlns:p14="http://schemas.microsoft.com/office/powerpoint/2010/main" val="341231704"/>
      </p:ext>
    </p:extLst>
  </p:cSld>
</p:sld>
</file>

<file path=ppt/slides/slide20.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541DB3D-0BE3-4F2F-BFCF-48EDBE5BA76F}"/>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Kruskal and Prim</a:t>
            </a:r>
          </a:p>
        </p:txBody>
      </p:sp>
      <p:sp>
        <p:nvSpPr>
          <p:cNvPr id="2" name="">
            <a:extLst xmlns:a="http://schemas.openxmlformats.org/drawingml/2006/main">
              <a:ext uri="{FF2B5EF4-FFF2-40B4-BE49-F238E27FC236}">
                <a16:creationId xmlns:a16="http://schemas.microsoft.com/office/drawing/2014/main" id="{7E4179C7-83A2-43E5-9994-9384F8B697DE}"/>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Kruskal: finish the example</a:t>
            </a:r>
          </a:p>
        </p:txBody>
      </p:sp>
      <p:sp>
        <p:nvSpPr>
          <p:cNvPr id="3" name="">
            <a:extLst xmlns:a="http://schemas.openxmlformats.org/drawingml/2006/main">
              <a:ext uri="{FF2B5EF4-FFF2-40B4-BE49-F238E27FC236}">
                <a16:creationId xmlns:a16="http://schemas.microsoft.com/office/drawing/2014/main" id="{2659B647-C793-4293-8216-F05492C0E53C}"/>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ID 0 attaches vertex 0. The remaining edges would create cycles.</a:t>
            </a:r>
          </a:p>
        </p:txBody>
      </p:sp>
      <p:sp>
        <p:nvSpPr>
          <p:cNvPr id="4" name="">
            <a:extLst xmlns:a="http://schemas.openxmlformats.org/drawingml/2006/main">
              <a:ext uri="{FF2B5EF4-FFF2-40B4-BE49-F238E27FC236}">
                <a16:creationId xmlns:a16="http://schemas.microsoft.com/office/drawing/2014/main" id="{6DEC3291-1379-41A8-AA0A-4F0A2F9BD642}"/>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Take ID 0 for 4: total 1+2+4=7. Skip ID 4 and ID 2.</a:t>
            </a:r>
          </a:p>
        </p:txBody>
      </p:sp>
      <p:graphicFrame>
        <p:nvGraphicFramePr>
          <p:cNvPr id="5" name="">
            <a:extLst xmlns:a="http://schemas.openxmlformats.org/drawingml/2006/main">
              <a:ext uri="{FF2B5EF4-FFF2-40B4-BE49-F238E27FC236}">
                <a16:creationId xmlns:a16="http://schemas.microsoft.com/office/drawing/2014/main" id="{C581C496-40A7-40B0-B88E-506735F8745E}"/>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3807110"/>
                <a:gridCol w="2620233"/>
                <a:gridCol w="4621657"/>
              </a:tblGrid>
              <a:tr h="690563">
                <a:tc>
                  <a:txBody>
                    <a:bodyPr/>
                    <a:lstStyle/>
                    <a:p>
                      <a:r>
                        <a:rPr sz="1725" b="1">
                          <a:solidFill>
                            <a:srgbClr val="192E43"/>
                          </a:solidFill>
                          <a:latin typeface="Arial"/>
                          <a:ea typeface="Arial"/>
                          <a:cs typeface="Arial"/>
                        </a:rPr>
                        <a:t>Edge</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Decision</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Reason</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690563">
                <a:tc>
                  <a:txBody>
                    <a:bodyPr/>
                    <a:lstStyle/>
                    <a:p>
                      <a:r>
                        <a:rPr sz="1725" b="0">
                          <a:solidFill>
                            <a:srgbClr val="192E43"/>
                          </a:solidFill>
                          <a:latin typeface="Arial"/>
                          <a:ea typeface="Arial"/>
                          <a:cs typeface="Arial"/>
                        </a:rPr>
                        <a:t>ID 0: 0–1, weight 4</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Take</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 and {1,2,3} are separate</a:t>
                      </a:r>
                    </a:p>
                  </a:txBody>
                  <a:tcPr marL="91440" marR="91440" marT="45720" marB="45720">
                    <a:lnR w="9525">
                      <a:solidFill>
                        <a:srgbClr val="E2DCE0"/>
                      </a:solidFill>
                      <a:prstDash val="solid"/>
                    </a:lnR>
                    <a:lnB w="9525">
                      <a:solidFill>
                        <a:srgbClr val="E2DCE0"/>
                      </a:solidFill>
                      <a:prstDash val="solid"/>
                    </a:lnB>
                    <a:solidFill>
                      <a:srgbClr val="FFFEFC"/>
                    </a:solidFill>
                  </a:tcPr>
                </a:tc>
              </a:tr>
              <a:tr h="690563">
                <a:tc>
                  <a:txBody>
                    <a:bodyPr/>
                    <a:lstStyle/>
                    <a:p>
                      <a:r>
                        <a:rPr sz="1725" b="0">
                          <a:solidFill>
                            <a:srgbClr val="192E43"/>
                          </a:solidFill>
                          <a:latin typeface="Arial"/>
                          <a:ea typeface="Arial"/>
                          <a:cs typeface="Arial"/>
                        </a:rPr>
                        <a:t>ID 4: 1–3, weight 5</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Skip</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1 and 3 already connected</a:t>
                      </a:r>
                    </a:p>
                  </a:txBody>
                  <a:tcPr marL="91440" marR="91440" marT="45720" marB="45720">
                    <a:lnR w="9525">
                      <a:solidFill>
                        <a:srgbClr val="E2DCE0"/>
                      </a:solidFill>
                      <a:prstDash val="solid"/>
                    </a:lnR>
                    <a:lnB w="9525">
                      <a:solidFill>
                        <a:srgbClr val="E2DCE0"/>
                      </a:solidFill>
                      <a:prstDash val="solid"/>
                    </a:lnB>
                    <a:solidFill>
                      <a:srgbClr val="FAF8F8"/>
                    </a:solidFill>
                  </a:tcPr>
                </a:tc>
              </a:tr>
              <a:tr h="690563">
                <a:tc>
                  <a:txBody>
                    <a:bodyPr/>
                    <a:lstStyle/>
                    <a:p>
                      <a:r>
                        <a:rPr sz="1725" b="0">
                          <a:solidFill>
                            <a:srgbClr val="192E43"/>
                          </a:solidFill>
                          <a:latin typeface="Arial"/>
                          <a:ea typeface="Arial"/>
                          <a:cs typeface="Arial"/>
                        </a:rPr>
                        <a:t>ID 2: 0–2, weight 6</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Skip</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 and 2 already connected</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9148AF14-6729-4F0E-98F2-55F469E50FA1}"/>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Answer: cost=7, edge_ids=[1,3,0], components=2.</a:t>
            </a:r>
          </a:p>
        </p:txBody>
      </p:sp>
      <p:sp>
        <p:nvSpPr>
          <p:cNvPr id="7" name="">
            <a:extLst xmlns:a="http://schemas.openxmlformats.org/drawingml/2006/main">
              <a:ext uri="{FF2B5EF4-FFF2-40B4-BE49-F238E27FC236}">
                <a16:creationId xmlns:a16="http://schemas.microsoft.com/office/drawing/2014/main" id="{566D020F-3DD7-4ECC-B2B9-CEAF687C90BA}"/>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31EFE1F9-51BF-4E08-A9CC-31B7325C3A43}"/>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20 / 64</a:t>
            </a:r>
          </a:p>
        </p:txBody>
      </p:sp>
    </p:spTree>
    <p:extLst>
      <p:ext uri="{BB962C8B-B14F-4D97-AF65-F5344CB8AC3E}">
        <p14:creationId xmlns:p14="http://schemas.microsoft.com/office/powerpoint/2010/main" val="1373556224"/>
      </p:ext>
    </p:extLst>
  </p:cSld>
</p:sld>
</file>

<file path=ppt/slides/slide21.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028E787-D34C-47F2-9139-1B7791E54941}"/>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Kruskal and Prim</a:t>
            </a:r>
          </a:p>
        </p:txBody>
      </p:sp>
      <p:sp>
        <p:nvSpPr>
          <p:cNvPr id="2" name="">
            <a:extLst xmlns:a="http://schemas.openxmlformats.org/drawingml/2006/main">
              <a:ext uri="{FF2B5EF4-FFF2-40B4-BE49-F238E27FC236}">
                <a16:creationId xmlns:a16="http://schemas.microsoft.com/office/drawing/2014/main" id="{564EF7EC-ABC6-4010-9984-EF3686BBD39C}"/>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Why the cheapest crossing edge is safe</a:t>
            </a:r>
          </a:p>
        </p:txBody>
      </p:sp>
      <p:sp>
        <p:nvSpPr>
          <p:cNvPr id="3" name="">
            <a:extLst xmlns:a="http://schemas.openxmlformats.org/drawingml/2006/main">
              <a:ext uri="{FF2B5EF4-FFF2-40B4-BE49-F238E27FC236}">
                <a16:creationId xmlns:a16="http://schemas.microsoft.com/office/drawing/2014/main" id="{75D67339-CF8E-4ADA-BF88-F9E4A3ECB8E8}"/>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Split vertices into two sides. Connecting them requires crossing the boundary.</a:t>
            </a:r>
          </a:p>
        </p:txBody>
      </p:sp>
      <p:sp>
        <p:nvSpPr>
          <p:cNvPr id="4" name="">
            <a:extLst xmlns:a="http://schemas.openxmlformats.org/drawingml/2006/main">
              <a:ext uri="{FF2B5EF4-FFF2-40B4-BE49-F238E27FC236}">
                <a16:creationId xmlns:a16="http://schemas.microsoft.com/office/drawing/2014/main" id="{C4F041ED-5228-445D-A799-9BF1AB4D6EB2}"/>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For side {0}: cable 0–1 costs 4, while 0–2 costs 6.</a:t>
            </a:r>
          </a:p>
        </p:txBody>
      </p:sp>
      <p:sp>
        <p:nvSpPr>
          <p:cNvPr id="5" name="">
            <a:extLst xmlns:a="http://schemas.openxmlformats.org/drawingml/2006/main">
              <a:ext uri="{FF2B5EF4-FFF2-40B4-BE49-F238E27FC236}">
                <a16:creationId xmlns:a16="http://schemas.microsoft.com/office/drawing/2014/main" id="{2CAC24AE-91DE-42D5-8F7A-9EE87373F536}"/>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A more expensive crossing can be replaced by the cheaper one while preserving a tree.</a:t>
            </a:r>
          </a:p>
        </p:txBody>
      </p:sp>
      <p:sp>
        <p:nvSpPr>
          <p:cNvPr id="6" name="">
            <a:extLst xmlns:a="http://schemas.openxmlformats.org/drawingml/2006/main">
              <a:ext uri="{FF2B5EF4-FFF2-40B4-BE49-F238E27FC236}">
                <a16:creationId xmlns:a16="http://schemas.microsoft.com/office/drawing/2014/main" id="{AB9C8D7B-E495-4A88-BA77-9D488DED2167}"/>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7" name="">
            <a:extLst xmlns:a="http://schemas.openxmlformats.org/drawingml/2006/main">
              <a:ext uri="{FF2B5EF4-FFF2-40B4-BE49-F238E27FC236}">
                <a16:creationId xmlns:a16="http://schemas.microsoft.com/office/drawing/2014/main" id="{9E3A686E-5E8D-4575-8569-84498C5FF23D}"/>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21 / 64</a:t>
            </a:r>
          </a:p>
        </p:txBody>
      </p:sp>
    </p:spTree>
    <p:extLst>
      <p:ext uri="{BB962C8B-B14F-4D97-AF65-F5344CB8AC3E}">
        <p14:creationId xmlns:p14="http://schemas.microsoft.com/office/powerpoint/2010/main" val="1367295017"/>
      </p:ext>
    </p:extLst>
  </p:cSld>
</p:sld>
</file>

<file path=ppt/slides/slide22.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9632349-ACC5-42B4-B1C1-AA56B862F0E9}"/>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Kruskal and Prim</a:t>
            </a:r>
          </a:p>
        </p:txBody>
      </p:sp>
      <p:sp>
        <p:nvSpPr>
          <p:cNvPr id="2" name="">
            <a:extLst xmlns:a="http://schemas.openxmlformats.org/drawingml/2006/main">
              <a:ext uri="{FF2B5EF4-FFF2-40B4-BE49-F238E27FC236}">
                <a16:creationId xmlns:a16="http://schemas.microsoft.com/office/drawing/2014/main" id="{6C750C5A-4C8F-41BE-A37C-2D4B08AB5398}"/>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Prim: grow one connected group</a:t>
            </a:r>
          </a:p>
        </p:txBody>
      </p:sp>
      <p:sp>
        <p:nvSpPr>
          <p:cNvPr id="3" name="">
            <a:extLst xmlns:a="http://schemas.openxmlformats.org/drawingml/2006/main">
              <a:ext uri="{FF2B5EF4-FFF2-40B4-BE49-F238E27FC236}">
                <a16:creationId xmlns:a16="http://schemas.microsoft.com/office/drawing/2014/main" id="{2189A2FC-7462-4E66-98DF-14A0D39B0BBC}"/>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Start at a vertex. Repeatedly choose the cheapest edge leaving the connected set.</a:t>
            </a:r>
          </a:p>
        </p:txBody>
      </p:sp>
      <p:sp>
        <p:nvSpPr>
          <p:cNvPr id="4" name="">
            <a:extLst xmlns:a="http://schemas.openxmlformats.org/drawingml/2006/main">
              <a:ext uri="{FF2B5EF4-FFF2-40B4-BE49-F238E27FC236}">
                <a16:creationId xmlns:a16="http://schemas.microsoft.com/office/drawing/2014/main" id="{AA2AD0F9-1561-4D83-9528-BBAF3F424C60}"/>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Start at 0. Candidates: ID 0 for 4 and ID 2 for 6.</a:t>
            </a:r>
          </a:p>
        </p:txBody>
      </p:sp>
      <p:sp>
        <p:nvSpPr>
          <p:cNvPr id="5" name="">
            <a:extLst xmlns:a="http://schemas.openxmlformats.org/drawingml/2006/main">
              <a:ext uri="{FF2B5EF4-FFF2-40B4-BE49-F238E27FC236}">
                <a16:creationId xmlns:a16="http://schemas.microsoft.com/office/drawing/2014/main" id="{B54EFD35-A6C9-4EA5-B3AB-3B9150E292B8}"/>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Take ID 0: {0,1} are connected, with cost 4.</a:t>
            </a:r>
          </a:p>
        </p:txBody>
      </p:sp>
      <p:sp>
        <p:nvSpPr>
          <p:cNvPr id="6" name="">
            <a:extLst xmlns:a="http://schemas.openxmlformats.org/drawingml/2006/main">
              <a:ext uri="{FF2B5EF4-FFF2-40B4-BE49-F238E27FC236}">
                <a16:creationId xmlns:a16="http://schemas.microsoft.com/office/drawing/2014/main" id="{09086AF7-F6E0-45F1-9470-9FCD0060E4C2}"/>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7" name="">
            <a:extLst xmlns:a="http://schemas.openxmlformats.org/drawingml/2006/main">
              <a:ext uri="{FF2B5EF4-FFF2-40B4-BE49-F238E27FC236}">
                <a16:creationId xmlns:a16="http://schemas.microsoft.com/office/drawing/2014/main" id="{CEC2E4EB-44EA-48FC-8A4F-396EEE684707}"/>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22 / 64</a:t>
            </a:r>
          </a:p>
        </p:txBody>
      </p:sp>
    </p:spTree>
    <p:extLst>
      <p:ext uri="{BB962C8B-B14F-4D97-AF65-F5344CB8AC3E}">
        <p14:creationId xmlns:p14="http://schemas.microsoft.com/office/powerpoint/2010/main" val="188112663"/>
      </p:ext>
    </p:extLst>
  </p:cSld>
</p:sld>
</file>

<file path=ppt/slides/slide23.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7DBB87D-1A94-495A-A6DC-D8623F6E082F}"/>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Kruskal and Prim</a:t>
            </a:r>
          </a:p>
        </p:txBody>
      </p:sp>
      <p:sp>
        <p:nvSpPr>
          <p:cNvPr id="2" name="">
            <a:extLst xmlns:a="http://schemas.openxmlformats.org/drawingml/2006/main">
              <a:ext uri="{FF2B5EF4-FFF2-40B4-BE49-F238E27FC236}">
                <a16:creationId xmlns:a16="http://schemas.microsoft.com/office/drawing/2014/main" id="{166A80F1-E365-4DE6-B613-C9CA34346534}"/>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Prim: how candidates change</a:t>
            </a:r>
          </a:p>
        </p:txBody>
      </p:sp>
      <p:sp>
        <p:nvSpPr>
          <p:cNvPr id="3" name="">
            <a:extLst xmlns:a="http://schemas.openxmlformats.org/drawingml/2006/main">
              <a:ext uri="{FF2B5EF4-FFF2-40B4-BE49-F238E27FC236}">
                <a16:creationId xmlns:a16="http://schemas.microsoft.com/office/drawing/2014/main" id="{CF963985-2927-4024-87D0-59B8766411B2}"/>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After adding a vertex, offer its edges to vertices not yet connected.</a:t>
            </a:r>
          </a:p>
        </p:txBody>
      </p:sp>
      <p:sp>
        <p:nvSpPr>
          <p:cNvPr id="4" name="">
            <a:extLst xmlns:a="http://schemas.openxmlformats.org/drawingml/2006/main">
              <a:ext uri="{FF2B5EF4-FFF2-40B4-BE49-F238E27FC236}">
                <a16:creationId xmlns:a16="http://schemas.microsoft.com/office/drawing/2014/main" id="{9135C3E5-EFC9-48E7-A1F0-0C4726144D0E}"/>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After 1, offer 1–2 for 1 and 1–3 for 5. Old candidate 0–2 for 6 remains.</a:t>
            </a:r>
          </a:p>
        </p:txBody>
      </p:sp>
      <p:graphicFrame>
        <p:nvGraphicFramePr>
          <p:cNvPr id="5" name="">
            <a:extLst xmlns:a="http://schemas.openxmlformats.org/drawingml/2006/main">
              <a:ext uri="{FF2B5EF4-FFF2-40B4-BE49-F238E27FC236}">
                <a16:creationId xmlns:a16="http://schemas.microsoft.com/office/drawing/2014/main" id="{9CB19475-6BEC-4849-AAF7-7284FBC6FCF4}"/>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3165257"/>
                <a:gridCol w="4718486"/>
                <a:gridCol w="3165257"/>
              </a:tblGrid>
              <a:tr h="690563">
                <a:tc>
                  <a:txBody>
                    <a:bodyPr/>
                    <a:lstStyle/>
                    <a:p>
                      <a:r>
                        <a:rPr sz="1725" b="1">
                          <a:solidFill>
                            <a:srgbClr val="192E43"/>
                          </a:solidFill>
                          <a:latin typeface="Arial"/>
                          <a:ea typeface="Arial"/>
                          <a:cs typeface="Arial"/>
                        </a:rPr>
                        <a:t>Connected</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Candidates by weight</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Choice</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690563">
                <a:tc>
                  <a:txBody>
                    <a:bodyPr/>
                    <a:lstStyle/>
                    <a:p>
                      <a:r>
                        <a:rPr sz="1725" b="0">
                          <a:solidFill>
                            <a:srgbClr val="192E43"/>
                          </a:solidFill>
                          <a:latin typeface="Arial"/>
                          <a:ea typeface="Arial"/>
                          <a:cs typeface="Arial"/>
                        </a:rPr>
                        <a:t>{0}</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0–1:4, 0–2:6</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ID 0</a:t>
                      </a:r>
                    </a:p>
                  </a:txBody>
                  <a:tcPr marL="91440" marR="91440" marT="45720" marB="45720">
                    <a:lnR w="9525">
                      <a:solidFill>
                        <a:srgbClr val="E2DCE0"/>
                      </a:solidFill>
                      <a:prstDash val="solid"/>
                    </a:lnR>
                    <a:lnB w="9525">
                      <a:solidFill>
                        <a:srgbClr val="E2DCE0"/>
                      </a:solidFill>
                      <a:prstDash val="solid"/>
                    </a:lnB>
                    <a:solidFill>
                      <a:srgbClr val="FFFEFC"/>
                    </a:solidFill>
                  </a:tcPr>
                </a:tc>
              </a:tr>
              <a:tr h="690563">
                <a:tc>
                  <a:txBody>
                    <a:bodyPr/>
                    <a:lstStyle/>
                    <a:p>
                      <a:r>
                        <a:rPr sz="1725" b="0">
                          <a:solidFill>
                            <a:srgbClr val="192E43"/>
                          </a:solidFill>
                          <a:latin typeface="Arial"/>
                          <a:ea typeface="Arial"/>
                          <a:cs typeface="Arial"/>
                        </a:rPr>
                        <a:t>{0,1}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1–2:1, 1–3:5, 0–2:6</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ID 1</a:t>
                      </a:r>
                    </a:p>
                  </a:txBody>
                  <a:tcPr marL="91440" marR="91440" marT="45720" marB="45720">
                    <a:lnR w="9525">
                      <a:solidFill>
                        <a:srgbClr val="E2DCE0"/>
                      </a:solidFill>
                      <a:prstDash val="solid"/>
                    </a:lnR>
                    <a:lnB w="9525">
                      <a:solidFill>
                        <a:srgbClr val="E2DCE0"/>
                      </a:solidFill>
                      <a:prstDash val="solid"/>
                    </a:lnB>
                    <a:solidFill>
                      <a:srgbClr val="FAF8F8"/>
                    </a:solidFill>
                  </a:tcPr>
                </a:tc>
              </a:tr>
              <a:tr h="690563">
                <a:tc>
                  <a:txBody>
                    <a:bodyPr/>
                    <a:lstStyle/>
                    <a:p>
                      <a:r>
                        <a:rPr sz="1725" b="0">
                          <a:solidFill>
                            <a:srgbClr val="192E43"/>
                          </a:solidFill>
                          <a:latin typeface="Arial"/>
                          <a:ea typeface="Arial"/>
                          <a:cs typeface="Arial"/>
                        </a:rPr>
                        <a:t>{0,1,2}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2–3:2, 1–3:5, 0–2:6</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ID 3</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6D2B8FB0-495E-4240-B3E6-1D64A272C68E}"/>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Take weight 1, then weight 2. The total is again 4+1+2=7.</a:t>
            </a:r>
          </a:p>
        </p:txBody>
      </p:sp>
      <p:sp>
        <p:nvSpPr>
          <p:cNvPr id="7" name="">
            <a:extLst xmlns:a="http://schemas.openxmlformats.org/drawingml/2006/main">
              <a:ext uri="{FF2B5EF4-FFF2-40B4-BE49-F238E27FC236}">
                <a16:creationId xmlns:a16="http://schemas.microsoft.com/office/drawing/2014/main" id="{A515DA1E-1967-402B-BA5E-181B54C0A6FF}"/>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09B3610D-E82C-412B-8532-6FA81209452F}"/>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23 / 64</a:t>
            </a:r>
          </a:p>
        </p:txBody>
      </p:sp>
    </p:spTree>
    <p:extLst>
      <p:ext uri="{BB962C8B-B14F-4D97-AF65-F5344CB8AC3E}">
        <p14:creationId xmlns:p14="http://schemas.microsoft.com/office/powerpoint/2010/main" val="1479593476"/>
      </p:ext>
    </p:extLst>
  </p:cSld>
</p:sld>
</file>

<file path=ppt/slides/slide24.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A12F25F-5003-4563-8CC2-191B7458AE2F}"/>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Kruskal and Prim</a:t>
            </a:r>
          </a:p>
        </p:txBody>
      </p:sp>
      <p:sp>
        <p:nvSpPr>
          <p:cNvPr id="2" name="">
            <a:extLst xmlns:a="http://schemas.openxmlformats.org/drawingml/2006/main">
              <a:ext uri="{FF2B5EF4-FFF2-40B4-BE49-F238E27FC236}">
                <a16:creationId xmlns:a16="http://schemas.microsoft.com/office/drawing/2014/main" id="{FC951D04-0F3B-453E-9BA6-06E23878F8FD}"/>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Prim: skip an outdated candidate</a:t>
            </a:r>
          </a:p>
        </p:txBody>
      </p:sp>
      <p:sp>
        <p:nvSpPr>
          <p:cNvPr id="3" name="">
            <a:extLst xmlns:a="http://schemas.openxmlformats.org/drawingml/2006/main">
              <a:ext uri="{FF2B5EF4-FFF2-40B4-BE49-F238E27FC236}">
                <a16:creationId xmlns:a16="http://schemas.microsoft.com/office/drawing/2014/main" id="{A4CE649A-A7F5-4B0D-94E4-04D6992A05B5}"/>
              </a:ext>
            </a:extLst>
          </p:cNvPr>
          <p:cNvSpPr>
            <a:spLocks xmlns:a="http://schemas.openxmlformats.org/drawingml/2006/main" noGrp="1"/>
          </p:cNvSpPr>
          <p:nvPr/>
        </p:nvSpPr>
        <p:spPr>
          <a:xfrm xmlns:a="http://schemas.openxmlformats.org/drawingml/2006/main">
            <a:off x="571500" y="1638300"/>
            <a:ext cx="1104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192E43"/>
                </a:solidFill>
                <a:latin typeface="Arial"/>
                <a:ea typeface="Arial"/>
                <a:cs typeface="Arial"/>
              </a:defRPr>
            </a:defPPr>
          </a:lstStyle>
          <a:p xmlns:a="http://schemas.openxmlformats.org/drawingml/2006/main">
            <a:pPr>
              <a:defRPr sz="2175" b="0">
                <a:solidFill>
                  <a:srgbClr val="192E43"/>
                </a:solidFill>
                <a:latin typeface="Arial"/>
                <a:ea typeface="Arial"/>
                <a:cs typeface="Arial"/>
              </a:defRPr>
            </a:pPr>
            <a:r>
              <a:rPr sz="2175" b="0">
                <a:solidFill>
                  <a:srgbClr val="192E43"/>
                </a:solidFill>
                <a:latin typeface="Arial"/>
                <a:ea typeface="Arial"/>
                <a:cs typeface="Arial"/>
              </a:rPr>
              <a:t>When a candidate is removed, its destination may already be connected.</a:t>
            </a:r>
          </a:p>
        </p:txBody>
      </p:sp>
      <p:sp>
        <p:nvSpPr>
          <p:cNvPr id="4" name="">
            <a:extLst xmlns:a="http://schemas.openxmlformats.org/drawingml/2006/main">
              <a:ext uri="{FF2B5EF4-FFF2-40B4-BE49-F238E27FC236}">
                <a16:creationId xmlns:a16="http://schemas.microsoft.com/office/drawing/2014/main" id="{8B3CF050-399E-4B8C-B30E-FD47645DE4BD}"/>
              </a:ext>
            </a:extLst>
          </p:cNvPr>
          <p:cNvSpPr>
            <a:spLocks xmlns:a="http://schemas.openxmlformats.org/drawingml/2006/main" noGrp="1"/>
          </p:cNvSpPr>
          <p:nvPr/>
        </p:nvSpPr>
        <p:spPr>
          <a:xfrm xmlns:a="http://schemas.openxmlformats.org/drawingml/2006/main">
            <a:off x="571500" y="250507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After {0,1,2,3} are connected, candidate 1–3 for 5 is still in the queue.</a:t>
            </a:r>
          </a:p>
        </p:txBody>
      </p:sp>
      <p:sp>
        <p:nvSpPr>
          <p:cNvPr id="5" name="">
            <a:extLst xmlns:a="http://schemas.openxmlformats.org/drawingml/2006/main">
              <a:ext uri="{FF2B5EF4-FFF2-40B4-BE49-F238E27FC236}">
                <a16:creationId xmlns:a16="http://schemas.microsoft.com/office/drawing/2014/main" id="{44B05A62-69FA-4EBB-BD17-415630481812}"/>
              </a:ext>
            </a:extLst>
          </p:cNvPr>
          <p:cNvSpPr>
            <a:spLocks xmlns:a="http://schemas.openxmlformats.org/drawingml/2006/main" noGrp="1"/>
          </p:cNvSpPr>
          <p:nvPr/>
        </p:nvSpPr>
        <p:spPr>
          <a:xfrm xmlns:a="http://schemas.openxmlformats.org/drawingml/2006/main">
            <a:off x="781050" y="3448050"/>
            <a:ext cx="106299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Courier New"/>
                <a:ea typeface="Courier New"/>
                <a:cs typeface="Courier New"/>
              </a:defRPr>
            </a:defPPr>
          </a:lstStyle>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Candidate e = queue.remove();</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if (visited[e.to]) {</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continue;</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Add this new vertex and its input edge ID.</a:t>
            </a:r>
          </a:p>
        </p:txBody>
      </p:sp>
      <p:sp>
        <p:nvSpPr>
          <p:cNvPr id="6" name="">
            <a:extLst xmlns:a="http://schemas.openxmlformats.org/drawingml/2006/main">
              <a:ext uri="{FF2B5EF4-FFF2-40B4-BE49-F238E27FC236}">
                <a16:creationId xmlns:a16="http://schemas.microsoft.com/office/drawing/2014/main" id="{0781B80D-ABA1-43E6-B2AD-015AF1ADEEDA}"/>
              </a:ext>
            </a:extLst>
          </p:cNvPr>
          <p:cNvSpPr>
            <a:spLocks xmlns:a="http://schemas.openxmlformats.org/drawingml/2006/main" noGrp="1"/>
          </p:cNvSpPr>
          <p:nvPr/>
        </p:nvSpPr>
        <p:spPr>
          <a:xfrm xmlns:a="http://schemas.openxmlformats.org/drawingml/2006/main">
            <a:off x="571500" y="564832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1">
                <a:solidFill>
                  <a:srgbClr val="AC4D73"/>
                </a:solidFill>
                <a:latin typeface="Arial"/>
                <a:ea typeface="Arial"/>
                <a:cs typeface="Arial"/>
              </a:defRPr>
            </a:defPPr>
          </a:lstStyle>
          <a:p xmlns:a="http://schemas.openxmlformats.org/drawingml/2006/main">
            <a:pPr>
              <a:defRPr sz="2025" b="1">
                <a:solidFill>
                  <a:srgbClr val="AC4D73"/>
                </a:solidFill>
                <a:latin typeface="Arial"/>
                <a:ea typeface="Arial"/>
                <a:cs typeface="Arial"/>
              </a:defRPr>
            </a:pPr>
            <a:r>
              <a:rPr sz="2025" b="1">
                <a:solidFill>
                  <a:srgbClr val="AC4D73"/>
                </a:solidFill>
                <a:latin typeface="Arial"/>
                <a:ea typeface="Arial"/>
                <a:cs typeface="Arial"/>
              </a:rPr>
              <a:t>Vertex 3 is already visited: do not add the edge or increase the cost.</a:t>
            </a:r>
          </a:p>
        </p:txBody>
      </p:sp>
      <p:sp>
        <p:nvSpPr>
          <p:cNvPr id="7" name="">
            <a:extLst xmlns:a="http://schemas.openxmlformats.org/drawingml/2006/main">
              <a:ext uri="{FF2B5EF4-FFF2-40B4-BE49-F238E27FC236}">
                <a16:creationId xmlns:a16="http://schemas.microsoft.com/office/drawing/2014/main" id="{FC2FA065-7C3D-4230-B941-A55B8DCE76D7}"/>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92407B0A-364E-4178-AED5-CCF168984F68}"/>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24 / 64</a:t>
            </a:r>
          </a:p>
        </p:txBody>
      </p:sp>
    </p:spTree>
    <p:extLst>
      <p:ext uri="{BB962C8B-B14F-4D97-AF65-F5344CB8AC3E}">
        <p14:creationId xmlns:p14="http://schemas.microsoft.com/office/powerpoint/2010/main" val="302550401"/>
      </p:ext>
    </p:extLst>
  </p:cSld>
</p:sld>
</file>

<file path=ppt/slides/slide25.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642F55C-828C-4EB5-872A-4FA88EB62B8D}"/>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Kruskal and Prim</a:t>
            </a:r>
          </a:p>
        </p:txBody>
      </p:sp>
      <p:sp>
        <p:nvSpPr>
          <p:cNvPr id="2" name="">
            <a:extLst xmlns:a="http://schemas.openxmlformats.org/drawingml/2006/main">
              <a:ext uri="{FF2B5EF4-FFF2-40B4-BE49-F238E27FC236}">
                <a16:creationId xmlns:a16="http://schemas.microsoft.com/office/drawing/2014/main" id="{30333D28-D556-4E1D-8FA4-F8F805F98074}"/>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Prim: an empty queue may leave more work</a:t>
            </a:r>
          </a:p>
        </p:txBody>
      </p:sp>
      <p:sp>
        <p:nvSpPr>
          <p:cNvPr id="3" name="">
            <a:extLst xmlns:a="http://schemas.openxmlformats.org/drawingml/2006/main">
              <a:ext uri="{FF2B5EF4-FFF2-40B4-BE49-F238E27FC236}">
                <a16:creationId xmlns:a16="http://schemas.microsoft.com/office/drawing/2014/main" id="{12ADCBDC-78CB-4147-8BA2-58097A87CAD4}"/>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An outer loop finds every vertex that has not been visited.</a:t>
            </a:r>
          </a:p>
        </p:txBody>
      </p:sp>
      <p:sp>
        <p:nvSpPr>
          <p:cNvPr id="4" name="">
            <a:extLst xmlns:a="http://schemas.openxmlformats.org/drawingml/2006/main">
              <a:ext uri="{FF2B5EF4-FFF2-40B4-BE49-F238E27FC236}">
                <a16:creationId xmlns:a16="http://schemas.microsoft.com/office/drawing/2014/main" id="{EF6D556D-88FF-41A0-9526-08D5E8D4BEFD}"/>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Group {0,1,2,3} is complete. Start a separate component at 4.</a:t>
            </a:r>
          </a:p>
        </p:txBody>
      </p:sp>
      <p:sp>
        <p:nvSpPr>
          <p:cNvPr id="5" name="">
            <a:extLst xmlns:a="http://schemas.openxmlformats.org/drawingml/2006/main">
              <a:ext uri="{FF2B5EF4-FFF2-40B4-BE49-F238E27FC236}">
                <a16:creationId xmlns:a16="http://schemas.microsoft.com/office/drawing/2014/main" id="{D12618F0-F935-4A3B-ADBA-18D9E6FEF9A2}"/>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Vertex 4 has no edges. components=2, cost=7, with 3 selected edges.</a:t>
            </a:r>
          </a:p>
        </p:txBody>
      </p:sp>
      <p:sp>
        <p:nvSpPr>
          <p:cNvPr id="6" name="">
            <a:extLst xmlns:a="http://schemas.openxmlformats.org/drawingml/2006/main">
              <a:ext uri="{FF2B5EF4-FFF2-40B4-BE49-F238E27FC236}">
                <a16:creationId xmlns:a16="http://schemas.microsoft.com/office/drawing/2014/main" id="{F9C9E0FC-BD4E-46E5-8CC3-EC9E458691A3}"/>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7" name="">
            <a:extLst xmlns:a="http://schemas.openxmlformats.org/drawingml/2006/main">
              <a:ext uri="{FF2B5EF4-FFF2-40B4-BE49-F238E27FC236}">
                <a16:creationId xmlns:a16="http://schemas.microsoft.com/office/drawing/2014/main" id="{B46C1A4F-8CC3-4F85-A8D9-B78334A730DB}"/>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25 / 64</a:t>
            </a:r>
          </a:p>
        </p:txBody>
      </p:sp>
    </p:spTree>
    <p:extLst>
      <p:ext uri="{BB962C8B-B14F-4D97-AF65-F5344CB8AC3E}">
        <p14:creationId xmlns:p14="http://schemas.microsoft.com/office/powerpoint/2010/main" val="445791649"/>
      </p:ext>
    </p:extLst>
  </p:cSld>
</p:sld>
</file>

<file path=ppt/slides/slide26.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9F2F999-E47D-491E-ACAD-52152FA793F1}"/>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Kruskal and Prim</a:t>
            </a:r>
          </a:p>
        </p:txBody>
      </p:sp>
      <p:sp>
        <p:nvSpPr>
          <p:cNvPr id="2" name="">
            <a:extLst xmlns:a="http://schemas.openxmlformats.org/drawingml/2006/main">
              <a:ext uri="{FF2B5EF4-FFF2-40B4-BE49-F238E27FC236}">
                <a16:creationId xmlns:a16="http://schemas.microsoft.com/office/drawing/2014/main" id="{F74F348E-3A50-4BE4-953E-CFB1858DEAF3}"/>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Checking both MST implementations</a:t>
            </a:r>
          </a:p>
        </p:txBody>
      </p:sp>
      <p:sp>
        <p:nvSpPr>
          <p:cNvPr id="3" name="">
            <a:extLst xmlns:a="http://schemas.openxmlformats.org/drawingml/2006/main">
              <a:ext uri="{FF2B5EF4-FFF2-40B4-BE49-F238E27FC236}">
                <a16:creationId xmlns:a16="http://schemas.microsoft.com/office/drawing/2014/main" id="{54317FFF-36E4-4228-9AB9-3AE696BA2700}"/>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Compare cost and forest validity. The ID lists may differ.</a:t>
            </a:r>
          </a:p>
        </p:txBody>
      </p:sp>
      <p:sp>
        <p:nvSpPr>
          <p:cNvPr id="4" name="">
            <a:extLst xmlns:a="http://schemas.openxmlformats.org/drawingml/2006/main">
              <a:ext uri="{FF2B5EF4-FFF2-40B4-BE49-F238E27FC236}">
                <a16:creationId xmlns:a16="http://schemas.microsoft.com/office/drawing/2014/main" id="{DE1CB560-DB3D-4D51-921E-13D3B8D191ED}"/>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A triangle has three edges of weight 1. Any two form an optimum.</a:t>
            </a:r>
          </a:p>
        </p:txBody>
      </p:sp>
      <p:sp>
        <p:nvSpPr>
          <p:cNvPr id="5" name="">
            <a:extLst xmlns:a="http://schemas.openxmlformats.org/drawingml/2006/main">
              <a:ext uri="{FF2B5EF4-FFF2-40B4-BE49-F238E27FC236}">
                <a16:creationId xmlns:a16="http://schemas.microsoft.com/office/drawing/2014/main" id="{7EB44D6C-E386-45EF-88F3-CF0763F8DC15}"/>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Every valid optimum has cost 2 and no cycle.</a:t>
            </a:r>
          </a:p>
        </p:txBody>
      </p:sp>
      <p:sp>
        <p:nvSpPr>
          <p:cNvPr id="6" name="">
            <a:extLst xmlns:a="http://schemas.openxmlformats.org/drawingml/2006/main">
              <a:ext uri="{FF2B5EF4-FFF2-40B4-BE49-F238E27FC236}">
                <a16:creationId xmlns:a16="http://schemas.microsoft.com/office/drawing/2014/main" id="{0DC88A58-0E08-43FA-AB84-02E83CD6ED5B}"/>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7" name="">
            <a:extLst xmlns:a="http://schemas.openxmlformats.org/drawingml/2006/main">
              <a:ext uri="{FF2B5EF4-FFF2-40B4-BE49-F238E27FC236}">
                <a16:creationId xmlns:a16="http://schemas.microsoft.com/office/drawing/2014/main" id="{FDEF4F9B-574E-4061-BF13-AB0744229146}"/>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26 / 64</a:t>
            </a:r>
          </a:p>
        </p:txBody>
      </p:sp>
    </p:spTree>
    <p:extLst>
      <p:ext uri="{BB962C8B-B14F-4D97-AF65-F5344CB8AC3E}">
        <p14:creationId xmlns:p14="http://schemas.microsoft.com/office/powerpoint/2010/main" val="1842685897"/>
      </p:ext>
    </p:extLst>
  </p:cSld>
</p:sld>
</file>

<file path=ppt/slides/slide27.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40F3A2E-0FDD-418D-8D35-6CAA883819A2}"/>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Kosaraju</a:t>
            </a:r>
          </a:p>
        </p:txBody>
      </p:sp>
      <p:sp>
        <p:nvSpPr>
          <p:cNvPr id="2" name="">
            <a:extLst xmlns:a="http://schemas.openxmlformats.org/drawingml/2006/main">
              <a:ext uri="{FF2B5EF4-FFF2-40B4-BE49-F238E27FC236}">
                <a16:creationId xmlns:a16="http://schemas.microsoft.com/office/drawing/2014/main" id="{9CEC646B-F211-46B7-9743-9077E4D0B566}"/>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SCC: paths exist in both directions</a:t>
            </a:r>
          </a:p>
        </p:txBody>
      </p:sp>
      <p:sp>
        <p:nvSpPr>
          <p:cNvPr id="3" name="">
            <a:extLst xmlns:a="http://schemas.openxmlformats.org/drawingml/2006/main">
              <a:ext uri="{FF2B5EF4-FFF2-40B4-BE49-F238E27FC236}">
                <a16:creationId xmlns:a16="http://schemas.microsoft.com/office/drawing/2014/main" id="{A4962E8C-BBD3-48EB-84E7-7DB9081D5102}"/>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Two vertices share an SCC when each can reach the other along arrows.</a:t>
            </a:r>
          </a:p>
        </p:txBody>
      </p:sp>
      <p:sp>
        <p:nvSpPr>
          <p:cNvPr id="4" name="">
            <a:extLst xmlns:a="http://schemas.openxmlformats.org/drawingml/2006/main">
              <a:ext uri="{FF2B5EF4-FFF2-40B4-BE49-F238E27FC236}">
                <a16:creationId xmlns:a16="http://schemas.microsoft.com/office/drawing/2014/main" id="{6F7B020C-7F1E-4007-8CF6-ADFBA47D042C}"/>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0 → 1 and 1 → 0. Therefore {0,1} is one group.</a:t>
            </a:r>
          </a:p>
        </p:txBody>
      </p:sp>
      <p:sp>
        <p:nvSpPr>
          <p:cNvPr id="5" name="">
            <a:extLst xmlns:a="http://schemas.openxmlformats.org/drawingml/2006/main">
              <a:ext uri="{FF2B5EF4-FFF2-40B4-BE49-F238E27FC236}">
                <a16:creationId xmlns:a16="http://schemas.microsoft.com/office/drawing/2014/main" id="{13885756-A6A3-4E11-BBD4-8E91758F8F31}"/>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A path 0 → 2 alone is insufficient: a path from 2 back to 0 is also needed.</a:t>
            </a:r>
          </a:p>
        </p:txBody>
      </p:sp>
      <p:sp>
        <p:nvSpPr>
          <p:cNvPr id="6" name="">
            <a:extLst xmlns:a="http://schemas.openxmlformats.org/drawingml/2006/main">
              <a:ext uri="{FF2B5EF4-FFF2-40B4-BE49-F238E27FC236}">
                <a16:creationId xmlns:a16="http://schemas.microsoft.com/office/drawing/2014/main" id="{951FBACD-2BDB-45C2-9F74-883FE5B0C7CC}"/>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7" name="">
            <a:extLst xmlns:a="http://schemas.openxmlformats.org/drawingml/2006/main">
              <a:ext uri="{FF2B5EF4-FFF2-40B4-BE49-F238E27FC236}">
                <a16:creationId xmlns:a16="http://schemas.microsoft.com/office/drawing/2014/main" id="{29110244-1C38-4B41-8E2B-303F7E0D4CD5}"/>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27 / 64</a:t>
            </a:r>
          </a:p>
        </p:txBody>
      </p:sp>
    </p:spTree>
    <p:extLst>
      <p:ext uri="{BB962C8B-B14F-4D97-AF65-F5344CB8AC3E}">
        <p14:creationId xmlns:p14="http://schemas.microsoft.com/office/powerpoint/2010/main" val="1227782524"/>
      </p:ext>
    </p:extLst>
  </p:cSld>
</p:sld>
</file>

<file path=ppt/slides/slide28.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5937D85-C6C9-45B5-BECE-00725156F0E8}"/>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Kosaraju</a:t>
            </a:r>
          </a:p>
        </p:txBody>
      </p:sp>
      <p:sp>
        <p:nvSpPr>
          <p:cNvPr id="2" name="">
            <a:extLst xmlns:a="http://schemas.openxmlformats.org/drawingml/2006/main">
              <a:ext uri="{FF2B5EF4-FFF2-40B4-BE49-F238E27FC236}">
                <a16:creationId xmlns:a16="http://schemas.microsoft.com/office/drawing/2014/main" id="{A040464E-E9E2-4235-A7EB-D5B8497E951D}"/>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SCC example: two pairs and a singleton</a:t>
            </a:r>
          </a:p>
        </p:txBody>
      </p:sp>
      <p:sp>
        <p:nvSpPr>
          <p:cNvPr id="3" name="">
            <a:extLst xmlns:a="http://schemas.openxmlformats.org/drawingml/2006/main">
              <a:ext uri="{FF2B5EF4-FFF2-40B4-BE49-F238E27FC236}">
                <a16:creationId xmlns:a16="http://schemas.microsoft.com/office/drawing/2014/main" id="{B64AB51C-5BE7-4865-803E-38CA946AA265}"/>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Each pair connects both ways. Between pairs there is only a forward connection.</a:t>
            </a:r>
          </a:p>
        </p:txBody>
      </p:sp>
      <p:sp>
        <p:nvSpPr>
          <p:cNvPr id="4" name="">
            <a:extLst xmlns:a="http://schemas.openxmlformats.org/drawingml/2006/main">
              <a:ext uri="{FF2B5EF4-FFF2-40B4-BE49-F238E27FC236}">
                <a16:creationId xmlns:a16="http://schemas.microsoft.com/office/drawing/2014/main" id="{7A4EE29A-E6A5-49D4-A40F-DC99784A2165}"/>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Edges: 0→1, 1→0, 1→2, 1→2, 2→3, 3→2. Vertex 4 is isolated.</a:t>
            </a:r>
          </a:p>
        </p:txBody>
      </p:sp>
      <p:graphicFrame>
        <p:nvGraphicFramePr>
          <p:cNvPr id="5" name="">
            <a:extLst xmlns:a="http://schemas.openxmlformats.org/drawingml/2006/main">
              <a:ext uri="{FF2B5EF4-FFF2-40B4-BE49-F238E27FC236}">
                <a16:creationId xmlns:a16="http://schemas.microsoft.com/office/drawing/2014/main" id="{CAE86B5A-2C81-4D6D-970B-5A13BA7791CB}"/>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2613788"/>
                <a:gridCol w="3992627"/>
                <a:gridCol w="4442585"/>
              </a:tblGrid>
              <a:tr h="552450">
                <a:tc>
                  <a:txBody>
                    <a:bodyPr/>
                    <a:lstStyle/>
                    <a:p>
                      <a:r>
                        <a:rPr sz="1725" b="1">
                          <a:solidFill>
                            <a:srgbClr val="192E43"/>
                          </a:solidFill>
                          <a:latin typeface="Arial"/>
                          <a:ea typeface="Arial"/>
                          <a:cs typeface="Arial"/>
                        </a:rPr>
                        <a:t>From</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Reachable destination</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Can we get back?</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552450">
                <a:tc>
                  <a:txBody>
                    <a:bodyPr/>
                    <a:lstStyle/>
                    <a:p>
                      <a:r>
                        <a:rPr sz="1725" b="0">
                          <a:solidFill>
                            <a:srgbClr val="192E43"/>
                          </a:solidFill>
                          <a:latin typeface="Arial"/>
                          <a:ea typeface="Arial"/>
                          <a:cs typeface="Arial"/>
                        </a:rPr>
                        <a:t>0</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1</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Yes</a:t>
                      </a:r>
                    </a:p>
                  </a:txBody>
                  <a:tcPr marL="91440" marR="91440" marT="45720" marB="45720">
                    <a:lnR w="9525">
                      <a:solidFill>
                        <a:srgbClr val="E2DCE0"/>
                      </a:solidFill>
                      <a:prstDash val="solid"/>
                    </a:lnR>
                    <a:lnB w="9525">
                      <a:solidFill>
                        <a:srgbClr val="E2DCE0"/>
                      </a:solidFill>
                      <a:prstDash val="solid"/>
                    </a:lnB>
                    <a:solidFill>
                      <a:srgbClr val="FFFEFC"/>
                    </a:solidFill>
                  </a:tcPr>
                </a:tc>
              </a:tr>
              <a:tr h="552450">
                <a:tc>
                  <a:txBody>
                    <a:bodyPr/>
                    <a:lstStyle/>
                    <a:p>
                      <a:r>
                        <a:rPr sz="1725" b="0">
                          <a:solidFill>
                            <a:srgbClr val="192E43"/>
                          </a:solidFill>
                          <a:latin typeface="Arial"/>
                          <a:ea typeface="Arial"/>
                          <a:cs typeface="Arial"/>
                        </a:rPr>
                        <a:t>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2</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No: {2,3} has no path back</a:t>
                      </a:r>
                    </a:p>
                  </a:txBody>
                  <a:tcPr marL="91440" marR="91440" marT="45720" marB="45720">
                    <a:lnR w="9525">
                      <a:solidFill>
                        <a:srgbClr val="E2DCE0"/>
                      </a:solidFill>
                      <a:prstDash val="solid"/>
                    </a:lnR>
                    <a:lnB w="9525">
                      <a:solidFill>
                        <a:srgbClr val="E2DCE0"/>
                      </a:solidFill>
                      <a:prstDash val="solid"/>
                    </a:lnB>
                    <a:solidFill>
                      <a:srgbClr val="FAF8F8"/>
                    </a:solidFill>
                  </a:tcPr>
                </a:tc>
              </a:tr>
              <a:tr h="552450">
                <a:tc>
                  <a:txBody>
                    <a:bodyPr/>
                    <a:lstStyle/>
                    <a:p>
                      <a:r>
                        <a:rPr sz="1725" b="0">
                          <a:solidFill>
                            <a:srgbClr val="192E43"/>
                          </a:solidFill>
                          <a:latin typeface="Arial"/>
                          <a:ea typeface="Arial"/>
                          <a:cs typeface="Arial"/>
                        </a:rPr>
                        <a:t>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3</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Yes</a:t>
                      </a:r>
                    </a:p>
                  </a:txBody>
                  <a:tcPr marL="91440" marR="91440" marT="45720" marB="45720">
                    <a:lnR w="9525">
                      <a:solidFill>
                        <a:srgbClr val="E2DCE0"/>
                      </a:solidFill>
                      <a:prstDash val="solid"/>
                    </a:lnR>
                    <a:lnB w="9525">
                      <a:solidFill>
                        <a:srgbClr val="E2DCE0"/>
                      </a:solidFill>
                      <a:prstDash val="solid"/>
                    </a:lnB>
                    <a:solidFill>
                      <a:srgbClr val="FFFEFC"/>
                    </a:solidFill>
                  </a:tcPr>
                </a:tc>
              </a:tr>
              <a:tr h="552450">
                <a:tc>
                  <a:txBody>
                    <a:bodyPr/>
                    <a:lstStyle/>
                    <a:p>
                      <a:r>
                        <a:rPr sz="1725" b="0">
                          <a:solidFill>
                            <a:srgbClr val="192E43"/>
                          </a:solidFill>
                          <a:latin typeface="Arial"/>
                          <a:ea typeface="Arial"/>
                          <a:cs typeface="Arial"/>
                        </a:rPr>
                        <a:t>4</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Only 4</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A separate SCC</a:t>
                      </a:r>
                    </a:p>
                  </a:txBody>
                  <a:tcPr marL="91440" marR="91440" marT="45720" marB="45720">
                    <a:lnR w="9525">
                      <a:solidFill>
                        <a:srgbClr val="E2DCE0"/>
                      </a:solidFill>
                      <a:prstDash val="solid"/>
                    </a:lnR>
                    <a:lnB w="9525">
                      <a:solidFill>
                        <a:srgbClr val="E2DCE0"/>
                      </a:solidFill>
                      <a:prstDash val="solid"/>
                    </a:lnB>
                    <a:solidFill>
                      <a:srgbClr val="FAF8F8"/>
                    </a:solidFill>
                  </a:tcPr>
                </a:tc>
              </a:tr>
            </a:tbl>
          </a:graphicData>
        </a:graphic>
      </p:graphicFrame>
      <p:sp>
        <p:nvSpPr>
          <p:cNvPr id="6" name="">
            <a:extLst xmlns:a="http://schemas.openxmlformats.org/drawingml/2006/main">
              <a:ext uri="{FF2B5EF4-FFF2-40B4-BE49-F238E27FC236}">
                <a16:creationId xmlns:a16="http://schemas.microsoft.com/office/drawing/2014/main" id="{5D8EEBDF-9686-4390-A105-C7DF2DE9D7CF}"/>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Correct groups: {0,1}, {2,3}, {4}. Duplicate 1→2 edges do not change them.</a:t>
            </a:r>
          </a:p>
        </p:txBody>
      </p:sp>
      <p:sp>
        <p:nvSpPr>
          <p:cNvPr id="7" name="">
            <a:extLst xmlns:a="http://schemas.openxmlformats.org/drawingml/2006/main">
              <a:ext uri="{FF2B5EF4-FFF2-40B4-BE49-F238E27FC236}">
                <a16:creationId xmlns:a16="http://schemas.microsoft.com/office/drawing/2014/main" id="{AA3A43AE-C9A9-410F-83EE-4F87587D9351}"/>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D1A41A76-C65D-4B0B-9E82-80448E1955AF}"/>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28 / 64</a:t>
            </a:r>
          </a:p>
        </p:txBody>
      </p:sp>
    </p:spTree>
    <p:extLst>
      <p:ext uri="{BB962C8B-B14F-4D97-AF65-F5344CB8AC3E}">
        <p14:creationId xmlns:p14="http://schemas.microsoft.com/office/powerpoint/2010/main" val="1828732563"/>
      </p:ext>
    </p:extLst>
  </p:cSld>
</p:sld>
</file>

<file path=ppt/slides/slide29.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2F090B8-98E3-4B93-9937-3212327D876D}"/>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Kosaraju</a:t>
            </a:r>
          </a:p>
        </p:txBody>
      </p:sp>
      <p:sp>
        <p:nvSpPr>
          <p:cNvPr id="2" name="">
            <a:extLst xmlns:a="http://schemas.openxmlformats.org/drawingml/2006/main">
              <a:ext uri="{FF2B5EF4-FFF2-40B4-BE49-F238E27FC236}">
                <a16:creationId xmlns:a16="http://schemas.microsoft.com/office/drawing/2014/main" id="{3E8C2ACC-86B2-4D84-ADEB-743FD0B91AE6}"/>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DFS: finishing happens after entering</a:t>
            </a:r>
          </a:p>
        </p:txBody>
      </p:sp>
      <p:sp>
        <p:nvSpPr>
          <p:cNvPr id="3" name="">
            <a:extLst xmlns:a="http://schemas.openxmlformats.org/drawingml/2006/main">
              <a:ext uri="{FF2B5EF4-FFF2-40B4-BE49-F238E27FC236}">
                <a16:creationId xmlns:a16="http://schemas.microsoft.com/office/drawing/2014/main" id="{673756D6-2AC9-4716-AF69-FC4F18D38758}"/>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DFS follows an unvisited neighbor and completes that work before returning.</a:t>
            </a:r>
          </a:p>
        </p:txBody>
      </p:sp>
      <p:sp>
        <p:nvSpPr>
          <p:cNvPr id="4" name="">
            <a:extLst xmlns:a="http://schemas.openxmlformats.org/drawingml/2006/main">
              <a:ext uri="{FF2B5EF4-FFF2-40B4-BE49-F238E27FC236}">
                <a16:creationId xmlns:a16="http://schemas.microsoft.com/office/drawing/2014/main" id="{0C071811-44FD-4A79-9243-B096ACA55812}"/>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From 0, visit 1, then 2, then 3.</a:t>
            </a:r>
          </a:p>
        </p:txBody>
      </p:sp>
      <p:graphicFrame>
        <p:nvGraphicFramePr>
          <p:cNvPr id="5" name="">
            <a:extLst xmlns:a="http://schemas.openxmlformats.org/drawingml/2006/main">
              <a:ext uri="{FF2B5EF4-FFF2-40B4-BE49-F238E27FC236}">
                <a16:creationId xmlns:a16="http://schemas.microsoft.com/office/drawing/2014/main" id="{D21C6F5C-CEFC-4123-B77B-836F7CD7112A}"/>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5445562"/>
                <a:gridCol w="5603438"/>
              </a:tblGrid>
              <a:tr h="690563">
                <a:tc>
                  <a:txBody>
                    <a:bodyPr/>
                    <a:lstStyle/>
                    <a:p>
                      <a:r>
                        <a:rPr sz="1725" b="1">
                          <a:solidFill>
                            <a:srgbClr val="192E43"/>
                          </a:solidFill>
                          <a:latin typeface="Arial"/>
                          <a:ea typeface="Arial"/>
                          <a:cs typeface="Arial"/>
                        </a:rPr>
                        <a:t>Order</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Vertices</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690563">
                <a:tc>
                  <a:txBody>
                    <a:bodyPr/>
                    <a:lstStyle/>
                    <a:p>
                      <a:r>
                        <a:rPr sz="1725" b="0">
                          <a:solidFill>
                            <a:srgbClr val="192E43"/>
                          </a:solidFill>
                          <a:latin typeface="Arial"/>
                          <a:ea typeface="Arial"/>
                          <a:cs typeface="Arial"/>
                        </a:rPr>
                        <a:t>DFS entries</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 1, 2, 3, then 4</a:t>
                      </a:r>
                    </a:p>
                  </a:txBody>
                  <a:tcPr marL="91440" marR="91440" marT="45720" marB="45720">
                    <a:lnR w="9525">
                      <a:solidFill>
                        <a:srgbClr val="E2DCE0"/>
                      </a:solidFill>
                      <a:prstDash val="solid"/>
                    </a:lnR>
                    <a:lnB w="9525">
                      <a:solidFill>
                        <a:srgbClr val="E2DCE0"/>
                      </a:solidFill>
                      <a:prstDash val="solid"/>
                    </a:lnB>
                    <a:solidFill>
                      <a:srgbClr val="FFFEFC"/>
                    </a:solidFill>
                  </a:tcPr>
                </a:tc>
              </a:tr>
              <a:tr h="690563">
                <a:tc>
                  <a:txBody>
                    <a:bodyPr/>
                    <a:lstStyle/>
                    <a:p>
                      <a:r>
                        <a:rPr sz="1725" b="0">
                          <a:solidFill>
                            <a:srgbClr val="192E43"/>
                          </a:solidFill>
                          <a:latin typeface="Arial"/>
                          <a:ea typeface="Arial"/>
                          <a:cs typeface="Arial"/>
                        </a:rPr>
                        <a:t>Finishes</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3, 2, 1, 0, 4</a:t>
                      </a:r>
                    </a:p>
                  </a:txBody>
                  <a:tcPr marL="91440" marR="91440" marT="45720" marB="45720">
                    <a:lnR w="9525">
                      <a:solidFill>
                        <a:srgbClr val="E2DCE0"/>
                      </a:solidFill>
                      <a:prstDash val="solid"/>
                    </a:lnR>
                    <a:lnB w="9525">
                      <a:solidFill>
                        <a:srgbClr val="E2DCE0"/>
                      </a:solidFill>
                      <a:prstDash val="solid"/>
                    </a:lnB>
                    <a:solidFill>
                      <a:srgbClr val="FAF8F8"/>
                    </a:solidFill>
                  </a:tcPr>
                </a:tc>
              </a:tr>
              <a:tr h="690563">
                <a:tc>
                  <a:txBody>
                    <a:bodyPr/>
                    <a:lstStyle/>
                    <a:p>
                      <a:r>
                        <a:rPr sz="1725" b="0">
                          <a:solidFill>
                            <a:srgbClr val="192E43"/>
                          </a:solidFill>
                          <a:latin typeface="Arial"/>
                          <a:ea typeface="Arial"/>
                          <a:cs typeface="Arial"/>
                        </a:rPr>
                        <a:t>Reversed finishes</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4, 0, 1, 2, 3</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D4ED5FE1-720E-44FE-9CD9-C669413C88A7}"/>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Record a vertex on exit, after all its outgoing edges have been inspected.</a:t>
            </a:r>
          </a:p>
        </p:txBody>
      </p:sp>
      <p:sp>
        <p:nvSpPr>
          <p:cNvPr id="7" name="">
            <a:extLst xmlns:a="http://schemas.openxmlformats.org/drawingml/2006/main">
              <a:ext uri="{FF2B5EF4-FFF2-40B4-BE49-F238E27FC236}">
                <a16:creationId xmlns:a16="http://schemas.microsoft.com/office/drawing/2014/main" id="{CCADAF60-199A-4F4E-B2C6-1B1C8D889F8A}"/>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71BAEE7C-4E53-4AB0-9999-546C8109213C}"/>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29 / 64</a:t>
            </a:r>
          </a:p>
        </p:txBody>
      </p:sp>
    </p:spTree>
    <p:extLst>
      <p:ext uri="{BB962C8B-B14F-4D97-AF65-F5344CB8AC3E}">
        <p14:creationId xmlns:p14="http://schemas.microsoft.com/office/powerpoint/2010/main" val="666238982"/>
      </p:ext>
    </p:extLst>
  </p:cSld>
</p:sld>
</file>

<file path=ppt/slides/slide30.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7FF8468-0546-4C0B-A1C0-8E5008626C11}"/>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Kosaraju</a:t>
            </a:r>
          </a:p>
        </p:txBody>
      </p:sp>
      <p:sp>
        <p:nvSpPr>
          <p:cNvPr id="2" name="">
            <a:extLst xmlns:a="http://schemas.openxmlformats.org/drawingml/2006/main">
              <a:ext uri="{FF2B5EF4-FFF2-40B4-BE49-F238E27FC236}">
                <a16:creationId xmlns:a16="http://schemas.microsoft.com/office/drawing/2014/main" id="{FC652A24-8A55-43F7-A64F-2783508D637E}"/>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Kosaraju: reverse every arrow</a:t>
            </a:r>
          </a:p>
        </p:txBody>
      </p:sp>
      <p:sp>
        <p:nvSpPr>
          <p:cNvPr id="3" name="">
            <a:extLst xmlns:a="http://schemas.openxmlformats.org/drawingml/2006/main">
              <a:ext uri="{FF2B5EF4-FFF2-40B4-BE49-F238E27FC236}">
                <a16:creationId xmlns:a16="http://schemas.microsoft.com/office/drawing/2014/main" id="{E990B83B-2462-4626-AA7E-8F74ED57929A}"/>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The transpose has the same vertices and every edge reversed.</a:t>
            </a:r>
          </a:p>
        </p:txBody>
      </p:sp>
      <p:sp>
        <p:nvSpPr>
          <p:cNvPr id="4" name="">
            <a:extLst xmlns:a="http://schemas.openxmlformats.org/drawingml/2006/main">
              <a:ext uri="{FF2B5EF4-FFF2-40B4-BE49-F238E27FC236}">
                <a16:creationId xmlns:a16="http://schemas.microsoft.com/office/drawing/2014/main" id="{5EB2AB24-ABE0-4EF3-B6E3-642CC8461E82}"/>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Originally 1→2. Now 2→1. Pairs 0↔1 and 2↔3 still connect both ways.</a:t>
            </a:r>
          </a:p>
        </p:txBody>
      </p:sp>
      <p:sp>
        <p:nvSpPr>
          <p:cNvPr id="5" name="">
            <a:extLst xmlns:a="http://schemas.openxmlformats.org/drawingml/2006/main">
              <a:ext uri="{FF2B5EF4-FFF2-40B4-BE49-F238E27FC236}">
                <a16:creationId xmlns:a16="http://schemas.microsoft.com/office/drawing/2014/main" id="{4E3EFC37-43B3-4497-851F-07D7A9E1AFB3}"/>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Clear visited before the second pass. Otherwise every vertex is already marked.</a:t>
            </a:r>
          </a:p>
        </p:txBody>
      </p:sp>
      <p:sp>
        <p:nvSpPr>
          <p:cNvPr id="6" name="">
            <a:extLst xmlns:a="http://schemas.openxmlformats.org/drawingml/2006/main">
              <a:ext uri="{FF2B5EF4-FFF2-40B4-BE49-F238E27FC236}">
                <a16:creationId xmlns:a16="http://schemas.microsoft.com/office/drawing/2014/main" id="{B499836C-6E73-4477-B346-0B6A7FD4C1AD}"/>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7" name="">
            <a:extLst xmlns:a="http://schemas.openxmlformats.org/drawingml/2006/main">
              <a:ext uri="{FF2B5EF4-FFF2-40B4-BE49-F238E27FC236}">
                <a16:creationId xmlns:a16="http://schemas.microsoft.com/office/drawing/2014/main" id="{F24A5528-6F84-480A-A94D-64DE15FF32C9}"/>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30 / 64</a:t>
            </a:r>
          </a:p>
        </p:txBody>
      </p:sp>
    </p:spTree>
    <p:extLst>
      <p:ext uri="{BB962C8B-B14F-4D97-AF65-F5344CB8AC3E}">
        <p14:creationId xmlns:p14="http://schemas.microsoft.com/office/powerpoint/2010/main" val="973589984"/>
      </p:ext>
    </p:extLst>
  </p:cSld>
</p:sld>
</file>

<file path=ppt/slides/slide31.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7017D19-F555-4ECD-A569-6E6A384A22AB}"/>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Kosaraju</a:t>
            </a:r>
          </a:p>
        </p:txBody>
      </p:sp>
      <p:sp>
        <p:nvSpPr>
          <p:cNvPr id="2" name="">
            <a:extLst xmlns:a="http://schemas.openxmlformats.org/drawingml/2006/main">
              <a:ext uri="{FF2B5EF4-FFF2-40B4-BE49-F238E27FC236}">
                <a16:creationId xmlns:a16="http://schemas.microsoft.com/office/drawing/2014/main" id="{95076478-8AA0-4C65-BE8D-889AAC89EBD2}"/>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Kosaraju: the second pass finds groups</a:t>
            </a:r>
          </a:p>
        </p:txBody>
      </p:sp>
      <p:sp>
        <p:nvSpPr>
          <p:cNvPr id="3" name="">
            <a:extLst xmlns:a="http://schemas.openxmlformats.org/drawingml/2006/main">
              <a:ext uri="{FF2B5EF4-FFF2-40B4-BE49-F238E27FC236}">
                <a16:creationId xmlns:a16="http://schemas.microsoft.com/office/drawing/2014/main" id="{C3478DEA-DFCB-4E0D-87E6-4A7EC96C8A62}"/>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The second pass starts a new group at each vertex not yet labeled.</a:t>
            </a:r>
          </a:p>
        </p:txBody>
      </p:sp>
      <p:sp>
        <p:nvSpPr>
          <p:cNvPr id="4" name="">
            <a:extLst xmlns:a="http://schemas.openxmlformats.org/drawingml/2006/main">
              <a:ext uri="{FF2B5EF4-FFF2-40B4-BE49-F238E27FC236}">
                <a16:creationId xmlns:a16="http://schemas.microsoft.com/office/drawing/2014/main" id="{9F7674CE-99F5-4001-9A9C-77146C9239C2}"/>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Start order is 4,0,1,2,3. Skip vertices already assigned to a group.</a:t>
            </a:r>
          </a:p>
        </p:txBody>
      </p:sp>
      <p:graphicFrame>
        <p:nvGraphicFramePr>
          <p:cNvPr id="5" name="">
            <a:extLst xmlns:a="http://schemas.openxmlformats.org/drawingml/2006/main">
              <a:ext uri="{FF2B5EF4-FFF2-40B4-BE49-F238E27FC236}">
                <a16:creationId xmlns:a16="http://schemas.microsoft.com/office/drawing/2014/main" id="{8900D45E-D670-4AEB-B452-66B570CD8CB1}"/>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3357344"/>
                <a:gridCol w="4334312"/>
                <a:gridCol w="3357344"/>
              </a:tblGrid>
              <a:tr h="460375">
                <a:tc>
                  <a:txBody>
                    <a:bodyPr/>
                    <a:lstStyle/>
                    <a:p>
                      <a:r>
                        <a:rPr sz="1725" b="1">
                          <a:solidFill>
                            <a:srgbClr val="192E43"/>
                          </a:solidFill>
                          <a:latin typeface="Arial"/>
                          <a:ea typeface="Arial"/>
                          <a:cs typeface="Arial"/>
                        </a:rPr>
                        <a:t>Start</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New vertices</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Group</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460375">
                <a:tc>
                  <a:txBody>
                    <a:bodyPr/>
                    <a:lstStyle/>
                    <a:p>
                      <a:r>
                        <a:rPr sz="1725" b="0">
                          <a:solidFill>
                            <a:srgbClr val="192E43"/>
                          </a:solidFill>
                          <a:latin typeface="Arial"/>
                          <a:ea typeface="Arial"/>
                          <a:cs typeface="Arial"/>
                        </a:rPr>
                        <a:t>4</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4</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{4}</a:t>
                      </a:r>
                    </a:p>
                  </a:txBody>
                  <a:tcPr marL="91440" marR="91440" marT="45720" marB="45720">
                    <a:lnR w="9525">
                      <a:solidFill>
                        <a:srgbClr val="E2DCE0"/>
                      </a:solidFill>
                      <a:prstDash val="solid"/>
                    </a:lnR>
                    <a:lnB w="9525">
                      <a:solidFill>
                        <a:srgbClr val="E2DCE0"/>
                      </a:solidFill>
                      <a:prstDash val="solid"/>
                    </a:lnB>
                    <a:solidFill>
                      <a:srgbClr val="FFFEFC"/>
                    </a:solidFill>
                  </a:tcPr>
                </a:tc>
              </a:tr>
              <a:tr h="460375">
                <a:tc>
                  <a:txBody>
                    <a:bodyPr/>
                    <a:lstStyle/>
                    <a:p>
                      <a:r>
                        <a:rPr sz="1725" b="0">
                          <a:solidFill>
                            <a:srgbClr val="192E43"/>
                          </a:solidFill>
                          <a:latin typeface="Arial"/>
                          <a:ea typeface="Arial"/>
                          <a:cs typeface="Arial"/>
                        </a:rPr>
                        <a:t>0</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0, 1</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{0,1}</a:t>
                      </a:r>
                    </a:p>
                  </a:txBody>
                  <a:tcPr marL="91440" marR="91440" marT="45720" marB="45720">
                    <a:lnR w="9525">
                      <a:solidFill>
                        <a:srgbClr val="E2DCE0"/>
                      </a:solidFill>
                      <a:prstDash val="solid"/>
                    </a:lnR>
                    <a:lnB w="9525">
                      <a:solidFill>
                        <a:srgbClr val="E2DCE0"/>
                      </a:solidFill>
                      <a:prstDash val="solid"/>
                    </a:lnB>
                    <a:solidFill>
                      <a:srgbClr val="FAF8F8"/>
                    </a:solidFill>
                  </a:tcPr>
                </a:tc>
              </a:tr>
              <a:tr h="460375">
                <a:tc>
                  <a:txBody>
                    <a:bodyPr/>
                    <a:lstStyle/>
                    <a:p>
                      <a:r>
                        <a:rPr sz="1725" b="0">
                          <a:solidFill>
                            <a:srgbClr val="192E43"/>
                          </a:solidFill>
                          <a:latin typeface="Arial"/>
                          <a:ea typeface="Arial"/>
                          <a:cs typeface="Arial"/>
                        </a:rPr>
                        <a:t>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Already labeled</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Skip</a:t>
                      </a:r>
                    </a:p>
                  </a:txBody>
                  <a:tcPr marL="91440" marR="91440" marT="45720" marB="45720">
                    <a:lnR w="9525">
                      <a:solidFill>
                        <a:srgbClr val="E2DCE0"/>
                      </a:solidFill>
                      <a:prstDash val="solid"/>
                    </a:lnR>
                    <a:lnB w="9525">
                      <a:solidFill>
                        <a:srgbClr val="E2DCE0"/>
                      </a:solidFill>
                      <a:prstDash val="solid"/>
                    </a:lnB>
                    <a:solidFill>
                      <a:srgbClr val="FFFEFC"/>
                    </a:solidFill>
                  </a:tcPr>
                </a:tc>
              </a:tr>
              <a:tr h="460375">
                <a:tc>
                  <a:txBody>
                    <a:bodyPr/>
                    <a:lstStyle/>
                    <a:p>
                      <a:r>
                        <a:rPr sz="1725" b="0">
                          <a:solidFill>
                            <a:srgbClr val="192E43"/>
                          </a:solidFill>
                          <a:latin typeface="Arial"/>
                          <a:ea typeface="Arial"/>
                          <a:cs typeface="Arial"/>
                        </a:rPr>
                        <a:t>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2, 3</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{2,3}</a:t>
                      </a:r>
                    </a:p>
                  </a:txBody>
                  <a:tcPr marL="91440" marR="91440" marT="45720" marB="45720">
                    <a:lnR w="9525">
                      <a:solidFill>
                        <a:srgbClr val="E2DCE0"/>
                      </a:solidFill>
                      <a:prstDash val="solid"/>
                    </a:lnR>
                    <a:lnB w="9525">
                      <a:solidFill>
                        <a:srgbClr val="E2DCE0"/>
                      </a:solidFill>
                      <a:prstDash val="solid"/>
                    </a:lnB>
                    <a:solidFill>
                      <a:srgbClr val="FAF8F8"/>
                    </a:solidFill>
                  </a:tcPr>
                </a:tc>
              </a:tr>
              <a:tr h="460375">
                <a:tc>
                  <a:txBody>
                    <a:bodyPr/>
                    <a:lstStyle/>
                    <a:p>
                      <a:r>
                        <a:rPr sz="1725" b="0">
                          <a:solidFill>
                            <a:srgbClr val="192E43"/>
                          </a:solidFill>
                          <a:latin typeface="Arial"/>
                          <a:ea typeface="Arial"/>
                          <a:cs typeface="Arial"/>
                        </a:rPr>
                        <a:t>3</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Already labeled</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Skip</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765FC5F4-8CCA-41D7-AB27-9936C453F56D}"/>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From 2 the transpose reaches 1, but 1 is already labeled. Do not traverse it again.</a:t>
            </a:r>
          </a:p>
        </p:txBody>
      </p:sp>
      <p:sp>
        <p:nvSpPr>
          <p:cNvPr id="7" name="">
            <a:extLst xmlns:a="http://schemas.openxmlformats.org/drawingml/2006/main">
              <a:ext uri="{FF2B5EF4-FFF2-40B4-BE49-F238E27FC236}">
                <a16:creationId xmlns:a16="http://schemas.microsoft.com/office/drawing/2014/main" id="{089DD5DD-5645-4931-8436-630B239F8924}"/>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CA962BDB-F996-48F0-B050-92AD8CF0FA8D}"/>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31 / 64</a:t>
            </a:r>
          </a:p>
        </p:txBody>
      </p:sp>
    </p:spTree>
    <p:extLst>
      <p:ext uri="{BB962C8B-B14F-4D97-AF65-F5344CB8AC3E}">
        <p14:creationId xmlns:p14="http://schemas.microsoft.com/office/powerpoint/2010/main" val="1011750211"/>
      </p:ext>
    </p:extLst>
  </p:cSld>
</p:sld>
</file>

<file path=ppt/slides/slide32.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339D00D-54B1-409E-91B4-D82EDA1F352C}"/>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Kosaraju</a:t>
            </a:r>
          </a:p>
        </p:txBody>
      </p:sp>
      <p:sp>
        <p:nvSpPr>
          <p:cNvPr id="2" name="">
            <a:extLst xmlns:a="http://schemas.openxmlformats.org/drawingml/2006/main">
              <a:ext uri="{FF2B5EF4-FFF2-40B4-BE49-F238E27FC236}">
                <a16:creationId xmlns:a16="http://schemas.microsoft.com/office/drawing/2014/main" id="{C38CA66F-AA14-4132-A430-568A50D80225}"/>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component: one label per vertex</a:t>
            </a:r>
          </a:p>
        </p:txBody>
      </p:sp>
      <p:sp>
        <p:nvSpPr>
          <p:cNvPr id="3" name="">
            <a:extLst xmlns:a="http://schemas.openxmlformats.org/drawingml/2006/main">
              <a:ext uri="{FF2B5EF4-FFF2-40B4-BE49-F238E27FC236}">
                <a16:creationId xmlns:a16="http://schemas.microsoft.com/office/drawing/2014/main" id="{35A89B37-5A83-4DA7-A892-38B901839802}"/>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The same label means the same SCC. The label value itself is arbitrary.</a:t>
            </a:r>
          </a:p>
        </p:txBody>
      </p:sp>
      <p:sp>
        <p:nvSpPr>
          <p:cNvPr id="4" name="">
            <a:extLst xmlns:a="http://schemas.openxmlformats.org/drawingml/2006/main">
              <a:ext uri="{FF2B5EF4-FFF2-40B4-BE49-F238E27FC236}">
                <a16:creationId xmlns:a16="http://schemas.microsoft.com/office/drawing/2014/main" id="{4183191F-79A1-4132-B02A-A77CF02AAADE}"/>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You may return [7,7,9,9,12] or [1,1,2,2,0].</a:t>
            </a:r>
          </a:p>
        </p:txBody>
      </p:sp>
      <p:sp>
        <p:nvSpPr>
          <p:cNvPr id="5" name="">
            <a:extLst xmlns:a="http://schemas.openxmlformats.org/drawingml/2006/main">
              <a:ext uri="{FF2B5EF4-FFF2-40B4-BE49-F238E27FC236}">
                <a16:creationId xmlns:a16="http://schemas.microsoft.com/office/drawing/2014/main" id="{A9AA7278-0889-40B6-B829-4CA700CAD21F}"/>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Both answers represent the same groups: {0,1}, {2,3}, {4}.</a:t>
            </a:r>
          </a:p>
        </p:txBody>
      </p:sp>
      <p:sp>
        <p:nvSpPr>
          <p:cNvPr id="6" name="">
            <a:extLst xmlns:a="http://schemas.openxmlformats.org/drawingml/2006/main">
              <a:ext uri="{FF2B5EF4-FFF2-40B4-BE49-F238E27FC236}">
                <a16:creationId xmlns:a16="http://schemas.microsoft.com/office/drawing/2014/main" id="{99093D6F-2FB3-4E06-9610-3D6E590F9A5E}"/>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7" name="">
            <a:extLst xmlns:a="http://schemas.openxmlformats.org/drawingml/2006/main">
              <a:ext uri="{FF2B5EF4-FFF2-40B4-BE49-F238E27FC236}">
                <a16:creationId xmlns:a16="http://schemas.microsoft.com/office/drawing/2014/main" id="{F4B29994-6579-44D7-9EAB-BB275622D6A7}"/>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32 / 64</a:t>
            </a:r>
          </a:p>
        </p:txBody>
      </p:sp>
    </p:spTree>
    <p:extLst>
      <p:ext uri="{BB962C8B-B14F-4D97-AF65-F5344CB8AC3E}">
        <p14:creationId xmlns:p14="http://schemas.microsoft.com/office/powerpoint/2010/main" val="281778988"/>
      </p:ext>
    </p:extLst>
  </p:cSld>
</p:sld>
</file>

<file path=ppt/slides/slide33.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1AEE7D8-9A53-43E5-8C4E-DCD9C3C2F5E3}"/>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Kosaraju</a:t>
            </a:r>
          </a:p>
        </p:txBody>
      </p:sp>
      <p:sp>
        <p:nvSpPr>
          <p:cNvPr id="2" name="">
            <a:extLst xmlns:a="http://schemas.openxmlformats.org/drawingml/2006/main">
              <a:ext uri="{FF2B5EF4-FFF2-40B4-BE49-F238E27FC236}">
                <a16:creationId xmlns:a16="http://schemas.microsoft.com/office/drawing/2014/main" id="{8E75F90F-123A-4CAA-8E06-AF9F81FEC0F6}"/>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Condensation: replace each group by one vertex</a:t>
            </a:r>
          </a:p>
        </p:txBody>
      </p:sp>
      <p:sp>
        <p:nvSpPr>
          <p:cNvPr id="3" name="">
            <a:extLst xmlns:a="http://schemas.openxmlformats.org/drawingml/2006/main">
              <a:ext uri="{FF2B5EF4-FFF2-40B4-BE49-F238E27FC236}">
                <a16:creationId xmlns:a16="http://schemas.microsoft.com/office/drawing/2014/main" id="{B034338C-AF18-4351-A4AA-FA95EF839A7F}"/>
              </a:ext>
            </a:extLst>
          </p:cNvPr>
          <p:cNvSpPr>
            <a:spLocks xmlns:a="http://schemas.openxmlformats.org/drawingml/2006/main" noGrp="1"/>
          </p:cNvSpPr>
          <p:nvPr/>
        </p:nvSpPr>
        <p:spPr>
          <a:xfrm xmlns:a="http://schemas.openxmlformats.org/drawingml/2006/main">
            <a:off x="571500" y="1638300"/>
            <a:ext cx="1104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192E43"/>
                </a:solidFill>
                <a:latin typeface="Arial"/>
                <a:ea typeface="Arial"/>
                <a:cs typeface="Arial"/>
              </a:defRPr>
            </a:defPPr>
          </a:lstStyle>
          <a:p xmlns:a="http://schemas.openxmlformats.org/drawingml/2006/main">
            <a:pPr>
              <a:defRPr sz="2175" b="0">
                <a:solidFill>
                  <a:srgbClr val="192E43"/>
                </a:solidFill>
                <a:latin typeface="Arial"/>
                <a:ea typeface="Arial"/>
                <a:cs typeface="Arial"/>
              </a:defRPr>
            </a:pPr>
            <a:r>
              <a:rPr sz="2175" b="0">
                <a:solidFill>
                  <a:srgbClr val="192E43"/>
                </a:solidFill>
                <a:latin typeface="Arial"/>
                <a:ea typeface="Arial"/>
                <a:cs typeface="Arial"/>
              </a:rPr>
              <a:t>Keep only edges between different SCCs, with no duplicate pairs.</a:t>
            </a:r>
          </a:p>
        </p:txBody>
      </p:sp>
      <p:sp>
        <p:nvSpPr>
          <p:cNvPr id="4" name="">
            <a:extLst xmlns:a="http://schemas.openxmlformats.org/drawingml/2006/main">
              <a:ext uri="{FF2B5EF4-FFF2-40B4-BE49-F238E27FC236}">
                <a16:creationId xmlns:a16="http://schemas.microsoft.com/office/drawing/2014/main" id="{536882FC-FE54-4090-99FE-0D9C9DF89239}"/>
              </a:ext>
            </a:extLst>
          </p:cNvPr>
          <p:cNvSpPr>
            <a:spLocks xmlns:a="http://schemas.openxmlformats.org/drawingml/2006/main" noGrp="1"/>
          </p:cNvSpPr>
          <p:nvPr/>
        </p:nvSpPr>
        <p:spPr>
          <a:xfrm xmlns:a="http://schemas.openxmlformats.org/drawingml/2006/main">
            <a:off x="571500" y="250507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With labels [7,7,9,9,12], two 1→2 edges become one [7,9] edge.</a:t>
            </a:r>
          </a:p>
        </p:txBody>
      </p:sp>
      <p:sp>
        <p:nvSpPr>
          <p:cNvPr id="5" name="">
            <a:extLst xmlns:a="http://schemas.openxmlformats.org/drawingml/2006/main">
              <a:ext uri="{FF2B5EF4-FFF2-40B4-BE49-F238E27FC236}">
                <a16:creationId xmlns:a16="http://schemas.microsoft.com/office/drawing/2014/main" id="{85E22FFE-089D-4C60-94AD-2348F8BDFFB6}"/>
              </a:ext>
            </a:extLst>
          </p:cNvPr>
          <p:cNvSpPr>
            <a:spLocks xmlns:a="http://schemas.openxmlformats.org/drawingml/2006/main" noGrp="1"/>
          </p:cNvSpPr>
          <p:nvPr/>
        </p:nvSpPr>
        <p:spPr>
          <a:xfrm xmlns:a="http://schemas.openxmlformats.org/drawingml/2006/main">
            <a:off x="781050" y="3448050"/>
            <a:ext cx="106299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Courier New"/>
                <a:ea typeface="Courier New"/>
                <a:cs typeface="Courier New"/>
              </a:defRPr>
            </a:defPPr>
          </a:lstStyle>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int a = component[u];</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int b = component[v];</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if (a != b) {</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pairs.add(new Pair(a, b));</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21152545-64E8-4D46-8513-128E67DB60D3}"/>
              </a:ext>
            </a:extLst>
          </p:cNvPr>
          <p:cNvSpPr>
            <a:spLocks xmlns:a="http://schemas.openxmlformats.org/drawingml/2006/main" noGrp="1"/>
          </p:cNvSpPr>
          <p:nvPr/>
        </p:nvSpPr>
        <p:spPr>
          <a:xfrm xmlns:a="http://schemas.openxmlformats.org/drawingml/2006/main">
            <a:off x="571500" y="564832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1">
                <a:solidFill>
                  <a:srgbClr val="AC4D73"/>
                </a:solidFill>
                <a:latin typeface="Arial"/>
                <a:ea typeface="Arial"/>
                <a:cs typeface="Arial"/>
              </a:defRPr>
            </a:defPPr>
          </a:lstStyle>
          <a:p xmlns:a="http://schemas.openxmlformats.org/drawingml/2006/main">
            <a:pPr>
              <a:defRPr sz="2025" b="1">
                <a:solidFill>
                  <a:srgbClr val="AC4D73"/>
                </a:solidFill>
                <a:latin typeface="Arial"/>
                <a:ea typeface="Arial"/>
                <a:cs typeface="Arial"/>
              </a:defRPr>
            </a:pPr>
            <a:r>
              <a:rPr sz="2025" b="1">
                <a:solidFill>
                  <a:srgbClr val="AC4D73"/>
                </a:solidFill>
                <a:latin typeface="Arial"/>
                <a:ea typeface="Arial"/>
                <a:cs typeface="Arial"/>
              </a:rPr>
              <a:t>Edges inside a group disappear. condensation=[[7,9]].</a:t>
            </a:r>
          </a:p>
        </p:txBody>
      </p:sp>
      <p:sp>
        <p:nvSpPr>
          <p:cNvPr id="7" name="">
            <a:extLst xmlns:a="http://schemas.openxmlformats.org/drawingml/2006/main">
              <a:ext uri="{FF2B5EF4-FFF2-40B4-BE49-F238E27FC236}">
                <a16:creationId xmlns:a16="http://schemas.microsoft.com/office/drawing/2014/main" id="{3B79AB15-8EF7-4544-A502-561685E42F52}"/>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A38AD31A-6918-4584-8365-028BED58E36F}"/>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33 / 64</a:t>
            </a:r>
          </a:p>
        </p:txBody>
      </p:sp>
    </p:spTree>
    <p:extLst>
      <p:ext uri="{BB962C8B-B14F-4D97-AF65-F5344CB8AC3E}">
        <p14:creationId xmlns:p14="http://schemas.microsoft.com/office/powerpoint/2010/main" val="1631180698"/>
      </p:ext>
    </p:extLst>
  </p:cSld>
</p:sld>
</file>

<file path=ppt/slides/slide34.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5B97019-1986-46B1-B4BF-9709D4014C04}"/>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Kosaraju</a:t>
            </a:r>
          </a:p>
        </p:txBody>
      </p:sp>
      <p:sp>
        <p:nvSpPr>
          <p:cNvPr id="2" name="">
            <a:extLst xmlns:a="http://schemas.openxmlformats.org/drawingml/2006/main">
              <a:ext uri="{FF2B5EF4-FFF2-40B4-BE49-F238E27FC236}">
                <a16:creationId xmlns:a16="http://schemas.microsoft.com/office/drawing/2014/main" id="{96F9437F-9C64-47E5-83D9-143DC67BF2B1}"/>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SCC: complete input and one valid answer</a:t>
            </a:r>
          </a:p>
        </p:txBody>
      </p:sp>
      <p:sp>
        <p:nvSpPr>
          <p:cNvPr id="3" name="">
            <a:extLst xmlns:a="http://schemas.openxmlformats.org/drawingml/2006/main">
              <a:ext uri="{FF2B5EF4-FFF2-40B4-BE49-F238E27FC236}">
                <a16:creationId xmlns:a16="http://schemas.microsoft.com/office/drawing/2014/main" id="{2F33F6F6-DB39-4844-9FF9-0A91797DA4D7}"/>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component gives a label for each of five vertices. condensation lists edges between labels.</a:t>
            </a:r>
          </a:p>
        </p:txBody>
      </p:sp>
      <p:sp>
        <p:nvSpPr>
          <p:cNvPr id="4" name="">
            <a:extLst xmlns:a="http://schemas.openxmlformats.org/drawingml/2006/main">
              <a:ext uri="{FF2B5EF4-FFF2-40B4-BE49-F238E27FC236}">
                <a16:creationId xmlns:a16="http://schemas.microsoft.com/office/drawing/2014/main" id="{E935CB6A-A6EE-4927-8D68-67AC58F4463F}"/>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Two 1→2 edges yield only one [7,9] pair. Vertex 4 has its own label 12.</a:t>
            </a:r>
          </a:p>
        </p:txBody>
      </p:sp>
      <p:graphicFrame>
        <p:nvGraphicFramePr>
          <p:cNvPr id="5" name="">
            <a:extLst xmlns:a="http://schemas.openxmlformats.org/drawingml/2006/main">
              <a:ext uri="{FF2B5EF4-FFF2-40B4-BE49-F238E27FC236}">
                <a16:creationId xmlns:a16="http://schemas.microsoft.com/office/drawing/2014/main" id="{2DCFE510-D856-4FFD-906A-DC1FC96DB94D}"/>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2979763"/>
                <a:gridCol w="8069237"/>
              </a:tblGrid>
              <a:tr h="920750">
                <a:tc>
                  <a:txBody>
                    <a:bodyPr/>
                    <a:lstStyle/>
                    <a:p>
                      <a:r>
                        <a:rPr sz="1725" b="1">
                          <a:solidFill>
                            <a:srgbClr val="192E43"/>
                          </a:solidFill>
                          <a:latin typeface="Arial"/>
                          <a:ea typeface="Arial"/>
                          <a:cs typeface="Arial"/>
                        </a:rPr>
                        <a:t>Item</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JSON</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920750">
                <a:tc>
                  <a:txBody>
                    <a:bodyPr/>
                    <a:lstStyle/>
                    <a:p>
                      <a:r>
                        <a:rPr sz="1725" b="0">
                          <a:solidFill>
                            <a:srgbClr val="192E43"/>
                          </a:solidFill>
                          <a:latin typeface="Arial"/>
                          <a:ea typeface="Arial"/>
                          <a:cs typeface="Arial"/>
                        </a:rPr>
                        <a:t>Input</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{"task":"scc","n":5,"edges":[[0,1],[1,0],[1,2],[1,2],[2,3],[3,2]]}</a:t>
                      </a:r>
                    </a:p>
                  </a:txBody>
                  <a:tcPr marL="91440" marR="91440" marT="45720" marB="45720">
                    <a:lnR w="9525">
                      <a:solidFill>
                        <a:srgbClr val="E2DCE0"/>
                      </a:solidFill>
                      <a:prstDash val="solid"/>
                    </a:lnR>
                    <a:lnB w="9525">
                      <a:solidFill>
                        <a:srgbClr val="E2DCE0"/>
                      </a:solidFill>
                      <a:prstDash val="solid"/>
                    </a:lnB>
                    <a:solidFill>
                      <a:srgbClr val="FFFEFC"/>
                    </a:solidFill>
                  </a:tcPr>
                </a:tc>
              </a:tr>
              <a:tr h="920750">
                <a:tc>
                  <a:txBody>
                    <a:bodyPr/>
                    <a:lstStyle/>
                    <a:p>
                      <a:r>
                        <a:rPr sz="1725" b="0">
                          <a:solidFill>
                            <a:srgbClr val="192E43"/>
                          </a:solidFill>
                          <a:latin typeface="Arial"/>
                          <a:ea typeface="Arial"/>
                          <a:cs typeface="Arial"/>
                        </a:rPr>
                        <a:t>Output</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{"component":[7,7,9,9,12],"condensation":[[7,9]]}</a:t>
                      </a:r>
                    </a:p>
                  </a:txBody>
                  <a:tcPr marL="91440" marR="91440" marT="45720" marB="45720">
                    <a:lnR w="9525">
                      <a:solidFill>
                        <a:srgbClr val="E2DCE0"/>
                      </a:solidFill>
                      <a:prstDash val="solid"/>
                    </a:lnR>
                    <a:lnB w="9525">
                      <a:solidFill>
                        <a:srgbClr val="E2DCE0"/>
                      </a:solidFill>
                      <a:prstDash val="solid"/>
                    </a:lnB>
                    <a:solidFill>
                      <a:srgbClr val="FAF8F8"/>
                    </a:solidFill>
                  </a:tcPr>
                </a:tc>
              </a:tr>
            </a:tbl>
          </a:graphicData>
        </a:graphic>
      </p:graphicFrame>
      <p:sp>
        <p:nvSpPr>
          <p:cNvPr id="6" name="">
            <a:extLst xmlns:a="http://schemas.openxmlformats.org/drawingml/2006/main">
              <a:ext uri="{FF2B5EF4-FFF2-40B4-BE49-F238E27FC236}">
                <a16:creationId xmlns:a16="http://schemas.microsoft.com/office/drawing/2014/main" id="{9D82312E-B6C6-49F6-A2AC-DDF5B7DBE1E4}"/>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Other nonnegative labels work if the groups and their connections remain the same.</a:t>
            </a:r>
          </a:p>
        </p:txBody>
      </p:sp>
      <p:sp>
        <p:nvSpPr>
          <p:cNvPr id="7" name="">
            <a:extLst xmlns:a="http://schemas.openxmlformats.org/drawingml/2006/main">
              <a:ext uri="{FF2B5EF4-FFF2-40B4-BE49-F238E27FC236}">
                <a16:creationId xmlns:a16="http://schemas.microsoft.com/office/drawing/2014/main" id="{F930A4B5-689C-458E-AFC2-3643C63C3518}"/>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E7E4DDF4-8BE5-496D-8A54-195E91278E1A}"/>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34 / 64</a:t>
            </a:r>
          </a:p>
        </p:txBody>
      </p:sp>
    </p:spTree>
    <p:extLst>
      <p:ext uri="{BB962C8B-B14F-4D97-AF65-F5344CB8AC3E}">
        <p14:creationId xmlns:p14="http://schemas.microsoft.com/office/powerpoint/2010/main" val="1229198448"/>
      </p:ext>
    </p:extLst>
  </p:cSld>
</p:sld>
</file>

<file path=ppt/slides/slide35.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B781D20-8F5F-42B1-8557-838D1A44AEF7}"/>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Task ordering</a:t>
            </a:r>
          </a:p>
        </p:txBody>
      </p:sp>
      <p:sp>
        <p:nvSpPr>
          <p:cNvPr id="2" name="">
            <a:extLst xmlns:a="http://schemas.openxmlformats.org/drawingml/2006/main">
              <a:ext uri="{FF2B5EF4-FFF2-40B4-BE49-F238E27FC236}">
                <a16:creationId xmlns:a16="http://schemas.microsoft.com/office/drawing/2014/main" id="{8500FED5-FC00-4EEB-9DC9-E42E23ABB274}"/>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Topo: a task order that respects dependencies</a:t>
            </a:r>
          </a:p>
        </p:txBody>
      </p:sp>
      <p:sp>
        <p:nvSpPr>
          <p:cNvPr id="3" name="">
            <a:extLst xmlns:a="http://schemas.openxmlformats.org/drawingml/2006/main">
              <a:ext uri="{FF2B5EF4-FFF2-40B4-BE49-F238E27FC236}">
                <a16:creationId xmlns:a16="http://schemas.microsoft.com/office/drawing/2014/main" id="{45656098-3E18-4C9F-97D6-E64674B00713}"/>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An edge u→v means task u must finish before v.</a:t>
            </a:r>
          </a:p>
        </p:txBody>
      </p:sp>
      <p:sp>
        <p:nvSpPr>
          <p:cNvPr id="4" name="">
            <a:extLst xmlns:a="http://schemas.openxmlformats.org/drawingml/2006/main">
              <a:ext uri="{FF2B5EF4-FFF2-40B4-BE49-F238E27FC236}">
                <a16:creationId xmlns:a16="http://schemas.microsoft.com/office/drawing/2014/main" id="{771C9B33-5D09-4823-80A7-6586926AE90B}"/>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0: prepare venue. 1: install stage. 2: connect power. 3: start concert.</a:t>
            </a:r>
          </a:p>
        </p:txBody>
      </p:sp>
      <p:sp>
        <p:nvSpPr>
          <p:cNvPr id="5" name="">
            <a:extLst xmlns:a="http://schemas.openxmlformats.org/drawingml/2006/main">
              <a:ext uri="{FF2B5EF4-FFF2-40B4-BE49-F238E27FC236}">
                <a16:creationId xmlns:a16="http://schemas.microsoft.com/office/drawing/2014/main" id="{67A4F51C-A91B-4E09-A2AD-57E8C4B2BD28}"/>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Dependencies: 0→1, 0→2, 1→3, 2→3. The concert follows both preparations.</a:t>
            </a:r>
          </a:p>
        </p:txBody>
      </p:sp>
      <p:sp>
        <p:nvSpPr>
          <p:cNvPr id="6" name="">
            <a:extLst xmlns:a="http://schemas.openxmlformats.org/drawingml/2006/main">
              <a:ext uri="{FF2B5EF4-FFF2-40B4-BE49-F238E27FC236}">
                <a16:creationId xmlns:a16="http://schemas.microsoft.com/office/drawing/2014/main" id="{B810DD46-666F-4C65-B143-2AC841B7D96A}"/>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7" name="">
            <a:extLst xmlns:a="http://schemas.openxmlformats.org/drawingml/2006/main">
              <a:ext uri="{FF2B5EF4-FFF2-40B4-BE49-F238E27FC236}">
                <a16:creationId xmlns:a16="http://schemas.microsoft.com/office/drawing/2014/main" id="{9F153733-DABB-4150-9014-8F374B9F6AC6}"/>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35 / 64</a:t>
            </a:r>
          </a:p>
        </p:txBody>
      </p:sp>
    </p:spTree>
    <p:extLst>
      <p:ext uri="{BB962C8B-B14F-4D97-AF65-F5344CB8AC3E}">
        <p14:creationId xmlns:p14="http://schemas.microsoft.com/office/powerpoint/2010/main" val="325553014"/>
      </p:ext>
    </p:extLst>
  </p:cSld>
</p:sld>
</file>

<file path=ppt/slides/slide36.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E0E181E-04F8-4472-866A-D53201247992}"/>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Task ordering</a:t>
            </a:r>
          </a:p>
        </p:txBody>
      </p:sp>
      <p:sp>
        <p:nvSpPr>
          <p:cNvPr id="2" name="">
            <a:extLst xmlns:a="http://schemas.openxmlformats.org/drawingml/2006/main">
              <a:ext uri="{FF2B5EF4-FFF2-40B4-BE49-F238E27FC236}">
                <a16:creationId xmlns:a16="http://schemas.microsoft.com/office/drawing/2014/main" id="{7A5AC04A-5C94-4870-8CBD-B04B7CC62874}"/>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The three DFS states</a:t>
            </a:r>
          </a:p>
        </p:txBody>
      </p:sp>
      <p:sp>
        <p:nvSpPr>
          <p:cNvPr id="3" name="">
            <a:extLst xmlns:a="http://schemas.openxmlformats.org/drawingml/2006/main">
              <a:ext uri="{FF2B5EF4-FFF2-40B4-BE49-F238E27FC236}">
                <a16:creationId xmlns:a16="http://schemas.microsoft.com/office/drawing/2014/main" id="{FD55CB79-9603-476E-BB4C-2A8EC2E05B75}"/>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Distinguish the current unfinished chain from a completed vertex.</a:t>
            </a:r>
          </a:p>
        </p:txBody>
      </p:sp>
      <p:sp>
        <p:nvSpPr>
          <p:cNvPr id="4" name="">
            <a:extLst xmlns:a="http://schemas.openxmlformats.org/drawingml/2006/main">
              <a:ext uri="{FF2B5EF4-FFF2-40B4-BE49-F238E27FC236}">
                <a16:creationId xmlns:a16="http://schemas.microsoft.com/office/drawing/2014/main" id="{431839AB-102F-4B54-B5AB-58FE2E016D45}"/>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WHITE: not started. GRAY: entered, not exited. BLACK: completed.</a:t>
            </a:r>
          </a:p>
        </p:txBody>
      </p:sp>
      <p:graphicFrame>
        <p:nvGraphicFramePr>
          <p:cNvPr id="5" name="">
            <a:extLst xmlns:a="http://schemas.openxmlformats.org/drawingml/2006/main">
              <a:ext uri="{FF2B5EF4-FFF2-40B4-BE49-F238E27FC236}">
                <a16:creationId xmlns:a16="http://schemas.microsoft.com/office/drawing/2014/main" id="{4B09B641-BA5D-4ADF-A018-541549F1A0C4}"/>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2881213"/>
                <a:gridCol w="4705001"/>
                <a:gridCol w="3462787"/>
              </a:tblGrid>
              <a:tr h="690563">
                <a:tc>
                  <a:txBody>
                    <a:bodyPr/>
                    <a:lstStyle/>
                    <a:p>
                      <a:r>
                        <a:rPr sz="1725" b="1">
                          <a:solidFill>
                            <a:srgbClr val="192E43"/>
                          </a:solidFill>
                          <a:latin typeface="Arial"/>
                          <a:ea typeface="Arial"/>
                          <a:cs typeface="Arial"/>
                        </a:rPr>
                        <a:t>State</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Plain meaning</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When assigned</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690563">
                <a:tc>
                  <a:txBody>
                    <a:bodyPr/>
                    <a:lstStyle/>
                    <a:p>
                      <a:r>
                        <a:rPr sz="1725" b="0">
                          <a:solidFill>
                            <a:srgbClr val="192E43"/>
                          </a:solidFill>
                          <a:latin typeface="Arial"/>
                          <a:ea typeface="Arial"/>
                          <a:cs typeface="Arial"/>
                        </a:rPr>
                        <a:t>WHITE / 0</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Not processed yet</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Initially</a:t>
                      </a:r>
                    </a:p>
                  </a:txBody>
                  <a:tcPr marL="91440" marR="91440" marT="45720" marB="45720">
                    <a:lnR w="9525">
                      <a:solidFill>
                        <a:srgbClr val="E2DCE0"/>
                      </a:solidFill>
                      <a:prstDash val="solid"/>
                    </a:lnR>
                    <a:lnB w="9525">
                      <a:solidFill>
                        <a:srgbClr val="E2DCE0"/>
                      </a:solidFill>
                      <a:prstDash val="solid"/>
                    </a:lnB>
                    <a:solidFill>
                      <a:srgbClr val="FFFEFC"/>
                    </a:solidFill>
                  </a:tcPr>
                </a:tc>
              </a:tr>
              <a:tr h="690563">
                <a:tc>
                  <a:txBody>
                    <a:bodyPr/>
                    <a:lstStyle/>
                    <a:p>
                      <a:r>
                        <a:rPr sz="1725" b="0">
                          <a:solidFill>
                            <a:srgbClr val="192E43"/>
                          </a:solidFill>
                          <a:latin typeface="Arial"/>
                          <a:ea typeface="Arial"/>
                          <a:cs typeface="Arial"/>
                        </a:rPr>
                        <a:t>GRAY / 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On the current DFS chain</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On entry</a:t>
                      </a:r>
                    </a:p>
                  </a:txBody>
                  <a:tcPr marL="91440" marR="91440" marT="45720" marB="45720">
                    <a:lnR w="9525">
                      <a:solidFill>
                        <a:srgbClr val="E2DCE0"/>
                      </a:solidFill>
                      <a:prstDash val="solid"/>
                    </a:lnR>
                    <a:lnB w="9525">
                      <a:solidFill>
                        <a:srgbClr val="E2DCE0"/>
                      </a:solidFill>
                      <a:prstDash val="solid"/>
                    </a:lnB>
                    <a:solidFill>
                      <a:srgbClr val="FAF8F8"/>
                    </a:solidFill>
                  </a:tcPr>
                </a:tc>
              </a:tr>
              <a:tr h="690563">
                <a:tc>
                  <a:txBody>
                    <a:bodyPr/>
                    <a:lstStyle/>
                    <a:p>
                      <a:r>
                        <a:rPr sz="1725" b="0">
                          <a:solidFill>
                            <a:srgbClr val="192E43"/>
                          </a:solidFill>
                          <a:latin typeface="Arial"/>
                          <a:ea typeface="Arial"/>
                          <a:cs typeface="Arial"/>
                        </a:rPr>
                        <a:t>BLACK / 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All neighbors processed</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On exit</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C1EDB241-2D6F-4456-AE84-766DE8CBE042}"/>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An edge to GRAY reveals a cycle. An edge to BLACK alone does not.</a:t>
            </a:r>
          </a:p>
        </p:txBody>
      </p:sp>
      <p:sp>
        <p:nvSpPr>
          <p:cNvPr id="7" name="">
            <a:extLst xmlns:a="http://schemas.openxmlformats.org/drawingml/2006/main">
              <a:ext uri="{FF2B5EF4-FFF2-40B4-BE49-F238E27FC236}">
                <a16:creationId xmlns:a16="http://schemas.microsoft.com/office/drawing/2014/main" id="{A7BEA3E0-A43C-4713-ABED-2BB48BAE4B9A}"/>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EA13DFBC-179D-47EA-9554-614BEAB0D405}"/>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36 / 64</a:t>
            </a:r>
          </a:p>
        </p:txBody>
      </p:sp>
    </p:spTree>
    <p:extLst>
      <p:ext uri="{BB962C8B-B14F-4D97-AF65-F5344CB8AC3E}">
        <p14:creationId xmlns:p14="http://schemas.microsoft.com/office/powerpoint/2010/main" val="1677835131"/>
      </p:ext>
    </p:extLst>
  </p:cSld>
</p:sld>
</file>

<file path=ppt/slides/slide37.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522E634-9C2F-49E1-BB57-B69D030C7666}"/>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Task ordering</a:t>
            </a:r>
          </a:p>
        </p:txBody>
      </p:sp>
      <p:sp>
        <p:nvSpPr>
          <p:cNvPr id="2" name="">
            <a:extLst xmlns:a="http://schemas.openxmlformats.org/drawingml/2006/main">
              <a:ext uri="{FF2B5EF4-FFF2-40B4-BE49-F238E27FC236}">
                <a16:creationId xmlns:a16="http://schemas.microsoft.com/office/drawing/2014/main" id="{98F656C0-854F-42A2-9B10-89AAACEA4C74}"/>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DFS trace: first 0, then 1 and 3</a:t>
            </a:r>
          </a:p>
        </p:txBody>
      </p:sp>
      <p:sp>
        <p:nvSpPr>
          <p:cNvPr id="3" name="">
            <a:extLst xmlns:a="http://schemas.openxmlformats.org/drawingml/2006/main">
              <a:ext uri="{FF2B5EF4-FFF2-40B4-BE49-F238E27FC236}">
                <a16:creationId xmlns:a16="http://schemas.microsoft.com/office/drawing/2014/main" id="{6BEA6BEE-5203-4E98-90C5-982D2AB1FBA6}"/>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Inspect neighbors of 0 in order 1, then 2.</a:t>
            </a:r>
          </a:p>
        </p:txBody>
      </p:sp>
      <p:sp>
        <p:nvSpPr>
          <p:cNvPr id="4" name="">
            <a:extLst xmlns:a="http://schemas.openxmlformats.org/drawingml/2006/main">
              <a:ext uri="{FF2B5EF4-FFF2-40B4-BE49-F238E27FC236}">
                <a16:creationId xmlns:a16="http://schemas.microsoft.com/office/drawing/2014/main" id="{31ABEAAC-E89B-454B-9AAE-27D11A0E0B52}"/>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Enter 0, then 1, then 3. Vertex 3 has no outgoing edges.</a:t>
            </a:r>
          </a:p>
        </p:txBody>
      </p:sp>
      <p:graphicFrame>
        <p:nvGraphicFramePr>
          <p:cNvPr id="5" name="">
            <a:extLst xmlns:a="http://schemas.openxmlformats.org/drawingml/2006/main">
              <a:ext uri="{FF2B5EF4-FFF2-40B4-BE49-F238E27FC236}">
                <a16:creationId xmlns:a16="http://schemas.microsoft.com/office/drawing/2014/main" id="{9F16DAE9-C35F-4673-8204-0303C3A21558}"/>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3236177"/>
                <a:gridCol w="4576646"/>
                <a:gridCol w="3236177"/>
              </a:tblGrid>
              <a:tr h="460375">
                <a:tc>
                  <a:txBody>
                    <a:bodyPr/>
                    <a:lstStyle/>
                    <a:p>
                      <a:r>
                        <a:rPr sz="1725" b="1">
                          <a:solidFill>
                            <a:srgbClr val="192E43"/>
                          </a:solidFill>
                          <a:latin typeface="Arial"/>
                          <a:ea typeface="Arial"/>
                          <a:cs typeface="Arial"/>
                        </a:rPr>
                        <a:t>Moment</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Current GRAY chain</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Finished</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460375">
                <a:tc>
                  <a:txBody>
                    <a:bodyPr/>
                    <a:lstStyle/>
                    <a:p>
                      <a:r>
                        <a:rPr sz="1725" b="0">
                          <a:solidFill>
                            <a:srgbClr val="192E43"/>
                          </a:solidFill>
                          <a:latin typeface="Arial"/>
                          <a:ea typeface="Arial"/>
                          <a:cs typeface="Arial"/>
                        </a:rPr>
                        <a:t>Enter 0</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a:t>
                      </a:r>
                    </a:p>
                  </a:txBody>
                  <a:tcPr marL="91440" marR="91440" marT="45720" marB="45720">
                    <a:lnR w="9525">
                      <a:solidFill>
                        <a:srgbClr val="E2DCE0"/>
                      </a:solidFill>
                      <a:prstDash val="solid"/>
                    </a:lnR>
                    <a:lnB w="9525">
                      <a:solidFill>
                        <a:srgbClr val="E2DCE0"/>
                      </a:solidFill>
                      <a:prstDash val="solid"/>
                    </a:lnB>
                    <a:solidFill>
                      <a:srgbClr val="FFFEFC"/>
                    </a:solidFill>
                  </a:tcPr>
                </a:tc>
              </a:tr>
              <a:tr h="460375">
                <a:tc>
                  <a:txBody>
                    <a:bodyPr/>
                    <a:lstStyle/>
                    <a:p>
                      <a:r>
                        <a:rPr sz="1725" b="0">
                          <a:solidFill>
                            <a:srgbClr val="192E43"/>
                          </a:solidFill>
                          <a:latin typeface="Arial"/>
                          <a:ea typeface="Arial"/>
                          <a:cs typeface="Arial"/>
                        </a:rPr>
                        <a:t>Enter 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0, 1</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a:t>
                      </a:r>
                    </a:p>
                  </a:txBody>
                  <a:tcPr marL="91440" marR="91440" marT="45720" marB="45720">
                    <a:lnR w="9525">
                      <a:solidFill>
                        <a:srgbClr val="E2DCE0"/>
                      </a:solidFill>
                      <a:prstDash val="solid"/>
                    </a:lnR>
                    <a:lnB w="9525">
                      <a:solidFill>
                        <a:srgbClr val="E2DCE0"/>
                      </a:solidFill>
                      <a:prstDash val="solid"/>
                    </a:lnB>
                    <a:solidFill>
                      <a:srgbClr val="FAF8F8"/>
                    </a:solidFill>
                  </a:tcPr>
                </a:tc>
              </a:tr>
              <a:tr h="460375">
                <a:tc>
                  <a:txBody>
                    <a:bodyPr/>
                    <a:lstStyle/>
                    <a:p>
                      <a:r>
                        <a:rPr sz="1725" b="0">
                          <a:solidFill>
                            <a:srgbClr val="192E43"/>
                          </a:solidFill>
                          <a:latin typeface="Arial"/>
                          <a:ea typeface="Arial"/>
                          <a:cs typeface="Arial"/>
                        </a:rPr>
                        <a:t>Enter 3</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0, 1, 3</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a:t>
                      </a:r>
                    </a:p>
                  </a:txBody>
                  <a:tcPr marL="91440" marR="91440" marT="45720" marB="45720">
                    <a:lnR w="9525">
                      <a:solidFill>
                        <a:srgbClr val="E2DCE0"/>
                      </a:solidFill>
                      <a:prstDash val="solid"/>
                    </a:lnR>
                    <a:lnB w="9525">
                      <a:solidFill>
                        <a:srgbClr val="E2DCE0"/>
                      </a:solidFill>
                      <a:prstDash val="solid"/>
                    </a:lnB>
                    <a:solidFill>
                      <a:srgbClr val="FFFEFC"/>
                    </a:solidFill>
                  </a:tcPr>
                </a:tc>
              </a:tr>
              <a:tr h="460375">
                <a:tc>
                  <a:txBody>
                    <a:bodyPr/>
                    <a:lstStyle/>
                    <a:p>
                      <a:r>
                        <a:rPr sz="1725" b="0">
                          <a:solidFill>
                            <a:srgbClr val="192E43"/>
                          </a:solidFill>
                          <a:latin typeface="Arial"/>
                          <a:ea typeface="Arial"/>
                          <a:cs typeface="Arial"/>
                        </a:rPr>
                        <a:t>Exit 3</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0, 1</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[3]</a:t>
                      </a:r>
                    </a:p>
                  </a:txBody>
                  <a:tcPr marL="91440" marR="91440" marT="45720" marB="45720">
                    <a:lnR w="9525">
                      <a:solidFill>
                        <a:srgbClr val="E2DCE0"/>
                      </a:solidFill>
                      <a:prstDash val="solid"/>
                    </a:lnR>
                    <a:lnB w="9525">
                      <a:solidFill>
                        <a:srgbClr val="E2DCE0"/>
                      </a:solidFill>
                      <a:prstDash val="solid"/>
                    </a:lnB>
                    <a:solidFill>
                      <a:srgbClr val="FAF8F8"/>
                    </a:solidFill>
                  </a:tcPr>
                </a:tc>
              </a:tr>
              <a:tr h="460375">
                <a:tc>
                  <a:txBody>
                    <a:bodyPr/>
                    <a:lstStyle/>
                    <a:p>
                      <a:r>
                        <a:rPr sz="1725" b="0">
                          <a:solidFill>
                            <a:srgbClr val="192E43"/>
                          </a:solidFill>
                          <a:latin typeface="Arial"/>
                          <a:ea typeface="Arial"/>
                          <a:cs typeface="Arial"/>
                        </a:rPr>
                        <a:t>Exit 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[3,1]</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8D0B2096-3125-4C24-A0F8-0D9B98D418D5}"/>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Finish 3 and record [3]. Return to 1 and finish it: [3,1].</a:t>
            </a:r>
          </a:p>
        </p:txBody>
      </p:sp>
      <p:sp>
        <p:nvSpPr>
          <p:cNvPr id="7" name="">
            <a:extLst xmlns:a="http://schemas.openxmlformats.org/drawingml/2006/main">
              <a:ext uri="{FF2B5EF4-FFF2-40B4-BE49-F238E27FC236}">
                <a16:creationId xmlns:a16="http://schemas.microsoft.com/office/drawing/2014/main" id="{5AC5A9E7-212D-4540-A597-741F9E05C347}"/>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9740F4AF-4197-4A72-8352-04AA507B626A}"/>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37 / 64</a:t>
            </a:r>
          </a:p>
        </p:txBody>
      </p:sp>
    </p:spTree>
    <p:extLst>
      <p:ext uri="{BB962C8B-B14F-4D97-AF65-F5344CB8AC3E}">
        <p14:creationId xmlns:p14="http://schemas.microsoft.com/office/powerpoint/2010/main" val="1903763723"/>
      </p:ext>
    </p:extLst>
  </p:cSld>
</p:sld>
</file>

<file path=ppt/slides/slide38.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362BE43-2B06-436E-8565-9F4F539EFD85}"/>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Task ordering</a:t>
            </a:r>
          </a:p>
        </p:txBody>
      </p:sp>
      <p:sp>
        <p:nvSpPr>
          <p:cNvPr id="2" name="">
            <a:extLst xmlns:a="http://schemas.openxmlformats.org/drawingml/2006/main">
              <a:ext uri="{FF2B5EF4-FFF2-40B4-BE49-F238E27FC236}">
                <a16:creationId xmlns:a16="http://schemas.microsoft.com/office/drawing/2014/main" id="{FDFC8E35-67E5-44D2-ADD4-0203D1F275D4}"/>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DFS trace: branch 2 and reversal</a:t>
            </a:r>
          </a:p>
        </p:txBody>
      </p:sp>
      <p:sp>
        <p:nvSpPr>
          <p:cNvPr id="3" name="">
            <a:extLst xmlns:a="http://schemas.openxmlformats.org/drawingml/2006/main">
              <a:ext uri="{FF2B5EF4-FFF2-40B4-BE49-F238E27FC236}">
                <a16:creationId xmlns:a16="http://schemas.microsoft.com/office/drawing/2014/main" id="{4DF3BB40-562C-472B-9B0B-0D9F20EB19EF}"/>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From 0, enter 2. Its neighbor 3 is already BLACK.</a:t>
            </a:r>
          </a:p>
        </p:txBody>
      </p:sp>
      <p:sp>
        <p:nvSpPr>
          <p:cNvPr id="4" name="">
            <a:extLst xmlns:a="http://schemas.openxmlformats.org/drawingml/2006/main">
              <a:ext uri="{FF2B5EF4-FFF2-40B4-BE49-F238E27FC236}">
                <a16:creationId xmlns:a16="http://schemas.microsoft.com/office/drawing/2014/main" id="{4B3647DA-FDF5-45CF-B8CB-0119D7CF475C}"/>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There is no cycle. Finish 2, then 0: [3,1,2,0].</a:t>
            </a:r>
          </a:p>
        </p:txBody>
      </p:sp>
      <p:graphicFrame>
        <p:nvGraphicFramePr>
          <p:cNvPr id="5" name="">
            <a:extLst xmlns:a="http://schemas.openxmlformats.org/drawingml/2006/main">
              <a:ext uri="{FF2B5EF4-FFF2-40B4-BE49-F238E27FC236}">
                <a16:creationId xmlns:a16="http://schemas.microsoft.com/office/drawing/2014/main" id="{F8BE552B-04C0-4446-A5DD-796613F4EB7C}"/>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3100628"/>
                <a:gridCol w="4847744"/>
                <a:gridCol w="3100628"/>
              </a:tblGrid>
              <a:tr h="552450">
                <a:tc>
                  <a:txBody>
                    <a:bodyPr/>
                    <a:lstStyle/>
                    <a:p>
                      <a:r>
                        <a:rPr sz="1725" b="1">
                          <a:solidFill>
                            <a:srgbClr val="192E43"/>
                          </a:solidFill>
                          <a:latin typeface="Arial"/>
                          <a:ea typeface="Arial"/>
                          <a:cs typeface="Arial"/>
                        </a:rPr>
                        <a:t>Edge</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Positions in [0,2,1,3]</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Valid?</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552450">
                <a:tc>
                  <a:txBody>
                    <a:bodyPr/>
                    <a:lstStyle/>
                    <a:p>
                      <a:r>
                        <a:rPr sz="1725" b="0">
                          <a:solidFill>
                            <a:srgbClr val="192E43"/>
                          </a:solidFill>
                          <a:latin typeface="Arial"/>
                          <a:ea typeface="Arial"/>
                          <a:cs typeface="Arial"/>
                        </a:rPr>
                        <a:t>0→1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 &lt; 2</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Yes</a:t>
                      </a:r>
                    </a:p>
                  </a:txBody>
                  <a:tcPr marL="91440" marR="91440" marT="45720" marB="45720">
                    <a:lnR w="9525">
                      <a:solidFill>
                        <a:srgbClr val="E2DCE0"/>
                      </a:solidFill>
                      <a:prstDash val="solid"/>
                    </a:lnR>
                    <a:lnB w="9525">
                      <a:solidFill>
                        <a:srgbClr val="E2DCE0"/>
                      </a:solidFill>
                      <a:prstDash val="solid"/>
                    </a:lnB>
                    <a:solidFill>
                      <a:srgbClr val="FFFEFC"/>
                    </a:solidFill>
                  </a:tcPr>
                </a:tc>
              </a:tr>
              <a:tr h="552450">
                <a:tc>
                  <a:txBody>
                    <a:bodyPr/>
                    <a:lstStyle/>
                    <a:p>
                      <a:r>
                        <a:rPr sz="1725" b="0">
                          <a:solidFill>
                            <a:srgbClr val="192E43"/>
                          </a:solidFill>
                          <a:latin typeface="Arial"/>
                          <a:ea typeface="Arial"/>
                          <a:cs typeface="Arial"/>
                        </a:rPr>
                        <a:t>0→2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0 &lt; 1</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Yes</a:t>
                      </a:r>
                    </a:p>
                  </a:txBody>
                  <a:tcPr marL="91440" marR="91440" marT="45720" marB="45720">
                    <a:lnR w="9525">
                      <a:solidFill>
                        <a:srgbClr val="E2DCE0"/>
                      </a:solidFill>
                      <a:prstDash val="solid"/>
                    </a:lnR>
                    <a:lnB w="9525">
                      <a:solidFill>
                        <a:srgbClr val="E2DCE0"/>
                      </a:solidFill>
                      <a:prstDash val="solid"/>
                    </a:lnB>
                    <a:solidFill>
                      <a:srgbClr val="FAF8F8"/>
                    </a:solidFill>
                  </a:tcPr>
                </a:tc>
              </a:tr>
              <a:tr h="552450">
                <a:tc>
                  <a:txBody>
                    <a:bodyPr/>
                    <a:lstStyle/>
                    <a:p>
                      <a:r>
                        <a:rPr sz="1725" b="0">
                          <a:solidFill>
                            <a:srgbClr val="192E43"/>
                          </a:solidFill>
                          <a:latin typeface="Arial"/>
                          <a:ea typeface="Arial"/>
                          <a:cs typeface="Arial"/>
                        </a:rPr>
                        <a:t>1→3</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2 &lt; 3</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Yes</a:t>
                      </a:r>
                    </a:p>
                  </a:txBody>
                  <a:tcPr marL="91440" marR="91440" marT="45720" marB="45720">
                    <a:lnR w="9525">
                      <a:solidFill>
                        <a:srgbClr val="E2DCE0"/>
                      </a:solidFill>
                      <a:prstDash val="solid"/>
                    </a:lnR>
                    <a:lnB w="9525">
                      <a:solidFill>
                        <a:srgbClr val="E2DCE0"/>
                      </a:solidFill>
                      <a:prstDash val="solid"/>
                    </a:lnB>
                    <a:solidFill>
                      <a:srgbClr val="FFFEFC"/>
                    </a:solidFill>
                  </a:tcPr>
                </a:tc>
              </a:tr>
              <a:tr h="552450">
                <a:tc>
                  <a:txBody>
                    <a:bodyPr/>
                    <a:lstStyle/>
                    <a:p>
                      <a:r>
                        <a:rPr sz="1725" b="0">
                          <a:solidFill>
                            <a:srgbClr val="192E43"/>
                          </a:solidFill>
                          <a:latin typeface="Arial"/>
                          <a:ea typeface="Arial"/>
                          <a:cs typeface="Arial"/>
                        </a:rPr>
                        <a:t>2→3</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1 &lt; 3</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Yes</a:t>
                      </a:r>
                    </a:p>
                  </a:txBody>
                  <a:tcPr marL="91440" marR="91440" marT="45720" marB="45720">
                    <a:lnR w="9525">
                      <a:solidFill>
                        <a:srgbClr val="E2DCE0"/>
                      </a:solidFill>
                      <a:prstDash val="solid"/>
                    </a:lnR>
                    <a:lnB w="9525">
                      <a:solidFill>
                        <a:srgbClr val="E2DCE0"/>
                      </a:solidFill>
                      <a:prstDash val="solid"/>
                    </a:lnB>
                    <a:solidFill>
                      <a:srgbClr val="FAF8F8"/>
                    </a:solidFill>
                  </a:tcPr>
                </a:tc>
              </a:tr>
            </a:tbl>
          </a:graphicData>
        </a:graphic>
      </p:graphicFrame>
      <p:sp>
        <p:nvSpPr>
          <p:cNvPr id="6" name="">
            <a:extLst xmlns:a="http://schemas.openxmlformats.org/drawingml/2006/main">
              <a:ext uri="{FF2B5EF4-FFF2-40B4-BE49-F238E27FC236}">
                <a16:creationId xmlns:a16="http://schemas.microsoft.com/office/drawing/2014/main" id="{22AF4DDB-FFD5-410A-A6E9-28C2A2D40039}"/>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Reverse the list: [0,2,1,3]. This is one valid topological order.</a:t>
            </a:r>
          </a:p>
        </p:txBody>
      </p:sp>
      <p:sp>
        <p:nvSpPr>
          <p:cNvPr id="7" name="">
            <a:extLst xmlns:a="http://schemas.openxmlformats.org/drawingml/2006/main">
              <a:ext uri="{FF2B5EF4-FFF2-40B4-BE49-F238E27FC236}">
                <a16:creationId xmlns:a16="http://schemas.microsoft.com/office/drawing/2014/main" id="{23F86CC2-6AD7-41F3-8264-1F5964950254}"/>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8D6749C5-9C8A-4865-82AC-7E3C7BE5CB47}"/>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38 / 64</a:t>
            </a:r>
          </a:p>
        </p:txBody>
      </p:sp>
    </p:spTree>
    <p:extLst>
      <p:ext uri="{BB962C8B-B14F-4D97-AF65-F5344CB8AC3E}">
        <p14:creationId xmlns:p14="http://schemas.microsoft.com/office/powerpoint/2010/main" val="19546920"/>
      </p:ext>
    </p:extLst>
  </p:cSld>
</p:sld>
</file>

<file path=ppt/slides/slide39.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3390C1F-12FF-45A0-97BE-4E91565A4F89}"/>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Task ordering</a:t>
            </a:r>
          </a:p>
        </p:txBody>
      </p:sp>
      <p:sp>
        <p:nvSpPr>
          <p:cNvPr id="2" name="">
            <a:extLst xmlns:a="http://schemas.openxmlformats.org/drawingml/2006/main">
              <a:ext uri="{FF2B5EF4-FFF2-40B4-BE49-F238E27FC236}">
                <a16:creationId xmlns:a16="http://schemas.microsoft.com/office/drawing/2014/main" id="{91F943C8-2906-409D-BE03-8A1741863B42}"/>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A cycle makes a task depend on itself</a:t>
            </a:r>
          </a:p>
        </p:txBody>
      </p:sp>
      <p:sp>
        <p:nvSpPr>
          <p:cNvPr id="3" name="">
            <a:extLst xmlns:a="http://schemas.openxmlformats.org/drawingml/2006/main">
              <a:ext uri="{FF2B5EF4-FFF2-40B4-BE49-F238E27FC236}">
                <a16:creationId xmlns:a16="http://schemas.microsoft.com/office/drawing/2014/main" id="{6E238F04-6411-49BF-90D1-28277F518DF4}"/>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Add 3→0. Now 0 must precede 3, while 3 must precede 0.</a:t>
            </a:r>
          </a:p>
        </p:txBody>
      </p:sp>
      <p:sp>
        <p:nvSpPr>
          <p:cNvPr id="4" name="">
            <a:extLst xmlns:a="http://schemas.openxmlformats.org/drawingml/2006/main">
              <a:ext uri="{FF2B5EF4-FFF2-40B4-BE49-F238E27FC236}">
                <a16:creationId xmlns:a16="http://schemas.microsoft.com/office/drawing/2014/main" id="{0D5D1E2E-34C9-4AAB-AD74-052467ED4CA4}"/>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On chain 0→1→3, an edge reaches GRAY vertex 0.</a:t>
            </a:r>
          </a:p>
        </p:txBody>
      </p:sp>
      <p:sp>
        <p:nvSpPr>
          <p:cNvPr id="5" name="">
            <a:extLst xmlns:a="http://schemas.openxmlformats.org/drawingml/2006/main">
              <a:ext uri="{FF2B5EF4-FFF2-40B4-BE49-F238E27FC236}">
                <a16:creationId xmlns:a16="http://schemas.microsoft.com/office/drawing/2014/main" id="{CC696C8E-F8BD-477E-B447-A6BC51A5E674}"/>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Answer: {"acyclic":false,"order":[]}. Do not return a partial order.</a:t>
            </a:r>
          </a:p>
        </p:txBody>
      </p:sp>
      <p:sp>
        <p:nvSpPr>
          <p:cNvPr id="6" name="">
            <a:extLst xmlns:a="http://schemas.openxmlformats.org/drawingml/2006/main">
              <a:ext uri="{FF2B5EF4-FFF2-40B4-BE49-F238E27FC236}">
                <a16:creationId xmlns:a16="http://schemas.microsoft.com/office/drawing/2014/main" id="{95C69845-342D-439B-8B7E-C610BAD91573}"/>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7" name="">
            <a:extLst xmlns:a="http://schemas.openxmlformats.org/drawingml/2006/main">
              <a:ext uri="{FF2B5EF4-FFF2-40B4-BE49-F238E27FC236}">
                <a16:creationId xmlns:a16="http://schemas.microsoft.com/office/drawing/2014/main" id="{A3AD718D-FC97-4DAA-B198-9CEC7289E2C8}"/>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39 / 64</a:t>
            </a:r>
          </a:p>
        </p:txBody>
      </p:sp>
    </p:spTree>
    <p:extLst>
      <p:ext uri="{BB962C8B-B14F-4D97-AF65-F5344CB8AC3E}">
        <p14:creationId xmlns:p14="http://schemas.microsoft.com/office/powerpoint/2010/main" val="1101719651"/>
      </p:ext>
    </p:extLst>
  </p:cSld>
</p:sld>
</file>

<file path=ppt/slides/slide40.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F00B594-F3F6-48C5-8E43-C4FEAC542D4A}"/>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Task ordering</a:t>
            </a:r>
          </a:p>
        </p:txBody>
      </p:sp>
      <p:sp>
        <p:nvSpPr>
          <p:cNvPr id="2" name="">
            <a:extLst xmlns:a="http://schemas.openxmlformats.org/drawingml/2006/main">
              <a:ext uri="{FF2B5EF4-FFF2-40B4-BE49-F238E27FC236}">
                <a16:creationId xmlns:a16="http://schemas.microsoft.com/office/drawing/2014/main" id="{F753C860-9123-4099-BC45-0E07DB022A23}"/>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Deep DFS: remember where to resume</a:t>
            </a:r>
          </a:p>
        </p:txBody>
      </p:sp>
      <p:sp>
        <p:nvSpPr>
          <p:cNvPr id="3" name="">
            <a:extLst xmlns:a="http://schemas.openxmlformats.org/drawingml/2006/main">
              <a:ext uri="{FF2B5EF4-FFF2-40B4-BE49-F238E27FC236}">
                <a16:creationId xmlns:a16="http://schemas.microsoft.com/office/drawing/2014/main" id="{6D1C30BE-208A-4FB8-BC6E-AFCC3E402679}"/>
              </a:ext>
            </a:extLst>
          </p:cNvPr>
          <p:cNvSpPr>
            <a:spLocks xmlns:a="http://schemas.openxmlformats.org/drawingml/2006/main" noGrp="1"/>
          </p:cNvSpPr>
          <p:nvPr/>
        </p:nvSpPr>
        <p:spPr>
          <a:xfrm xmlns:a="http://schemas.openxmlformats.org/drawingml/2006/main">
            <a:off x="571500" y="1638300"/>
            <a:ext cx="1104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192E43"/>
                </a:solidFill>
                <a:latin typeface="Arial"/>
                <a:ea typeface="Arial"/>
                <a:cs typeface="Arial"/>
              </a:defRPr>
            </a:defPPr>
          </a:lstStyle>
          <a:p xmlns:a="http://schemas.openxmlformats.org/drawingml/2006/main">
            <a:pPr>
              <a:defRPr sz="2175" b="0">
                <a:solidFill>
                  <a:srgbClr val="192E43"/>
                </a:solidFill>
                <a:latin typeface="Arial"/>
                <a:ea typeface="Arial"/>
                <a:cs typeface="Arial"/>
              </a:defRPr>
            </a:pPr>
            <a:r>
              <a:rPr sz="2175" b="0">
                <a:solidFill>
                  <a:srgbClr val="192E43"/>
                </a:solidFill>
                <a:latin typeface="Arial"/>
                <a:ea typeface="Arial"/>
                <a:cs typeface="Arial"/>
              </a:rPr>
              <a:t>A long chain may overflow the recursive call stack. Use an explicit stack.</a:t>
            </a:r>
          </a:p>
        </p:txBody>
      </p:sp>
      <p:sp>
        <p:nvSpPr>
          <p:cNvPr id="4" name="">
            <a:extLst xmlns:a="http://schemas.openxmlformats.org/drawingml/2006/main">
              <a:ext uri="{FF2B5EF4-FFF2-40B4-BE49-F238E27FC236}">
                <a16:creationId xmlns:a16="http://schemas.microsoft.com/office/drawing/2014/main" id="{1648B0D2-0638-4A27-9D78-D71C94FDB65B}"/>
              </a:ext>
            </a:extLst>
          </p:cNvPr>
          <p:cNvSpPr>
            <a:spLocks xmlns:a="http://schemas.openxmlformats.org/drawingml/2006/main" noGrp="1"/>
          </p:cNvSpPr>
          <p:nvPr/>
        </p:nvSpPr>
        <p:spPr>
          <a:xfrm xmlns:a="http://schemas.openxmlformats.org/drawingml/2006/main">
            <a:off x="571500" y="250507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A frame stores vertex v and the index next of its next neighbor.</a:t>
            </a:r>
          </a:p>
        </p:txBody>
      </p:sp>
      <p:sp>
        <p:nvSpPr>
          <p:cNvPr id="5" name="">
            <a:extLst xmlns:a="http://schemas.openxmlformats.org/drawingml/2006/main">
              <a:ext uri="{FF2B5EF4-FFF2-40B4-BE49-F238E27FC236}">
                <a16:creationId xmlns:a16="http://schemas.microsoft.com/office/drawing/2014/main" id="{870712C9-07CC-4FBA-A719-22D5D33C9161}"/>
              </a:ext>
            </a:extLst>
          </p:cNvPr>
          <p:cNvSpPr>
            <a:spLocks xmlns:a="http://schemas.openxmlformats.org/drawingml/2006/main" noGrp="1"/>
          </p:cNvSpPr>
          <p:nvPr/>
        </p:nvSpPr>
        <p:spPr>
          <a:xfrm xmlns:a="http://schemas.openxmlformats.org/drawingml/2006/main">
            <a:off x="781050" y="3448050"/>
            <a:ext cx="106299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Courier New"/>
                <a:ea typeface="Courier New"/>
                <a:cs typeface="Courier New"/>
              </a:defRPr>
            </a:defPPr>
          </a:lstStyle>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Frame: v = current vertex, next = next neighbor</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if (frame.next == adj[v].size()) {</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color[v] = BLACK;</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finish.add(v);</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stack.pop();</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03B79F84-FEC9-424D-85CE-23A4B0D5213F}"/>
              </a:ext>
            </a:extLst>
          </p:cNvPr>
          <p:cNvSpPr>
            <a:spLocks xmlns:a="http://schemas.openxmlformats.org/drawingml/2006/main" noGrp="1"/>
          </p:cNvSpPr>
          <p:nvPr/>
        </p:nvSpPr>
        <p:spPr>
          <a:xfrm xmlns:a="http://schemas.openxmlformats.org/drawingml/2006/main">
            <a:off x="571500" y="564832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1">
                <a:solidFill>
                  <a:srgbClr val="AC4D73"/>
                </a:solidFill>
                <a:latin typeface="Arial"/>
                <a:ea typeface="Arial"/>
                <a:cs typeface="Arial"/>
              </a:defRPr>
            </a:defPPr>
          </a:lstStyle>
          <a:p xmlns:a="http://schemas.openxmlformats.org/drawingml/2006/main">
            <a:pPr>
              <a:defRPr sz="2025" b="1">
                <a:solidFill>
                  <a:srgbClr val="AC4D73"/>
                </a:solidFill>
                <a:latin typeface="Arial"/>
                <a:ea typeface="Arial"/>
                <a:cs typeface="Arial"/>
              </a:defRPr>
            </a:pPr>
            <a:r>
              <a:rPr sz="2025" b="1">
                <a:solidFill>
                  <a:srgbClr val="AC4D73"/>
                </a:solidFill>
                <a:latin typeface="Arial"/>
                <a:ea typeface="Arial"/>
                <a:cs typeface="Arial"/>
              </a:rPr>
              <a:t>A vertex is unfinished while it still has a neighbor to inspect.</a:t>
            </a:r>
          </a:p>
        </p:txBody>
      </p:sp>
      <p:sp>
        <p:nvSpPr>
          <p:cNvPr id="7" name="">
            <a:extLst xmlns:a="http://schemas.openxmlformats.org/drawingml/2006/main">
              <a:ext uri="{FF2B5EF4-FFF2-40B4-BE49-F238E27FC236}">
                <a16:creationId xmlns:a16="http://schemas.microsoft.com/office/drawing/2014/main" id="{6BBD42CE-7F54-4278-BF9B-9690AACBE746}"/>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18363917-9168-4992-9AA9-BBDE5172DD20}"/>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40 / 64</a:t>
            </a:r>
          </a:p>
        </p:txBody>
      </p:sp>
    </p:spTree>
    <p:extLst>
      <p:ext uri="{BB962C8B-B14F-4D97-AF65-F5344CB8AC3E}">
        <p14:creationId xmlns:p14="http://schemas.microsoft.com/office/powerpoint/2010/main" val="1864282462"/>
      </p:ext>
    </p:extLst>
  </p:cSld>
</p:sld>
</file>

<file path=ppt/slides/slide41.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298F221-87D6-488A-A2CE-6E1B92F1114A}"/>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Task ordering</a:t>
            </a:r>
          </a:p>
        </p:txBody>
      </p:sp>
      <p:sp>
        <p:nvSpPr>
          <p:cNvPr id="2" name="">
            <a:extLst xmlns:a="http://schemas.openxmlformats.org/drawingml/2006/main">
              <a:ext uri="{FF2B5EF4-FFF2-40B4-BE49-F238E27FC236}">
                <a16:creationId xmlns:a16="http://schemas.microsoft.com/office/drawing/2014/main" id="{4B1A398D-2A1D-46EB-BF02-F7891199DDB6}"/>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Topo: complete input and result</a:t>
            </a:r>
          </a:p>
        </p:txBody>
      </p:sp>
      <p:sp>
        <p:nvSpPr>
          <p:cNvPr id="3" name="">
            <a:extLst xmlns:a="http://schemas.openxmlformats.org/drawingml/2006/main">
              <a:ext uri="{FF2B5EF4-FFF2-40B4-BE49-F238E27FC236}">
                <a16:creationId xmlns:a16="http://schemas.microsoft.com/office/drawing/2014/main" id="{CE2678B6-13CA-4360-82F1-8DF80A2ED05C}"/>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order contains every vertex once. Every dependency points forward.</a:t>
            </a:r>
          </a:p>
        </p:txBody>
      </p:sp>
      <p:sp>
        <p:nvSpPr>
          <p:cNvPr id="4" name="">
            <a:extLst xmlns:a="http://schemas.openxmlformats.org/drawingml/2006/main">
              <a:ext uri="{FF2B5EF4-FFF2-40B4-BE49-F238E27FC236}">
                <a16:creationId xmlns:a16="http://schemas.microsoft.com/office/drawing/2014/main" id="{19142311-BC83-424B-A0C6-0063CC115840}"/>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For our example, both [0,2,1,3] and [0,1,2,3] work.</a:t>
            </a:r>
          </a:p>
        </p:txBody>
      </p:sp>
      <p:graphicFrame>
        <p:nvGraphicFramePr>
          <p:cNvPr id="5" name="">
            <a:extLst xmlns:a="http://schemas.openxmlformats.org/drawingml/2006/main">
              <a:ext uri="{FF2B5EF4-FFF2-40B4-BE49-F238E27FC236}">
                <a16:creationId xmlns:a16="http://schemas.microsoft.com/office/drawing/2014/main" id="{29D6F63E-B479-4087-B5F1-D81777181653}"/>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3182255"/>
                <a:gridCol w="7866745"/>
              </a:tblGrid>
              <a:tr h="920750">
                <a:tc>
                  <a:txBody>
                    <a:bodyPr/>
                    <a:lstStyle/>
                    <a:p>
                      <a:r>
                        <a:rPr sz="1725" b="1">
                          <a:solidFill>
                            <a:srgbClr val="192E43"/>
                          </a:solidFill>
                          <a:latin typeface="Arial"/>
                          <a:ea typeface="Arial"/>
                          <a:cs typeface="Arial"/>
                        </a:rPr>
                        <a:t>Item</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JSON</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920750">
                <a:tc>
                  <a:txBody>
                    <a:bodyPr/>
                    <a:lstStyle/>
                    <a:p>
                      <a:r>
                        <a:rPr sz="1725" b="0">
                          <a:solidFill>
                            <a:srgbClr val="192E43"/>
                          </a:solidFill>
                          <a:latin typeface="Arial"/>
                          <a:ea typeface="Arial"/>
                          <a:cs typeface="Arial"/>
                        </a:rPr>
                        <a:t>Input</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{"task":"topo","n":4,"edges":[[0,1],[0,2],[1,3],[2,3]]}</a:t>
                      </a:r>
                    </a:p>
                  </a:txBody>
                  <a:tcPr marL="91440" marR="91440" marT="45720" marB="45720">
                    <a:lnR w="9525">
                      <a:solidFill>
                        <a:srgbClr val="E2DCE0"/>
                      </a:solidFill>
                      <a:prstDash val="solid"/>
                    </a:lnR>
                    <a:lnB w="9525">
                      <a:solidFill>
                        <a:srgbClr val="E2DCE0"/>
                      </a:solidFill>
                      <a:prstDash val="solid"/>
                    </a:lnB>
                    <a:solidFill>
                      <a:srgbClr val="FFFEFC"/>
                    </a:solidFill>
                  </a:tcPr>
                </a:tc>
              </a:tr>
              <a:tr h="920750">
                <a:tc>
                  <a:txBody>
                    <a:bodyPr/>
                    <a:lstStyle/>
                    <a:p>
                      <a:r>
                        <a:rPr sz="1725" b="0">
                          <a:solidFill>
                            <a:srgbClr val="192E43"/>
                          </a:solidFill>
                          <a:latin typeface="Arial"/>
                          <a:ea typeface="Arial"/>
                          <a:cs typeface="Arial"/>
                        </a:rPr>
                        <a:t>Output</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{"acyclic":true,"order":[0,2,1,3]}</a:t>
                      </a:r>
                    </a:p>
                  </a:txBody>
                  <a:tcPr marL="91440" marR="91440" marT="45720" marB="45720">
                    <a:lnR w="9525">
                      <a:solidFill>
                        <a:srgbClr val="E2DCE0"/>
                      </a:solidFill>
                      <a:prstDash val="solid"/>
                    </a:lnR>
                    <a:lnB w="9525">
                      <a:solidFill>
                        <a:srgbClr val="E2DCE0"/>
                      </a:solidFill>
                      <a:prstDash val="solid"/>
                    </a:lnB>
                    <a:solidFill>
                      <a:srgbClr val="FAF8F8"/>
                    </a:solidFill>
                  </a:tcPr>
                </a:tc>
              </a:tr>
            </a:tbl>
          </a:graphicData>
        </a:graphic>
      </p:graphicFrame>
      <p:sp>
        <p:nvSpPr>
          <p:cNvPr id="6" name="">
            <a:extLst xmlns:a="http://schemas.openxmlformats.org/drawingml/2006/main">
              <a:ext uri="{FF2B5EF4-FFF2-40B4-BE49-F238E27FC236}">
                <a16:creationId xmlns:a16="http://schemas.microsoft.com/office/drawing/2014/main" id="{DEFE5F93-14D9-42C5-A180-449C64E393D0}"/>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Adding a cycle requires acyclic=false and order=[], regardless of any partial traversal.</a:t>
            </a:r>
          </a:p>
        </p:txBody>
      </p:sp>
      <p:sp>
        <p:nvSpPr>
          <p:cNvPr id="7" name="">
            <a:extLst xmlns:a="http://schemas.openxmlformats.org/drawingml/2006/main">
              <a:ext uri="{FF2B5EF4-FFF2-40B4-BE49-F238E27FC236}">
                <a16:creationId xmlns:a16="http://schemas.microsoft.com/office/drawing/2014/main" id="{CC1D0182-CD5E-4D18-94AF-8F2D8FF2023B}"/>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49052527-B87A-4F10-8336-8BA7EAD844AF}"/>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41 / 64</a:t>
            </a:r>
          </a:p>
        </p:txBody>
      </p:sp>
    </p:spTree>
    <p:extLst>
      <p:ext uri="{BB962C8B-B14F-4D97-AF65-F5344CB8AC3E}">
        <p14:creationId xmlns:p14="http://schemas.microsoft.com/office/powerpoint/2010/main" val="893734711"/>
      </p:ext>
    </p:extLst>
  </p:cSld>
</p:sld>
</file>

<file path=ppt/slides/slide42.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82CA72A-72F2-40D7-A06A-87B1FDA73421}"/>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Shortest routes</a:t>
            </a:r>
          </a:p>
        </p:txBody>
      </p:sp>
      <p:sp>
        <p:nvSpPr>
          <p:cNvPr id="2" name="">
            <a:extLst xmlns:a="http://schemas.openxmlformats.org/drawingml/2006/main">
              <a:ext uri="{FF2B5EF4-FFF2-40B4-BE49-F238E27FC236}">
                <a16:creationId xmlns:a16="http://schemas.microsoft.com/office/drawing/2014/main" id="{675F62A3-C858-4C34-8658-4A960EF0D974}"/>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DAG: a directed graph with no cycle</a:t>
            </a:r>
          </a:p>
        </p:txBody>
      </p:sp>
      <p:sp>
        <p:nvSpPr>
          <p:cNvPr id="3" name="">
            <a:extLst xmlns:a="http://schemas.openxmlformats.org/drawingml/2006/main">
              <a:ext uri="{FF2B5EF4-FFF2-40B4-BE49-F238E27FC236}">
                <a16:creationId xmlns:a16="http://schemas.microsoft.com/office/drawing/2014/main" id="{E969C406-004D-410C-AF85-E29FB5A405D0}"/>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Now find the cheapest route from a given source vertex.</a:t>
            </a:r>
          </a:p>
        </p:txBody>
      </p:sp>
      <p:sp>
        <p:nvSpPr>
          <p:cNvPr id="4" name="">
            <a:extLst xmlns:a="http://schemas.openxmlformats.org/drawingml/2006/main">
              <a:ext uri="{FF2B5EF4-FFF2-40B4-BE49-F238E27FC236}">
                <a16:creationId xmlns:a16="http://schemas.microsoft.com/office/drawing/2014/main" id="{78339220-7513-4481-8889-780F6EFCE4A2}"/>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source=0. The table lists input edges with their original IDs.</a:t>
            </a:r>
          </a:p>
        </p:txBody>
      </p:sp>
      <p:graphicFrame>
        <p:nvGraphicFramePr>
          <p:cNvPr id="5" name="">
            <a:extLst xmlns:a="http://schemas.openxmlformats.org/drawingml/2006/main">
              <a:ext uri="{FF2B5EF4-FFF2-40B4-BE49-F238E27FC236}">
                <a16:creationId xmlns:a16="http://schemas.microsoft.com/office/drawing/2014/main" id="{55C3CF73-2D9B-493D-B6DE-450FA313962B}"/>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3165257"/>
                <a:gridCol w="4718486"/>
                <a:gridCol w="3165257"/>
              </a:tblGrid>
              <a:tr h="460375">
                <a:tc>
                  <a:txBody>
                    <a:bodyPr/>
                    <a:lstStyle/>
                    <a:p>
                      <a:r>
                        <a:rPr sz="1725" b="1">
                          <a:solidFill>
                            <a:srgbClr val="192E43"/>
                          </a:solidFill>
                          <a:latin typeface="Arial"/>
                          <a:ea typeface="Arial"/>
                          <a:cs typeface="Arial"/>
                        </a:rPr>
                        <a:t>ID</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Edge</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Weight</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460375">
                <a:tc>
                  <a:txBody>
                    <a:bodyPr/>
                    <a:lstStyle/>
                    <a:p>
                      <a:r>
                        <a:rPr sz="1725" b="0">
                          <a:solidFill>
                            <a:srgbClr val="192E43"/>
                          </a:solidFill>
                          <a:latin typeface="Arial"/>
                          <a:ea typeface="Arial"/>
                          <a:cs typeface="Arial"/>
                        </a:rPr>
                        <a:t>0</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0→1</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3</a:t>
                      </a:r>
                    </a:p>
                  </a:txBody>
                  <a:tcPr marL="91440" marR="91440" marT="45720" marB="45720">
                    <a:lnR w="9525">
                      <a:solidFill>
                        <a:srgbClr val="E2DCE0"/>
                      </a:solidFill>
                      <a:prstDash val="solid"/>
                    </a:lnR>
                    <a:lnB w="9525">
                      <a:solidFill>
                        <a:srgbClr val="E2DCE0"/>
                      </a:solidFill>
                      <a:prstDash val="solid"/>
                    </a:lnB>
                    <a:solidFill>
                      <a:srgbClr val="FFFEFC"/>
                    </a:solidFill>
                  </a:tcPr>
                </a:tc>
              </a:tr>
              <a:tr h="460375">
                <a:tc>
                  <a:txBody>
                    <a:bodyPr/>
                    <a:lstStyle/>
                    <a:p>
                      <a:r>
                        <a:rPr sz="1725" b="0">
                          <a:solidFill>
                            <a:srgbClr val="192E43"/>
                          </a:solidFill>
                          <a:latin typeface="Arial"/>
                          <a:ea typeface="Arial"/>
                          <a:cs typeface="Arial"/>
                        </a:rPr>
                        <a:t>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0→2</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8</a:t>
                      </a:r>
                    </a:p>
                  </a:txBody>
                  <a:tcPr marL="91440" marR="91440" marT="45720" marB="45720">
                    <a:lnR w="9525">
                      <a:solidFill>
                        <a:srgbClr val="E2DCE0"/>
                      </a:solidFill>
                      <a:prstDash val="solid"/>
                    </a:lnR>
                    <a:lnB w="9525">
                      <a:solidFill>
                        <a:srgbClr val="E2DCE0"/>
                      </a:solidFill>
                      <a:prstDash val="solid"/>
                    </a:lnB>
                    <a:solidFill>
                      <a:srgbClr val="FAF8F8"/>
                    </a:solidFill>
                  </a:tcPr>
                </a:tc>
              </a:tr>
              <a:tr h="460375">
                <a:tc>
                  <a:txBody>
                    <a:bodyPr/>
                    <a:lstStyle/>
                    <a:p>
                      <a:r>
                        <a:rPr sz="1725" b="0">
                          <a:solidFill>
                            <a:srgbClr val="192E43"/>
                          </a:solidFill>
                          <a:latin typeface="Arial"/>
                          <a:ea typeface="Arial"/>
                          <a:cs typeface="Arial"/>
                        </a:rPr>
                        <a:t>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1→2</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−5</a:t>
                      </a:r>
                    </a:p>
                  </a:txBody>
                  <a:tcPr marL="91440" marR="91440" marT="45720" marB="45720">
                    <a:lnR w="9525">
                      <a:solidFill>
                        <a:srgbClr val="E2DCE0"/>
                      </a:solidFill>
                      <a:prstDash val="solid"/>
                    </a:lnR>
                    <a:lnB w="9525">
                      <a:solidFill>
                        <a:srgbClr val="E2DCE0"/>
                      </a:solidFill>
                      <a:prstDash val="solid"/>
                    </a:lnB>
                    <a:solidFill>
                      <a:srgbClr val="FFFEFC"/>
                    </a:solidFill>
                  </a:tcPr>
                </a:tc>
              </a:tr>
              <a:tr h="460375">
                <a:tc>
                  <a:txBody>
                    <a:bodyPr/>
                    <a:lstStyle/>
                    <a:p>
                      <a:r>
                        <a:rPr sz="1725" b="0">
                          <a:solidFill>
                            <a:srgbClr val="192E43"/>
                          </a:solidFill>
                          <a:latin typeface="Arial"/>
                          <a:ea typeface="Arial"/>
                          <a:cs typeface="Arial"/>
                        </a:rPr>
                        <a:t>3</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2→3</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4</a:t>
                      </a:r>
                    </a:p>
                  </a:txBody>
                  <a:tcPr marL="91440" marR="91440" marT="45720" marB="45720">
                    <a:lnR w="9525">
                      <a:solidFill>
                        <a:srgbClr val="E2DCE0"/>
                      </a:solidFill>
                      <a:prstDash val="solid"/>
                    </a:lnR>
                    <a:lnB w="9525">
                      <a:solidFill>
                        <a:srgbClr val="E2DCE0"/>
                      </a:solidFill>
                      <a:prstDash val="solid"/>
                    </a:lnB>
                    <a:solidFill>
                      <a:srgbClr val="FAF8F8"/>
                    </a:solidFill>
                  </a:tcPr>
                </a:tc>
              </a:tr>
              <a:tr h="460375">
                <a:tc>
                  <a:txBody>
                    <a:bodyPr/>
                    <a:lstStyle/>
                    <a:p>
                      <a:r>
                        <a:rPr sz="1725" b="0">
                          <a:solidFill>
                            <a:srgbClr val="192E43"/>
                          </a:solidFill>
                          <a:latin typeface="Arial"/>
                          <a:ea typeface="Arial"/>
                          <a:cs typeface="Arial"/>
                        </a:rPr>
                        <a:t>—</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Vertex 4 is isolated</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C844DB74-2D40-4C54-AFC2-3633725EAC3F}"/>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Weight −5 is allowed: it is a discount. A DAG has no cycle to repeat forever.</a:t>
            </a:r>
          </a:p>
        </p:txBody>
      </p:sp>
      <p:sp>
        <p:nvSpPr>
          <p:cNvPr id="7" name="">
            <a:extLst xmlns:a="http://schemas.openxmlformats.org/drawingml/2006/main">
              <a:ext uri="{FF2B5EF4-FFF2-40B4-BE49-F238E27FC236}">
                <a16:creationId xmlns:a16="http://schemas.microsoft.com/office/drawing/2014/main" id="{33095A80-268D-4CEE-B65D-EC8BF0BEAED8}"/>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251D5CDF-3441-4CE3-AFD6-EAED7B6FCE3F}"/>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42 / 64</a:t>
            </a:r>
          </a:p>
        </p:txBody>
      </p:sp>
    </p:spTree>
    <p:extLst>
      <p:ext uri="{BB962C8B-B14F-4D97-AF65-F5344CB8AC3E}">
        <p14:creationId xmlns:p14="http://schemas.microsoft.com/office/powerpoint/2010/main" val="109220793"/>
      </p:ext>
    </p:extLst>
  </p:cSld>
</p:sld>
</file>

<file path=ppt/slides/slide43.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F6E9FFD-E5B1-4718-A5BA-A7921C023184}"/>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Shortest routes</a:t>
            </a:r>
          </a:p>
        </p:txBody>
      </p:sp>
      <p:sp>
        <p:nvSpPr>
          <p:cNvPr id="2" name="">
            <a:extLst xmlns:a="http://schemas.openxmlformats.org/drawingml/2006/main">
              <a:ext uri="{FF2B5EF4-FFF2-40B4-BE49-F238E27FC236}">
                <a16:creationId xmlns:a16="http://schemas.microsoft.com/office/drawing/2014/main" id="{4229D186-2806-46BE-AF7F-8DACD6E61ACC}"/>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distance: the best cost known so far</a:t>
            </a:r>
          </a:p>
        </p:txBody>
      </p:sp>
      <p:sp>
        <p:nvSpPr>
          <p:cNvPr id="3" name="">
            <a:extLst xmlns:a="http://schemas.openxmlformats.org/drawingml/2006/main">
              <a:ext uri="{FF2B5EF4-FFF2-40B4-BE49-F238E27FC236}">
                <a16:creationId xmlns:a16="http://schemas.microsoft.com/office/drawing/2014/main" id="{3C34735A-BBA6-4F9E-A8C3-FD7D5417E0D7}"/>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The source costs 0. No route is known for other vertices yet: null.</a:t>
            </a:r>
          </a:p>
        </p:txBody>
      </p:sp>
      <p:sp>
        <p:nvSpPr>
          <p:cNvPr id="4" name="">
            <a:extLst xmlns:a="http://schemas.openxmlformats.org/drawingml/2006/main">
              <a:ext uri="{FF2B5EF4-FFF2-40B4-BE49-F238E27FC236}">
                <a16:creationId xmlns:a16="http://schemas.microsoft.com/office/drawing/2014/main" id="{74E79F20-61B3-4245-B3AF-4E74CD8E7087}"/>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distance = [0, null, null, null, null]. parent_edge = [−1,−1,−1,−1,−1].</a:t>
            </a:r>
          </a:p>
        </p:txBody>
      </p:sp>
      <p:sp>
        <p:nvSpPr>
          <p:cNvPr id="5" name="">
            <a:extLst xmlns:a="http://schemas.openxmlformats.org/drawingml/2006/main">
              <a:ext uri="{FF2B5EF4-FFF2-40B4-BE49-F238E27FC236}">
                <a16:creationId xmlns:a16="http://schemas.microsoft.com/office/drawing/2014/main" id="{1AE958B3-51FE-41B7-83C5-4FFD4350C1DE}"/>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null means no route is known. The number −1 can be a genuine route cost.</a:t>
            </a:r>
          </a:p>
        </p:txBody>
      </p:sp>
      <p:sp>
        <p:nvSpPr>
          <p:cNvPr id="6" name="">
            <a:extLst xmlns:a="http://schemas.openxmlformats.org/drawingml/2006/main">
              <a:ext uri="{FF2B5EF4-FFF2-40B4-BE49-F238E27FC236}">
                <a16:creationId xmlns:a16="http://schemas.microsoft.com/office/drawing/2014/main" id="{D5DD6A1E-61C4-40B9-A3E4-B58E4FFD0D84}"/>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7" name="">
            <a:extLst xmlns:a="http://schemas.openxmlformats.org/drawingml/2006/main">
              <a:ext uri="{FF2B5EF4-FFF2-40B4-BE49-F238E27FC236}">
                <a16:creationId xmlns:a16="http://schemas.microsoft.com/office/drawing/2014/main" id="{0482FFB7-FB8E-47C7-8820-C99BB7162DE3}"/>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43 / 64</a:t>
            </a:r>
          </a:p>
        </p:txBody>
      </p:sp>
    </p:spTree>
    <p:extLst>
      <p:ext uri="{BB962C8B-B14F-4D97-AF65-F5344CB8AC3E}">
        <p14:creationId xmlns:p14="http://schemas.microsoft.com/office/powerpoint/2010/main" val="1636519331"/>
      </p:ext>
    </p:extLst>
  </p:cSld>
</p:sld>
</file>

<file path=ppt/slides/slide44.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B654AD9-FEE5-4714-A11C-1373A0621A49}"/>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Shortest routes</a:t>
            </a:r>
          </a:p>
        </p:txBody>
      </p:sp>
      <p:sp>
        <p:nvSpPr>
          <p:cNvPr id="2" name="">
            <a:extLst xmlns:a="http://schemas.openxmlformats.org/drawingml/2006/main">
              <a:ext uri="{FF2B5EF4-FFF2-40B4-BE49-F238E27FC236}">
                <a16:creationId xmlns:a16="http://schemas.microsoft.com/office/drawing/2014/main" id="{3EF46235-E007-4418-A721-2E7A054C3A40}"/>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Relaxation: test a cheaper route</a:t>
            </a:r>
          </a:p>
        </p:txBody>
      </p:sp>
      <p:sp>
        <p:nvSpPr>
          <p:cNvPr id="3" name="">
            <a:extLst xmlns:a="http://schemas.openxmlformats.org/drawingml/2006/main">
              <a:ext uri="{FF2B5EF4-FFF2-40B4-BE49-F238E27FC236}">
                <a16:creationId xmlns:a16="http://schemas.microsoft.com/office/drawing/2014/main" id="{90C49899-2F65-4881-A22E-059CE7B94187}"/>
              </a:ext>
            </a:extLst>
          </p:cNvPr>
          <p:cNvSpPr>
            <a:spLocks xmlns:a="http://schemas.openxmlformats.org/drawingml/2006/main" noGrp="1"/>
          </p:cNvSpPr>
          <p:nvPr/>
        </p:nvSpPr>
        <p:spPr>
          <a:xfrm xmlns:a="http://schemas.openxmlformats.org/drawingml/2006/main">
            <a:off x="571500" y="1638300"/>
            <a:ext cx="1104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192E43"/>
                </a:solidFill>
                <a:latin typeface="Arial"/>
                <a:ea typeface="Arial"/>
                <a:cs typeface="Arial"/>
              </a:defRPr>
            </a:defPPr>
          </a:lstStyle>
          <a:p xmlns:a="http://schemas.openxmlformats.org/drawingml/2006/main">
            <a:pPr>
              <a:defRPr sz="2175" b="0">
                <a:solidFill>
                  <a:srgbClr val="192E43"/>
                </a:solidFill>
                <a:latin typeface="Arial"/>
                <a:ea typeface="Arial"/>
                <a:cs typeface="Arial"/>
              </a:defRPr>
            </a:pPr>
            <a:r>
              <a:rPr sz="2175" b="0">
                <a:solidFill>
                  <a:srgbClr val="192E43"/>
                </a:solidFill>
                <a:latin typeface="Arial"/>
                <a:ea typeface="Arial"/>
                <a:cs typeface="Arial"/>
              </a:rPr>
              <a:t>For an edge u→v, add the cost to u and the edge weight.</a:t>
            </a:r>
          </a:p>
        </p:txBody>
      </p:sp>
      <p:sp>
        <p:nvSpPr>
          <p:cNvPr id="4" name="">
            <a:extLst xmlns:a="http://schemas.openxmlformats.org/drawingml/2006/main">
              <a:ext uri="{FF2B5EF4-FFF2-40B4-BE49-F238E27FC236}">
                <a16:creationId xmlns:a16="http://schemas.microsoft.com/office/drawing/2014/main" id="{1B94FEA6-0F96-40AF-AA27-13905C6E0802}"/>
              </a:ext>
            </a:extLst>
          </p:cNvPr>
          <p:cNvSpPr>
            <a:spLocks xmlns:a="http://schemas.openxmlformats.org/drawingml/2006/main" noGrp="1"/>
          </p:cNvSpPr>
          <p:nvPr/>
        </p:nvSpPr>
        <p:spPr>
          <a:xfrm xmlns:a="http://schemas.openxmlformats.org/drawingml/2006/main">
            <a:off x="571500" y="250507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Reaching 1 costs 3. Edge 1→2 weighs −5. The candidate for 2 is 3−5=−2.</a:t>
            </a:r>
          </a:p>
        </p:txBody>
      </p:sp>
      <p:sp>
        <p:nvSpPr>
          <p:cNvPr id="5" name="">
            <a:extLst xmlns:a="http://schemas.openxmlformats.org/drawingml/2006/main">
              <a:ext uri="{FF2B5EF4-FFF2-40B4-BE49-F238E27FC236}">
                <a16:creationId xmlns:a16="http://schemas.microsoft.com/office/drawing/2014/main" id="{50DAF925-FE4D-4660-AD7E-65799D18DFED}"/>
              </a:ext>
            </a:extLst>
          </p:cNvPr>
          <p:cNvSpPr>
            <a:spLocks xmlns:a="http://schemas.openxmlformats.org/drawingml/2006/main" noGrp="1"/>
          </p:cNvSpPr>
          <p:nvPr/>
        </p:nvSpPr>
        <p:spPr>
          <a:xfrm xmlns:a="http://schemas.openxmlformats.org/drawingml/2006/main">
            <a:off x="781050" y="3448050"/>
            <a:ext cx="106299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Courier New"/>
                <a:ea typeface="Courier New"/>
                <a:cs typeface="Courier New"/>
              </a:defRPr>
            </a:defPPr>
          </a:lstStyle>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if (distance[u] == null) continue;</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long candidate = distance[u] + weight;</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if (distance[v] == null || candidate &lt; distance[v]) {</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distance[v] = candidate;</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parentEdge[v] = id;</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0177A292-E8C6-41CE-9C23-73C0FDB67743}"/>
              </a:ext>
            </a:extLst>
          </p:cNvPr>
          <p:cNvSpPr>
            <a:spLocks xmlns:a="http://schemas.openxmlformats.org/drawingml/2006/main" noGrp="1"/>
          </p:cNvSpPr>
          <p:nvPr/>
        </p:nvSpPr>
        <p:spPr>
          <a:xfrm xmlns:a="http://schemas.openxmlformats.org/drawingml/2006/main">
            <a:off x="571500" y="564832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1">
                <a:solidFill>
                  <a:srgbClr val="AC4D73"/>
                </a:solidFill>
                <a:latin typeface="Arial"/>
                <a:ea typeface="Arial"/>
                <a:cs typeface="Arial"/>
              </a:defRPr>
            </a:defPPr>
          </a:lstStyle>
          <a:p xmlns:a="http://schemas.openxmlformats.org/drawingml/2006/main">
            <a:pPr>
              <a:defRPr sz="2025" b="1">
                <a:solidFill>
                  <a:srgbClr val="AC4D73"/>
                </a:solidFill>
                <a:latin typeface="Arial"/>
                <a:ea typeface="Arial"/>
                <a:cs typeface="Arial"/>
              </a:defRPr>
            </a:pPr>
            <a:r>
              <a:rPr sz="2025" b="1">
                <a:solidFill>
                  <a:srgbClr val="AC4D73"/>
                </a:solidFill>
                <a:latin typeface="Arial"/>
                <a:ea typeface="Arial"/>
                <a:cs typeface="Arial"/>
              </a:rPr>
              <a:t>If no route to v exists yet or the new route is cheaper, update distance and parent_edge.</a:t>
            </a:r>
          </a:p>
        </p:txBody>
      </p:sp>
      <p:sp>
        <p:nvSpPr>
          <p:cNvPr id="7" name="">
            <a:extLst xmlns:a="http://schemas.openxmlformats.org/drawingml/2006/main">
              <a:ext uri="{FF2B5EF4-FFF2-40B4-BE49-F238E27FC236}">
                <a16:creationId xmlns:a16="http://schemas.microsoft.com/office/drawing/2014/main" id="{B90AA2B8-761C-4832-A4FA-8208F8B9861B}"/>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2A310081-8793-4495-91F8-97CB2AFCCFFE}"/>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44 / 64</a:t>
            </a:r>
          </a:p>
        </p:txBody>
      </p:sp>
    </p:spTree>
    <p:extLst>
      <p:ext uri="{BB962C8B-B14F-4D97-AF65-F5344CB8AC3E}">
        <p14:creationId xmlns:p14="http://schemas.microsoft.com/office/powerpoint/2010/main" val="1455426658"/>
      </p:ext>
    </p:extLst>
  </p:cSld>
</p:sld>
</file>

<file path=ppt/slides/slide45.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33C1696-B5C8-48F1-8F5F-1C20D256355E}"/>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Shortest routes</a:t>
            </a:r>
          </a:p>
        </p:txBody>
      </p:sp>
      <p:sp>
        <p:nvSpPr>
          <p:cNvPr id="2" name="">
            <a:extLst xmlns:a="http://schemas.openxmlformats.org/drawingml/2006/main">
              <a:ext uri="{FF2B5EF4-FFF2-40B4-BE49-F238E27FC236}">
                <a16:creationId xmlns:a16="http://schemas.microsoft.com/office/drawing/2014/main" id="{F680729E-3212-4675-97CB-AF8FAF5CC394}"/>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Step 1: process source = 0</a:t>
            </a:r>
          </a:p>
        </p:txBody>
      </p:sp>
      <p:sp>
        <p:nvSpPr>
          <p:cNvPr id="3" name="">
            <a:extLst xmlns:a="http://schemas.openxmlformats.org/drawingml/2006/main">
              <a:ext uri="{FF2B5EF4-FFF2-40B4-BE49-F238E27FC236}">
                <a16:creationId xmlns:a16="http://schemas.microsoft.com/office/drawing/2014/main" id="{1CF54208-BB78-4D68-97E2-84824FA449DD}"/>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Order [0,1,2,3,4] works: every edge points forward.</a:t>
            </a:r>
          </a:p>
        </p:txBody>
      </p:sp>
      <p:sp>
        <p:nvSpPr>
          <p:cNvPr id="4" name="">
            <a:extLst xmlns:a="http://schemas.openxmlformats.org/drawingml/2006/main">
              <a:ext uri="{FF2B5EF4-FFF2-40B4-BE49-F238E27FC236}">
                <a16:creationId xmlns:a16="http://schemas.microsoft.com/office/drawing/2014/main" id="{CD9A2DC2-33E6-4783-BBA3-989DFD2E469A}"/>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Edge ID 0 reaches 1 for 0+3=3. ID 1 reaches 2 for 0+8=8.</a:t>
            </a:r>
          </a:p>
        </p:txBody>
      </p:sp>
      <p:graphicFrame>
        <p:nvGraphicFramePr>
          <p:cNvPr id="5" name="">
            <a:extLst xmlns:a="http://schemas.openxmlformats.org/drawingml/2006/main">
              <a:ext uri="{FF2B5EF4-FFF2-40B4-BE49-F238E27FC236}">
                <a16:creationId xmlns:a16="http://schemas.microsoft.com/office/drawing/2014/main" id="{88CBC609-4BF4-40D2-AE97-12CCAF54DD6E}"/>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3617769"/>
                <a:gridCol w="3617769"/>
                <a:gridCol w="3813463"/>
              </a:tblGrid>
              <a:tr h="460375">
                <a:tc>
                  <a:txBody>
                    <a:bodyPr/>
                    <a:lstStyle/>
                    <a:p>
                      <a:r>
                        <a:rPr sz="1725" b="1">
                          <a:solidFill>
                            <a:srgbClr val="192E43"/>
                          </a:solidFill>
                          <a:latin typeface="Arial"/>
                          <a:ea typeface="Arial"/>
                          <a:cs typeface="Arial"/>
                        </a:rPr>
                        <a:t>Vertex</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distance</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Final edge</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460375">
                <a:tc>
                  <a:txBody>
                    <a:bodyPr/>
                    <a:lstStyle/>
                    <a:p>
                      <a:r>
                        <a:rPr sz="1725" b="0">
                          <a:solidFill>
                            <a:srgbClr val="192E43"/>
                          </a:solidFill>
                          <a:latin typeface="Arial"/>
                          <a:ea typeface="Arial"/>
                          <a:cs typeface="Arial"/>
                        </a:rPr>
                        <a:t>0</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−1: source</a:t>
                      </a:r>
                    </a:p>
                  </a:txBody>
                  <a:tcPr marL="91440" marR="91440" marT="45720" marB="45720">
                    <a:lnR w="9525">
                      <a:solidFill>
                        <a:srgbClr val="E2DCE0"/>
                      </a:solidFill>
                      <a:prstDash val="solid"/>
                    </a:lnR>
                    <a:lnB w="9525">
                      <a:solidFill>
                        <a:srgbClr val="E2DCE0"/>
                      </a:solidFill>
                      <a:prstDash val="solid"/>
                    </a:lnB>
                    <a:solidFill>
                      <a:srgbClr val="FFFEFC"/>
                    </a:solidFill>
                  </a:tcPr>
                </a:tc>
              </a:tr>
              <a:tr h="460375">
                <a:tc>
                  <a:txBody>
                    <a:bodyPr/>
                    <a:lstStyle/>
                    <a:p>
                      <a:r>
                        <a:rPr sz="1725" b="0">
                          <a:solidFill>
                            <a:srgbClr val="192E43"/>
                          </a:solidFill>
                          <a:latin typeface="Arial"/>
                          <a:ea typeface="Arial"/>
                          <a:cs typeface="Arial"/>
                        </a:rPr>
                        <a:t>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3</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ID 0</a:t>
                      </a:r>
                    </a:p>
                  </a:txBody>
                  <a:tcPr marL="91440" marR="91440" marT="45720" marB="45720">
                    <a:lnR w="9525">
                      <a:solidFill>
                        <a:srgbClr val="E2DCE0"/>
                      </a:solidFill>
                      <a:prstDash val="solid"/>
                    </a:lnR>
                    <a:lnB w="9525">
                      <a:solidFill>
                        <a:srgbClr val="E2DCE0"/>
                      </a:solidFill>
                      <a:prstDash val="solid"/>
                    </a:lnB>
                    <a:solidFill>
                      <a:srgbClr val="FAF8F8"/>
                    </a:solidFill>
                  </a:tcPr>
                </a:tc>
              </a:tr>
              <a:tr h="460375">
                <a:tc>
                  <a:txBody>
                    <a:bodyPr/>
                    <a:lstStyle/>
                    <a:p>
                      <a:r>
                        <a:rPr sz="1725" b="0">
                          <a:solidFill>
                            <a:srgbClr val="192E43"/>
                          </a:solidFill>
                          <a:latin typeface="Arial"/>
                          <a:ea typeface="Arial"/>
                          <a:cs typeface="Arial"/>
                        </a:rPr>
                        <a:t>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8</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ID 1</a:t>
                      </a:r>
                    </a:p>
                  </a:txBody>
                  <a:tcPr marL="91440" marR="91440" marT="45720" marB="45720">
                    <a:lnR w="9525">
                      <a:solidFill>
                        <a:srgbClr val="E2DCE0"/>
                      </a:solidFill>
                      <a:prstDash val="solid"/>
                    </a:lnR>
                    <a:lnB w="9525">
                      <a:solidFill>
                        <a:srgbClr val="E2DCE0"/>
                      </a:solidFill>
                      <a:prstDash val="solid"/>
                    </a:lnB>
                    <a:solidFill>
                      <a:srgbClr val="FFFEFC"/>
                    </a:solidFill>
                  </a:tcPr>
                </a:tc>
              </a:tr>
              <a:tr h="460375">
                <a:tc>
                  <a:txBody>
                    <a:bodyPr/>
                    <a:lstStyle/>
                    <a:p>
                      <a:r>
                        <a:rPr sz="1725" b="0">
                          <a:solidFill>
                            <a:srgbClr val="192E43"/>
                          </a:solidFill>
                          <a:latin typeface="Arial"/>
                          <a:ea typeface="Arial"/>
                          <a:cs typeface="Arial"/>
                        </a:rPr>
                        <a:t>3</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null</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−1</a:t>
                      </a:r>
                    </a:p>
                  </a:txBody>
                  <a:tcPr marL="91440" marR="91440" marT="45720" marB="45720">
                    <a:lnR w="9525">
                      <a:solidFill>
                        <a:srgbClr val="E2DCE0"/>
                      </a:solidFill>
                      <a:prstDash val="solid"/>
                    </a:lnR>
                    <a:lnB w="9525">
                      <a:solidFill>
                        <a:srgbClr val="E2DCE0"/>
                      </a:solidFill>
                      <a:prstDash val="solid"/>
                    </a:lnB>
                    <a:solidFill>
                      <a:srgbClr val="FAF8F8"/>
                    </a:solidFill>
                  </a:tcPr>
                </a:tc>
              </a:tr>
              <a:tr h="460375">
                <a:tc>
                  <a:txBody>
                    <a:bodyPr/>
                    <a:lstStyle/>
                    <a:p>
                      <a:r>
                        <a:rPr sz="1725" b="0">
                          <a:solidFill>
                            <a:srgbClr val="192E43"/>
                          </a:solidFill>
                          <a:latin typeface="Arial"/>
                          <a:ea typeface="Arial"/>
                          <a:cs typeface="Arial"/>
                        </a:rPr>
                        <a:t>4</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null</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−1</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45BDA5D6-15B0-4944-8C0D-48FCB13904B8}"/>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After 0: distance=[0,3,8,null,null], parent_edge=[−1,0,1,−1,−1].</a:t>
            </a:r>
          </a:p>
        </p:txBody>
      </p:sp>
      <p:sp>
        <p:nvSpPr>
          <p:cNvPr id="7" name="">
            <a:extLst xmlns:a="http://schemas.openxmlformats.org/drawingml/2006/main">
              <a:ext uri="{FF2B5EF4-FFF2-40B4-BE49-F238E27FC236}">
                <a16:creationId xmlns:a16="http://schemas.microsoft.com/office/drawing/2014/main" id="{0CCA2CFC-E676-432D-979F-A4ADE5BDCE21}"/>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90BAD37B-5CEF-423D-9E4B-EFB978C28439}"/>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45 / 64</a:t>
            </a:r>
          </a:p>
        </p:txBody>
      </p:sp>
    </p:spTree>
    <p:extLst>
      <p:ext uri="{BB962C8B-B14F-4D97-AF65-F5344CB8AC3E}">
        <p14:creationId xmlns:p14="http://schemas.microsoft.com/office/powerpoint/2010/main" val="1029123859"/>
      </p:ext>
    </p:extLst>
  </p:cSld>
</p:sld>
</file>

<file path=ppt/slides/slide46.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ADB216A-8AE2-45A8-A5B2-316DCAC96880}"/>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Shortest routes</a:t>
            </a:r>
          </a:p>
        </p:txBody>
      </p:sp>
      <p:sp>
        <p:nvSpPr>
          <p:cNvPr id="2" name="">
            <a:extLst xmlns:a="http://schemas.openxmlformats.org/drawingml/2006/main">
              <a:ext uri="{FF2B5EF4-FFF2-40B4-BE49-F238E27FC236}">
                <a16:creationId xmlns:a16="http://schemas.microsoft.com/office/drawing/2014/main" id="{422343C3-350B-4169-A3FB-3ADCAA23712B}"/>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Step 2: a cheaper route through 1</a:t>
            </a:r>
          </a:p>
        </p:txBody>
      </p:sp>
      <p:sp>
        <p:nvSpPr>
          <p:cNvPr id="3" name="">
            <a:extLst xmlns:a="http://schemas.openxmlformats.org/drawingml/2006/main">
              <a:ext uri="{FF2B5EF4-FFF2-40B4-BE49-F238E27FC236}">
                <a16:creationId xmlns:a16="http://schemas.microsoft.com/office/drawing/2014/main" id="{B872986F-685C-409F-8D00-F6A8503A71F8}"/>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Vertex 1 already has cost 3. Test edge ID 2: 1→2, weight −5.</a:t>
            </a:r>
          </a:p>
        </p:txBody>
      </p:sp>
      <p:sp>
        <p:nvSpPr>
          <p:cNvPr id="4" name="">
            <a:extLst xmlns:a="http://schemas.openxmlformats.org/drawingml/2006/main">
              <a:ext uri="{FF2B5EF4-FFF2-40B4-BE49-F238E27FC236}">
                <a16:creationId xmlns:a16="http://schemas.microsoft.com/office/drawing/2014/main" id="{C94F6A8D-CF3C-4ACB-8932-11D4789387D3}"/>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Candidate −2 is cheaper than 8. Update both entries for vertex 2.</a:t>
            </a:r>
          </a:p>
        </p:txBody>
      </p:sp>
      <p:graphicFrame>
        <p:nvGraphicFramePr>
          <p:cNvPr id="5" name="">
            <a:extLst xmlns:a="http://schemas.openxmlformats.org/drawingml/2006/main">
              <a:ext uri="{FF2B5EF4-FFF2-40B4-BE49-F238E27FC236}">
                <a16:creationId xmlns:a16="http://schemas.microsoft.com/office/drawing/2014/main" id="{EB935E0E-B5C7-4C78-B4C4-6ED4297C4BBB}"/>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5463109"/>
                <a:gridCol w="5585891"/>
              </a:tblGrid>
              <a:tr h="552450">
                <a:tc>
                  <a:txBody>
                    <a:bodyPr/>
                    <a:lstStyle/>
                    <a:p>
                      <a:r>
                        <a:rPr sz="1725" b="1">
                          <a:solidFill>
                            <a:srgbClr val="192E43"/>
                          </a:solidFill>
                          <a:latin typeface="Arial"/>
                          <a:ea typeface="Arial"/>
                          <a:cs typeface="Arial"/>
                        </a:rPr>
                        <a:t>Quantity</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Value</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552450">
                <a:tc>
                  <a:txBody>
                    <a:bodyPr/>
                    <a:lstStyle/>
                    <a:p>
                      <a:r>
                        <a:rPr sz="1725" b="0">
                          <a:solidFill>
                            <a:srgbClr val="192E43"/>
                          </a:solidFill>
                          <a:latin typeface="Arial"/>
                          <a:ea typeface="Arial"/>
                          <a:cs typeface="Arial"/>
                        </a:rPr>
                        <a:t>Old route 0→2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8</a:t>
                      </a:r>
                    </a:p>
                  </a:txBody>
                  <a:tcPr marL="91440" marR="91440" marT="45720" marB="45720">
                    <a:lnR w="9525">
                      <a:solidFill>
                        <a:srgbClr val="E2DCE0"/>
                      </a:solidFill>
                      <a:prstDash val="solid"/>
                    </a:lnR>
                    <a:lnB w="9525">
                      <a:solidFill>
                        <a:srgbClr val="E2DCE0"/>
                      </a:solidFill>
                      <a:prstDash val="solid"/>
                    </a:lnB>
                    <a:solidFill>
                      <a:srgbClr val="FFFEFC"/>
                    </a:solidFill>
                  </a:tcPr>
                </a:tc>
              </a:tr>
              <a:tr h="552450">
                <a:tc>
                  <a:txBody>
                    <a:bodyPr/>
                    <a:lstStyle/>
                    <a:p>
                      <a:r>
                        <a:rPr sz="1725" b="0">
                          <a:solidFill>
                            <a:srgbClr val="192E43"/>
                          </a:solidFill>
                          <a:latin typeface="Arial"/>
                          <a:ea typeface="Arial"/>
                          <a:cs typeface="Arial"/>
                        </a:rPr>
                        <a:t>New route 0→1→2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3 + (−5) = −2</a:t>
                      </a:r>
                    </a:p>
                  </a:txBody>
                  <a:tcPr marL="91440" marR="91440" marT="45720" marB="45720">
                    <a:lnR w="9525">
                      <a:solidFill>
                        <a:srgbClr val="E2DCE0"/>
                      </a:solidFill>
                      <a:prstDash val="solid"/>
                    </a:lnR>
                    <a:lnB w="9525">
                      <a:solidFill>
                        <a:srgbClr val="E2DCE0"/>
                      </a:solidFill>
                      <a:prstDash val="solid"/>
                    </a:lnB>
                    <a:solidFill>
                      <a:srgbClr val="FAF8F8"/>
                    </a:solidFill>
                  </a:tcPr>
                </a:tc>
              </a:tr>
              <a:tr h="552450">
                <a:tc>
                  <a:txBody>
                    <a:bodyPr/>
                    <a:lstStyle/>
                    <a:p>
                      <a:r>
                        <a:rPr sz="1725" b="0">
                          <a:solidFill>
                            <a:srgbClr val="192E43"/>
                          </a:solidFill>
                          <a:latin typeface="Arial"/>
                          <a:ea typeface="Arial"/>
                          <a:cs typeface="Arial"/>
                        </a:rPr>
                        <a:t>Updated distance[2]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−2</a:t>
                      </a:r>
                    </a:p>
                  </a:txBody>
                  <a:tcPr marL="91440" marR="91440" marT="45720" marB="45720">
                    <a:lnR w="9525">
                      <a:solidFill>
                        <a:srgbClr val="E2DCE0"/>
                      </a:solidFill>
                      <a:prstDash val="solid"/>
                    </a:lnR>
                    <a:lnB w="9525">
                      <a:solidFill>
                        <a:srgbClr val="E2DCE0"/>
                      </a:solidFill>
                      <a:prstDash val="solid"/>
                    </a:lnB>
                    <a:solidFill>
                      <a:srgbClr val="FFFEFC"/>
                    </a:solidFill>
                  </a:tcPr>
                </a:tc>
              </a:tr>
              <a:tr h="552450">
                <a:tc>
                  <a:txBody>
                    <a:bodyPr/>
                    <a:lstStyle/>
                    <a:p>
                      <a:r>
                        <a:rPr sz="1725" b="0">
                          <a:solidFill>
                            <a:srgbClr val="192E43"/>
                          </a:solidFill>
                          <a:latin typeface="Arial"/>
                          <a:ea typeface="Arial"/>
                          <a:cs typeface="Arial"/>
                        </a:rPr>
                        <a:t>Updated parent_edge[2]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2: input ID of edge 1→2</a:t>
                      </a:r>
                    </a:p>
                  </a:txBody>
                  <a:tcPr marL="91440" marR="91440" marT="45720" marB="45720">
                    <a:lnR w="9525">
                      <a:solidFill>
                        <a:srgbClr val="E2DCE0"/>
                      </a:solidFill>
                      <a:prstDash val="solid"/>
                    </a:lnR>
                    <a:lnB w="9525">
                      <a:solidFill>
                        <a:srgbClr val="E2DCE0"/>
                      </a:solidFill>
                      <a:prstDash val="solid"/>
                    </a:lnB>
                    <a:solidFill>
                      <a:srgbClr val="FAF8F8"/>
                    </a:solidFill>
                  </a:tcPr>
                </a:tc>
              </a:tr>
            </a:tbl>
          </a:graphicData>
        </a:graphic>
      </p:graphicFrame>
      <p:sp>
        <p:nvSpPr>
          <p:cNvPr id="6" name="">
            <a:extLst xmlns:a="http://schemas.openxmlformats.org/drawingml/2006/main">
              <a:ext uri="{FF2B5EF4-FFF2-40B4-BE49-F238E27FC236}">
                <a16:creationId xmlns:a16="http://schemas.microsoft.com/office/drawing/2014/main" id="{8C877361-8AC2-4841-B4EA-F9F05A720E25}"/>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New route to 2: 0→1→2. parent_edge[2]=2, not predecessor vertex 1.</a:t>
            </a:r>
          </a:p>
        </p:txBody>
      </p:sp>
      <p:sp>
        <p:nvSpPr>
          <p:cNvPr id="7" name="">
            <a:extLst xmlns:a="http://schemas.openxmlformats.org/drawingml/2006/main">
              <a:ext uri="{FF2B5EF4-FFF2-40B4-BE49-F238E27FC236}">
                <a16:creationId xmlns:a16="http://schemas.microsoft.com/office/drawing/2014/main" id="{D6064173-6057-4864-BFE7-500F9F704A54}"/>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A8B8C30C-AECA-4334-825C-006B0C1C7042}"/>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46 / 64</a:t>
            </a:r>
          </a:p>
        </p:txBody>
      </p:sp>
    </p:spTree>
    <p:extLst>
      <p:ext uri="{BB962C8B-B14F-4D97-AF65-F5344CB8AC3E}">
        <p14:creationId xmlns:p14="http://schemas.microsoft.com/office/powerpoint/2010/main" val="1834519308"/>
      </p:ext>
    </p:extLst>
  </p:cSld>
</p:sld>
</file>

<file path=ppt/slides/slide47.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C213279-68FF-426D-9D6F-5ACD77AAA8AA}"/>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Shortest routes</a:t>
            </a:r>
          </a:p>
        </p:txBody>
      </p:sp>
      <p:sp>
        <p:nvSpPr>
          <p:cNvPr id="2" name="">
            <a:extLst xmlns:a="http://schemas.openxmlformats.org/drawingml/2006/main">
              <a:ext uri="{FF2B5EF4-FFF2-40B4-BE49-F238E27FC236}">
                <a16:creationId xmlns:a16="http://schemas.microsoft.com/office/drawing/2014/main" id="{5DCB1FC4-2A46-413D-B1A9-17E38387723D}"/>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Step 3: complete the distances</a:t>
            </a:r>
          </a:p>
        </p:txBody>
      </p:sp>
      <p:sp>
        <p:nvSpPr>
          <p:cNvPr id="3" name="">
            <a:extLst xmlns:a="http://schemas.openxmlformats.org/drawingml/2006/main">
              <a:ext uri="{FF2B5EF4-FFF2-40B4-BE49-F238E27FC236}">
                <a16:creationId xmlns:a16="http://schemas.microsoft.com/office/drawing/2014/main" id="{739FE95C-221C-4B51-AD9A-87A6BBBC7A18}"/>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From 2, reach 3 for −2+4=2. Isolated vertex 4 stays unreachable.</a:t>
            </a:r>
          </a:p>
        </p:txBody>
      </p:sp>
      <p:sp>
        <p:nvSpPr>
          <p:cNvPr id="4" name="">
            <a:extLst xmlns:a="http://schemas.openxmlformats.org/drawingml/2006/main">
              <a:ext uri="{FF2B5EF4-FFF2-40B4-BE49-F238E27FC236}">
                <a16:creationId xmlns:a16="http://schemas.microsoft.com/office/drawing/2014/main" id="{E217A36C-6FAA-4F14-B7F3-4B89FB089FBE}"/>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distance=[0,3,−2,2,null]. parent_edge=[−1,0,2,3,−1].</a:t>
            </a:r>
          </a:p>
        </p:txBody>
      </p:sp>
      <p:sp>
        <p:nvSpPr>
          <p:cNvPr id="5" name="">
            <a:extLst xmlns:a="http://schemas.openxmlformats.org/drawingml/2006/main">
              <a:ext uri="{FF2B5EF4-FFF2-40B4-BE49-F238E27FC236}">
                <a16:creationId xmlns:a16="http://schemas.microsoft.com/office/drawing/2014/main" id="{E32E971A-5F2A-4600-A945-3C4EA1ABC896}"/>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The result includes acyclic=true and both arrays with one entry per vertex.</a:t>
            </a:r>
          </a:p>
        </p:txBody>
      </p:sp>
      <p:sp>
        <p:nvSpPr>
          <p:cNvPr id="6" name="">
            <a:extLst xmlns:a="http://schemas.openxmlformats.org/drawingml/2006/main">
              <a:ext uri="{FF2B5EF4-FFF2-40B4-BE49-F238E27FC236}">
                <a16:creationId xmlns:a16="http://schemas.microsoft.com/office/drawing/2014/main" id="{BDADA8CB-4FDD-4015-B3C4-532B96767332}"/>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7" name="">
            <a:extLst xmlns:a="http://schemas.openxmlformats.org/drawingml/2006/main">
              <a:ext uri="{FF2B5EF4-FFF2-40B4-BE49-F238E27FC236}">
                <a16:creationId xmlns:a16="http://schemas.microsoft.com/office/drawing/2014/main" id="{0D7395C1-AA1F-459F-B452-DEE61E94E759}"/>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47 / 64</a:t>
            </a:r>
          </a:p>
        </p:txBody>
      </p:sp>
    </p:spTree>
    <p:extLst>
      <p:ext uri="{BB962C8B-B14F-4D97-AF65-F5344CB8AC3E}">
        <p14:creationId xmlns:p14="http://schemas.microsoft.com/office/powerpoint/2010/main" val="709981428"/>
      </p:ext>
    </p:extLst>
  </p:cSld>
</p:sld>
</file>

<file path=ppt/slides/slide48.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5661A90-EF8F-496D-9638-A26BDE4EC83B}"/>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Shortest routes</a:t>
            </a:r>
          </a:p>
        </p:txBody>
      </p:sp>
      <p:sp>
        <p:nvSpPr>
          <p:cNvPr id="2" name="">
            <a:extLst xmlns:a="http://schemas.openxmlformats.org/drawingml/2006/main">
              <a:ext uri="{FF2B5EF4-FFF2-40B4-BE49-F238E27FC236}">
                <a16:creationId xmlns:a16="http://schemas.microsoft.com/office/drawing/2014/main" id="{1E06F87B-FC28-4302-BB9D-BC4697FEA7E7}"/>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Why one pass is enough</a:t>
            </a:r>
          </a:p>
        </p:txBody>
      </p:sp>
      <p:sp>
        <p:nvSpPr>
          <p:cNvPr id="3" name="">
            <a:extLst xmlns:a="http://schemas.openxmlformats.org/drawingml/2006/main">
              <a:ext uri="{FF2B5EF4-FFF2-40B4-BE49-F238E27FC236}">
                <a16:creationId xmlns:a16="http://schemas.microsoft.com/office/drawing/2014/main" id="{328F061E-BBD1-4F9A-A631-B853A8007F3F}"/>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In topological order, every possible predecessor is processed first.</a:t>
            </a:r>
          </a:p>
        </p:txBody>
      </p:sp>
      <p:sp>
        <p:nvSpPr>
          <p:cNvPr id="4" name="">
            <a:extLst xmlns:a="http://schemas.openxmlformats.org/drawingml/2006/main">
              <a:ext uri="{FF2B5EF4-FFF2-40B4-BE49-F238E27FC236}">
                <a16:creationId xmlns:a16="http://schemas.microsoft.com/office/drawing/2014/main" id="{485CBDBE-16C4-4FEB-8C65-86449F9AA792}"/>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Before processing 2, we have already tested 0→2 and 1→2.</a:t>
            </a:r>
          </a:p>
        </p:txBody>
      </p:sp>
      <p:sp>
        <p:nvSpPr>
          <p:cNvPr id="5" name="">
            <a:extLst xmlns:a="http://schemas.openxmlformats.org/drawingml/2006/main">
              <a:ext uri="{FF2B5EF4-FFF2-40B4-BE49-F238E27FC236}">
                <a16:creationId xmlns:a16="http://schemas.microsoft.com/office/drawing/2014/main" id="{386F8CD0-1A48-4D3A-8186-1722D36C0E9C}"/>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No later vertex can send an edge back to 2: that would violate the order.</a:t>
            </a:r>
          </a:p>
        </p:txBody>
      </p:sp>
      <p:sp>
        <p:nvSpPr>
          <p:cNvPr id="6" name="">
            <a:extLst xmlns:a="http://schemas.openxmlformats.org/drawingml/2006/main">
              <a:ext uri="{FF2B5EF4-FFF2-40B4-BE49-F238E27FC236}">
                <a16:creationId xmlns:a16="http://schemas.microsoft.com/office/drawing/2014/main" id="{F4620675-D0DA-4F34-A9A2-9B9DD9E68E13}"/>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7" name="">
            <a:extLst xmlns:a="http://schemas.openxmlformats.org/drawingml/2006/main">
              <a:ext uri="{FF2B5EF4-FFF2-40B4-BE49-F238E27FC236}">
                <a16:creationId xmlns:a16="http://schemas.microsoft.com/office/drawing/2014/main" id="{977491BF-613B-4C37-8F3F-693EFA516F01}"/>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48 / 64</a:t>
            </a:r>
          </a:p>
        </p:txBody>
      </p:sp>
    </p:spTree>
    <p:extLst>
      <p:ext uri="{BB962C8B-B14F-4D97-AF65-F5344CB8AC3E}">
        <p14:creationId xmlns:p14="http://schemas.microsoft.com/office/powerpoint/2010/main" val="2135657071"/>
      </p:ext>
    </p:extLst>
  </p:cSld>
</p:sld>
</file>

<file path=ppt/slides/slide49.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25D8300-A2D4-412A-9681-5069E9CC7D28}"/>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Shortest routes</a:t>
            </a:r>
          </a:p>
        </p:txBody>
      </p:sp>
      <p:sp>
        <p:nvSpPr>
          <p:cNvPr id="2" name="">
            <a:extLst xmlns:a="http://schemas.openxmlformats.org/drawingml/2006/main">
              <a:ext uri="{FF2B5EF4-FFF2-40B4-BE49-F238E27FC236}">
                <a16:creationId xmlns:a16="http://schemas.microsoft.com/office/drawing/2014/main" id="{FF4AD1D1-BF60-48E3-BFFC-C944C912649B}"/>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Reconstruction: follow final edges backwards</a:t>
            </a:r>
          </a:p>
        </p:txBody>
      </p:sp>
      <p:sp>
        <p:nvSpPr>
          <p:cNvPr id="3" name="">
            <a:extLst xmlns:a="http://schemas.openxmlformats.org/drawingml/2006/main">
              <a:ext uri="{FF2B5EF4-FFF2-40B4-BE49-F238E27FC236}">
                <a16:creationId xmlns:a16="http://schemas.microsoft.com/office/drawing/2014/main" id="{8F48FC53-74C6-4316-B216-8A7815891177}"/>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parent_edge stores each route’s final edge. Start at target 3.</a:t>
            </a:r>
          </a:p>
        </p:txBody>
      </p:sp>
      <p:sp>
        <p:nvSpPr>
          <p:cNvPr id="4" name="">
            <a:extLst xmlns:a="http://schemas.openxmlformats.org/drawingml/2006/main">
              <a:ext uri="{FF2B5EF4-FFF2-40B4-BE49-F238E27FC236}">
                <a16:creationId xmlns:a16="http://schemas.microsoft.com/office/drawing/2014/main" id="{30C9C092-4F5A-42BB-AB08-FA45DC3ED3C3}"/>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At 3, ID 3 comes from 2. At 2, ID 2 comes from 1. At 1, ID 0 comes from 0.</a:t>
            </a:r>
          </a:p>
        </p:txBody>
      </p:sp>
      <p:graphicFrame>
        <p:nvGraphicFramePr>
          <p:cNvPr id="5" name="">
            <a:extLst xmlns:a="http://schemas.openxmlformats.org/drawingml/2006/main">
              <a:ext uri="{FF2B5EF4-FFF2-40B4-BE49-F238E27FC236}">
                <a16:creationId xmlns:a16="http://schemas.microsoft.com/office/drawing/2014/main" id="{CF7DF71D-9F2D-4216-8074-EBC9E31C606F}"/>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3781957"/>
                <a:gridCol w="3352346"/>
                <a:gridCol w="3914697"/>
              </a:tblGrid>
              <a:tr h="552450">
                <a:tc>
                  <a:txBody>
                    <a:bodyPr/>
                    <a:lstStyle/>
                    <a:p>
                      <a:r>
                        <a:rPr sz="1725" b="1">
                          <a:solidFill>
                            <a:srgbClr val="192E43"/>
                          </a:solidFill>
                          <a:latin typeface="Arial"/>
                          <a:ea typeface="Arial"/>
                          <a:cs typeface="Arial"/>
                        </a:rPr>
                        <a:t>Current vertex</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parent_edge</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Previous vertex</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552450">
                <a:tc>
                  <a:txBody>
                    <a:bodyPr/>
                    <a:lstStyle/>
                    <a:p>
                      <a:r>
                        <a:rPr sz="1725" b="0">
                          <a:solidFill>
                            <a:srgbClr val="192E43"/>
                          </a:solidFill>
                          <a:latin typeface="Arial"/>
                          <a:ea typeface="Arial"/>
                          <a:cs typeface="Arial"/>
                        </a:rPr>
                        <a:t>3</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3</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2</a:t>
                      </a:r>
                    </a:p>
                  </a:txBody>
                  <a:tcPr marL="91440" marR="91440" marT="45720" marB="45720">
                    <a:lnR w="9525">
                      <a:solidFill>
                        <a:srgbClr val="E2DCE0"/>
                      </a:solidFill>
                      <a:prstDash val="solid"/>
                    </a:lnR>
                    <a:lnB w="9525">
                      <a:solidFill>
                        <a:srgbClr val="E2DCE0"/>
                      </a:solidFill>
                      <a:prstDash val="solid"/>
                    </a:lnB>
                    <a:solidFill>
                      <a:srgbClr val="FFFEFC"/>
                    </a:solidFill>
                  </a:tcPr>
                </a:tc>
              </a:tr>
              <a:tr h="552450">
                <a:tc>
                  <a:txBody>
                    <a:bodyPr/>
                    <a:lstStyle/>
                    <a:p>
                      <a:r>
                        <a:rPr sz="1725" b="0">
                          <a:solidFill>
                            <a:srgbClr val="192E43"/>
                          </a:solidFill>
                          <a:latin typeface="Arial"/>
                          <a:ea typeface="Arial"/>
                          <a:cs typeface="Arial"/>
                        </a:rPr>
                        <a:t>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2</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1</a:t>
                      </a:r>
                    </a:p>
                  </a:txBody>
                  <a:tcPr marL="91440" marR="91440" marT="45720" marB="45720">
                    <a:lnR w="9525">
                      <a:solidFill>
                        <a:srgbClr val="E2DCE0"/>
                      </a:solidFill>
                      <a:prstDash val="solid"/>
                    </a:lnR>
                    <a:lnB w="9525">
                      <a:solidFill>
                        <a:srgbClr val="E2DCE0"/>
                      </a:solidFill>
                      <a:prstDash val="solid"/>
                    </a:lnB>
                    <a:solidFill>
                      <a:srgbClr val="FAF8F8"/>
                    </a:solidFill>
                  </a:tcPr>
                </a:tc>
              </a:tr>
              <a:tr h="552450">
                <a:tc>
                  <a:txBody>
                    <a:bodyPr/>
                    <a:lstStyle/>
                    <a:p>
                      <a:r>
                        <a:rPr sz="1725" b="0">
                          <a:solidFill>
                            <a:srgbClr val="192E43"/>
                          </a:solidFill>
                          <a:latin typeface="Arial"/>
                          <a:ea typeface="Arial"/>
                          <a:cs typeface="Arial"/>
                        </a:rPr>
                        <a:t>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a:t>
                      </a:r>
                    </a:p>
                  </a:txBody>
                  <a:tcPr marL="91440" marR="91440" marT="45720" marB="45720">
                    <a:lnR w="9525">
                      <a:solidFill>
                        <a:srgbClr val="E2DCE0"/>
                      </a:solidFill>
                      <a:prstDash val="solid"/>
                    </a:lnR>
                    <a:lnB w="9525">
                      <a:solidFill>
                        <a:srgbClr val="E2DCE0"/>
                      </a:solidFill>
                      <a:prstDash val="solid"/>
                    </a:lnB>
                    <a:solidFill>
                      <a:srgbClr val="FFFEFC"/>
                    </a:solidFill>
                  </a:tcPr>
                </a:tc>
              </a:tr>
              <a:tr h="552450">
                <a:tc>
                  <a:txBody>
                    <a:bodyPr/>
                    <a:lstStyle/>
                    <a:p>
                      <a:r>
                        <a:rPr sz="1725" b="0">
                          <a:solidFill>
                            <a:srgbClr val="192E43"/>
                          </a:solidFill>
                          <a:latin typeface="Arial"/>
                          <a:ea typeface="Arial"/>
                          <a:cs typeface="Arial"/>
                        </a:rPr>
                        <a:t>0</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−1</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Stop: source</a:t>
                      </a:r>
                    </a:p>
                  </a:txBody>
                  <a:tcPr marL="91440" marR="91440" marT="45720" marB="45720">
                    <a:lnR w="9525">
                      <a:solidFill>
                        <a:srgbClr val="E2DCE0"/>
                      </a:solidFill>
                      <a:prstDash val="solid"/>
                    </a:lnR>
                    <a:lnB w="9525">
                      <a:solidFill>
                        <a:srgbClr val="E2DCE0"/>
                      </a:solidFill>
                      <a:prstDash val="solid"/>
                    </a:lnB>
                    <a:solidFill>
                      <a:srgbClr val="FAF8F8"/>
                    </a:solidFill>
                  </a:tcPr>
                </a:tc>
              </a:tr>
            </a:tbl>
          </a:graphicData>
        </a:graphic>
      </p:graphicFrame>
      <p:sp>
        <p:nvSpPr>
          <p:cNvPr id="6" name="">
            <a:extLst xmlns:a="http://schemas.openxmlformats.org/drawingml/2006/main">
              <a:ext uri="{FF2B5EF4-FFF2-40B4-BE49-F238E27FC236}">
                <a16:creationId xmlns:a16="http://schemas.microsoft.com/office/drawing/2014/main" id="{44E860FA-7713-45A1-9BEB-DBDF71C916C2}"/>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Collected [3,2,1,0]. Reverse it: [0,1,2,3].</a:t>
            </a:r>
          </a:p>
        </p:txBody>
      </p:sp>
      <p:sp>
        <p:nvSpPr>
          <p:cNvPr id="7" name="">
            <a:extLst xmlns:a="http://schemas.openxmlformats.org/drawingml/2006/main">
              <a:ext uri="{FF2B5EF4-FFF2-40B4-BE49-F238E27FC236}">
                <a16:creationId xmlns:a16="http://schemas.microsoft.com/office/drawing/2014/main" id="{D14D46B4-47A9-440B-AB16-16D71C0CC388}"/>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D413B2F6-1726-4AE6-BDAB-5B0152EAAF17}"/>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49 / 64</a:t>
            </a:r>
          </a:p>
        </p:txBody>
      </p:sp>
    </p:spTree>
    <p:extLst>
      <p:ext uri="{BB962C8B-B14F-4D97-AF65-F5344CB8AC3E}">
        <p14:creationId xmlns:p14="http://schemas.microsoft.com/office/powerpoint/2010/main" val="1380961806"/>
      </p:ext>
    </p:extLst>
  </p:cSld>
</p:sld>
</file>

<file path=ppt/slides/slide50.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A23F411-58ED-4189-91FC-57D49C5921FA}"/>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Shortest routes</a:t>
            </a:r>
          </a:p>
        </p:txBody>
      </p:sp>
      <p:sp>
        <p:nvSpPr>
          <p:cNvPr id="2" name="">
            <a:extLst xmlns:a="http://schemas.openxmlformats.org/drawingml/2006/main">
              <a:ext uri="{FF2B5EF4-FFF2-40B4-BE49-F238E27FC236}">
                <a16:creationId xmlns:a16="http://schemas.microsoft.com/office/drawing/2014/main" id="{D9DB6F9A-9D39-4AC2-A418-634AFF95FEDE}"/>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Helper: three required calls</a:t>
            </a:r>
          </a:p>
        </p:txBody>
      </p:sp>
      <p:sp>
        <p:nvSpPr>
          <p:cNvPr id="3" name="">
            <a:extLst xmlns:a="http://schemas.openxmlformats.org/drawingml/2006/main">
              <a:ext uri="{FF2B5EF4-FFF2-40B4-BE49-F238E27FC236}">
                <a16:creationId xmlns:a16="http://schemas.microsoft.com/office/drawing/2014/main" id="{4C062371-02DC-4FD4-8552-201E41792B69}"/>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In your tests, call the helper for a reachable target, source and unreachable target.</a:t>
            </a:r>
          </a:p>
        </p:txBody>
      </p:sp>
      <p:sp>
        <p:nvSpPr>
          <p:cNvPr id="4" name="">
            <a:extLst xmlns:a="http://schemas.openxmlformats.org/drawingml/2006/main">
              <a:ext uri="{FF2B5EF4-FFF2-40B4-BE49-F238E27FC236}">
                <a16:creationId xmlns:a16="http://schemas.microsoft.com/office/drawing/2014/main" id="{111C93E5-2D32-4A4F-9763-2C1A242BCED9}"/>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In our example, target=3 gives [0,1,2,3]. target=0 gives [0].</a:t>
            </a:r>
          </a:p>
        </p:txBody>
      </p:sp>
      <p:sp>
        <p:nvSpPr>
          <p:cNvPr id="5" name="">
            <a:extLst xmlns:a="http://schemas.openxmlformats.org/drawingml/2006/main">
              <a:ext uri="{FF2B5EF4-FFF2-40B4-BE49-F238E27FC236}">
                <a16:creationId xmlns:a16="http://schemas.microsoft.com/office/drawing/2014/main" id="{BD0A6EC5-A0AF-474F-B155-5E33D8976331}"/>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For target=4, choose and document a no-route result, for example [].</a:t>
            </a:r>
          </a:p>
        </p:txBody>
      </p:sp>
      <p:sp>
        <p:nvSpPr>
          <p:cNvPr id="6" name="">
            <a:extLst xmlns:a="http://schemas.openxmlformats.org/drawingml/2006/main">
              <a:ext uri="{FF2B5EF4-FFF2-40B4-BE49-F238E27FC236}">
                <a16:creationId xmlns:a16="http://schemas.microsoft.com/office/drawing/2014/main" id="{C6E8F41C-BCE0-42D8-8758-288233904357}"/>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7" name="">
            <a:extLst xmlns:a="http://schemas.openxmlformats.org/drawingml/2006/main">
              <a:ext uri="{FF2B5EF4-FFF2-40B4-BE49-F238E27FC236}">
                <a16:creationId xmlns:a16="http://schemas.microsoft.com/office/drawing/2014/main" id="{6AB4F789-B14A-4089-8A98-FCDC50F801EF}"/>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50 / 64</a:t>
            </a:r>
          </a:p>
        </p:txBody>
      </p:sp>
    </p:spTree>
    <p:extLst>
      <p:ext uri="{BB962C8B-B14F-4D97-AF65-F5344CB8AC3E}">
        <p14:creationId xmlns:p14="http://schemas.microsoft.com/office/powerpoint/2010/main" val="618454291"/>
      </p:ext>
    </p:extLst>
  </p:cSld>
</p:sld>
</file>

<file path=ppt/slides/slide51.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6CCDC7A-29F8-4408-AA28-4FA9AA924A44}"/>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Shortest routes</a:t>
            </a:r>
          </a:p>
        </p:txBody>
      </p:sp>
      <p:sp>
        <p:nvSpPr>
          <p:cNvPr id="2" name="">
            <a:extLst xmlns:a="http://schemas.openxmlformats.org/drawingml/2006/main">
              <a:ext uri="{FF2B5EF4-FFF2-40B4-BE49-F238E27FC236}">
                <a16:creationId xmlns:a16="http://schemas.microsoft.com/office/drawing/2014/main" id="{CFAD4990-2DBA-42AD-9462-E51DF72E6887}"/>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Helper: reading one parent edge</a:t>
            </a:r>
          </a:p>
        </p:txBody>
      </p:sp>
      <p:sp>
        <p:nvSpPr>
          <p:cNvPr id="3" name="">
            <a:extLst xmlns:a="http://schemas.openxmlformats.org/drawingml/2006/main">
              <a:ext uri="{FF2B5EF4-FFF2-40B4-BE49-F238E27FC236}">
                <a16:creationId xmlns:a16="http://schemas.microsoft.com/office/drawing/2014/main" id="{C25705E1-DD88-4012-881B-A8278D68C319}"/>
              </a:ext>
            </a:extLst>
          </p:cNvPr>
          <p:cNvSpPr>
            <a:spLocks xmlns:a="http://schemas.openxmlformats.org/drawingml/2006/main" noGrp="1"/>
          </p:cNvSpPr>
          <p:nvPr/>
        </p:nvSpPr>
        <p:spPr>
          <a:xfrm xmlns:a="http://schemas.openxmlformats.org/drawingml/2006/main">
            <a:off x="571500" y="1638300"/>
            <a:ext cx="1104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192E43"/>
                </a:solidFill>
                <a:latin typeface="Arial"/>
                <a:ea typeface="Arial"/>
                <a:cs typeface="Arial"/>
              </a:defRPr>
            </a:defPPr>
          </a:lstStyle>
          <a:p xmlns:a="http://schemas.openxmlformats.org/drawingml/2006/main">
            <a:pPr>
              <a:defRPr sz="2175" b="0">
                <a:solidFill>
                  <a:srgbClr val="192E43"/>
                </a:solidFill>
                <a:latin typeface="Arial"/>
                <a:ea typeface="Arial"/>
                <a:cs typeface="Arial"/>
              </a:defRPr>
            </a:pPr>
            <a:r>
              <a:rPr sz="2175" b="0">
                <a:solidFill>
                  <a:srgbClr val="192E43"/>
                </a:solidFill>
                <a:latin typeface="Arial"/>
                <a:ea typeface="Arial"/>
                <a:cs typeface="Arial"/>
              </a:rPr>
              <a:t>v is the current vertex. id is the final edge ID on its route.</a:t>
            </a:r>
          </a:p>
        </p:txBody>
      </p:sp>
      <p:sp>
        <p:nvSpPr>
          <p:cNvPr id="4" name="">
            <a:extLst xmlns:a="http://schemas.openxmlformats.org/drawingml/2006/main">
              <a:ext uri="{FF2B5EF4-FFF2-40B4-BE49-F238E27FC236}">
                <a16:creationId xmlns:a16="http://schemas.microsoft.com/office/drawing/2014/main" id="{10919E94-2215-4762-8DCF-9D296F864E8B}"/>
              </a:ext>
            </a:extLst>
          </p:cNvPr>
          <p:cNvSpPr>
            <a:spLocks xmlns:a="http://schemas.openxmlformats.org/drawingml/2006/main" noGrp="1"/>
          </p:cNvSpPr>
          <p:nvPr/>
        </p:nvSpPr>
        <p:spPr>
          <a:xfrm xmlns:a="http://schemas.openxmlformats.org/drawingml/2006/main">
            <a:off x="571500" y="250507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For v=3, id=3. edges[3]=[2,3,4], so the previous vertex is 2.</a:t>
            </a:r>
          </a:p>
        </p:txBody>
      </p:sp>
      <p:sp>
        <p:nvSpPr>
          <p:cNvPr id="5" name="">
            <a:extLst xmlns:a="http://schemas.openxmlformats.org/drawingml/2006/main">
              <a:ext uri="{FF2B5EF4-FFF2-40B4-BE49-F238E27FC236}">
                <a16:creationId xmlns:a16="http://schemas.microsoft.com/office/drawing/2014/main" id="{8DCEBC46-A21D-47E9-9154-230B77A9CF5E}"/>
              </a:ext>
            </a:extLst>
          </p:cNvPr>
          <p:cNvSpPr>
            <a:spLocks xmlns:a="http://schemas.openxmlformats.org/drawingml/2006/main" noGrp="1"/>
          </p:cNvSpPr>
          <p:nvPr/>
        </p:nvSpPr>
        <p:spPr>
          <a:xfrm xmlns:a="http://schemas.openxmlformats.org/drawingml/2006/main">
            <a:off x="781050" y="3448050"/>
            <a:ext cx="106299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Courier New"/>
                <a:ea typeface="Courier New"/>
                <a:cs typeface="Courier New"/>
              </a:defRPr>
            </a:defPPr>
          </a:lstStyle>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route.add(v);</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int id = parentEdge[v];</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int previous = edges[id][0];</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v = previous;</a:t>
            </a:r>
          </a:p>
        </p:txBody>
      </p:sp>
      <p:sp>
        <p:nvSpPr>
          <p:cNvPr id="6" name="">
            <a:extLst xmlns:a="http://schemas.openxmlformats.org/drawingml/2006/main">
              <a:ext uri="{FF2B5EF4-FFF2-40B4-BE49-F238E27FC236}">
                <a16:creationId xmlns:a16="http://schemas.microsoft.com/office/drawing/2014/main" id="{14559193-0FED-49E8-8E89-345BF5BA97EC}"/>
              </a:ext>
            </a:extLst>
          </p:cNvPr>
          <p:cNvSpPr>
            <a:spLocks xmlns:a="http://schemas.openxmlformats.org/drawingml/2006/main" noGrp="1"/>
          </p:cNvSpPr>
          <p:nvPr/>
        </p:nvSpPr>
        <p:spPr>
          <a:xfrm xmlns:a="http://schemas.openxmlformats.org/drawingml/2006/main">
            <a:off x="571500" y="564832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1">
                <a:solidFill>
                  <a:srgbClr val="AC4D73"/>
                </a:solidFill>
                <a:latin typeface="Arial"/>
                <a:ea typeface="Arial"/>
                <a:cs typeface="Arial"/>
              </a:defRPr>
            </a:defPPr>
          </a:lstStyle>
          <a:p xmlns:a="http://schemas.openxmlformats.org/drawingml/2006/main">
            <a:pPr>
              <a:defRPr sz="2025" b="1">
                <a:solidFill>
                  <a:srgbClr val="AC4D73"/>
                </a:solidFill>
                <a:latin typeface="Arial"/>
                <a:ea typeface="Arial"/>
                <a:cs typeface="Arial"/>
              </a:defRPr>
            </a:pPr>
            <a:r>
              <a:rPr sz="2025" b="1">
                <a:solidFill>
                  <a:srgbClr val="AC4D73"/>
                </a:solidFill>
                <a:latin typeface="Arial"/>
                <a:ea typeface="Arial"/>
                <a:cs typeface="Arial"/>
              </a:rPr>
              <a:t>Save 3 in the route and continue from 2. Reverse the collected list at the end.</a:t>
            </a:r>
          </a:p>
        </p:txBody>
      </p:sp>
      <p:sp>
        <p:nvSpPr>
          <p:cNvPr id="7" name="">
            <a:extLst xmlns:a="http://schemas.openxmlformats.org/drawingml/2006/main">
              <a:ext uri="{FF2B5EF4-FFF2-40B4-BE49-F238E27FC236}">
                <a16:creationId xmlns:a16="http://schemas.microsoft.com/office/drawing/2014/main" id="{0ABB5FC3-E1E5-46BD-9CF7-9135B57EC172}"/>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50CEC0BF-BFEF-4390-89B2-B9FC3AD159E9}"/>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51 / 64</a:t>
            </a:r>
          </a:p>
        </p:txBody>
      </p:sp>
    </p:spTree>
    <p:extLst>
      <p:ext uri="{BB962C8B-B14F-4D97-AF65-F5344CB8AC3E}">
        <p14:creationId xmlns:p14="http://schemas.microsoft.com/office/powerpoint/2010/main" val="1341469042"/>
      </p:ext>
    </p:extLst>
  </p:cSld>
</p:sld>
</file>

<file path=ppt/slides/slide52.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D373ACE-75E0-480C-A072-A0A45206178F}"/>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Shortest routes</a:t>
            </a:r>
          </a:p>
        </p:txBody>
      </p:sp>
      <p:sp>
        <p:nvSpPr>
          <p:cNvPr id="2" name="">
            <a:extLst xmlns:a="http://schemas.openxmlformats.org/drawingml/2006/main">
              <a:ext uri="{FF2B5EF4-FFF2-40B4-BE49-F238E27FC236}">
                <a16:creationId xmlns:a16="http://schemas.microsoft.com/office/drawing/2014/main" id="{BEF5A315-52A4-466C-97EA-23A29D275371}"/>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Tied routes: several answers can be correct</a:t>
            </a:r>
          </a:p>
        </p:txBody>
      </p:sp>
      <p:sp>
        <p:nvSpPr>
          <p:cNvPr id="3" name="">
            <a:extLst xmlns:a="http://schemas.openxmlformats.org/drawingml/2006/main">
              <a:ext uri="{FF2B5EF4-FFF2-40B4-BE49-F238E27FC236}">
                <a16:creationId xmlns:a16="http://schemas.microsoft.com/office/drawing/2014/main" id="{159B06CE-0E41-4688-863E-2E1BDF800B0B}"/>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Equal costs allow any consistent shortest route.</a:t>
            </a:r>
          </a:p>
        </p:txBody>
      </p:sp>
      <p:sp>
        <p:nvSpPr>
          <p:cNvPr id="4" name="">
            <a:extLst xmlns:a="http://schemas.openxmlformats.org/drawingml/2006/main">
              <a:ext uri="{FF2B5EF4-FFF2-40B4-BE49-F238E27FC236}">
                <a16:creationId xmlns:a16="http://schemas.microsoft.com/office/drawing/2014/main" id="{B39469F8-EBD7-47D3-ADDA-BF26AEEB3C16}"/>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ID 0: 0→1 for 2. ID 1: identical. ID 2: 1→2 for 1. ID 3: 0→2 for 3.</a:t>
            </a:r>
          </a:p>
        </p:txBody>
      </p:sp>
      <p:graphicFrame>
        <p:nvGraphicFramePr>
          <p:cNvPr id="5" name="">
            <a:extLst xmlns:a="http://schemas.openxmlformats.org/drawingml/2006/main">
              <a:ext uri="{FF2B5EF4-FFF2-40B4-BE49-F238E27FC236}">
                <a16:creationId xmlns:a16="http://schemas.microsoft.com/office/drawing/2014/main" id="{7B7737C9-53E1-48C0-ACC7-68DEA5AEADEC}"/>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4386872"/>
                <a:gridCol w="2805853"/>
                <a:gridCol w="3856276"/>
              </a:tblGrid>
              <a:tr h="690563">
                <a:tc>
                  <a:txBody>
                    <a:bodyPr/>
                    <a:lstStyle/>
                    <a:p>
                      <a:r>
                        <a:rPr sz="1725" b="1">
                          <a:solidFill>
                            <a:srgbClr val="192E43"/>
                          </a:solidFill>
                          <a:latin typeface="Arial"/>
                          <a:ea typeface="Arial"/>
                          <a:cs typeface="Arial"/>
                        </a:rPr>
                        <a:t>Chosen route to 2</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distance</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Valid parent_edge</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690563">
                <a:tc>
                  <a:txBody>
                    <a:bodyPr/>
                    <a:lstStyle/>
                    <a:p>
                      <a:r>
                        <a:rPr sz="1725" b="0">
                          <a:solidFill>
                            <a:srgbClr val="192E43"/>
                          </a:solidFill>
                          <a:latin typeface="Arial"/>
                          <a:ea typeface="Arial"/>
                          <a:cs typeface="Arial"/>
                        </a:rPr>
                        <a:t>Via 1, first edge ID 0</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[0,2,3]</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[−1,0,2]</a:t>
                      </a:r>
                    </a:p>
                  </a:txBody>
                  <a:tcPr marL="91440" marR="91440" marT="45720" marB="45720">
                    <a:lnR w="9525">
                      <a:solidFill>
                        <a:srgbClr val="E2DCE0"/>
                      </a:solidFill>
                      <a:prstDash val="solid"/>
                    </a:lnR>
                    <a:lnB w="9525">
                      <a:solidFill>
                        <a:srgbClr val="E2DCE0"/>
                      </a:solidFill>
                      <a:prstDash val="solid"/>
                    </a:lnB>
                    <a:solidFill>
                      <a:srgbClr val="FFFEFC"/>
                    </a:solidFill>
                  </a:tcPr>
                </a:tc>
              </a:tr>
              <a:tr h="690563">
                <a:tc>
                  <a:txBody>
                    <a:bodyPr/>
                    <a:lstStyle/>
                    <a:p>
                      <a:r>
                        <a:rPr sz="1725" b="0">
                          <a:solidFill>
                            <a:srgbClr val="192E43"/>
                          </a:solidFill>
                          <a:latin typeface="Arial"/>
                          <a:ea typeface="Arial"/>
                          <a:cs typeface="Arial"/>
                        </a:rPr>
                        <a:t>Via 1, first edge ID 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[0,2,3]</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[−1,1,2]</a:t>
                      </a:r>
                    </a:p>
                  </a:txBody>
                  <a:tcPr marL="91440" marR="91440" marT="45720" marB="45720">
                    <a:lnR w="9525">
                      <a:solidFill>
                        <a:srgbClr val="E2DCE0"/>
                      </a:solidFill>
                      <a:prstDash val="solid"/>
                    </a:lnR>
                    <a:lnB w="9525">
                      <a:solidFill>
                        <a:srgbClr val="E2DCE0"/>
                      </a:solidFill>
                      <a:prstDash val="solid"/>
                    </a:lnB>
                    <a:solidFill>
                      <a:srgbClr val="FAF8F8"/>
                    </a:solidFill>
                  </a:tcPr>
                </a:tc>
              </a:tr>
              <a:tr h="690563">
                <a:tc>
                  <a:txBody>
                    <a:bodyPr/>
                    <a:lstStyle/>
                    <a:p>
                      <a:r>
                        <a:rPr sz="1725" b="0">
                          <a:solidFill>
                            <a:srgbClr val="192E43"/>
                          </a:solidFill>
                          <a:latin typeface="Arial"/>
                          <a:ea typeface="Arial"/>
                          <a:cs typeface="Arial"/>
                        </a:rPr>
                        <a:t>Direct edge ID 3</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[0,2,3]</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[−1,0,3]</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9E84C7DF-4070-4F8B-8A70-F4C6CF7DC8E5}"/>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Both the direct route and the route through 1 cost 3. Preserve the correct edge ID.</a:t>
            </a:r>
          </a:p>
        </p:txBody>
      </p:sp>
      <p:sp>
        <p:nvSpPr>
          <p:cNvPr id="7" name="">
            <a:extLst xmlns:a="http://schemas.openxmlformats.org/drawingml/2006/main">
              <a:ext uri="{FF2B5EF4-FFF2-40B4-BE49-F238E27FC236}">
                <a16:creationId xmlns:a16="http://schemas.microsoft.com/office/drawing/2014/main" id="{9B5A8979-A72C-4437-B6D7-A52664A88D81}"/>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8E637FEA-B2CD-4F0A-9197-C3D362D7A136}"/>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52 / 64</a:t>
            </a:r>
          </a:p>
        </p:txBody>
      </p:sp>
    </p:spTree>
    <p:extLst>
      <p:ext uri="{BB962C8B-B14F-4D97-AF65-F5344CB8AC3E}">
        <p14:creationId xmlns:p14="http://schemas.microsoft.com/office/powerpoint/2010/main" val="680104070"/>
      </p:ext>
    </p:extLst>
  </p:cSld>
</p:sld>
</file>

<file path=ppt/slides/slide53.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57D7198-16E5-4F34-BF0D-BFB2AB33AA4F}"/>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Shortest routes</a:t>
            </a:r>
          </a:p>
        </p:txBody>
      </p:sp>
      <p:sp>
        <p:nvSpPr>
          <p:cNvPr id="2" name="">
            <a:extLst xmlns:a="http://schemas.openxmlformats.org/drawingml/2006/main">
              <a:ext uri="{FF2B5EF4-FFF2-40B4-BE49-F238E27FC236}">
                <a16:creationId xmlns:a16="http://schemas.microsoft.com/office/drawing/2014/main" id="{927416CD-4D15-4E9A-A83E-4E1A1597628D}"/>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DAG: the full result of our first example</a:t>
            </a:r>
          </a:p>
        </p:txBody>
      </p:sp>
      <p:sp>
        <p:nvSpPr>
          <p:cNvPr id="3" name="">
            <a:extLst xmlns:a="http://schemas.openxmlformats.org/drawingml/2006/main">
              <a:ext uri="{FF2B5EF4-FFF2-40B4-BE49-F238E27FC236}">
                <a16:creationId xmlns:a16="http://schemas.microsoft.com/office/drawing/2014/main" id="{ED97AA51-F4DB-4C44-BDC4-E57A9B3FB8C6}"/>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Return the cost and final edge for every vertex.</a:t>
            </a:r>
          </a:p>
        </p:txBody>
      </p:sp>
      <p:sp>
        <p:nvSpPr>
          <p:cNvPr id="4" name="">
            <a:extLst xmlns:a="http://schemas.openxmlformats.org/drawingml/2006/main">
              <a:ext uri="{FF2B5EF4-FFF2-40B4-BE49-F238E27FC236}">
                <a16:creationId xmlns:a16="http://schemas.microsoft.com/office/drawing/2014/main" id="{A4933D2F-7A46-4E89-8D10-952A5BE18172}"/>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Return to the graph with weights 3, 8, −5, 4 and source=0.</a:t>
            </a:r>
          </a:p>
        </p:txBody>
      </p:sp>
      <p:graphicFrame>
        <p:nvGraphicFramePr>
          <p:cNvPr id="5" name="">
            <a:extLst xmlns:a="http://schemas.openxmlformats.org/drawingml/2006/main">
              <a:ext uri="{FF2B5EF4-FFF2-40B4-BE49-F238E27FC236}">
                <a16:creationId xmlns:a16="http://schemas.microsoft.com/office/drawing/2014/main" id="{AC32233B-C6B5-47D3-B8D4-6E447538C2FB}"/>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2856927"/>
                <a:gridCol w="8192073"/>
              </a:tblGrid>
              <a:tr h="920750">
                <a:tc>
                  <a:txBody>
                    <a:bodyPr/>
                    <a:lstStyle/>
                    <a:p>
                      <a:r>
                        <a:rPr sz="1725" b="1">
                          <a:solidFill>
                            <a:srgbClr val="192E43"/>
                          </a:solidFill>
                          <a:latin typeface="Arial"/>
                          <a:ea typeface="Arial"/>
                          <a:cs typeface="Arial"/>
                        </a:rPr>
                        <a:t>Item</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JSON</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920750">
                <a:tc>
                  <a:txBody>
                    <a:bodyPr/>
                    <a:lstStyle/>
                    <a:p>
                      <a:r>
                        <a:rPr sz="1725" b="0">
                          <a:solidFill>
                            <a:srgbClr val="192E43"/>
                          </a:solidFill>
                          <a:latin typeface="Arial"/>
                          <a:ea typeface="Arial"/>
                          <a:cs typeface="Arial"/>
                        </a:rPr>
                        <a:t>Input</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{"task":"dag","n":5,"source":0,"edges":[[0,1,3],[0,2,8],[1,2,-5],[2,3,4]]}</a:t>
                      </a:r>
                    </a:p>
                  </a:txBody>
                  <a:tcPr marL="91440" marR="91440" marT="45720" marB="45720">
                    <a:lnR w="9525">
                      <a:solidFill>
                        <a:srgbClr val="E2DCE0"/>
                      </a:solidFill>
                      <a:prstDash val="solid"/>
                    </a:lnR>
                    <a:lnB w="9525">
                      <a:solidFill>
                        <a:srgbClr val="E2DCE0"/>
                      </a:solidFill>
                      <a:prstDash val="solid"/>
                    </a:lnB>
                    <a:solidFill>
                      <a:srgbClr val="FFFEFC"/>
                    </a:solidFill>
                  </a:tcPr>
                </a:tc>
              </a:tr>
              <a:tr h="920750">
                <a:tc>
                  <a:txBody>
                    <a:bodyPr/>
                    <a:lstStyle/>
                    <a:p>
                      <a:r>
                        <a:rPr sz="1725" b="0">
                          <a:solidFill>
                            <a:srgbClr val="192E43"/>
                          </a:solidFill>
                          <a:latin typeface="Arial"/>
                          <a:ea typeface="Arial"/>
                          <a:cs typeface="Arial"/>
                        </a:rPr>
                        <a:t>Output</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{"acyclic":true,"distance":[0,3,-2,2,null],"parent_edge":[-1,0,2,3,-1]}</a:t>
                      </a:r>
                    </a:p>
                  </a:txBody>
                  <a:tcPr marL="91440" marR="91440" marT="45720" marB="45720">
                    <a:lnR w="9525">
                      <a:solidFill>
                        <a:srgbClr val="E2DCE0"/>
                      </a:solidFill>
                      <a:prstDash val="solid"/>
                    </a:lnR>
                    <a:lnB w="9525">
                      <a:solidFill>
                        <a:srgbClr val="E2DCE0"/>
                      </a:solidFill>
                      <a:prstDash val="solid"/>
                    </a:lnB>
                    <a:solidFill>
                      <a:srgbClr val="FAF8F8"/>
                    </a:solidFill>
                  </a:tcPr>
                </a:tc>
              </a:tr>
            </a:tbl>
          </a:graphicData>
        </a:graphic>
      </p:graphicFrame>
      <p:sp>
        <p:nvSpPr>
          <p:cNvPr id="6" name="">
            <a:extLst xmlns:a="http://schemas.openxmlformats.org/drawingml/2006/main">
              <a:ext uri="{FF2B5EF4-FFF2-40B4-BE49-F238E27FC236}">
                <a16:creationId xmlns:a16="http://schemas.microsoft.com/office/drawing/2014/main" id="{06854FD8-8C5E-407F-B9B0-D39905549C40}"/>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Only unreachable 4 has null. parent_edge uses −1 for the source and for 4.</a:t>
            </a:r>
          </a:p>
        </p:txBody>
      </p:sp>
      <p:sp>
        <p:nvSpPr>
          <p:cNvPr id="7" name="">
            <a:extLst xmlns:a="http://schemas.openxmlformats.org/drawingml/2006/main">
              <a:ext uri="{FF2B5EF4-FFF2-40B4-BE49-F238E27FC236}">
                <a16:creationId xmlns:a16="http://schemas.microsoft.com/office/drawing/2014/main" id="{80B97607-0AE7-488E-8CE4-3EA91FAB5730}"/>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00CD1722-CDF5-479D-BCBC-FE88A2D4763D}"/>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53 / 64</a:t>
            </a:r>
          </a:p>
        </p:txBody>
      </p:sp>
    </p:spTree>
    <p:extLst>
      <p:ext uri="{BB962C8B-B14F-4D97-AF65-F5344CB8AC3E}">
        <p14:creationId xmlns:p14="http://schemas.microsoft.com/office/powerpoint/2010/main" val="1412161638"/>
      </p:ext>
    </p:extLst>
  </p:cSld>
</p:sld>
</file>

<file path=ppt/slides/slide54.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F37A6F4-8388-4B26-A2FB-FA8FED8FA736}"/>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Implementation and submission</a:t>
            </a:r>
          </a:p>
        </p:txBody>
      </p:sp>
      <p:sp>
        <p:nvSpPr>
          <p:cNvPr id="2" name="">
            <a:extLst xmlns:a="http://schemas.openxmlformats.org/drawingml/2006/main">
              <a:ext uri="{FF2B5EF4-FFF2-40B4-BE49-F238E27FC236}">
                <a16:creationId xmlns:a16="http://schemas.microsoft.com/office/drawing/2014/main" id="{21F3D2C9-9DB6-429F-8195-D16EF08C1486}"/>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Complexity: how often data is inspected</a:t>
            </a:r>
          </a:p>
        </p:txBody>
      </p:sp>
      <p:sp>
        <p:nvSpPr>
          <p:cNvPr id="3" name="">
            <a:extLst xmlns:a="http://schemas.openxmlformats.org/drawingml/2006/main">
              <a:ext uri="{FF2B5EF4-FFF2-40B4-BE49-F238E27FC236}">
                <a16:creationId xmlns:a16="http://schemas.microsoft.com/office/drawing/2014/main" id="{8B3B3A8A-EBAB-4DE6-B538-78C6FA754F3A}"/>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n counts vertices, m counts edges, q counts DSU operations.</a:t>
            </a:r>
          </a:p>
        </p:txBody>
      </p:sp>
      <p:sp>
        <p:nvSpPr>
          <p:cNvPr id="4" name="">
            <a:extLst xmlns:a="http://schemas.openxmlformats.org/drawingml/2006/main">
              <a:ext uri="{FF2B5EF4-FFF2-40B4-BE49-F238E27FC236}">
                <a16:creationId xmlns:a16="http://schemas.microsoft.com/office/drawing/2014/main" id="{4C12C2AF-F169-4597-A09E-BEA9989C72F8}"/>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O(n+m): work grows with the total size of the vertex and edge lists.</a:t>
            </a:r>
          </a:p>
        </p:txBody>
      </p:sp>
      <p:sp>
        <p:nvSpPr>
          <p:cNvPr id="5" name="">
            <a:extLst xmlns:a="http://schemas.openxmlformats.org/drawingml/2006/main">
              <a:ext uri="{FF2B5EF4-FFF2-40B4-BE49-F238E27FC236}">
                <a16:creationId xmlns:a16="http://schemas.microsoft.com/office/drawing/2014/main" id="{C78848B9-0046-4BC8-A26C-68BB066E7A84}"/>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Kosaraju, topo and DAG inspect each list only a fixed number of times.</a:t>
            </a:r>
          </a:p>
        </p:txBody>
      </p:sp>
      <p:sp>
        <p:nvSpPr>
          <p:cNvPr id="6" name="">
            <a:extLst xmlns:a="http://schemas.openxmlformats.org/drawingml/2006/main">
              <a:ext uri="{FF2B5EF4-FFF2-40B4-BE49-F238E27FC236}">
                <a16:creationId xmlns:a16="http://schemas.microsoft.com/office/drawing/2014/main" id="{FFC9CD31-3054-4E76-9833-F8B7398FF805}"/>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7" name="">
            <a:extLst xmlns:a="http://schemas.openxmlformats.org/drawingml/2006/main">
              <a:ext uri="{FF2B5EF4-FFF2-40B4-BE49-F238E27FC236}">
                <a16:creationId xmlns:a16="http://schemas.microsoft.com/office/drawing/2014/main" id="{A6029CFA-0EE2-4B9C-8580-D3DAF533965E}"/>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54 / 64</a:t>
            </a:r>
          </a:p>
        </p:txBody>
      </p:sp>
    </p:spTree>
    <p:extLst>
      <p:ext uri="{BB962C8B-B14F-4D97-AF65-F5344CB8AC3E}">
        <p14:creationId xmlns:p14="http://schemas.microsoft.com/office/powerpoint/2010/main" val="861946015"/>
      </p:ext>
    </p:extLst>
  </p:cSld>
</p:sld>
</file>

<file path=ppt/slides/slide55.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E8EFAC2-BCC6-4466-A64C-83B96331588F}"/>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Implementation and submission</a:t>
            </a:r>
          </a:p>
        </p:txBody>
      </p:sp>
      <p:sp>
        <p:nvSpPr>
          <p:cNvPr id="2" name="">
            <a:extLst xmlns:a="http://schemas.openxmlformats.org/drawingml/2006/main">
              <a:ext uri="{FF2B5EF4-FFF2-40B4-BE49-F238E27FC236}">
                <a16:creationId xmlns:a16="http://schemas.microsoft.com/office/drawing/2014/main" id="{9916C2CD-0FF7-425C-849D-3B56645FEC2B}"/>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Time and memory for each method</a:t>
            </a:r>
          </a:p>
        </p:txBody>
      </p:sp>
      <p:sp>
        <p:nvSpPr>
          <p:cNvPr id="3" name="">
            <a:extLst xmlns:a="http://schemas.openxmlformats.org/drawingml/2006/main">
              <a:ext uri="{FF2B5EF4-FFF2-40B4-BE49-F238E27FC236}">
                <a16:creationId xmlns:a16="http://schemas.microsoft.com/office/drawing/2014/main" id="{B2E8CE8F-1725-44F0-BFD2-3F485BA83A7A}"/>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Include initialization and the returned result.</a:t>
            </a:r>
          </a:p>
        </p:txBody>
      </p:sp>
      <p:sp>
        <p:nvSpPr>
          <p:cNvPr id="4" name="">
            <a:extLst xmlns:a="http://schemas.openxmlformats.org/drawingml/2006/main">
              <a:ext uri="{FF2B5EF4-FFF2-40B4-BE49-F238E27FC236}">
                <a16:creationId xmlns:a16="http://schemas.microsoft.com/office/drawing/2014/main" id="{86B6AE89-470E-4154-842D-DFB1D6FBCF58}"/>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DSU states contains q rows. This result also needs memory.</a:t>
            </a:r>
          </a:p>
        </p:txBody>
      </p:sp>
      <p:graphicFrame>
        <p:nvGraphicFramePr>
          <p:cNvPr id="5" name="">
            <a:extLst xmlns:a="http://schemas.openxmlformats.org/drawingml/2006/main">
              <a:ext uri="{FF2B5EF4-FFF2-40B4-BE49-F238E27FC236}">
                <a16:creationId xmlns:a16="http://schemas.microsoft.com/office/drawing/2014/main" id="{C0909152-2C67-4381-AFAF-E6D81AD01AB8}"/>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3969053"/>
                <a:gridCol w="3272965"/>
                <a:gridCol w="3806982"/>
              </a:tblGrid>
              <a:tr h="552450">
                <a:tc>
                  <a:txBody>
                    <a:bodyPr/>
                    <a:lstStyle/>
                    <a:p>
                      <a:r>
                        <a:rPr sz="1725" b="1">
                          <a:solidFill>
                            <a:srgbClr val="192E43"/>
                          </a:solidFill>
                          <a:latin typeface="Arial"/>
                          <a:ea typeface="Arial"/>
                          <a:cs typeface="Arial"/>
                        </a:rPr>
                        <a:t>Method</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Time</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Memory including result</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552450">
                <a:tc>
                  <a:txBody>
                    <a:bodyPr/>
                    <a:lstStyle/>
                    <a:p>
                      <a:r>
                        <a:rPr sz="1725" b="0">
                          <a:solidFill>
                            <a:srgbClr val="192E43"/>
                          </a:solidFill>
                          <a:latin typeface="Arial"/>
                          <a:ea typeface="Arial"/>
                          <a:cs typeface="Arial"/>
                        </a:rPr>
                        <a:t>DSU</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O(n + q α(n))</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O(n+q)</a:t>
                      </a:r>
                    </a:p>
                  </a:txBody>
                  <a:tcPr marL="91440" marR="91440" marT="45720" marB="45720">
                    <a:lnR w="9525">
                      <a:solidFill>
                        <a:srgbClr val="E2DCE0"/>
                      </a:solidFill>
                      <a:prstDash val="solid"/>
                    </a:lnR>
                    <a:lnB w="9525">
                      <a:solidFill>
                        <a:srgbClr val="E2DCE0"/>
                      </a:solidFill>
                      <a:prstDash val="solid"/>
                    </a:lnB>
                    <a:solidFill>
                      <a:srgbClr val="FFFEFC"/>
                    </a:solidFill>
                  </a:tcPr>
                </a:tc>
              </a:tr>
              <a:tr h="552450">
                <a:tc>
                  <a:txBody>
                    <a:bodyPr/>
                    <a:lstStyle/>
                    <a:p>
                      <a:r>
                        <a:rPr sz="1725" b="0">
                          <a:solidFill>
                            <a:srgbClr val="192E43"/>
                          </a:solidFill>
                          <a:latin typeface="Arial"/>
                          <a:ea typeface="Arial"/>
                          <a:cs typeface="Arial"/>
                        </a:rPr>
                        <a:t>Kruskal / lazy Prim</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O(n + m log(m+1))</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O(n+m)</a:t>
                      </a:r>
                    </a:p>
                  </a:txBody>
                  <a:tcPr marL="91440" marR="91440" marT="45720" marB="45720">
                    <a:lnR w="9525">
                      <a:solidFill>
                        <a:srgbClr val="E2DCE0"/>
                      </a:solidFill>
                      <a:prstDash val="solid"/>
                    </a:lnR>
                    <a:lnB w="9525">
                      <a:solidFill>
                        <a:srgbClr val="E2DCE0"/>
                      </a:solidFill>
                      <a:prstDash val="solid"/>
                    </a:lnB>
                    <a:solidFill>
                      <a:srgbClr val="FAF8F8"/>
                    </a:solidFill>
                  </a:tcPr>
                </a:tc>
              </a:tr>
              <a:tr h="552450">
                <a:tc>
                  <a:txBody>
                    <a:bodyPr/>
                    <a:lstStyle/>
                    <a:p>
                      <a:r>
                        <a:rPr sz="1725" b="0">
                          <a:solidFill>
                            <a:srgbClr val="192E43"/>
                          </a:solidFill>
                          <a:latin typeface="Arial"/>
                          <a:ea typeface="Arial"/>
                          <a:cs typeface="Arial"/>
                        </a:rPr>
                        <a:t>Kosaraju / DFS topo / DAG</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O(n+m)</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O(n+m)</a:t>
                      </a:r>
                    </a:p>
                  </a:txBody>
                  <a:tcPr marL="91440" marR="91440" marT="45720" marB="45720">
                    <a:lnR w="9525">
                      <a:solidFill>
                        <a:srgbClr val="E2DCE0"/>
                      </a:solidFill>
                      <a:prstDash val="solid"/>
                    </a:lnR>
                    <a:lnB w="9525">
                      <a:solidFill>
                        <a:srgbClr val="E2DCE0"/>
                      </a:solidFill>
                      <a:prstDash val="solid"/>
                    </a:lnB>
                    <a:solidFill>
                      <a:srgbClr val="FFFEFC"/>
                    </a:solidFill>
                  </a:tcPr>
                </a:tc>
              </a:tr>
              <a:tr h="552450">
                <a:tc>
                  <a:txBody>
                    <a:bodyPr/>
                    <a:lstStyle/>
                    <a:p>
                      <a:r>
                        <a:rPr sz="1725" b="0">
                          <a:solidFill>
                            <a:srgbClr val="192E43"/>
                          </a:solidFill>
                          <a:latin typeface="Arial"/>
                          <a:ea typeface="Arial"/>
                          <a:cs typeface="Arial"/>
                        </a:rPr>
                        <a:t>Route helper</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O(L)</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O(L)</a:t>
                      </a:r>
                    </a:p>
                  </a:txBody>
                  <a:tcPr marL="91440" marR="91440" marT="45720" marB="45720">
                    <a:lnR w="9525">
                      <a:solidFill>
                        <a:srgbClr val="E2DCE0"/>
                      </a:solidFill>
                      <a:prstDash val="solid"/>
                    </a:lnR>
                    <a:lnB w="9525">
                      <a:solidFill>
                        <a:srgbClr val="E2DCE0"/>
                      </a:solidFill>
                      <a:prstDash val="solid"/>
                    </a:lnB>
                    <a:solidFill>
                      <a:srgbClr val="FAF8F8"/>
                    </a:solidFill>
                  </a:tcPr>
                </a:tc>
              </a:tr>
            </a:tbl>
          </a:graphicData>
        </a:graphic>
      </p:graphicFrame>
      <p:sp>
        <p:nvSpPr>
          <p:cNvPr id="6" name="">
            <a:extLst xmlns:a="http://schemas.openxmlformats.org/drawingml/2006/main">
              <a:ext uri="{FF2B5EF4-FFF2-40B4-BE49-F238E27FC236}">
                <a16:creationId xmlns:a16="http://schemas.microsoft.com/office/drawing/2014/main" id="{0D254C56-3C33-4319-84C0-3AF370C8F559}"/>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In Java, use long for large weight totals and distances.</a:t>
            </a:r>
          </a:p>
        </p:txBody>
      </p:sp>
      <p:sp>
        <p:nvSpPr>
          <p:cNvPr id="7" name="">
            <a:extLst xmlns:a="http://schemas.openxmlformats.org/drawingml/2006/main">
              <a:ext uri="{FF2B5EF4-FFF2-40B4-BE49-F238E27FC236}">
                <a16:creationId xmlns:a16="http://schemas.microsoft.com/office/drawing/2014/main" id="{D3C5BFFC-4F96-4DE8-9DB9-4406755D7975}"/>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817D7F29-F37B-4C5C-92D6-E3FAD04BE91B}"/>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55 / 64</a:t>
            </a:r>
          </a:p>
        </p:txBody>
      </p:sp>
    </p:spTree>
    <p:extLst>
      <p:ext uri="{BB962C8B-B14F-4D97-AF65-F5344CB8AC3E}">
        <p14:creationId xmlns:p14="http://schemas.microsoft.com/office/powerpoint/2010/main" val="1329664847"/>
      </p:ext>
    </p:extLst>
  </p:cSld>
</p:sld>
</file>

<file path=ppt/slides/slide56.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52662A4-A7A4-4385-8D14-6830F407557F}"/>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Implementation and submission</a:t>
            </a:r>
          </a:p>
        </p:txBody>
      </p:sp>
      <p:sp>
        <p:nvSpPr>
          <p:cNvPr id="2" name="">
            <a:extLst xmlns:a="http://schemas.openxmlformats.org/drawingml/2006/main">
              <a:ext uri="{FF2B5EF4-FFF2-40B4-BE49-F238E27FC236}">
                <a16:creationId xmlns:a16="http://schemas.microsoft.com/office/drawing/2014/main" id="{858C017A-DCBC-412C-819D-0B4A6215718F}"/>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Where to write your implementation</a:t>
            </a:r>
          </a:p>
        </p:txBody>
      </p:sp>
      <p:sp>
        <p:nvSpPr>
          <p:cNvPr id="3" name="">
            <a:extLst xmlns:a="http://schemas.openxmlformats.org/drawingml/2006/main">
              <a:ext uri="{FF2B5EF4-FFF2-40B4-BE49-F238E27FC236}">
                <a16:creationId xmlns:a16="http://schemas.microsoft.com/office/drawing/2014/main" id="{9B16F479-151F-49C9-8E4D-53505A3F122B}"/>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Create your repository with Use this template. Choose one language in submission.json.</a:t>
            </a:r>
          </a:p>
        </p:txBody>
      </p:sp>
      <p:sp>
        <p:nvSpPr>
          <p:cNvPr id="4" name="">
            <a:extLst xmlns:a="http://schemas.openxmlformats.org/drawingml/2006/main">
              <a:ext uri="{FF2B5EF4-FFF2-40B4-BE49-F238E27FC236}">
                <a16:creationId xmlns:a16="http://schemas.microsoft.com/office/drawing/2014/main" id="{0971340F-A7B1-4006-9459-60198E2EC9FE}"/>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For Java, implement methods in Java/source/Algorithms.java.</a:t>
            </a:r>
          </a:p>
        </p:txBody>
      </p:sp>
      <p:graphicFrame>
        <p:nvGraphicFramePr>
          <p:cNvPr id="5" name="">
            <a:extLst xmlns:a="http://schemas.openxmlformats.org/drawingml/2006/main">
              <a:ext uri="{FF2B5EF4-FFF2-40B4-BE49-F238E27FC236}">
                <a16:creationId xmlns:a16="http://schemas.microsoft.com/office/drawing/2014/main" id="{1B1167C9-BB54-4FF8-80E9-8C247FC9D698}"/>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5110794"/>
                <a:gridCol w="5938206"/>
              </a:tblGrid>
              <a:tr h="552450">
                <a:tc>
                  <a:txBody>
                    <a:bodyPr/>
                    <a:lstStyle/>
                    <a:p>
                      <a:r>
                        <a:rPr sz="1725" b="1">
                          <a:solidFill>
                            <a:srgbClr val="192E43"/>
                          </a:solidFill>
                          <a:latin typeface="Arial"/>
                          <a:ea typeface="Arial"/>
                          <a:cs typeface="Arial"/>
                        </a:rPr>
                        <a:t>language in manifest</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Method source file</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552450">
                <a:tc>
                  <a:txBody>
                    <a:bodyPr/>
                    <a:lstStyle/>
                    <a:p>
                      <a:r>
                        <a:rPr sz="1725" b="0">
                          <a:solidFill>
                            <a:srgbClr val="192E43"/>
                          </a:solidFill>
                          <a:latin typeface="Arial"/>
                          <a:ea typeface="Arial"/>
                          <a:cs typeface="Arial"/>
                        </a:rPr>
                        <a:t>Java</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Java/source/Algorithms.java</a:t>
                      </a:r>
                    </a:p>
                  </a:txBody>
                  <a:tcPr marL="91440" marR="91440" marT="45720" marB="45720">
                    <a:lnR w="9525">
                      <a:solidFill>
                        <a:srgbClr val="E2DCE0"/>
                      </a:solidFill>
                      <a:prstDash val="solid"/>
                    </a:lnR>
                    <a:lnB w="9525">
                      <a:solidFill>
                        <a:srgbClr val="E2DCE0"/>
                      </a:solidFill>
                      <a:prstDash val="solid"/>
                    </a:lnB>
                    <a:solidFill>
                      <a:srgbClr val="FFFEFC"/>
                    </a:solidFill>
                  </a:tcPr>
                </a:tc>
              </a:tr>
              <a:tr h="552450">
                <a:tc>
                  <a:txBody>
                    <a:bodyPr/>
                    <a:lstStyle/>
                    <a:p>
                      <a:r>
                        <a:rPr sz="1725" b="0">
                          <a:solidFill>
                            <a:srgbClr val="192E43"/>
                          </a:solidFill>
                          <a:latin typeface="Arial"/>
                          <a:ea typeface="Arial"/>
                          <a:cs typeface="Arial"/>
                        </a:rPr>
                        <a:t>Python</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Python/source/algorithms.py</a:t>
                      </a:r>
                    </a:p>
                  </a:txBody>
                  <a:tcPr marL="91440" marR="91440" marT="45720" marB="45720">
                    <a:lnR w="9525">
                      <a:solidFill>
                        <a:srgbClr val="E2DCE0"/>
                      </a:solidFill>
                      <a:prstDash val="solid"/>
                    </a:lnR>
                    <a:lnB w="9525">
                      <a:solidFill>
                        <a:srgbClr val="E2DCE0"/>
                      </a:solidFill>
                      <a:prstDash val="solid"/>
                    </a:lnB>
                    <a:solidFill>
                      <a:srgbClr val="FAF8F8"/>
                    </a:solidFill>
                  </a:tcPr>
                </a:tc>
              </a:tr>
              <a:tr h="552450">
                <a:tc>
                  <a:txBody>
                    <a:bodyPr/>
                    <a:lstStyle/>
                    <a:p>
                      <a:r>
                        <a:rPr sz="1725" b="0">
                          <a:solidFill>
                            <a:srgbClr val="192E43"/>
                          </a:solidFill>
                          <a:latin typeface="Arial"/>
                          <a:ea typeface="Arial"/>
                          <a:cs typeface="Arial"/>
                        </a:rPr>
                        <a:t>Cpp</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Cpp/source/algorithms.hpp</a:t>
                      </a:r>
                    </a:p>
                  </a:txBody>
                  <a:tcPr marL="91440" marR="91440" marT="45720" marB="45720">
                    <a:lnR w="9525">
                      <a:solidFill>
                        <a:srgbClr val="E2DCE0"/>
                      </a:solidFill>
                      <a:prstDash val="solid"/>
                    </a:lnR>
                    <a:lnB w="9525">
                      <a:solidFill>
                        <a:srgbClr val="E2DCE0"/>
                      </a:solidFill>
                      <a:prstDash val="solid"/>
                    </a:lnB>
                    <a:solidFill>
                      <a:srgbClr val="FFFEFC"/>
                    </a:solidFill>
                  </a:tcPr>
                </a:tc>
              </a:tr>
              <a:tr h="552450">
                <a:tc>
                  <a:txBody>
                    <a:bodyPr/>
                    <a:lstStyle/>
                    <a:p>
                      <a:r>
                        <a:rPr sz="1725" b="0">
                          <a:solidFill>
                            <a:srgbClr val="192E43"/>
                          </a:solidFill>
                          <a:latin typeface="Arial"/>
                          <a:ea typeface="Arial"/>
                          <a:cs typeface="Arial"/>
                        </a:rPr>
                        <a:t>CSharp</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CSharp/source/Algorithms.cs</a:t>
                      </a:r>
                    </a:p>
                  </a:txBody>
                  <a:tcPr marL="91440" marR="91440" marT="45720" marB="45720">
                    <a:lnR w="9525">
                      <a:solidFill>
                        <a:srgbClr val="E2DCE0"/>
                      </a:solidFill>
                      <a:prstDash val="solid"/>
                    </a:lnR>
                    <a:lnB w="9525">
                      <a:solidFill>
                        <a:srgbClr val="E2DCE0"/>
                      </a:solidFill>
                      <a:prstDash val="solid"/>
                    </a:lnB>
                    <a:solidFill>
                      <a:srgbClr val="FAF8F8"/>
                    </a:solidFill>
                  </a:tcPr>
                </a:tc>
              </a:tr>
            </a:tbl>
          </a:graphicData>
        </a:graphic>
      </p:graphicFrame>
      <p:sp>
        <p:nvSpPr>
          <p:cNvPr id="6" name="">
            <a:extLst xmlns:a="http://schemas.openxmlformats.org/drawingml/2006/main">
              <a:ext uri="{FF2B5EF4-FFF2-40B4-BE49-F238E27FC236}">
                <a16:creationId xmlns:a16="http://schemas.microsoft.com/office/drawing/2014/main" id="{87F68AE0-E45A-47B5-8CBF-3742245E36B4}"/>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Adapters and runners are provided. Algorithm TODOs are your work.</a:t>
            </a:r>
          </a:p>
        </p:txBody>
      </p:sp>
      <p:sp>
        <p:nvSpPr>
          <p:cNvPr id="7" name="">
            <a:extLst xmlns:a="http://schemas.openxmlformats.org/drawingml/2006/main">
              <a:ext uri="{FF2B5EF4-FFF2-40B4-BE49-F238E27FC236}">
                <a16:creationId xmlns:a16="http://schemas.microsoft.com/office/drawing/2014/main" id="{06C112E5-370D-4225-B522-D9E691B340E1}"/>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652EDF79-4585-45EE-AEA3-32433F917E49}"/>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56 / 64</a:t>
            </a:r>
          </a:p>
        </p:txBody>
      </p:sp>
    </p:spTree>
    <p:extLst>
      <p:ext uri="{BB962C8B-B14F-4D97-AF65-F5344CB8AC3E}">
        <p14:creationId xmlns:p14="http://schemas.microsoft.com/office/powerpoint/2010/main" val="748221089"/>
      </p:ext>
    </p:extLst>
  </p:cSld>
</p:sld>
</file>

<file path=ppt/slides/slide57.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D660452-A328-4FD0-859B-370C52A01434}"/>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Implementation and submission</a:t>
            </a:r>
          </a:p>
        </p:txBody>
      </p:sp>
      <p:sp>
        <p:nvSpPr>
          <p:cNvPr id="2" name="">
            <a:extLst xmlns:a="http://schemas.openxmlformats.org/drawingml/2006/main">
              <a:ext uri="{FF2B5EF4-FFF2-40B4-BE49-F238E27FC236}">
                <a16:creationId xmlns:a16="http://schemas.microsoft.com/office/drawing/2014/main" id="{F5B7A03B-5D44-4E89-B928-367A55A03BF2}"/>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Your tests: input and expected result</a:t>
            </a:r>
          </a:p>
        </p:txBody>
      </p:sp>
      <p:sp>
        <p:nvSpPr>
          <p:cNvPr id="3" name="">
            <a:extLst xmlns:a="http://schemas.openxmlformats.org/drawingml/2006/main">
              <a:ext uri="{FF2B5EF4-FFF2-40B4-BE49-F238E27FC236}">
                <a16:creationId xmlns:a16="http://schemas.microsoft.com/office/drawing/2014/main" id="{68C39938-1040-4425-99BB-84AC618746C6}"/>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Start with small cases whose answers you can compute by hand.</a:t>
            </a:r>
          </a:p>
        </p:txBody>
      </p:sp>
      <p:sp>
        <p:nvSpPr>
          <p:cNvPr id="4" name="">
            <a:extLst xmlns:a="http://schemas.openxmlformats.org/drawingml/2006/main">
              <a:ext uri="{FF2B5EF4-FFF2-40B4-BE49-F238E27FC236}">
                <a16:creationId xmlns:a16="http://schemas.microsoft.com/office/drawing/2014/main" id="{AFEF1D6D-4F46-4117-A66A-C389D4E8B36C}"/>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Then test edge cases and deep graphs.</a:t>
            </a:r>
          </a:p>
        </p:txBody>
      </p:sp>
      <p:graphicFrame>
        <p:nvGraphicFramePr>
          <p:cNvPr id="5" name="">
            <a:extLst xmlns:a="http://schemas.openxmlformats.org/drawingml/2006/main">
              <a:ext uri="{FF2B5EF4-FFF2-40B4-BE49-F238E27FC236}">
                <a16:creationId xmlns:a16="http://schemas.microsoft.com/office/drawing/2014/main" id="{CA8A0B9F-37EB-43FB-8E3D-768F898509BC}"/>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5004949"/>
                <a:gridCol w="6044051"/>
              </a:tblGrid>
              <a:tr h="460375">
                <a:tc>
                  <a:txBody>
                    <a:bodyPr/>
                    <a:lstStyle/>
                    <a:p>
                      <a:r>
                        <a:rPr sz="1725" b="1">
                          <a:solidFill>
                            <a:srgbClr val="192E43"/>
                          </a:solidFill>
                          <a:latin typeface="Arial"/>
                          <a:ea typeface="Arial"/>
                          <a:cs typeface="Arial"/>
                        </a:rPr>
                        <a:t>Test</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What it checks</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460375">
                <a:tc>
                  <a:txBody>
                    <a:bodyPr/>
                    <a:lstStyle/>
                    <a:p>
                      <a:r>
                        <a:rPr sz="1725" b="0">
                          <a:solidFill>
                            <a:srgbClr val="192E43"/>
                          </a:solidFill>
                          <a:latin typeface="Arial"/>
                          <a:ea typeface="Arial"/>
                          <a:cs typeface="Arial"/>
                        </a:rPr>
                        <a:t>DSU: [0,1], [0,1]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A repeated union does not grow size</a:t>
                      </a:r>
                    </a:p>
                  </a:txBody>
                  <a:tcPr marL="91440" marR="91440" marT="45720" marB="45720">
                    <a:lnR w="9525">
                      <a:solidFill>
                        <a:srgbClr val="E2DCE0"/>
                      </a:solidFill>
                      <a:prstDash val="solid"/>
                    </a:lnR>
                    <a:lnB w="9525">
                      <a:solidFill>
                        <a:srgbClr val="E2DCE0"/>
                      </a:solidFill>
                      <a:prstDash val="solid"/>
                    </a:lnB>
                    <a:solidFill>
                      <a:srgbClr val="FFFEFC"/>
                    </a:solidFill>
                  </a:tcPr>
                </a:tc>
              </a:tr>
              <a:tr h="460375">
                <a:tc>
                  <a:txBody>
                    <a:bodyPr/>
                    <a:lstStyle/>
                    <a:p>
                      <a:r>
                        <a:rPr sz="1725" b="0">
                          <a:solidFill>
                            <a:srgbClr val="192E43"/>
                          </a:solidFill>
                          <a:latin typeface="Arial"/>
                          <a:ea typeface="Arial"/>
                          <a:cs typeface="Arial"/>
                        </a:rPr>
                        <a:t>MST: isolate + self-loop</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All-component forest without loops</a:t>
                      </a:r>
                    </a:p>
                  </a:txBody>
                  <a:tcPr marL="91440" marR="91440" marT="45720" marB="45720">
                    <a:lnR w="9525">
                      <a:solidFill>
                        <a:srgbClr val="E2DCE0"/>
                      </a:solidFill>
                      <a:prstDash val="solid"/>
                    </a:lnR>
                    <a:lnB w="9525">
                      <a:solidFill>
                        <a:srgbClr val="E2DCE0"/>
                      </a:solidFill>
                      <a:prstDash val="solid"/>
                    </a:lnB>
                    <a:solidFill>
                      <a:srgbClr val="FAF8F8"/>
                    </a:solidFill>
                  </a:tcPr>
                </a:tc>
              </a:tr>
              <a:tr h="460375">
                <a:tc>
                  <a:txBody>
                    <a:bodyPr/>
                    <a:lstStyle/>
                    <a:p>
                      <a:r>
                        <a:rPr sz="1725" b="0">
                          <a:solidFill>
                            <a:srgbClr val="192E43"/>
                          </a:solidFill>
                          <a:latin typeface="Arial"/>
                          <a:ea typeface="Arial"/>
                          <a:cs typeface="Arial"/>
                        </a:rPr>
                        <a:t>SCC: 0↔1, 1→2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A one-way edge does not merge SCCs</a:t>
                      </a:r>
                    </a:p>
                  </a:txBody>
                  <a:tcPr marL="91440" marR="91440" marT="45720" marB="45720">
                    <a:lnR w="9525">
                      <a:solidFill>
                        <a:srgbClr val="E2DCE0"/>
                      </a:solidFill>
                      <a:prstDash val="solid"/>
                    </a:lnR>
                    <a:lnB w="9525">
                      <a:solidFill>
                        <a:srgbClr val="E2DCE0"/>
                      </a:solidFill>
                      <a:prstDash val="solid"/>
                    </a:lnB>
                    <a:solidFill>
                      <a:srgbClr val="FFFEFC"/>
                    </a:solidFill>
                  </a:tcPr>
                </a:tc>
              </a:tr>
              <a:tr h="460375">
                <a:tc>
                  <a:txBody>
                    <a:bodyPr/>
                    <a:lstStyle/>
                    <a:p>
                      <a:r>
                        <a:rPr sz="1725" b="0">
                          <a:solidFill>
                            <a:srgbClr val="192E43"/>
                          </a:solidFill>
                          <a:latin typeface="Arial"/>
                          <a:ea typeface="Arial"/>
                          <a:cs typeface="Arial"/>
                        </a:rPr>
                        <a:t>Topo: 0→1, 2↔3</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A cycle in another component</a:t>
                      </a:r>
                    </a:p>
                  </a:txBody>
                  <a:tcPr marL="91440" marR="91440" marT="45720" marB="45720">
                    <a:lnR w="9525">
                      <a:solidFill>
                        <a:srgbClr val="E2DCE0"/>
                      </a:solidFill>
                      <a:prstDash val="solid"/>
                    </a:lnR>
                    <a:lnB w="9525">
                      <a:solidFill>
                        <a:srgbClr val="E2DCE0"/>
                      </a:solidFill>
                      <a:prstDash val="solid"/>
                    </a:lnB>
                    <a:solidFill>
                      <a:srgbClr val="FAF8F8"/>
                    </a:solidFill>
                  </a:tcPr>
                </a:tc>
              </a:tr>
              <a:tr h="460375">
                <a:tc>
                  <a:txBody>
                    <a:bodyPr/>
                    <a:lstStyle/>
                    <a:p>
                      <a:r>
                        <a:rPr sz="1725" b="0">
                          <a:solidFill>
                            <a:srgbClr val="192E43"/>
                          </a:solidFill>
                          <a:latin typeface="Arial"/>
                          <a:ea typeface="Arial"/>
                          <a:cs typeface="Arial"/>
                        </a:rPr>
                        <a:t>DAG: a negative edge</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null and correct route improvement</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B02378BB-B4E5-43CF-9B88-5421D402502C}"/>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Store tests in tests/student that catch specific mistakes.</a:t>
            </a:r>
          </a:p>
        </p:txBody>
      </p:sp>
      <p:sp>
        <p:nvSpPr>
          <p:cNvPr id="7" name="">
            <a:extLst xmlns:a="http://schemas.openxmlformats.org/drawingml/2006/main">
              <a:ext uri="{FF2B5EF4-FFF2-40B4-BE49-F238E27FC236}">
                <a16:creationId xmlns:a16="http://schemas.microsoft.com/office/drawing/2014/main" id="{7B58739E-5944-49E5-8A96-1FC4396D9FF9}"/>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31082E47-912A-47F2-8C0C-8FF8293254D2}"/>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57 / 64</a:t>
            </a:r>
          </a:p>
        </p:txBody>
      </p:sp>
    </p:spTree>
    <p:extLst>
      <p:ext uri="{BB962C8B-B14F-4D97-AF65-F5344CB8AC3E}">
        <p14:creationId xmlns:p14="http://schemas.microsoft.com/office/powerpoint/2010/main" val="558806148"/>
      </p:ext>
    </p:extLst>
  </p:cSld>
</p:sld>
</file>

<file path=ppt/slides/slide58.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4A24093-6E63-4E1F-B8AF-0A847F67C78A}"/>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Implementation and submission</a:t>
            </a:r>
          </a:p>
        </p:txBody>
      </p:sp>
      <p:sp>
        <p:nvSpPr>
          <p:cNvPr id="2" name="">
            <a:extLst xmlns:a="http://schemas.openxmlformats.org/drawingml/2006/main">
              <a:ext uri="{FF2B5EF4-FFF2-40B4-BE49-F238E27FC236}">
                <a16:creationId xmlns:a16="http://schemas.microsoft.com/office/drawing/2014/main" id="{A2B1B993-4DC2-410E-8BB3-36445BC051F6}"/>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A new request starts with fresh arrays</a:t>
            </a:r>
          </a:p>
        </p:txBody>
      </p:sp>
      <p:sp>
        <p:nvSpPr>
          <p:cNvPr id="3" name="">
            <a:extLst xmlns:a="http://schemas.openxmlformats.org/drawingml/2006/main">
              <a:ext uri="{FF2B5EF4-FFF2-40B4-BE49-F238E27FC236}">
                <a16:creationId xmlns:a16="http://schemas.microsoft.com/office/drawing/2014/main" id="{2B6F6E05-7E58-447C-BD67-1C9E5D9BFE0C}"/>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Two requests may share a process, but they describe separate tasks.</a:t>
            </a:r>
          </a:p>
        </p:txBody>
      </p:sp>
      <p:sp>
        <p:nvSpPr>
          <p:cNvPr id="4" name="">
            <a:extLst xmlns:a="http://schemas.openxmlformats.org/drawingml/2006/main">
              <a:ext uri="{FF2B5EF4-FFF2-40B4-BE49-F238E27FC236}">
                <a16:creationId xmlns:a16="http://schemas.microsoft.com/office/drawing/2014/main" id="{714C4E25-1EC5-4FC7-A98E-E7E6283520C4}"/>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Request 1: DSU n=3, [0,1] → [2,2]. Request 2: DSU n=3, [1,2] → [2,2].</a:t>
            </a:r>
          </a:p>
        </p:txBody>
      </p:sp>
      <p:sp>
        <p:nvSpPr>
          <p:cNvPr id="5" name="">
            <a:extLst xmlns:a="http://schemas.openxmlformats.org/drawingml/2006/main">
              <a:ext uri="{FF2B5EF4-FFF2-40B4-BE49-F238E27FC236}">
                <a16:creationId xmlns:a16="http://schemas.microsoft.com/office/drawing/2014/main" id="{732D0A29-5438-4375-95A3-F0FCDB8B2CD6}"/>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If the second answer is [1,3], you accidentally retained the first request’s groups.</a:t>
            </a:r>
          </a:p>
        </p:txBody>
      </p:sp>
      <p:sp>
        <p:nvSpPr>
          <p:cNvPr id="6" name="">
            <a:extLst xmlns:a="http://schemas.openxmlformats.org/drawingml/2006/main">
              <a:ext uri="{FF2B5EF4-FFF2-40B4-BE49-F238E27FC236}">
                <a16:creationId xmlns:a16="http://schemas.microsoft.com/office/drawing/2014/main" id="{68AC996B-E40E-4EFB-BC75-7C2F08B560F1}"/>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7" name="">
            <a:extLst xmlns:a="http://schemas.openxmlformats.org/drawingml/2006/main">
              <a:ext uri="{FF2B5EF4-FFF2-40B4-BE49-F238E27FC236}">
                <a16:creationId xmlns:a16="http://schemas.microsoft.com/office/drawing/2014/main" id="{148F46BB-E298-4194-9B87-A0F1CEF4C33F}"/>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58 / 64</a:t>
            </a:r>
          </a:p>
        </p:txBody>
      </p:sp>
    </p:spTree>
    <p:extLst>
      <p:ext uri="{BB962C8B-B14F-4D97-AF65-F5344CB8AC3E}">
        <p14:creationId xmlns:p14="http://schemas.microsoft.com/office/powerpoint/2010/main" val="1020640353"/>
      </p:ext>
    </p:extLst>
  </p:cSld>
</p:sld>
</file>

<file path=ppt/slides/slide59.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A4CA585-4318-40B2-8AA2-5ACF6D486D25}"/>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Implementation and submission</a:t>
            </a:r>
          </a:p>
        </p:txBody>
      </p:sp>
      <p:sp>
        <p:nvSpPr>
          <p:cNvPr id="2" name="">
            <a:extLst xmlns:a="http://schemas.openxmlformats.org/drawingml/2006/main">
              <a:ext uri="{FF2B5EF4-FFF2-40B4-BE49-F238E27FC236}">
                <a16:creationId xmlns:a16="http://schemas.microsoft.com/office/drawing/2014/main" id="{23021864-0768-4D2B-B2D9-0635B96742C7}"/>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Benchmark: compare Kruskal and Prim fairly</a:t>
            </a:r>
          </a:p>
        </p:txBody>
      </p:sp>
      <p:sp>
        <p:nvSpPr>
          <p:cNvPr id="3" name="">
            <a:extLst xmlns:a="http://schemas.openxmlformats.org/drawingml/2006/main">
              <a:ext uri="{FF2B5EF4-FFF2-40B4-BE49-F238E27FC236}">
                <a16:creationId xmlns:a16="http://schemas.microsoft.com/office/drawing/2014/main" id="{1984DA01-A080-4275-BBD0-672BBB4AAE78}"/>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Check correctness first. Then time the same scope on the same graphs.</a:t>
            </a:r>
          </a:p>
        </p:txBody>
      </p:sp>
      <p:sp>
        <p:nvSpPr>
          <p:cNvPr id="4" name="">
            <a:extLst xmlns:a="http://schemas.openxmlformats.org/drawingml/2006/main">
              <a:ext uri="{FF2B5EF4-FFF2-40B4-BE49-F238E27FC236}">
                <a16:creationId xmlns:a16="http://schemas.microsoft.com/office/drawing/2014/main" id="{7C0D0E7E-5A27-4424-A578-58E4FCBAABA4}"/>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One size: Kruskal takes 12, 9, 10 ms. Prim takes 8, 6, 7 ms.</a:t>
            </a:r>
          </a:p>
        </p:txBody>
      </p:sp>
      <p:sp>
        <p:nvSpPr>
          <p:cNvPr id="5" name="">
            <a:extLst xmlns:a="http://schemas.openxmlformats.org/drawingml/2006/main">
              <a:ext uri="{FF2B5EF4-FFF2-40B4-BE49-F238E27FC236}">
                <a16:creationId xmlns:a16="http://schemas.microsoft.com/office/drawing/2014/main" id="{3C3E8803-236C-4B6C-80B7-A6E54F23AC52}"/>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Sort the samples: 9,10,12 and 6,7,8. The medians are 10 ms and 7 ms.</a:t>
            </a:r>
          </a:p>
        </p:txBody>
      </p:sp>
      <p:sp>
        <p:nvSpPr>
          <p:cNvPr id="6" name="">
            <a:extLst xmlns:a="http://schemas.openxmlformats.org/drawingml/2006/main">
              <a:ext uri="{FF2B5EF4-FFF2-40B4-BE49-F238E27FC236}">
                <a16:creationId xmlns:a16="http://schemas.microsoft.com/office/drawing/2014/main" id="{3E9659E1-A82D-40B7-B2F0-4B96C9308E00}"/>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7" name="">
            <a:extLst xmlns:a="http://schemas.openxmlformats.org/drawingml/2006/main">
              <a:ext uri="{FF2B5EF4-FFF2-40B4-BE49-F238E27FC236}">
                <a16:creationId xmlns:a16="http://schemas.microsoft.com/office/drawing/2014/main" id="{D576CC5D-6568-409D-B556-6EE6866B9F3C}"/>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59 / 64</a:t>
            </a:r>
          </a:p>
        </p:txBody>
      </p:sp>
    </p:spTree>
    <p:extLst>
      <p:ext uri="{BB962C8B-B14F-4D97-AF65-F5344CB8AC3E}">
        <p14:creationId xmlns:p14="http://schemas.microsoft.com/office/powerpoint/2010/main" val="1640685815"/>
      </p:ext>
    </p:extLst>
  </p:cSld>
</p:sld>
</file>

<file path=ppt/slides/slide60.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0EC0322-22DA-4FE3-BDB0-1955A363B599}"/>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Implementation and submission</a:t>
            </a:r>
          </a:p>
        </p:txBody>
      </p:sp>
      <p:sp>
        <p:nvSpPr>
          <p:cNvPr id="2" name="">
            <a:extLst xmlns:a="http://schemas.openxmlformats.org/drawingml/2006/main">
              <a:ext uri="{FF2B5EF4-FFF2-40B4-BE49-F238E27FC236}">
                <a16:creationId xmlns:a16="http://schemas.microsoft.com/office/drawing/2014/main" id="{3A5BE28D-864A-4870-8BB2-750B0F56D38C}"/>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ANALYSIS.md: explain your own work</a:t>
            </a:r>
          </a:p>
        </p:txBody>
      </p:sp>
      <p:sp>
        <p:nvSpPr>
          <p:cNvPr id="3" name="">
            <a:extLst xmlns:a="http://schemas.openxmlformats.org/drawingml/2006/main">
              <a:ext uri="{FF2B5EF4-FFF2-40B4-BE49-F238E27FC236}">
                <a16:creationId xmlns:a16="http://schemas.microsoft.com/office/drawing/2014/main" id="{0653CE8B-2F09-48FA-80A7-D5150DF95C5D}"/>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Write in English. Explain each method’s idea and why it is correct.</a:t>
            </a:r>
          </a:p>
        </p:txBody>
      </p:sp>
      <p:sp>
        <p:nvSpPr>
          <p:cNvPr id="4" name="">
            <a:extLst xmlns:a="http://schemas.openxmlformats.org/drawingml/2006/main">
              <a:ext uri="{FF2B5EF4-FFF2-40B4-BE49-F238E27FC236}">
                <a16:creationId xmlns:a16="http://schemas.microsoft.com/office/drawing/2014/main" id="{9A3B7F05-8CC6-484A-B10D-61F2918CAA4B}"/>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Example: “I accept an edge only when its endpoints have different DSU roots.”</a:t>
            </a:r>
          </a:p>
        </p:txBody>
      </p:sp>
      <p:sp>
        <p:nvSpPr>
          <p:cNvPr id="5" name="">
            <a:extLst xmlns:a="http://schemas.openxmlformats.org/drawingml/2006/main">
              <a:ext uri="{FF2B5EF4-FFF2-40B4-BE49-F238E27FC236}">
                <a16:creationId xmlns:a16="http://schemas.microsoft.com/office/drawing/2014/main" id="{CCB93D5D-5AF5-40D0-B5C4-F98FC001A3FB}"/>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Include complexity, your tests, actual helper calls and benchmark results.</a:t>
            </a:r>
          </a:p>
        </p:txBody>
      </p:sp>
      <p:sp>
        <p:nvSpPr>
          <p:cNvPr id="6" name="">
            <a:extLst xmlns:a="http://schemas.openxmlformats.org/drawingml/2006/main">
              <a:ext uri="{FF2B5EF4-FFF2-40B4-BE49-F238E27FC236}">
                <a16:creationId xmlns:a16="http://schemas.microsoft.com/office/drawing/2014/main" id="{0573293D-88B6-46F9-9989-303E680AD14E}"/>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7" name="">
            <a:extLst xmlns:a="http://schemas.openxmlformats.org/drawingml/2006/main">
              <a:ext uri="{FF2B5EF4-FFF2-40B4-BE49-F238E27FC236}">
                <a16:creationId xmlns:a16="http://schemas.microsoft.com/office/drawing/2014/main" id="{AD1F5CFC-5983-4E2D-A908-0FDBF49E23B6}"/>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60 / 64</a:t>
            </a:r>
          </a:p>
        </p:txBody>
      </p:sp>
    </p:spTree>
    <p:extLst>
      <p:ext uri="{BB962C8B-B14F-4D97-AF65-F5344CB8AC3E}">
        <p14:creationId xmlns:p14="http://schemas.microsoft.com/office/powerpoint/2010/main" val="1171879729"/>
      </p:ext>
    </p:extLst>
  </p:cSld>
</p:sld>
</file>

<file path=ppt/slides/slide61.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0663065-AD96-4AF6-ACA4-6FF8A674D30A}"/>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Implementation and submission</a:t>
            </a:r>
          </a:p>
        </p:txBody>
      </p:sp>
      <p:sp>
        <p:nvSpPr>
          <p:cNvPr id="2" name="">
            <a:extLst xmlns:a="http://schemas.openxmlformats.org/drawingml/2006/main">
              <a:ext uri="{FF2B5EF4-FFF2-40B4-BE49-F238E27FC236}">
                <a16:creationId xmlns:a16="http://schemas.microsoft.com/office/drawing/2014/main" id="{E42ABAFC-DB3C-4B73-A876-7901C4F0CD96}"/>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Public checks: understand a red result</a:t>
            </a:r>
          </a:p>
        </p:txBody>
      </p:sp>
      <p:sp>
        <p:nvSpPr>
          <p:cNvPr id="3" name="">
            <a:extLst xmlns:a="http://schemas.openxmlformats.org/drawingml/2006/main">
              <a:ext uri="{FF2B5EF4-FFF2-40B4-BE49-F238E27FC236}">
                <a16:creationId xmlns:a16="http://schemas.microsoft.com/office/drawing/2014/main" id="{9F1618D0-FB37-4D86-B37C-46A3FD1303CA}"/>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First check whether the project built. Then read the failing check.</a:t>
            </a:r>
          </a:p>
        </p:txBody>
      </p:sp>
      <p:sp>
        <p:nvSpPr>
          <p:cNvPr id="4" name="">
            <a:extLst xmlns:a="http://schemas.openxmlformats.org/drawingml/2006/main">
              <a:ext uri="{FF2B5EF4-FFF2-40B4-BE49-F238E27FC236}">
                <a16:creationId xmlns:a16="http://schemas.microsoft.com/office/drawing/2014/main" id="{E4B3D637-6CBF-474A-AB4C-FA30B5F40A2F}"/>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Setup passed, but DSU returned TODO: implement the method.</a:t>
            </a:r>
          </a:p>
        </p:txBody>
      </p:sp>
      <p:graphicFrame>
        <p:nvGraphicFramePr>
          <p:cNvPr id="5" name="">
            <a:extLst xmlns:a="http://schemas.openxmlformats.org/drawingml/2006/main">
              <a:ext uri="{FF2B5EF4-FFF2-40B4-BE49-F238E27FC236}">
                <a16:creationId xmlns:a16="http://schemas.microsoft.com/office/drawing/2014/main" id="{116288D1-19AF-4962-B384-25DBB7181391}"/>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5090231"/>
                <a:gridCol w="5958769"/>
              </a:tblGrid>
              <a:tr h="552450">
                <a:tc>
                  <a:txBody>
                    <a:bodyPr/>
                    <a:lstStyle/>
                    <a:p>
                      <a:r>
                        <a:rPr sz="1725" b="1">
                          <a:solidFill>
                            <a:srgbClr val="192E43"/>
                          </a:solidFill>
                          <a:latin typeface="Arial"/>
                          <a:ea typeface="Arial"/>
                          <a:cs typeface="Arial"/>
                        </a:rPr>
                        <a:t>Message</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Next action</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552450">
                <a:tc>
                  <a:txBody>
                    <a:bodyPr/>
                    <a:lstStyle/>
                    <a:p>
                      <a:r>
                        <a:rPr sz="1725" b="0">
                          <a:solidFill>
                            <a:srgbClr val="192E43"/>
                          </a:solidFill>
                          <a:latin typeface="Arial"/>
                          <a:ea typeface="Arial"/>
                          <a:cs typeface="Arial"/>
                        </a:rPr>
                        <a:t>Compilation failed</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Fix syntax / source files / language</a:t>
                      </a:r>
                    </a:p>
                  </a:txBody>
                  <a:tcPr marL="91440" marR="91440" marT="45720" marB="45720">
                    <a:lnR w="9525">
                      <a:solidFill>
                        <a:srgbClr val="E2DCE0"/>
                      </a:solidFill>
                      <a:prstDash val="solid"/>
                    </a:lnR>
                    <a:lnB w="9525">
                      <a:solidFill>
                        <a:srgbClr val="E2DCE0"/>
                      </a:solidFill>
                      <a:prstDash val="solid"/>
                    </a:lnB>
                    <a:solidFill>
                      <a:srgbClr val="FFFEFC"/>
                    </a:solidFill>
                  </a:tcPr>
                </a:tc>
              </a:tr>
              <a:tr h="552450">
                <a:tc>
                  <a:txBody>
                    <a:bodyPr/>
                    <a:lstStyle/>
                    <a:p>
                      <a:r>
                        <a:rPr sz="1725" b="0">
                          <a:solidFill>
                            <a:srgbClr val="192E43"/>
                          </a:solidFill>
                          <a:latin typeface="Arial"/>
                          <a:ea typeface="Arial"/>
                          <a:cs typeface="Arial"/>
                        </a:rPr>
                        <a:t>Expected [2,2], got ...</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Trace the DSU operations by hand</a:t>
                      </a:r>
                    </a:p>
                  </a:txBody>
                  <a:tcPr marL="91440" marR="91440" marT="45720" marB="45720">
                    <a:lnR w="9525">
                      <a:solidFill>
                        <a:srgbClr val="E2DCE0"/>
                      </a:solidFill>
                      <a:prstDash val="solid"/>
                    </a:lnR>
                    <a:lnB w="9525">
                      <a:solidFill>
                        <a:srgbClr val="E2DCE0"/>
                      </a:solidFill>
                      <a:prstDash val="solid"/>
                    </a:lnB>
                    <a:solidFill>
                      <a:srgbClr val="FAF8F8"/>
                    </a:solidFill>
                  </a:tcPr>
                </a:tc>
              </a:tr>
              <a:tr h="552450">
                <a:tc>
                  <a:txBody>
                    <a:bodyPr/>
                    <a:lstStyle/>
                    <a:p>
                      <a:r>
                        <a:rPr sz="1725" b="0">
                          <a:solidFill>
                            <a:srgbClr val="192E43"/>
                          </a:solidFill>
                          <a:latin typeface="Arial"/>
                          <a:ea typeface="Arial"/>
                          <a:cs typeface="Arial"/>
                        </a:rPr>
                        <a:t>Invalid JSON / extra output</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Remove debugging text from stdout</a:t>
                      </a:r>
                    </a:p>
                  </a:txBody>
                  <a:tcPr marL="91440" marR="91440" marT="45720" marB="45720">
                    <a:lnR w="9525">
                      <a:solidFill>
                        <a:srgbClr val="E2DCE0"/>
                      </a:solidFill>
                      <a:prstDash val="solid"/>
                    </a:lnR>
                    <a:lnB w="9525">
                      <a:solidFill>
                        <a:srgbClr val="E2DCE0"/>
                      </a:solidFill>
                      <a:prstDash val="solid"/>
                    </a:lnB>
                    <a:solidFill>
                      <a:srgbClr val="FFFEFC"/>
                    </a:solidFill>
                  </a:tcPr>
                </a:tc>
              </a:tr>
              <a:tr h="552450">
                <a:tc>
                  <a:txBody>
                    <a:bodyPr/>
                    <a:lstStyle/>
                    <a:p>
                      <a:r>
                        <a:rPr sz="1725" b="0">
                          <a:solidFill>
                            <a:srgbClr val="192E43"/>
                          </a:solidFill>
                          <a:latin typeface="Arial"/>
                          <a:ea typeface="Arial"/>
                          <a:cs typeface="Arial"/>
                        </a:rPr>
                        <a:t>Runtime unavailable</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Investigate the environment and rerun</a:t>
                      </a:r>
                    </a:p>
                  </a:txBody>
                  <a:tcPr marL="91440" marR="91440" marT="45720" marB="45720">
                    <a:lnR w="9525">
                      <a:solidFill>
                        <a:srgbClr val="E2DCE0"/>
                      </a:solidFill>
                      <a:prstDash val="solid"/>
                    </a:lnR>
                    <a:lnB w="9525">
                      <a:solidFill>
                        <a:srgbClr val="E2DCE0"/>
                      </a:solidFill>
                      <a:prstDash val="solid"/>
                    </a:lnB>
                    <a:solidFill>
                      <a:srgbClr val="FAF8F8"/>
                    </a:solidFill>
                  </a:tcPr>
                </a:tc>
              </a:tr>
            </a:tbl>
          </a:graphicData>
        </a:graphic>
      </p:graphicFrame>
      <p:sp>
        <p:nvSpPr>
          <p:cNvPr id="6" name="">
            <a:extLst xmlns:a="http://schemas.openxmlformats.org/drawingml/2006/main">
              <a:ext uri="{FF2B5EF4-FFF2-40B4-BE49-F238E27FC236}">
                <a16:creationId xmlns:a16="http://schemas.microsoft.com/office/drawing/2014/main" id="{7E68EC2D-E3C6-43A0-82D1-A2D4EAD7183E}"/>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An environment failure requires fixing the run and checking again.</a:t>
            </a:r>
          </a:p>
        </p:txBody>
      </p:sp>
      <p:sp>
        <p:nvSpPr>
          <p:cNvPr id="7" name="">
            <a:extLst xmlns:a="http://schemas.openxmlformats.org/drawingml/2006/main">
              <a:ext uri="{FF2B5EF4-FFF2-40B4-BE49-F238E27FC236}">
                <a16:creationId xmlns:a16="http://schemas.microsoft.com/office/drawing/2014/main" id="{60B634AE-55F0-4700-8FE1-48340277B842}"/>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8" name="">
            <a:extLst xmlns:a="http://schemas.openxmlformats.org/drawingml/2006/main">
              <a:ext uri="{FF2B5EF4-FFF2-40B4-BE49-F238E27FC236}">
                <a16:creationId xmlns:a16="http://schemas.microsoft.com/office/drawing/2014/main" id="{03991BB6-E2E7-422B-B255-655FB122F3A9}"/>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61 / 64</a:t>
            </a:r>
          </a:p>
        </p:txBody>
      </p:sp>
    </p:spTree>
    <p:extLst>
      <p:ext uri="{BB962C8B-B14F-4D97-AF65-F5344CB8AC3E}">
        <p14:creationId xmlns:p14="http://schemas.microsoft.com/office/powerpoint/2010/main" val="2085043375"/>
      </p:ext>
    </p:extLst>
  </p:cSld>
</p:sld>
</file>

<file path=ppt/slides/slide62.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DB5DD77-EE38-48FE-854A-ACCBD28AB864}"/>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Implementation and submission</a:t>
            </a:r>
          </a:p>
        </p:txBody>
      </p:sp>
      <p:sp>
        <p:nvSpPr>
          <p:cNvPr id="2" name="">
            <a:extLst xmlns:a="http://schemas.openxmlformats.org/drawingml/2006/main">
              <a:ext uri="{FF2B5EF4-FFF2-40B4-BE49-F238E27FC236}">
                <a16:creationId xmlns:a16="http://schemas.microsoft.com/office/drawing/2014/main" id="{AB68839F-9AAA-4F69-8516-99E6DBCCE3B5}"/>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Submission: two links for the same SHA</a:t>
            </a:r>
          </a:p>
        </p:txBody>
      </p:sp>
      <p:sp>
        <p:nvSpPr>
          <p:cNvPr id="3" name="">
            <a:extLst xmlns:a="http://schemas.openxmlformats.org/drawingml/2006/main">
              <a:ext uri="{FF2B5EF4-FFF2-40B4-BE49-F238E27FC236}">
                <a16:creationId xmlns:a16="http://schemas.microsoft.com/office/drawing/2014/main" id="{8A71E7BE-8B5D-4409-8A80-5290CA39B63A}"/>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After a successful check, identify the exact commit.</a:t>
            </a:r>
          </a:p>
        </p:txBody>
      </p:sp>
      <p:sp>
        <p:nvSpPr>
          <p:cNvPr id="4" name="">
            <a:extLst xmlns:a="http://schemas.openxmlformats.org/drawingml/2006/main">
              <a:ext uri="{FF2B5EF4-FFF2-40B4-BE49-F238E27FC236}">
                <a16:creationId xmlns:a16="http://schemas.microsoft.com/office/drawing/2014/main" id="{E200841A-A332-4184-8FF5-25DD955F5F7F}"/>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In Moodle Online text: 1) commit URL; 2) successful Public checks run URL for that commit.</a:t>
            </a:r>
          </a:p>
        </p:txBody>
      </p:sp>
      <p:sp>
        <p:nvSpPr>
          <p:cNvPr id="5" name="">
            <a:extLst xmlns:a="http://schemas.openxmlformats.org/drawingml/2006/main">
              <a:ext uri="{FF2B5EF4-FFF2-40B4-BE49-F238E27FC236}">
                <a16:creationId xmlns:a16="http://schemas.microsoft.com/office/drawing/2014/main" id="{ABBEAFF5-FB83-4EFE-9BF1-D1422E59A7CF}"/>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Then click Submit assignment and confirm its status. Give the instructor access to a private repository.</a:t>
            </a:r>
          </a:p>
        </p:txBody>
      </p:sp>
      <p:sp>
        <p:nvSpPr>
          <p:cNvPr id="6" name="">
            <a:extLst xmlns:a="http://schemas.openxmlformats.org/drawingml/2006/main">
              <a:ext uri="{FF2B5EF4-FFF2-40B4-BE49-F238E27FC236}">
                <a16:creationId xmlns:a16="http://schemas.microsoft.com/office/drawing/2014/main" id="{1A861A09-7754-4BC6-8863-C2DFEED101E7}"/>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7" name="">
            <a:extLst xmlns:a="http://schemas.openxmlformats.org/drawingml/2006/main">
              <a:ext uri="{FF2B5EF4-FFF2-40B4-BE49-F238E27FC236}">
                <a16:creationId xmlns:a16="http://schemas.microsoft.com/office/drawing/2014/main" id="{EBD2B905-665E-495D-BF41-63ABFE168CB5}"/>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62 / 64</a:t>
            </a:r>
          </a:p>
        </p:txBody>
      </p:sp>
    </p:spTree>
    <p:extLst>
      <p:ext uri="{BB962C8B-B14F-4D97-AF65-F5344CB8AC3E}">
        <p14:creationId xmlns:p14="http://schemas.microsoft.com/office/powerpoint/2010/main" val="1460697308"/>
      </p:ext>
    </p:extLst>
  </p:cSld>
</p:sld>
</file>

<file path=ppt/slides/slide63.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84127E5-AB29-40E9-BBA1-F6FD6767F8E1}"/>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Implementation and submission</a:t>
            </a:r>
          </a:p>
        </p:txBody>
      </p:sp>
      <p:sp>
        <p:nvSpPr>
          <p:cNvPr id="2" name="">
            <a:extLst xmlns:a="http://schemas.openxmlformats.org/drawingml/2006/main">
              <a:ext uri="{FF2B5EF4-FFF2-40B4-BE49-F238E27FC236}">
                <a16:creationId xmlns:a16="http://schemas.microsoft.com/office/drawing/2014/main" id="{F3022F8E-560C-4D1F-9964-D9EDEA1B72D2}"/>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Assessment and final self-check</a:t>
            </a:r>
          </a:p>
        </p:txBody>
      </p:sp>
      <p:sp>
        <p:nvSpPr>
          <p:cNvPr id="3" name="">
            <a:extLst xmlns:a="http://schemas.openxmlformats.org/drawingml/2006/main">
              <a:ext uri="{FF2B5EF4-FFF2-40B4-BE49-F238E27FC236}">
                <a16:creationId xmlns:a16="http://schemas.microsoft.com/office/drawing/2014/main" id="{48D494A7-0123-46FF-8BA8-9310921F895B}"/>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Practical: 50 automatic points. Quiz: 50 automatic points.</a:t>
            </a:r>
          </a:p>
        </p:txBody>
      </p:sp>
      <p:sp>
        <p:nvSpPr>
          <p:cNvPr id="4" name="">
            <a:extLst xmlns:a="http://schemas.openxmlformats.org/drawingml/2006/main">
              <a:ext uri="{FF2B5EF4-FFF2-40B4-BE49-F238E27FC236}">
                <a16:creationId xmlns:a16="http://schemas.microsoft.com/office/drawing/2014/main" id="{6D1830A5-B5D8-4B15-A373-5F0401F9558A}"/>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Quiz: 30 questions in 30 minutes. 15 correct → 25 out of 50.</a:t>
            </a:r>
          </a:p>
        </p:txBody>
      </p:sp>
      <p:sp>
        <p:nvSpPr>
          <p:cNvPr id="5" name="">
            <a:extLst xmlns:a="http://schemas.openxmlformats.org/drawingml/2006/main">
              <a:ext uri="{FF2B5EF4-FFF2-40B4-BE49-F238E27FC236}">
                <a16:creationId xmlns:a16="http://schemas.microsoft.com/office/drawing/2014/main" id="{1E26F534-3E2D-4C3D-8A10-050FE0DA899A}"/>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Check six methods, tests/student, English ANALYSIS.md and two links for one SHA.</a:t>
            </a:r>
          </a:p>
        </p:txBody>
      </p:sp>
      <p:sp>
        <p:nvSpPr>
          <p:cNvPr id="6" name="">
            <a:extLst xmlns:a="http://schemas.openxmlformats.org/drawingml/2006/main">
              <a:ext uri="{FF2B5EF4-FFF2-40B4-BE49-F238E27FC236}">
                <a16:creationId xmlns:a16="http://schemas.microsoft.com/office/drawing/2014/main" id="{892CE2C5-FF32-4D3A-B58D-40E586541A97}"/>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7" name="">
            <a:extLst xmlns:a="http://schemas.openxmlformats.org/drawingml/2006/main">
              <a:ext uri="{FF2B5EF4-FFF2-40B4-BE49-F238E27FC236}">
                <a16:creationId xmlns:a16="http://schemas.microsoft.com/office/drawing/2014/main" id="{8F807D07-33F6-4240-B243-FD661C8FB3A5}"/>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63 / 64</a:t>
            </a:r>
          </a:p>
        </p:txBody>
      </p:sp>
    </p:spTree>
    <p:extLst>
      <p:ext uri="{BB962C8B-B14F-4D97-AF65-F5344CB8AC3E}">
        <p14:creationId xmlns:p14="http://schemas.microsoft.com/office/powerpoint/2010/main" val="1120509138"/>
      </p:ext>
    </p:extLst>
  </p:cSld>
</p:sld>
</file>

<file path=ppt/slides/slide64.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0C19AB9-3800-4CD4-A9E6-3AF0064A1D18}"/>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Implementation and submission</a:t>
            </a:r>
          </a:p>
        </p:txBody>
      </p:sp>
      <p:sp>
        <p:nvSpPr>
          <p:cNvPr id="2" name="">
            <a:extLst xmlns:a="http://schemas.openxmlformats.org/drawingml/2006/main">
              <a:ext uri="{FF2B5EF4-FFF2-40B4-BE49-F238E27FC236}">
                <a16:creationId xmlns:a16="http://schemas.microsoft.com/office/drawing/2014/main" id="{9B515EE8-F888-4E7C-9F83-ED869D82E5D8}"/>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Sources and supplementary video</a:t>
            </a:r>
          </a:p>
        </p:txBody>
      </p:sp>
      <p:sp>
        <p:nvSpPr>
          <p:cNvPr id="3" name="">
            <a:extLst xmlns:a="http://schemas.openxmlformats.org/drawingml/2006/main">
              <a:ext uri="{FF2B5EF4-FFF2-40B4-BE49-F238E27FC236}">
                <a16:creationId xmlns:a16="http://schemas.microsoft.com/office/drawing/2014/main" id="{5940FB27-528D-4A2F-B2AB-FA21FDC12E46}"/>
              </a:ext>
            </a:extLst>
          </p:cNvPr>
          <p:cNvSpPr>
            <a:spLocks xmlns:a="http://schemas.openxmlformats.org/drawingml/2006/main" noGrp="1"/>
          </p:cNvSpPr>
          <p:nvPr/>
        </p:nvSpPr>
        <p:spPr>
          <a:xfrm xmlns:a="http://schemas.openxmlformats.org/drawingml/2006/main">
            <a:off x="571500" y="1609725"/>
            <a:ext cx="1104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192E43"/>
                </a:solidFill>
                <a:latin typeface="Arial"/>
                <a:ea typeface="Arial"/>
                <a:cs typeface="Arial"/>
              </a:defRPr>
            </a:defPPr>
          </a:lstStyle>
          <a:p xmlns:a="http://schemas.openxmlformats.org/drawingml/2006/main">
            <a:pPr>
              <a:defRPr sz="2175" b="0">
                <a:solidFill>
                  <a:srgbClr val="192E43"/>
                </a:solidFill>
                <a:latin typeface="Arial"/>
                <a:ea typeface="Arial"/>
                <a:cs typeface="Arial"/>
              </a:defRPr>
            </a:pPr>
            <a:r>
              <a:rPr sz="2175" b="0">
                <a:solidFill>
                  <a:srgbClr val="192E43"/>
                </a:solidFill>
                <a:latin typeface="Arial"/>
                <a:ea typeface="Arial"/>
                <a:cs typeface="Arial"/>
              </a:rPr>
              <a:t>Use CONTRACTS.md for exact fields and limits. Use README and Moodle for submission.</a:t>
            </a:r>
          </a:p>
        </p:txBody>
      </p:sp>
      <p:sp>
        <p:nvSpPr>
          <p:cNvPr id="4" name="">
            <a:extLst xmlns:a="http://schemas.openxmlformats.org/drawingml/2006/main">
              <a:ext uri="{FF2B5EF4-FFF2-40B4-BE49-F238E27FC236}">
                <a16:creationId xmlns:a16="http://schemas.microsoft.com/office/drawing/2014/main" id="{4F728596-B69F-4476-B98C-5DE2CE41CAE9}"/>
              </a:ext>
            </a:extLst>
          </p:cNvPr>
          <p:cNvSpPr>
            <a:spLocks xmlns:a="http://schemas.openxmlformats.org/drawingml/2006/main" noGrp="1"/>
          </p:cNvSpPr>
          <p:nvPr/>
        </p:nvSpPr>
        <p:spPr>
          <a:xfrm xmlns:a="http://schemas.openxmlformats.org/drawingml/2006/main">
            <a:off x="571500" y="2543175"/>
            <a:ext cx="1104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192E43"/>
                </a:solidFill>
                <a:latin typeface="Arial"/>
                <a:ea typeface="Arial"/>
                <a:cs typeface="Arial"/>
              </a:defRPr>
            </a:defPPr>
          </a:lstStyle>
          <a:p xmlns:a="http://schemas.openxmlformats.org/drawingml/2006/main">
            <a:pPr>
              <a:defRPr sz="2175" b="0">
                <a:solidFill>
                  <a:srgbClr val="192E43"/>
                </a:solidFill>
                <a:latin typeface="Arial"/>
                <a:ea typeface="Arial"/>
                <a:cs typeface="Arial"/>
              </a:defRPr>
            </a:pPr>
            <a:r>
              <a:rPr sz="2175" b="0">
                <a:solidFill>
                  <a:srgbClr val="192E43"/>
                </a:solidFill>
                <a:latin typeface="Arial"/>
                <a:ea typeface="Arial"/>
                <a:cs typeface="Arial"/>
              </a:rPr>
              <a:t>A supplementary English video is embedded in HTML and PowerPoint.</a:t>
            </a:r>
          </a:p>
        </p:txBody>
      </p:sp>
      <p:pic>
        <p:nvPicPr>
          <p:cNvPr id="5" name="Assignment 3 English narrated walkthrough">
            <a:extLst xmlns:a="http://schemas.openxmlformats.org/drawingml/2006/main">
              <a:ext uri="{FF2B5EF4-FFF2-40B4-BE49-F238E27FC236}">
                <a16:creationId xmlns:a16="http://schemas.microsoft.com/office/drawing/2014/main" id="{4E3B3833-9EA4-4371-A8C8-81075C45656F}"/>
              </a:ext>
            </a:extLst>
            <ns4:hlinkClick xmlns:ns4="http://schemas.openxmlformats.org/drawingml/2006/main" action="ppaction://media"/>
          </p:cNvPr>
          <p:cNvPicPr>
            <a:picLocks xmlns:a="http://schemas.openxmlformats.org/drawingml/2006/main" noChangeAspect="1"/>
          </p:cNvPicPr>
          <p:nvPr>
            <ns0:videoFile xmlns:ns0="http://schemas.openxmlformats.org/drawingml/2006/main" xmlns:ns1="http://schemas.openxmlformats.org/officeDocument/2006/relationships" ns1:link="rIdA3Video"/>
            <p:extLst>
              <p:ext uri="{DAA4B4D4-6D71-4841-9C94-3DE7FCFB9230}">
                <ns2:media xmlns:ns2="http://schemas.microsoft.com/office/powerpoint/2010/main" xmlns:ns3="http://schemas.openxmlformats.org/officeDocument/2006/relationships" ns3:embed="rIdA3Media"/>
              </p:ext>
            </p:extLst>
          </p:nvPr>
        </p:nvPicPr>
        <p:blipFill>
          <a:blip xmlns:r="http://schemas.openxmlformats.org/officeDocument/2006/relationships" xmlns:a="http://schemas.openxmlformats.org/drawingml/2006/main" r:embed="Ree38f9cb6ef441a7"/>
          <a:stretch xmlns:a="http://schemas.openxmlformats.org/drawingml/2006/main"/>
        </p:blipFill>
        <p:spPr>
          <a:xfrm xmlns:a="http://schemas.openxmlformats.org/drawingml/2006/main">
            <a:off x="3524250" y="3382566"/>
            <a:ext cx="5143500" cy="2893219"/>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59423383-A95C-4090-BAA8-4069D67BC3A0}"/>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Step-by-step explanation</a:t>
            </a:r>
          </a:p>
        </p:txBody>
      </p:sp>
      <p:sp>
        <p:nvSpPr>
          <p:cNvPr id="7" name="">
            <a:extLst xmlns:a="http://schemas.openxmlformats.org/drawingml/2006/main">
              <a:ext uri="{FF2B5EF4-FFF2-40B4-BE49-F238E27FC236}">
                <a16:creationId xmlns:a16="http://schemas.microsoft.com/office/drawing/2014/main" id="{F5E5C368-19C9-4AF8-947E-D081CCF3CDDD}"/>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64 / 64</a:t>
            </a:r>
          </a:p>
        </p:txBody>
      </p:sp>
    </p:spTree>
    <p:extLst>
      <p:ext uri="{BB962C8B-B14F-4D97-AF65-F5344CB8AC3E}">
        <p14:creationId xmlns:p14="http://schemas.microsoft.com/office/powerpoint/2010/main" val="724607869"/>
      </p:ext>
    </p:extLst>
  </p:cSld>
  <p:timing>
    <p:tnLst>
      <p:par>
        <p:cTn id="1" dur="indefinite" restart="never" nodeType="tmRoot">
          <p:childTnLst>
            <p:video>
              <p:cMediaNode vol="100000">
                <p:cTn id="2" fill="hold" display="0">
                  <p:stCondLst>
                    <p:cond delay="indefinite"/>
                  </p:stCondLst>
                </p:cTn>
                <p:tgtEl>
                  <p:spTgt spid="5"/>
                </p:tgtEl>
              </p:cMediaNode>
            </p:video>
          </p:childTnLst>
        </p:cTn>
      </p:par>
    </p:tnLst>
  </p:timing>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2026-10-16T03:24:11.6540000Z</dcterms:created>
  <dcterms:modified xsi:type="dcterms:W3CDTF">2026-10-16T03:24:11.6540000Z</dcterms:modified>
</coreProperties>
</file>