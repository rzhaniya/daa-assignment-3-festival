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dadb889aa7a34747" /><Relationship Type="http://schemas.openxmlformats.org/officeDocument/2006/relationships/extended-properties" Target="/docProps/app.xml" Id="R22b5c23f4e914a4a" /><Relationship Type="http://schemas.openxmlformats.org/officeDocument/2006/relationships/officeDocument" Target="/ppt/presentation.xml" Id="R4c29fe8aba0e49de" /></Relationships>
</file>

<file path=ppt/presentation.xml><?xml version="1.0" encoding="utf-8"?>
<p:presentation xmlns:p="http://schemas.openxmlformats.org/presentationml/2006/main">
  <p:sldMasterIdLst>
    <p:sldMasterId xmlns:r="http://schemas.openxmlformats.org/officeDocument/2006/relationships" id="2147483648" r:id="Rfc69b140ef3c4112"/>
  </p:sldMasterIdLst>
  <p:notesMasterIdLst>
    <p:notesMasterId xmlns:r="http://schemas.openxmlformats.org/officeDocument/2006/relationships" r:id="Rbdebf202e1dc46da"/>
  </p:notesMasterIdLst>
  <p:sldIdLst>
    <p:sldId xmlns:r="http://schemas.openxmlformats.org/officeDocument/2006/relationships" id="256" r:id="R4567907a315e4d8b"/>
    <p:sldId xmlns:r="http://schemas.openxmlformats.org/officeDocument/2006/relationships" id="257" r:id="R339203d54d3c48a4"/>
    <p:sldId xmlns:r="http://schemas.openxmlformats.org/officeDocument/2006/relationships" id="258" r:id="Rc00d6f2f633d4bcb"/>
    <p:sldId xmlns:r="http://schemas.openxmlformats.org/officeDocument/2006/relationships" id="259" r:id="Rdd7e0285125b4271"/>
    <p:sldId xmlns:r="http://schemas.openxmlformats.org/officeDocument/2006/relationships" id="260" r:id="R9a4305419136429c"/>
    <p:sldId xmlns:r="http://schemas.openxmlformats.org/officeDocument/2006/relationships" id="261" r:id="R76cc09ce726d4365"/>
    <p:sldId xmlns:r="http://schemas.openxmlformats.org/officeDocument/2006/relationships" id="262" r:id="R13566a0606264d58"/>
    <p:sldId xmlns:r="http://schemas.openxmlformats.org/officeDocument/2006/relationships" id="263" r:id="Ree75e87647b3433c"/>
    <p:sldId xmlns:r="http://schemas.openxmlformats.org/officeDocument/2006/relationships" id="264" r:id="R641d762855a147a5"/>
    <p:sldId xmlns:r="http://schemas.openxmlformats.org/officeDocument/2006/relationships" id="265" r:id="Rf849ced7f71d4c34"/>
    <p:sldId xmlns:r="http://schemas.openxmlformats.org/officeDocument/2006/relationships" id="266" r:id="R23dcbc3fb811411c"/>
    <p:sldId xmlns:r="http://schemas.openxmlformats.org/officeDocument/2006/relationships" id="267" r:id="R634d37ecba624b2f"/>
    <p:sldId xmlns:r="http://schemas.openxmlformats.org/officeDocument/2006/relationships" id="268" r:id="R58c95bfecdd74341"/>
    <p:sldId xmlns:r="http://schemas.openxmlformats.org/officeDocument/2006/relationships" id="269" r:id="R01094391b0954537"/>
    <p:sldId xmlns:r="http://schemas.openxmlformats.org/officeDocument/2006/relationships" id="270" r:id="R329490a019e54c12"/>
    <p:sldId xmlns:r="http://schemas.openxmlformats.org/officeDocument/2006/relationships" id="271" r:id="R299179503e214b8f"/>
    <p:sldId xmlns:r="http://schemas.openxmlformats.org/officeDocument/2006/relationships" id="272" r:id="R003c09459f464746"/>
    <p:sldId xmlns:r="http://schemas.openxmlformats.org/officeDocument/2006/relationships" id="273" r:id="R9da0450761eb4352"/>
    <p:sldId xmlns:r="http://schemas.openxmlformats.org/officeDocument/2006/relationships" id="274" r:id="R903484e5d76744ab"/>
    <p:sldId xmlns:r="http://schemas.openxmlformats.org/officeDocument/2006/relationships" id="275" r:id="Rbda1ac712a254cb8"/>
    <p:sldId xmlns:r="http://schemas.openxmlformats.org/officeDocument/2006/relationships" id="276" r:id="Rb8797224575f455e"/>
    <p:sldId xmlns:r="http://schemas.openxmlformats.org/officeDocument/2006/relationships" id="277" r:id="Rca8ce44d82874394"/>
    <p:sldId xmlns:r="http://schemas.openxmlformats.org/officeDocument/2006/relationships" id="278" r:id="Rf1acac398e674c32"/>
    <p:sldId xmlns:r="http://schemas.openxmlformats.org/officeDocument/2006/relationships" id="279" r:id="R7d0d69bdeaaf4208"/>
    <p:sldId xmlns:r="http://schemas.openxmlformats.org/officeDocument/2006/relationships" id="280" r:id="R59497f006cf348fd"/>
    <p:sldId xmlns:r="http://schemas.openxmlformats.org/officeDocument/2006/relationships" id="281" r:id="R49ff4a597faa42e6"/>
    <p:sldId xmlns:r="http://schemas.openxmlformats.org/officeDocument/2006/relationships" id="282" r:id="R2ade5c8522f74571"/>
    <p:sldId xmlns:r="http://schemas.openxmlformats.org/officeDocument/2006/relationships" id="283" r:id="R59b896c6bc944bf5"/>
    <p:sldId xmlns:r="http://schemas.openxmlformats.org/officeDocument/2006/relationships" id="284" r:id="Rd04e7a531d104762"/>
    <p:sldId xmlns:r="http://schemas.openxmlformats.org/officeDocument/2006/relationships" id="285" r:id="R6d59911ef400457b"/>
    <p:sldId xmlns:r="http://schemas.openxmlformats.org/officeDocument/2006/relationships" id="286" r:id="Rcf5df97afb904fb3"/>
    <p:sldId xmlns:r="http://schemas.openxmlformats.org/officeDocument/2006/relationships" id="287" r:id="Recdb2f079215476b"/>
    <p:sldId xmlns:r="http://schemas.openxmlformats.org/officeDocument/2006/relationships" id="288" r:id="Rc97f3cd3f52343d3"/>
    <p:sldId xmlns:r="http://schemas.openxmlformats.org/officeDocument/2006/relationships" id="289" r:id="Raef1de5d03624c44"/>
    <p:sldId xmlns:r="http://schemas.openxmlformats.org/officeDocument/2006/relationships" id="290" r:id="R4859d04747e44cb0"/>
    <p:sldId xmlns:r="http://schemas.openxmlformats.org/officeDocument/2006/relationships" id="291" r:id="Rcf0b90f1605a40d6"/>
    <p:sldId xmlns:r="http://schemas.openxmlformats.org/officeDocument/2006/relationships" id="292" r:id="Racab98a02a424d98"/>
    <p:sldId xmlns:r="http://schemas.openxmlformats.org/officeDocument/2006/relationships" id="293" r:id="Reab18f11495b4adb"/>
    <p:sldId xmlns:r="http://schemas.openxmlformats.org/officeDocument/2006/relationships" id="294" r:id="R79275c8d0a064ece"/>
    <p:sldId xmlns:r="http://schemas.openxmlformats.org/officeDocument/2006/relationships" id="295" r:id="R4a5213ef87624bcd"/>
    <p:sldId xmlns:r="http://schemas.openxmlformats.org/officeDocument/2006/relationships" id="296" r:id="R8df427e6038449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e9ae5a9ef945d6" /><Relationship Type="http://schemas.openxmlformats.org/officeDocument/2006/relationships/slideMaster" Target="/ppt/slideMasters/slideMaster1.xml" Id="Rfc69b140ef3c4112" /><Relationship Type="http://schemas.openxmlformats.org/officeDocument/2006/relationships/notesMaster" Target="/ppt/notesMasters/notesMaster1.xml" Id="Rbdebf202e1dc46da" /><Relationship Type="http://schemas.openxmlformats.org/officeDocument/2006/relationships/presProps" Target="/ppt/presProps.xml" Id="Reef41cdd4acf4e9e" /><Relationship Type="http://schemas.openxmlformats.org/officeDocument/2006/relationships/tableStyles" Target="/ppt/tableStyles.xml" Id="Rfded402be2c248b9" /><Relationship Type="http://schemas.openxmlformats.org/officeDocument/2006/relationships/slide" Target="/ppt/slides/slide1.xml" Id="R4567907a315e4d8b" /><Relationship Type="http://schemas.openxmlformats.org/officeDocument/2006/relationships/slide" Target="/ppt/slides/slide2.xml" Id="R339203d54d3c48a4" /><Relationship Type="http://schemas.openxmlformats.org/officeDocument/2006/relationships/slide" Target="/ppt/slides/slide3.xml" Id="Rc00d6f2f633d4bcb" /><Relationship Type="http://schemas.openxmlformats.org/officeDocument/2006/relationships/slide" Target="/ppt/slides/slide4.xml" Id="Rdd7e0285125b4271" /><Relationship Type="http://schemas.openxmlformats.org/officeDocument/2006/relationships/slide" Target="/ppt/slides/slide5.xml" Id="R9a4305419136429c" /><Relationship Type="http://schemas.openxmlformats.org/officeDocument/2006/relationships/slide" Target="/ppt/slides/slide6.xml" Id="R76cc09ce726d4365" /><Relationship Type="http://schemas.openxmlformats.org/officeDocument/2006/relationships/slide" Target="/ppt/slides/slide7.xml" Id="R13566a0606264d58" /><Relationship Type="http://schemas.openxmlformats.org/officeDocument/2006/relationships/slide" Target="/ppt/slides/slide8.xml" Id="Ree75e87647b3433c" /><Relationship Type="http://schemas.openxmlformats.org/officeDocument/2006/relationships/slide" Target="/ppt/slides/slide9.xml" Id="R641d762855a147a5" /><Relationship Type="http://schemas.openxmlformats.org/officeDocument/2006/relationships/slide" Target="/ppt/slides/slide10.xml" Id="Rf849ced7f71d4c34" /><Relationship Type="http://schemas.openxmlformats.org/officeDocument/2006/relationships/slide" Target="/ppt/slides/slide11.xml" Id="R23dcbc3fb811411c" /><Relationship Type="http://schemas.openxmlformats.org/officeDocument/2006/relationships/slide" Target="/ppt/slides/slide12.xml" Id="R634d37ecba624b2f" /><Relationship Type="http://schemas.openxmlformats.org/officeDocument/2006/relationships/slide" Target="/ppt/slides/slide13.xml" Id="R58c95bfecdd74341" /><Relationship Type="http://schemas.openxmlformats.org/officeDocument/2006/relationships/slide" Target="/ppt/slides/slide14.xml" Id="R01094391b0954537" /><Relationship Type="http://schemas.openxmlformats.org/officeDocument/2006/relationships/slide" Target="/ppt/slides/slide15.xml" Id="R329490a019e54c12" /><Relationship Type="http://schemas.openxmlformats.org/officeDocument/2006/relationships/slide" Target="/ppt/slides/slide16.xml" Id="R299179503e214b8f" /><Relationship Type="http://schemas.openxmlformats.org/officeDocument/2006/relationships/slide" Target="/ppt/slides/slide17.xml" Id="R003c09459f464746" /><Relationship Type="http://schemas.openxmlformats.org/officeDocument/2006/relationships/slide" Target="/ppt/slides/slide18.xml" Id="R9da0450761eb4352" /><Relationship Type="http://schemas.openxmlformats.org/officeDocument/2006/relationships/slide" Target="/ppt/slides/slide19.xml" Id="R903484e5d76744ab" /><Relationship Type="http://schemas.openxmlformats.org/officeDocument/2006/relationships/slide" Target="/ppt/slides/slide20.xml" Id="Rbda1ac712a254cb8" /><Relationship Type="http://schemas.openxmlformats.org/officeDocument/2006/relationships/slide" Target="/ppt/slides/slide21.xml" Id="Rb8797224575f455e" /><Relationship Type="http://schemas.openxmlformats.org/officeDocument/2006/relationships/slide" Target="/ppt/slides/slide22.xml" Id="Rca8ce44d82874394" /><Relationship Type="http://schemas.openxmlformats.org/officeDocument/2006/relationships/slide" Target="/ppt/slides/slide23.xml" Id="Rf1acac398e674c32" /><Relationship Type="http://schemas.openxmlformats.org/officeDocument/2006/relationships/slide" Target="/ppt/slides/slide24.xml" Id="R7d0d69bdeaaf4208" /><Relationship Type="http://schemas.openxmlformats.org/officeDocument/2006/relationships/slide" Target="/ppt/slides/slide25.xml" Id="R59497f006cf348fd" /><Relationship Type="http://schemas.openxmlformats.org/officeDocument/2006/relationships/slide" Target="/ppt/slides/slide26.xml" Id="R49ff4a597faa42e6" /><Relationship Type="http://schemas.openxmlformats.org/officeDocument/2006/relationships/slide" Target="/ppt/slides/slide27.xml" Id="R2ade5c8522f74571" /><Relationship Type="http://schemas.openxmlformats.org/officeDocument/2006/relationships/slide" Target="/ppt/slides/slide28.xml" Id="R59b896c6bc944bf5" /><Relationship Type="http://schemas.openxmlformats.org/officeDocument/2006/relationships/slide" Target="/ppt/slides/slide29.xml" Id="Rd04e7a531d104762" /><Relationship Type="http://schemas.openxmlformats.org/officeDocument/2006/relationships/slide" Target="/ppt/slides/slide30.xml" Id="R6d59911ef400457b" /><Relationship Type="http://schemas.openxmlformats.org/officeDocument/2006/relationships/slide" Target="/ppt/slides/slide31.xml" Id="Rcf5df97afb904fb3" /><Relationship Type="http://schemas.openxmlformats.org/officeDocument/2006/relationships/slide" Target="/ppt/slides/slide32.xml" Id="Recdb2f079215476b" /><Relationship Type="http://schemas.openxmlformats.org/officeDocument/2006/relationships/slide" Target="/ppt/slides/slide33.xml" Id="Rc97f3cd3f52343d3" /><Relationship Type="http://schemas.openxmlformats.org/officeDocument/2006/relationships/slide" Target="/ppt/slides/slide34.xml" Id="Raef1de5d03624c44" /><Relationship Type="http://schemas.openxmlformats.org/officeDocument/2006/relationships/slide" Target="/ppt/slides/slide35.xml" Id="R4859d04747e44cb0" /><Relationship Type="http://schemas.openxmlformats.org/officeDocument/2006/relationships/slide" Target="/ppt/slides/slide36.xml" Id="Rcf0b90f1605a40d6" /><Relationship Type="http://schemas.openxmlformats.org/officeDocument/2006/relationships/slide" Target="/ppt/slides/slide37.xml" Id="Racab98a02a424d98" /><Relationship Type="http://schemas.openxmlformats.org/officeDocument/2006/relationships/slide" Target="/ppt/slides/slide38.xml" Id="Reab18f11495b4adb" /><Relationship Type="http://schemas.openxmlformats.org/officeDocument/2006/relationships/slide" Target="/ppt/slides/slide39.xml" Id="R79275c8d0a064ece" /><Relationship Type="http://schemas.openxmlformats.org/officeDocument/2006/relationships/slide" Target="/ppt/slides/slide40.xml" Id="R4a5213ef87624bcd" /><Relationship Type="http://schemas.openxmlformats.org/officeDocument/2006/relationships/slide" Target="/ppt/slides/slide41.xml" Id="R8df427e6038449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effee257c74cd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59f18445a642c1" /><Relationship Type="http://schemas.openxmlformats.org/officeDocument/2006/relationships/notesMaster" Target="/ppt/notesMasters/notesMaster1.xml" Id="R4ee3fcf9920b4b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6949d52c244044" /><Relationship Type="http://schemas.openxmlformats.org/officeDocument/2006/relationships/notesMaster" Target="/ppt/notesMasters/notesMaster1.xml" Id="R506e080351c44c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c1c68c467a4e2c" /><Relationship Type="http://schemas.openxmlformats.org/officeDocument/2006/relationships/notesMaster" Target="/ppt/notesMasters/notesMaster1.xml" Id="R5fcbbe983e3e47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085dd21f944e07" /><Relationship Type="http://schemas.openxmlformats.org/officeDocument/2006/relationships/notesMaster" Target="/ppt/notesMasters/notesMaster1.xml" Id="Rbe5ee22c5f3b42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63cb57dfbaf4b1e" /><Relationship Type="http://schemas.openxmlformats.org/officeDocument/2006/relationships/notesMaster" Target="/ppt/notesMasters/notesMaster1.xml" Id="R2557c7bb03fd4b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80ea85d99d2497a" /><Relationship Type="http://schemas.openxmlformats.org/officeDocument/2006/relationships/notesMaster" Target="/ppt/notesMasters/notesMaster1.xml" Id="Rb90675459d444a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ff90eca1b3417c" /><Relationship Type="http://schemas.openxmlformats.org/officeDocument/2006/relationships/notesMaster" Target="/ppt/notesMasters/notesMaster1.xml" Id="Rb1576485a75746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6482d6bfbe74ddd" /><Relationship Type="http://schemas.openxmlformats.org/officeDocument/2006/relationships/notesMaster" Target="/ppt/notesMasters/notesMaster1.xml" Id="Rec7be38884af4e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a82547e78c4644" /><Relationship Type="http://schemas.openxmlformats.org/officeDocument/2006/relationships/notesMaster" Target="/ppt/notesMasters/notesMaster1.xml" Id="R79bf7ee9d3c843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b9968b2c44648cc" /><Relationship Type="http://schemas.openxmlformats.org/officeDocument/2006/relationships/notesMaster" Target="/ppt/notesMasters/notesMaster1.xml" Id="Rfea833dff64a48b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426aac98e448f1" /><Relationship Type="http://schemas.openxmlformats.org/officeDocument/2006/relationships/notesMaster" Target="/ppt/notesMasters/notesMaster1.xml" Id="R82d8fdf3a71e49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54754888c7425a" /><Relationship Type="http://schemas.openxmlformats.org/officeDocument/2006/relationships/notesMaster" Target="/ppt/notesMasters/notesMaster1.xml" Id="Rdbe71dda72cd46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7b3ac69b4104649" /><Relationship Type="http://schemas.openxmlformats.org/officeDocument/2006/relationships/notesMaster" Target="/ppt/notesMasters/notesMaster1.xml" Id="R5843432615864e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6fab73a3f694f08" /><Relationship Type="http://schemas.openxmlformats.org/officeDocument/2006/relationships/notesMaster" Target="/ppt/notesMasters/notesMaster1.xml" Id="R2f5fb81de8304f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6e778d5cea4728" /><Relationship Type="http://schemas.openxmlformats.org/officeDocument/2006/relationships/notesMaster" Target="/ppt/notesMasters/notesMaster1.xml" Id="R9be6a685586d46f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896fc456c546b3" /><Relationship Type="http://schemas.openxmlformats.org/officeDocument/2006/relationships/notesMaster" Target="/ppt/notesMasters/notesMaster1.xml" Id="Raa37798f383949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ae6c7f68dd4843" /><Relationship Type="http://schemas.openxmlformats.org/officeDocument/2006/relationships/notesMaster" Target="/ppt/notesMasters/notesMaster1.xml" Id="Re9283e7667294c4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53843d7a3749f8" /><Relationship Type="http://schemas.openxmlformats.org/officeDocument/2006/relationships/notesMaster" Target="/ppt/notesMasters/notesMaster1.xml" Id="R9dea0797d49f462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f3f9e36f4c745d2" /><Relationship Type="http://schemas.openxmlformats.org/officeDocument/2006/relationships/notesMaster" Target="/ppt/notesMasters/notesMaster1.xml" Id="R3938882e0fa340b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af975f6e904a58" /><Relationship Type="http://schemas.openxmlformats.org/officeDocument/2006/relationships/notesMaster" Target="/ppt/notesMasters/notesMaster1.xml" Id="R6b5dc44e694b402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d734d2e44fa4690" /><Relationship Type="http://schemas.openxmlformats.org/officeDocument/2006/relationships/notesMaster" Target="/ppt/notesMasters/notesMaster1.xml" Id="Rb99467254a40431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0a1ecd1f45c4ae1" /><Relationship Type="http://schemas.openxmlformats.org/officeDocument/2006/relationships/notesMaster" Target="/ppt/notesMasters/notesMaster1.xml" Id="R1abef50240414ce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143e3a8870647a1" /><Relationship Type="http://schemas.openxmlformats.org/officeDocument/2006/relationships/notesMaster" Target="/ppt/notesMasters/notesMaster1.xml" Id="R29773723558e4e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1e7a0ef27ff44bd" /><Relationship Type="http://schemas.openxmlformats.org/officeDocument/2006/relationships/notesMaster" Target="/ppt/notesMasters/notesMaster1.xml" Id="R293479e1a7864d1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30638a275b4067" /><Relationship Type="http://schemas.openxmlformats.org/officeDocument/2006/relationships/notesMaster" Target="/ppt/notesMasters/notesMaster1.xml" Id="Rbf76cb894b404c3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debb291b67043bb" /><Relationship Type="http://schemas.openxmlformats.org/officeDocument/2006/relationships/notesMaster" Target="/ppt/notesMasters/notesMaster1.xml" Id="Ra58164e56e904ac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8fdd7b7eaa34038" /><Relationship Type="http://schemas.openxmlformats.org/officeDocument/2006/relationships/notesMaster" Target="/ppt/notesMasters/notesMaster1.xml" Id="R38f887dbc74540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153dfdca8e6481b" /><Relationship Type="http://schemas.openxmlformats.org/officeDocument/2006/relationships/notesMaster" Target="/ppt/notesMasters/notesMaster1.xml" Id="Ra4440c5213e54a3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f7158f9986242f7" /><Relationship Type="http://schemas.openxmlformats.org/officeDocument/2006/relationships/notesMaster" Target="/ppt/notesMasters/notesMaster1.xml" Id="R700fcaefe2664d2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5a03bcb8e1541aa" /><Relationship Type="http://schemas.openxmlformats.org/officeDocument/2006/relationships/notesMaster" Target="/ppt/notesMasters/notesMaster1.xml" Id="Ra7bbfdea548049f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4bc8a985a524a37" /><Relationship Type="http://schemas.openxmlformats.org/officeDocument/2006/relationships/notesMaster" Target="/ppt/notesMasters/notesMaster1.xml" Id="Reab7b49adebc451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cd3b54177034a36" /><Relationship Type="http://schemas.openxmlformats.org/officeDocument/2006/relationships/notesMaster" Target="/ppt/notesMasters/notesMaster1.xml" Id="R1bf197dfc5d446b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d062fa1f6b146b3" /><Relationship Type="http://schemas.openxmlformats.org/officeDocument/2006/relationships/notesMaster" Target="/ppt/notesMasters/notesMaster1.xml" Id="Ra7d87131153843c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df3d6a2e3f5456c" /><Relationship Type="http://schemas.openxmlformats.org/officeDocument/2006/relationships/notesMaster" Target="/ppt/notesMasters/notesMaster1.xml" Id="R02b595a6b0c5424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25c17062a6af4b16" /><Relationship Type="http://schemas.openxmlformats.org/officeDocument/2006/relationships/notesMaster" Target="/ppt/notesMasters/notesMaster1.xml" Id="R71d45af0205f4f9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6a9e7cf59494668" /><Relationship Type="http://schemas.openxmlformats.org/officeDocument/2006/relationships/notesMaster" Target="/ppt/notesMasters/notesMaster1.xml" Id="Rc25b258396fa461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c134fbac70b4cab" /><Relationship Type="http://schemas.openxmlformats.org/officeDocument/2006/relationships/notesMaster" Target="/ppt/notesMasters/notesMaster1.xml" Id="Ra02d13d4a6ca479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4333ebeb60e48f3" /><Relationship Type="http://schemas.openxmlformats.org/officeDocument/2006/relationships/notesMaster" Target="/ppt/notesMasters/notesMaster1.xml" Id="R2c40331e2233407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0c94fc3fd364abd" /><Relationship Type="http://schemas.openxmlformats.org/officeDocument/2006/relationships/notesMaster" Target="/ppt/notesMasters/notesMaster1.xml" Id="R0fccaa3224aa4c3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d43f18f47cf475c" /><Relationship Type="http://schemas.openxmlformats.org/officeDocument/2006/relationships/notesMaster" Target="/ppt/notesMasters/notesMaster1.xml" Id="Rd3060e71f602485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42cc4ce52884f31" /><Relationship Type="http://schemas.openxmlformats.org/officeDocument/2006/relationships/notesMaster" Target="/ppt/notesMasters/notesMaster1.xml" Id="Rdde4b6423dc846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Assignment 3 графы описывают связи между площадками, зависимости подготовительных работ и маршруты доставки. Это разные модели и отдельные входные графы. Урок объясняет идеи и локальные шаги реализации. Держите рядом спецификацию и CONTRACTS.md: именно они определяют интерфейс сдаваемой программы. Реализуйте шесть методов самостоятельно в одном выбранном языке.</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Краскал и Прим решают одну задачу оптимизации, но нужны две самостоятельные реализации. Для SCC требуется Косарайю. Топологическая сортировка использует DFS. Кратчайшие пути в DAG используют топологический порядок и релаксации. Вспомогательная функция восстанавливает путь по исходным ID родительских рёбер. Другие графовые алгоритмы не добавляются к обязательным требованиям.</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История фестиваля приводит к разным математическим задачам. Неориентированную связь можно пройти в обоих направлениях. Зависимость работ имеет направление. Маршрут доставки имеет направление и вес. Остовный лес кабелей не является ответом о кратчайшем пути доставки. Для каждого запроса создаётся представление нужной задачи и новое состояние.</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Номер вершины обозначает площадку или работу, а ID ребра обозначает конкретную входную запись. После сортировки сохраняйте исходный ID, а не новый индекс. Параллельные рёбра могут иметь одинаковые концы, но разные ID. В неориентированном графе ребро доступно с обоих концов. В ориентированном графе направление обязательно учитывается. Изолированная вершина остаётся частью графа.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Предоставленная основная программа уже разбирает вход и печатает результат. Сохраняйте формат JSON-lines: каждый объект занимает отдельную строку. Программа может получить несколько запросов в одном процессе. Не печатайте приглашения и отладку в stdout. В примере объединение нуля и единицы при n=3 оставляет две компоненты, наибольшая содержит две вершины. Фрагменты Java ниже показывают отдельные действия в контексте метода, а не целый файл решения.</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Допустимы до ста тысяч вершин и до двухсот пятидесяти тысяч рёбер или операций DSU. Для DSU, MST, SCC и topo разрешён пустой граф. DAG shortest paths требует хотя бы одну вершину, потому что задаётся источник. При нулевом n операции DSU пустые. Веса взвешенных рёбер от минус миллиарда до миллиарда. Некорректный JSON не входит в обязательные проверяемые входы.</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каждая вершина образует отдельную компоненту. В примере шесть вершин. После union(0,1) остаётся пять компонент размера до двух. union(1,2) даёт четыре компоненты и наибольший размер три. union(3,4) оставляет три компоненты. Повторное union(2,0) и self-union(5,5) ничего не меняют. Перед выполнением предскажите каждую строку таблицы. Для n=0 операций быть не должно, результат states пустой.</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Сжатие пути меняет структуру дерева, сохраняя принадлежность вершины её компоненте. Здесь root уже найден и равен трём. Переменная next запоминает старого родителя. Затем parent[v] меняется на root, а обход продолжается через next. Если сначала перезаписать parent[v], а потом использовать его как следующий шаг, часть исходного пути останется необработанной. Проверьте итоговый массив [3,3,3,3].</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Перед фрагментом a и b уже являются различными корнями. При необходимости они меняются местами, чтобы a обозначал большую компоненту. После присоединения b к a суммируются размеры, число компонент уменьшается ровно на один и обновляется largest. При одинаковых корнях нужно выйти раньше. Для положительного n начальный largest равен единице, для нуля равен нулю. Сжатие пути требуется вместе с балансировкой.</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балансировки разрешён ранг вместо размера вместе со сжатием пути. Ранг связан с высотой дерева до последующих сжатий и не равен числу вершин. Ранги двух одиночных корней равны нулю. После объединения ранг корня один, а размер компоненты два. Присоединение одиночной вершины даёт размер три при том же ранге. Повторное union ничего не меняет. Для largest нужен отдельный size.</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рисунке пять вершин. Вершины ноль, один, два и три связаны, а четыре изолирована. Значит, c=2 и лес должен содержать 5−2=3 ребра. Минимум дают веса один, два и четыре, всего семь. Не пытайтесь соединить изолят вымышленным ребром. Петли не входят в лес. Отрицательные веса и параллельные рёбра допустимы. Возвращаются исходные ID выбранных рёбер.</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Фрагмент предполагает готовые списки adj и тип Arc. Для неориентированного MST каждое ребро добавляется в обе стороны. Для ориентированного DAG добавляется только прямая дуга. Две записи списка смежности не означают два разных исходных ID. Параллельное входное ребро имеет собственный ID. Для Косарайю отдельно создаётся обратная смежность. Каждый запрос получает новые списки.</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Весовой порядок рёбер в примере соответствует ID один, три, ноль, четыре, два. Первые три ребра соединяют разные компоненты и дают стоимости один, три, семь. Два последних замыкают циклы и отклоняются. На слайде 9 лекции 6 условие записано ошибочно: правильное условие принятия — разные представители. Сортировка меняет порядок просмотра, но не ID входных рёбер.</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Разрез делит вершины на две части. Он должен уважать уже выбранный лес: никакое выбранное ребро не пересекает этот разрез. Легчайшее пересекающее ребро безопасно для продолжения такого леса. В доказательстве обмена его можно добавить в подходящий оптимальный лес и удалить другое пересекающее ребро без увеличения стоимости. При равных весах оптимальных наборов ID может быть несколько. Код показывает локальный цикл Краскала, а структуры Edge и DSU определяются в реализации.</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Прим начинает с вершины ноль и рассматривает рёбра, выходящие из построенной части. В примере он берёт 0–1 веса четыре, затем 1–2 веса один и 2–3 веса два. Итоговая стоимость семь совпадает с Краскалом, хотя порядок выбора отличается. Вершина четыре запускает новую компоненту без входящего ребра. Фиктивное ребро корня нельзя включать в edge_ids.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ленивом варианте Прима в куче остаются старые варианты после того, как вершина уже включена в лес. Проверка used[e.to] предотвращает повторное включение. После выбора новой вершины добавляются рёбра к ещё не посещённым соседям. Отдельный внешний цикл запускает поиск в каждой компоненте. Куча должна различать входные ID параллельных рёбер, а не только пары концов.</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Совпадения только суммы недостаточно. Свидетель должен состоять из реальных неповторяющихся ID, не содержать циклов и соединять каждую исходную компоненту. Число рёбер равно n−c. Для ленивого Прима и Краскала допустима оценка O(n+m log(m+1)) при стандартных структурах. Учтите память графа, DSU или кучи и возвращаемого результата. Разные допустимые оптимальные леса принимаются.</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примере ноль и один взаимно достижимы, как и два и три. Четыре изолирована. Метки [7,7,9,9,12] являются одним допустимым ответом. Любое согласованное переименование, сохраняющее это разбиение, тоже допустимо. Два одинаковых перехода из первой SCC во вторую образуют одно ребро 7→9 в конденсации. Внутренних петель между метками одной SCC в ней нет.</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 цепи 0→1→2 DFS открывает вершины в порядке 0,1,2, но завершает в порядке 2,1,0. Во втором проходе корни обрабатываются в порядке 0,1,2 на транспонированном графе. Отдельная цепь здесь поясняет порядок, а не изображает одну общую SCC. Можно начать с транспонированного графа, затем перейти к исходному, если согласованно использовать обратный порядок завершения первого прохода.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двух проходов сравните метки концов каждого исходного ребра. Если метки различаются, добавьте пару в множество. Pair в Java должен сравниваться по значениям, например через record, иначе HashSet не удалит смысловые дубликаты. Равные метки означают внутреннее ребро, которое пропускается. Пустой граф даёт два пустых массива. Для глубокого графа используйте явный стек.</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графе 0→1, 0→2, 1→3, 2→3 сначала рассматривается сосед один, затем два. Порядок открытия 0,1,3,2, порядок завершения 3,1,2,0. После разворота получаем 0,2,1,3, и каждое ребро направлено вперёд. Когда поиск из двух встречает уже BLACK-вершину три, цикла нет. Не путайте вершину на активном стеке с уже завершённой вершиной.</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рекурсивном DFS возврат происходит только после обработки всех соседей. В итеративной версии это состояние хранит кадр Frame. Если соседи закончились, вершина становится BLACK, добавляется в finish, а кадр удаляется. Иначе считывается следующий сосед и увеличивается индекс. Для WHITE создаётся новый кадр, GRAY означает цикл, BLACK пропускается. Обычный порядок извлечения из стека не равен порядку завершения.</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Поиск только из нуля посещает ноль и один, но не замечает цикл между двумя и тремя. Для топологического порядка нужно начинать обход из каждой ещё не посещённой вершины. DAG shortest paths тоже отклоняет цикл в любой компоненте, даже недостижимой от источника. Для topo ответ acyclic=false, order=[]. Для dag ответ acyclic=false и оба массива пустые.</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Источник равен нулю. После его обработки distance[1]=3 и distance[2]=8. Ребро 1→2 веса минус пять улучшает расстояние до двух до минус двух. Затем 2→3 веса четыре даёт distance[3]=2. До вершины четыре пути нет, её расстояние null. Здесь минус один тоже мог бы быть корректным расстоянием, поэтому нельзя использовать его как обозначение недостижимости.</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топологическом порядке все пути к вершине приходят через уже обработанных предшественников. Поэтому её оптимальное расстояние известно к моменту релаксации исходящих рёбер. Это рассуждение не требует неотрицательности весов. К null прибавлять вес нельзя: такая вершина недостижима. Фрагмент использует Long для возможности null и long для арифметики. Полная проверка ацикличности уже выполнена до этого цикла.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предыдущем DAG parent_edge для вершин один, два и три равны нулю, двум и трём. От цели три ребро три ведёт назад к двум, ребро два — к одному, ребро ноль — к источнику ноль. Разворот даёт [0,1,2,3]. Для источника результат [0]. Для недостижимой цели документируется отсутствие маршрута: [] в таблице является примером, а не новым обязательным sentinel. Вызовите helper в реальных собственных тестах и сохраните результаты.</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parent_edge хранит исходный ID, а не номер предыдущей вершины. У источника и недостижимой вершины parent_edge=-1. Расстояние источника ноль, недостижимое расстояние null. Значение 3L заставляет умножение выполняться как long, поэтому результат три миллиарда корректен. Если сначала умножить int, а затем присвоить long, переполнение уже произойдёт. Проверяйте сумму целого пути, а не только отдельные веса.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 нуля в один есть два равных входных ребра. До двух можно дойти через один за три или напрямую за три. Все три массива parent_edge в таблице используют реальные рёбра и задают кратчайшие пути. При равенстве можно выбрать любой такой optimum. Если обновлять только при строгом улучшении, равный кандидат сохраняет прежнего родителя. Объясните выбранное поведение, не требуя одного произвольного образца.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Для DSU инициализация занимает O(n), последовательность q операций — O(q alpha(n)) амортизированно. Возвращаемые states добавляют O(q) памяти. Косарайю, DFS topo и DAG paths требуют O(n+m) при списках смежности и линейной обработке рёбер. HashSet даёт ожидаемую линейную обработку конденсации. Восстановление маршрута из L вершин требует O(L) времени и места для результата.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Правильная сумма не оправдывает неправильные ID. Дублирующееся ребро в лесе отклоняется, даже если стоимость совпала. Согласованное переименование SCC принимается, если конденсация тоже согласована. Другой равный кратчайший путь допустим. Parent edge с неверным концом отклоняется даже при правильном массиве расстояний. Так собственные тесты проверяют смысл ответа, а не только совпадение с одним образцом.</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Каждый ожидаемый ответ нужно обосновать отдельно. Используйте пустые графы там, где они разрешены, изоляты, повторные операции, петли, параллельные рёбра, отрицательные веса и циклы. После большой DSU отправьте маленький DAG в том же процессе. Старые массивы и счётчики не должны влиять на следующий запрос. Масштабные проверки дополняют малые независимые примеры, но не заменяют их.</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Эти тесты отдельно проверяют инициализацию и пустые результаты. Во входной JSON-объект добавляются task и нужный пустой массив operations или edges. Для DAG используется одна вершина и источник ноль, а не запрещённый пустой граф. Затем добавьте непустые примеры, отрицательные веса, циклы, свидетельства и большие входы. Один успешный пустой случай не доказывает готовность алгоритма.</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иллюстративные числа, а не готовый benchmark для вашей сдачи. Для первой строки медиана Краскала из 12,9,10 равна 10, медиана Прима из 8,6,7 равна 7. Следующие медианы равны 64 и 46, затем 145 и 104. Измерьте собственные реализации на одинаковых входах и в одной среде. Укажите seed или генератор, n/m, версии и границу измерения. Не включайте компиляцию. Несколько замеров не доказывают асимптотику.</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ANALYSIS.md оформляется на английском языке, даже если вы учитесь по русскому переводу. Опишите, почему шаги сохраняют инвариант и дают нужный ответ, какие крайние случаи учтены и как структура данных определяет сложность. Покажите фактические результаты собственных тестов и вызовов helper. Согласно силлабусу письменно укажите инструменты или источники помощи, их вклад и вашу проверку. За работу отвечает студент.</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Основная программа и JSON-адаптеры уже даны. Реализуйте методы в исходной папке выбранного языка, добавьте собственные тесты и отправьте изменения. Для Cpp файл алгоритмов называется algorithms.hpp. Успешная сборка с падением алгоритмических примеров ожидаема, пока TODO не реализованы. Для сдачи нужен успешный Public checks именно вашего конечного коммита. Не подменяйте требуемый алгоритм готовой библиотечной реализацией.</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Ошибка сборки означает, что программа не скомпилировалась или не запустилась. Если сборка прошла, но TODO вернул заглушку, алгоритмические тесты закономерно падают. Ошибка формата может возникнуть из-за отладки в stdout или отсутствия JSON-ответа. Сбой CI или checker нужно расследовать и повторить запуск. Инфраструктурная ошибка сама по себе не является доказанной ошибкой алгоритма или студенческим нулём.</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Ссылка на ветку main не фиксирует конкретную версию. Откройте нужный коммит и скопируйте его URL. В Actions найдите успешный Public checks и сравните SHA. Вставьте две ссылки в Moodle Online text, затем завершите сдачу кнопкой Submit assignment. Если репозиторий закрытый, предоставьте преподавателю доступ. Сроки и утверждённые продления смотрите в Moodle. ZIP и student ID не требуются.</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Практика даёт пятьдесят баллов по исходным весам автоматических групп. Квиз даёт ещё пятьдесят. Ручных баллов, устной защиты и устного восстановления нет. Анализ, тесты и benchmark остаются учебными материалами, но не имеют отдельной ручной балльной части или произвольных вычетов. Подтверждённый дефект теста или ключа исправляется одинаково для всех затронутых исходных работ, а не через индивидуальное устное задание.</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Перед сдачей проследите маленький пример для каждого алгоритма вручную. Проверьте неправильное свидетельство и другой корректный optimum. Выполните глубокий граф и серию разных запросов. Убедитесь, что helper действительно вызывался. Ещё раз сверьте имена полей и sentinel со спецификацией. Затем проверьте анализ, измерения, конкретный коммит и успешный запуск Public checks.</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Контракты JSON и обязательные методы определяются спецификацией A3. Отдельное уточнение исправляет условие Краскала на слайде 9 лекции 6. Для A3 недостижимое расстояние обозначается null, в отличие от общего обозначения на лекционном слайде. Книги помогают понять инварианты, доказательства и сложность. Источники и помощь нужно раскрыть письменно. Следующий слайд содержит дополнительное английское видео.</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Видео из предыдущего урока объясняет те же основные методы на английском языке. Приостанавливайте его на трассировках и предсказывайте следующий шаг. Русские подробные пояснения доступны в заметках каждого слайда и в двуязычном слайд-шоу. Воспроизведение встроенного видео зависит от приложения. Отдельный MP4 сохранён вместе с комплектом.</a:t>
            </a:r>
          </a:p>
          <a:p xmlns:a="http://schemas.openxmlformats.org/drawingml/2006/main">
            <a:r>
              <a:t/>
            </a:r>
          </a:p>
          <a:p xmlns:a="http://schemas.openxmlformats.org/drawingml/2006/main">
            <a:r>
              <a:t>Sources: Official A3 public specification/CONTRACTS/RUBRIC; lecture6–7 and Lecture_Clarifications_EN_RU; CLRS4e §§19.3–19.4,20.3–20.5,21.1–21.2,22.2; Sedgewick &amp; Wayne4e §§1.5,4.2–4.4; Skiena3e §§7.10,8.1,8.3.</a:t>
            </a:r>
          </a:p>
          <a:p xmlns:a="http://schemas.openxmlformats.org/drawingml/2006/main">
            <a:r>
              <a:t>Illustrations: AI-generated teaching artwork. Java excerpts assume the local variables and data types described in the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8251171a125492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04f7f12c024ac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a3ed26f3c4b4a0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f40e8d443047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951ccb2f2f42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3ee6c24fa84e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249C69-AD48-4F80-A07A-146634A41CC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3743EC-DD9C-43B6-9453-E3B7450C3D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7765BE1-A7BF-4020-AD27-C69326D6E50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8BA31B7-4154-4946-991B-A9B34E880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B033E9-4F0E-40D7-9396-9555A78698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86DDDB-036F-442D-A1B5-54C6EDDDC1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100D63-14EC-48ED-AA1F-40B47FFEE5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141ADC-550B-4D51-8197-6FDBAB13D0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A31CD8-C7D1-44F8-B948-D53852EB37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79B003B-6CF6-4D90-B46E-0E7E656528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adeea40a2b4bd2" /><Relationship Type="http://schemas.openxmlformats.org/officeDocument/2006/relationships/slideLayout" Target="/ppt/slideLayouts/slideLayout1.xml" Id="R5b249ba4e66d47e9" /><Relationship Type="http://schemas.openxmlformats.org/officeDocument/2006/relationships/slideLayout" Target="/ppt/slideLayouts/slideLayout2.xml" Id="R525427c4a59e4975" /><Relationship Type="http://schemas.openxmlformats.org/officeDocument/2006/relationships/slideLayout" Target="/ppt/slideLayouts/slideLayout3.xml" Id="R0e5eeb93e2944bcc" /><Relationship Type="http://schemas.openxmlformats.org/officeDocument/2006/relationships/slideLayout" Target="/ppt/slideLayouts/slideLayout4.xml" Id="Rcdc5c3129544406a" /><Relationship Type="http://schemas.openxmlformats.org/officeDocument/2006/relationships/slideLayout" Target="/ppt/slideLayouts/slideLayout5.xml" Id="Rea28276f01784d7e" /><Relationship Type="http://schemas.openxmlformats.org/officeDocument/2006/relationships/slideLayout" Target="/ppt/slideLayouts/slideLayout6.xml" Id="R36cd1eac877242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249ba4e66d47e9"/>
    <p:sldLayoutId xmlns:r="http://schemas.openxmlformats.org/officeDocument/2006/relationships" id="2147483650" r:id="R525427c4a59e4975"/>
    <p:sldLayoutId xmlns:r="http://schemas.openxmlformats.org/officeDocument/2006/relationships" id="2147483651" r:id="R0e5eeb93e2944bcc"/>
    <p:sldLayoutId xmlns:r="http://schemas.openxmlformats.org/officeDocument/2006/relationships" id="2147483652" r:id="Rcdc5c3129544406a"/>
    <p:sldLayoutId xmlns:r="http://schemas.openxmlformats.org/officeDocument/2006/relationships" id="2147483653" r:id="Rea28276f01784d7e"/>
    <p:sldLayoutId xmlns:r="http://schemas.openxmlformats.org/officeDocument/2006/relationships" id="2147483654" r:id="R36cd1eac877242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5df272b1354523" /><Relationship Type="http://schemas.openxmlformats.org/officeDocument/2006/relationships/image" Target="/ppt/media/image.png" Id="R8f4ffc943d8344a6" /><Relationship Type="http://schemas.openxmlformats.org/officeDocument/2006/relationships/notesSlide" Target="/ppt/notesSlides/notesSlide1.xml" Id="Rdcccd378b2d64e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f1e703e60f4204" /><Relationship Type="http://schemas.openxmlformats.org/officeDocument/2006/relationships/notesSlide" Target="/ppt/notesSlides/notesSlide2.xml" Id="Rdfab7b74ca3f46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432321681b54084" /><Relationship Type="http://schemas.openxmlformats.org/officeDocument/2006/relationships/notesSlide" Target="/ppt/notesSlides/notesSlide3.xml" Id="Rf570450989ea479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2bdeaeca8e4de8" /><Relationship Type="http://schemas.openxmlformats.org/officeDocument/2006/relationships/notesSlide" Target="/ppt/notesSlides/notesSlide4.xml" Id="Rfa89736028c241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80f9c526c1a401d" /><Relationship Type="http://schemas.openxmlformats.org/officeDocument/2006/relationships/notesSlide" Target="/ppt/notesSlides/notesSlide5.xml" Id="R4c17b8bdaef842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8f7266d89645ab" /><Relationship Type="http://schemas.openxmlformats.org/officeDocument/2006/relationships/notesSlide" Target="/ppt/notesSlides/notesSlide6.xml" Id="R4f5b2ad171a640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65f359db3fa4135" /><Relationship Type="http://schemas.openxmlformats.org/officeDocument/2006/relationships/notesSlide" Target="/ppt/notesSlides/notesSlide7.xml" Id="Rd1b677d09055424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1f72d9f265499a" /><Relationship Type="http://schemas.openxmlformats.org/officeDocument/2006/relationships/notesSlide" Target="/ppt/notesSlides/notesSlide8.xml" Id="Reb65891487114c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f8107356bf4473" /><Relationship Type="http://schemas.openxmlformats.org/officeDocument/2006/relationships/notesSlide" Target="/ppt/notesSlides/notesSlide9.xml" Id="R18aa07b368934ec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10f7f19767844db" /><Relationship Type="http://schemas.openxmlformats.org/officeDocument/2006/relationships/notesSlide" Target="/ppt/notesSlides/notesSlide10.xml" Id="R4291e23d0a9442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fe337e3ce143ea" /><Relationship Type="http://schemas.openxmlformats.org/officeDocument/2006/relationships/image" Target="/ppt/media/image2.png" Id="Rddeb908b7aaa40a7" /><Relationship Type="http://schemas.openxmlformats.org/officeDocument/2006/relationships/notesSlide" Target="/ppt/notesSlides/notesSlide11.xml" Id="Re2ff3dca37bc4ae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2912b6b4304c37" /><Relationship Type="http://schemas.openxmlformats.org/officeDocument/2006/relationships/notesSlide" Target="/ppt/notesSlides/notesSlide12.xml" Id="Re4984f33f177421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066c71b94694bd0" /><Relationship Type="http://schemas.openxmlformats.org/officeDocument/2006/relationships/notesSlide" Target="/ppt/notesSlides/notesSlide13.xml" Id="Recfd26399b58471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7432c426f534651" /><Relationship Type="http://schemas.openxmlformats.org/officeDocument/2006/relationships/notesSlide" Target="/ppt/notesSlides/notesSlide14.xml" Id="Rf3f0a8da391e4e6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71dcb834ce94d36" /><Relationship Type="http://schemas.openxmlformats.org/officeDocument/2006/relationships/notesSlide" Target="/ppt/notesSlides/notesSlide15.xml" Id="R07b29e05f58247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2ed79e8417a4436" /><Relationship Type="http://schemas.openxmlformats.org/officeDocument/2006/relationships/notesSlide" Target="/ppt/notesSlides/notesSlide16.xml" Id="Re14b16462e7d4ca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d50537f7a843f7" /><Relationship Type="http://schemas.openxmlformats.org/officeDocument/2006/relationships/notesSlide" Target="/ppt/notesSlides/notesSlide17.xml" Id="R2db6cb2feaf541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911e28b15b40ff" /><Relationship Type="http://schemas.openxmlformats.org/officeDocument/2006/relationships/notesSlide" Target="/ppt/notesSlides/notesSlide18.xml" Id="R2cc2d8d7b3e34db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cf9e3aa255f4040" /><Relationship Type="http://schemas.openxmlformats.org/officeDocument/2006/relationships/notesSlide" Target="/ppt/notesSlides/notesSlide19.xml" Id="Ra4443bd62fe948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740410724cf42bd" /><Relationship Type="http://schemas.openxmlformats.org/officeDocument/2006/relationships/notesSlide" Target="/ppt/notesSlides/notesSlide20.xml" Id="R59b3738810b645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c0f4f2277094401" /><Relationship Type="http://schemas.openxmlformats.org/officeDocument/2006/relationships/notesSlide" Target="/ppt/notesSlides/notesSlide21.xml" Id="R460126ecf4b04e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04da16d4a038446f" /><Relationship Type="http://schemas.openxmlformats.org/officeDocument/2006/relationships/notesSlide" Target="/ppt/notesSlides/notesSlide22.xml" Id="R206956684f2c42c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23f0208e3db4c4c" /><Relationship Type="http://schemas.openxmlformats.org/officeDocument/2006/relationships/notesSlide" Target="/ppt/notesSlides/notesSlide23.xml" Id="Rf9e0dc0ba16244a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a5aa44ce3f14711" /><Relationship Type="http://schemas.openxmlformats.org/officeDocument/2006/relationships/notesSlide" Target="/ppt/notesSlides/notesSlide24.xml" Id="R2b05d2afd1944c8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10e83edcd9b8417d" /><Relationship Type="http://schemas.openxmlformats.org/officeDocument/2006/relationships/notesSlide" Target="/ppt/notesSlides/notesSlide25.xml" Id="Raf123e632e4241b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dd58cc6aad574575" /><Relationship Type="http://schemas.openxmlformats.org/officeDocument/2006/relationships/notesSlide" Target="/ppt/notesSlides/notesSlide26.xml" Id="R6375e16393e04ef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c511ef268b843f9" /><Relationship Type="http://schemas.openxmlformats.org/officeDocument/2006/relationships/notesSlide" Target="/ppt/notesSlides/notesSlide27.xml" Id="R2bd948d4183444c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0a86d622f6f44c8" /><Relationship Type="http://schemas.openxmlformats.org/officeDocument/2006/relationships/notesSlide" Target="/ppt/notesSlides/notesSlide28.xml" Id="Rb7a6a15ccec84a1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30017e5728d45a7" /><Relationship Type="http://schemas.openxmlformats.org/officeDocument/2006/relationships/notesSlide" Target="/ppt/notesSlides/notesSlide29.xml" Id="R1a23b2c3a13b42c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2ec39f23e594c79" /><Relationship Type="http://schemas.openxmlformats.org/officeDocument/2006/relationships/notesSlide" Target="/ppt/notesSlides/notesSlide30.xml" Id="R3814cb387c5246d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8b8cbac19e4d4fa7" /><Relationship Type="http://schemas.openxmlformats.org/officeDocument/2006/relationships/notesSlide" Target="/ppt/notesSlides/notesSlide31.xml" Id="R2c6948d34323417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48f6c1f54b24140" /><Relationship Type="http://schemas.openxmlformats.org/officeDocument/2006/relationships/notesSlide" Target="/ppt/notesSlides/notesSlide32.xml" Id="Rbaaf2272ef1640a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16c7187f431d402f" /><Relationship Type="http://schemas.openxmlformats.org/officeDocument/2006/relationships/notesSlide" Target="/ppt/notesSlides/notesSlide33.xml" Id="Rca4615741c444ab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56c135abef04aa9" /><Relationship Type="http://schemas.openxmlformats.org/officeDocument/2006/relationships/notesSlide" Target="/ppt/notesSlides/notesSlide34.xml" Id="R30dabf41f0804fe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cd4ecef696840ba" /><Relationship Type="http://schemas.openxmlformats.org/officeDocument/2006/relationships/notesSlide" Target="/ppt/notesSlides/notesSlide35.xml" Id="R472faea5f34548e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7546084da704b8e" /><Relationship Type="http://schemas.openxmlformats.org/officeDocument/2006/relationships/notesSlide" Target="/ppt/notesSlides/notesSlide36.xml" Id="R577eec2d7bf0467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ab3e208aca44bf7" /><Relationship Type="http://schemas.openxmlformats.org/officeDocument/2006/relationships/notesSlide" Target="/ppt/notesSlides/notesSlide37.xml" Id="Ra6f68d9d9d58469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cf425d3874cc468c" /><Relationship Type="http://schemas.openxmlformats.org/officeDocument/2006/relationships/notesSlide" Target="/ppt/notesSlides/notesSlide38.xml" Id="Rd83b0fd17ac4492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e72ed130dd242f6" /><Relationship Type="http://schemas.openxmlformats.org/officeDocument/2006/relationships/notesSlide" Target="/ppt/notesSlides/notesSlide39.xml" Id="Rf789202d2ae24ee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0ec38e74e3dc4975" /><Relationship Type="http://schemas.openxmlformats.org/officeDocument/2006/relationships/notesSlide" Target="/ppt/notesSlides/notesSlide40.xml" Id="R32982ed82d194f0c" /></Relationships>
</file>

<file path=ppt/slides/_rels/slide41.xml.rels><?xml version='1.0' encoding='UTF-8' standalone='yes'?>
<Relationships xmlns="http://schemas.openxmlformats.org/package/2006/relationships"><Relationship Type="http://schemas.openxmlformats.org/officeDocument/2006/relationships/slideLayout" Target="/ppt/slideLayouts/slideLayout6.xml" Id="R12ad3874a422479f"/><Relationship Type="http://schemas.openxmlformats.org/officeDocument/2006/relationships/image" Target="/ppt/media/image3.png" Id="R6de93730865046d8"/><Relationship Type="http://schemas.openxmlformats.org/officeDocument/2006/relationships/notesSlide" Target="/ppt/notesSlides/notesSlide41.xml" Id="R26af86f167a048ed"/><Relationship Id="rIdA3Video" Type="http://schemas.openxmlformats.org/officeDocument/2006/relationships/video" Target="../media/A3_walkthrough.mp4"/><Relationship Id="rIdA3Media" Type="http://schemas.microsoft.com/office/2007/relationships/media" Target="../media/A3_walkthrough.mp4"/></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44D05FA-9256-42C1-9B85-943D2B895BFF}"/>
              </a:ext>
            </a:extLst>
          </p:cNvPr>
          <p:cNvPicPr>
            <a:picLocks xmlns:a="http://schemas.openxmlformats.org/drawingml/2006/main" noChangeAspect="1"/>
          </p:cNvPicPr>
          <p:nvPr/>
        </p:nvPicPr>
        <p:blipFill>
          <a:blip xmlns:r="http://schemas.openxmlformats.org/officeDocument/2006/relationships" xmlns:a="http://schemas.openxmlformats.org/drawingml/2006/main" r:embed="R8f4ffc943d8344a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EC2B28-235F-495C-B218-23F71FE513DB}"/>
              </a:ext>
            </a:extLst>
          </p:cNvPr>
          <p:cNvSpPr>
            <a:spLocks xmlns:a="http://schemas.openxmlformats.org/drawingml/2006/main" noGrp="1"/>
          </p:cNvSpPr>
          <p:nvPr/>
        </p:nvSpPr>
        <p:spPr>
          <a:xfrm xmlns:a="http://schemas.openxmlformats.org/drawingml/2006/main">
            <a:off x="609600" y="1562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00" b="1">
                <a:solidFill>
                  <a:srgbClr val="A84E70"/>
                </a:solidFill>
                <a:latin typeface="Arial"/>
                <a:ea typeface="Arial"/>
                <a:cs typeface="Arial"/>
              </a:defRPr>
            </a:defPPr>
          </a:lstStyle>
          <a:p xmlns:a="http://schemas.openxmlformats.org/drawingml/2006/main">
            <a:pPr>
              <a:defRPr sz="1800" b="1">
                <a:solidFill>
                  <a:srgbClr val="A84E70"/>
                </a:solidFill>
                <a:latin typeface="Arial"/>
                <a:ea typeface="Arial"/>
                <a:cs typeface="Arial"/>
              </a:defRPr>
            </a:pPr>
            <a:r>
              <a:rPr sz="1800" b="1">
                <a:solidFill>
                  <a:srgbClr val="A84E70"/>
                </a:solidFill>
                <a:latin typeface="Arial"/>
                <a:ea typeface="Arial"/>
                <a:cs typeface="Arial"/>
              </a:rPr>
              <a:t>ASSIGNMENT 3</a:t>
            </a:r>
          </a:p>
        </p:txBody>
      </p:sp>
      <p:sp>
        <p:nvSpPr>
          <p:cNvPr id="3" name="">
            <a:extLst xmlns:a="http://schemas.openxmlformats.org/drawingml/2006/main">
              <a:ext uri="{FF2B5EF4-FFF2-40B4-BE49-F238E27FC236}">
                <a16:creationId xmlns:a16="http://schemas.microsoft.com/office/drawing/2014/main" id="{1230504A-2D2D-4575-A28F-7ADFA38CAD73}"/>
              </a:ext>
            </a:extLst>
          </p:cNvPr>
          <p:cNvSpPr>
            <a:spLocks xmlns:a="http://schemas.openxmlformats.org/drawingml/2006/main" noGrp="1"/>
          </p:cNvSpPr>
          <p:nvPr/>
        </p:nvSpPr>
        <p:spPr>
          <a:xfrm xmlns:a="http://schemas.openxmlformats.org/drawingml/2006/main">
            <a:off x="609600" y="2143125"/>
            <a:ext cx="6096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4350" b="1">
                <a:solidFill>
                  <a:srgbClr val="15273F"/>
                </a:solidFill>
                <a:latin typeface="Arial"/>
                <a:ea typeface="Arial"/>
                <a:cs typeface="Arial"/>
              </a:defRPr>
            </a:defPPr>
          </a:lstStyle>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Графовые</a:t>
            </a:r>
          </a:p>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алгоритмы для</a:t>
            </a:r>
          </a:p>
          <a:p xmlns:a="http://schemas.openxmlformats.org/drawingml/2006/main">
            <a:pPr>
              <a:defRPr sz="4350" b="1">
                <a:solidFill>
                  <a:srgbClr val="15273F"/>
                </a:solidFill>
                <a:latin typeface="Arial"/>
                <a:ea typeface="Arial"/>
                <a:cs typeface="Arial"/>
              </a:defRPr>
            </a:pPr>
            <a:r>
              <a:rPr sz="4350" b="1">
                <a:solidFill>
                  <a:srgbClr val="15273F"/>
                </a:solidFill>
                <a:latin typeface="Arial"/>
                <a:ea typeface="Arial"/>
                <a:cs typeface="Arial"/>
              </a:rPr>
              <a:t>фестиваля</a:t>
            </a:r>
          </a:p>
        </p:txBody>
      </p:sp>
      <p:sp>
        <p:nvSpPr>
          <p:cNvPr id="4" name="">
            <a:extLst xmlns:a="http://schemas.openxmlformats.org/drawingml/2006/main">
              <a:ext uri="{FF2B5EF4-FFF2-40B4-BE49-F238E27FC236}">
                <a16:creationId xmlns:a16="http://schemas.microsoft.com/office/drawing/2014/main" id="{56B526F4-DDE8-43B9-91ED-7066BA026590}"/>
              </a:ext>
            </a:extLst>
          </p:cNvPr>
          <p:cNvSpPr>
            <a:spLocks xmlns:a="http://schemas.openxmlformats.org/drawingml/2006/main" noGrp="1"/>
          </p:cNvSpPr>
          <p:nvPr/>
        </p:nvSpPr>
        <p:spPr>
          <a:xfrm xmlns:a="http://schemas.openxmlformats.org/drawingml/2006/main">
            <a:off x="609600" y="4762500"/>
            <a:ext cx="5572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250" b="0">
                <a:solidFill>
                  <a:srgbClr val="15273F"/>
                </a:solidFill>
                <a:latin typeface="Arial"/>
                <a:ea typeface="Arial"/>
                <a:cs typeface="Arial"/>
              </a:defRPr>
            </a:defPPr>
          </a:lstStyle>
          <a:p xmlns:a="http://schemas.openxmlformats.org/drawingml/2006/main">
            <a:pPr>
              <a:defRPr sz="2250" b="0">
                <a:solidFill>
                  <a:srgbClr val="15273F"/>
                </a:solidFill>
                <a:latin typeface="Arial"/>
                <a:ea typeface="Arial"/>
                <a:cs typeface="Arial"/>
              </a:defRPr>
            </a:pPr>
            <a:r>
              <a:rPr sz="2250" b="0">
                <a:solidFill>
                  <a:srgbClr val="15273F"/>
                </a:solidFill>
                <a:latin typeface="Arial"/>
                <a:ea typeface="Arial"/>
                <a:cs typeface="Arial"/>
              </a:rPr>
              <a:t>Подробное объяснение задания</a:t>
            </a:r>
          </a:p>
          <a:p xmlns:a="http://schemas.openxmlformats.org/drawingml/2006/main">
            <a:pPr>
              <a:defRPr sz="2250" b="0">
                <a:solidFill>
                  <a:srgbClr val="15273F"/>
                </a:solidFill>
                <a:latin typeface="Arial"/>
                <a:ea typeface="Arial"/>
                <a:cs typeface="Arial"/>
              </a:defRPr>
            </a:pPr>
            <a:r>
              <a:rPr sz="2250" b="0">
                <a:solidFill>
                  <a:srgbClr val="15273F"/>
                </a:solidFill>
                <a:latin typeface="Arial"/>
                <a:ea typeface="Arial"/>
                <a:cs typeface="Arial"/>
              </a:rPr>
              <a:t>на русском языке</a:t>
            </a:r>
          </a:p>
        </p:txBody>
      </p:sp>
      <p:sp>
        <p:nvSpPr>
          <p:cNvPr id="5" name="">
            <a:extLst xmlns:a="http://schemas.openxmlformats.org/drawingml/2006/main">
              <a:ext uri="{FF2B5EF4-FFF2-40B4-BE49-F238E27FC236}">
                <a16:creationId xmlns:a16="http://schemas.microsoft.com/office/drawing/2014/main" id="{F1CC2558-4B0A-446D-AC3C-0CFA791411EF}"/>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6" name="">
            <a:extLst xmlns:a="http://schemas.openxmlformats.org/drawingml/2006/main">
              <a:ext uri="{FF2B5EF4-FFF2-40B4-BE49-F238E27FC236}">
                <a16:creationId xmlns:a16="http://schemas.microsoft.com/office/drawing/2014/main" id="{3C38E7DD-E56E-46AC-B0A6-1107A77323C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01 / 41</a:t>
            </a:r>
          </a:p>
        </p:txBody>
      </p:sp>
    </p:spTree>
    <p:extLst>
      <p:ext uri="{BB962C8B-B14F-4D97-AF65-F5344CB8AC3E}">
        <p14:creationId xmlns:p14="http://schemas.microsoft.com/office/powerpoint/2010/main" val="11923627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84B816-7DBD-40A0-95D2-55F22B4B8EB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1441E6E5-AA39-4EA8-8768-CC2474F3F89A}"/>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Шесть требуемых методов</a:t>
            </a:r>
          </a:p>
        </p:txBody>
      </p:sp>
      <p:sp>
        <p:nvSpPr>
          <p:cNvPr id="3" name="">
            <a:extLst xmlns:a="http://schemas.openxmlformats.org/drawingml/2006/main">
              <a:ext uri="{FF2B5EF4-FFF2-40B4-BE49-F238E27FC236}">
                <a16:creationId xmlns:a16="http://schemas.microsoft.com/office/drawing/2014/main" id="{5CAD6D97-AAAF-4043-89AB-BB9708A0C515}"/>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DSU: поддерживать связанные группы</a:t>
            </a:r>
          </a:p>
        </p:txBody>
      </p:sp>
      <p:sp>
        <p:nvSpPr>
          <p:cNvPr id="4" name="">
            <a:extLst xmlns:a="http://schemas.openxmlformats.org/drawingml/2006/main">
              <a:ext uri="{FF2B5EF4-FFF2-40B4-BE49-F238E27FC236}">
                <a16:creationId xmlns:a16="http://schemas.microsoft.com/office/drawing/2014/main" id="{58361754-FBA8-4583-B0C6-F993F84BC9DD}"/>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Краскал и Прим: минимальные остовные леса</a:t>
            </a:r>
          </a:p>
        </p:txBody>
      </p:sp>
      <p:sp>
        <p:nvSpPr>
          <p:cNvPr id="5" name="">
            <a:extLst xmlns:a="http://schemas.openxmlformats.org/drawingml/2006/main">
              <a:ext uri="{FF2B5EF4-FFF2-40B4-BE49-F238E27FC236}">
                <a16:creationId xmlns:a16="http://schemas.microsoft.com/office/drawing/2014/main" id="{B86FBB08-D457-4A20-B9FB-D62238BAE4D4}"/>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Косарайю: компоненты сильной связности</a:t>
            </a:r>
          </a:p>
        </p:txBody>
      </p:sp>
      <p:sp>
        <p:nvSpPr>
          <p:cNvPr id="6" name="">
            <a:extLst xmlns:a="http://schemas.openxmlformats.org/drawingml/2006/main">
              <a:ext uri="{FF2B5EF4-FFF2-40B4-BE49-F238E27FC236}">
                <a16:creationId xmlns:a16="http://schemas.microsoft.com/office/drawing/2014/main" id="{CFDCFEA0-E2E7-4F07-AEED-197FE48CC98A}"/>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DFS: топологический порядок и обнаружение цикла</a:t>
            </a:r>
          </a:p>
        </p:txBody>
      </p:sp>
      <p:sp>
        <p:nvSpPr>
          <p:cNvPr id="7" name="">
            <a:extLst xmlns:a="http://schemas.openxmlformats.org/drawingml/2006/main">
              <a:ext uri="{FF2B5EF4-FFF2-40B4-BE49-F238E27FC236}">
                <a16:creationId xmlns:a16="http://schemas.microsoft.com/office/drawing/2014/main" id="{BDA87BF6-D3B7-4CC6-9CDF-3E9DD2DA76C0}"/>
              </a:ext>
            </a:extLst>
          </p:cNvPr>
          <p:cNvSpPr>
            <a:spLocks xmlns:a="http://schemas.openxmlformats.org/drawingml/2006/main" noGrp="1"/>
          </p:cNvSpPr>
          <p:nvPr/>
        </p:nvSpPr>
        <p:spPr>
          <a:xfrm xmlns:a="http://schemas.openxmlformats.org/drawingml/2006/main">
            <a:off x="609600" y="51244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Кратчайшие пути в DAG и восстановление маршрута</a:t>
            </a:r>
          </a:p>
        </p:txBody>
      </p:sp>
      <p:sp>
        <p:nvSpPr>
          <p:cNvPr id="8" name="">
            <a:extLst xmlns:a="http://schemas.openxmlformats.org/drawingml/2006/main">
              <a:ext uri="{FF2B5EF4-FFF2-40B4-BE49-F238E27FC236}">
                <a16:creationId xmlns:a16="http://schemas.microsoft.com/office/drawing/2014/main" id="{C82F0664-F76A-4726-8F30-659B3F64CCF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045F8369-BA54-4E49-ABDF-42F742A45B4B}"/>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02 / 41</a:t>
            </a:r>
          </a:p>
        </p:txBody>
      </p:sp>
    </p:spTree>
    <p:extLst>
      <p:ext uri="{BB962C8B-B14F-4D97-AF65-F5344CB8AC3E}">
        <p14:creationId xmlns:p14="http://schemas.microsoft.com/office/powerpoint/2010/main" val="2988367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0D1E35-AD86-45B8-8C5A-7FB905A9FA0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207E715-CFA1-40A8-BC96-9020A0FD6E24}"/>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Три независимые модели графа</a:t>
            </a:r>
          </a:p>
        </p:txBody>
      </p:sp>
      <p:sp>
        <p:nvSpPr>
          <p:cNvPr id="3" name="">
            <a:extLst xmlns:a="http://schemas.openxmlformats.org/drawingml/2006/main">
              <a:ext uri="{FF2B5EF4-FFF2-40B4-BE49-F238E27FC236}">
                <a16:creationId xmlns:a16="http://schemas.microsoft.com/office/drawing/2014/main" id="{595AC400-D074-4A3A-9A86-4C66DA6362B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Кабельные связи неориентированные</a:t>
            </a:r>
          </a:p>
        </p:txBody>
      </p:sp>
      <p:sp>
        <p:nvSpPr>
          <p:cNvPr id="4" name="">
            <a:extLst xmlns:a="http://schemas.openxmlformats.org/drawingml/2006/main">
              <a:ext uri="{FF2B5EF4-FFF2-40B4-BE49-F238E27FC236}">
                <a16:creationId xmlns:a16="http://schemas.microsoft.com/office/drawing/2014/main" id="{460F8F94-C382-4160-A4FA-2C93BA7C41FC}"/>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Зависимости работ ориентированные</a:t>
            </a:r>
          </a:p>
        </p:txBody>
      </p:sp>
      <p:sp>
        <p:nvSpPr>
          <p:cNvPr id="5" name="">
            <a:extLst xmlns:a="http://schemas.openxmlformats.org/drawingml/2006/main">
              <a:ext uri="{FF2B5EF4-FFF2-40B4-BE49-F238E27FC236}">
                <a16:creationId xmlns:a16="http://schemas.microsoft.com/office/drawing/2014/main" id="{E113B47E-B442-450F-9657-395AC2E5F58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Доставка: направления и веса</a:t>
            </a:r>
          </a:p>
        </p:txBody>
      </p:sp>
      <p:sp>
        <p:nvSpPr>
          <p:cNvPr id="6" name="">
            <a:extLst xmlns:a="http://schemas.openxmlformats.org/drawingml/2006/main">
              <a:ext uri="{FF2B5EF4-FFF2-40B4-BE49-F238E27FC236}">
                <a16:creationId xmlns:a16="http://schemas.microsoft.com/office/drawing/2014/main" id="{7E07A6CC-1C54-42F3-AA85-3531F25E9EF9}"/>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Один запрос описывает один граф</a:t>
            </a:r>
          </a:p>
        </p:txBody>
      </p:sp>
      <p:graphicFrame>
        <p:nvGraphicFramePr>
          <p:cNvPr id="7" name="">
            <a:extLst xmlns:a="http://schemas.openxmlformats.org/drawingml/2006/main">
              <a:ext uri="{FF2B5EF4-FFF2-40B4-BE49-F238E27FC236}">
                <a16:creationId xmlns:a16="http://schemas.microsoft.com/office/drawing/2014/main" id="{351009FC-D09D-4F90-AD2B-BDF9C5EA32CB}"/>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Задача</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Форма ребра</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Вопрос</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DSU / MST</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[u,v] / [u,v,w]</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Группы / минимальный лес</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SCC /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[u,v]</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Взаимная достижимость / порядок</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DAG paths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[u,v,w] + source</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Расстояние и маршрут</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D21EB77-927D-4E44-BCCE-2596D51001C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49D896CB-4C5B-4284-961A-E9516B733EB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03 / 41</a:t>
            </a:r>
          </a:p>
        </p:txBody>
      </p:sp>
    </p:spTree>
    <p:extLst>
      <p:ext uri="{BB962C8B-B14F-4D97-AF65-F5344CB8AC3E}">
        <p14:creationId xmlns:p14="http://schemas.microsoft.com/office/powerpoint/2010/main" val="14711185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6F38132-2F9C-48AD-8BC8-1506F1360D4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F3BED1D7-AC97-45D6-A345-8352289A55E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Вершины, рёбра и исходные ID</a:t>
            </a:r>
          </a:p>
        </p:txBody>
      </p:sp>
      <p:sp>
        <p:nvSpPr>
          <p:cNvPr id="3" name="">
            <a:extLst xmlns:a="http://schemas.openxmlformats.org/drawingml/2006/main">
              <a:ext uri="{FF2B5EF4-FFF2-40B4-BE49-F238E27FC236}">
                <a16:creationId xmlns:a16="http://schemas.microsoft.com/office/drawing/2014/main" id="{0CCC05F8-221F-4B02-B08D-AB42BE861B6B}"/>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Вершины имеют номера от 0 до n−1</a:t>
            </a:r>
          </a:p>
        </p:txBody>
      </p:sp>
      <p:sp>
        <p:nvSpPr>
          <p:cNvPr id="4" name="">
            <a:extLst xmlns:a="http://schemas.openxmlformats.org/drawingml/2006/main">
              <a:ext uri="{FF2B5EF4-FFF2-40B4-BE49-F238E27FC236}">
                <a16:creationId xmlns:a16="http://schemas.microsoft.com/office/drawing/2014/main" id="{5FEDE511-08ED-47EF-872C-D0F29A8E2345}"/>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ID ребра равен позиции во входном списке</a:t>
            </a:r>
          </a:p>
        </p:txBody>
      </p:sp>
      <p:sp>
        <p:nvSpPr>
          <p:cNvPr id="5" name="">
            <a:extLst xmlns:a="http://schemas.openxmlformats.org/drawingml/2006/main">
              <a:ext uri="{FF2B5EF4-FFF2-40B4-BE49-F238E27FC236}">
                <a16:creationId xmlns:a16="http://schemas.microsoft.com/office/drawing/2014/main" id="{446A498D-EC95-40FC-BE07-712619F11B23}"/>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Направление, вес и ID имеют разный смысл</a:t>
            </a:r>
          </a:p>
        </p:txBody>
      </p:sp>
      <p:sp>
        <p:nvSpPr>
          <p:cNvPr id="6" name="">
            <a:extLst xmlns:a="http://schemas.openxmlformats.org/drawingml/2006/main">
              <a:ext uri="{FF2B5EF4-FFF2-40B4-BE49-F238E27FC236}">
                <a16:creationId xmlns:a16="http://schemas.microsoft.com/office/drawing/2014/main" id="{1CAAA283-E05F-40EE-82E3-8377C38CCC77}"/>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Возможны изоляты и параллельные рёбра</a:t>
            </a:r>
          </a:p>
        </p:txBody>
      </p:sp>
      <p:graphicFrame>
        <p:nvGraphicFramePr>
          <p:cNvPr id="7" name="">
            <a:extLst xmlns:a="http://schemas.openxmlformats.org/drawingml/2006/main">
              <a:ext uri="{FF2B5EF4-FFF2-40B4-BE49-F238E27FC236}">
                <a16:creationId xmlns:a16="http://schemas.microsoft.com/office/drawing/2014/main" id="{1266C7BA-1194-426F-BC69-3BA67A82D9EE}"/>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ID</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Входное ребро [u,v,w]</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Смысл</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Первая запись</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[1,2,1]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Другая связь</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ID 2 после сортировки</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E2B78116-0D6A-4AC7-9C2F-6F7D55331629}"/>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4E99F909-A330-4B3B-8499-0DFED0B481E8}"/>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04 / 41</a:t>
            </a:r>
          </a:p>
        </p:txBody>
      </p:sp>
    </p:spTree>
    <p:extLst>
      <p:ext uri="{BB962C8B-B14F-4D97-AF65-F5344CB8AC3E}">
        <p14:creationId xmlns:p14="http://schemas.microsoft.com/office/powerpoint/2010/main" val="2320180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BEF47B-39D9-4349-B794-D5B99271A6C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B45611BF-BA10-45E4-98DA-A330FC41E0FE}"/>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Один запрос, один JSON-результат</a:t>
            </a:r>
          </a:p>
        </p:txBody>
      </p:sp>
      <p:sp>
        <p:nvSpPr>
          <p:cNvPr id="3" name="">
            <a:extLst xmlns:a="http://schemas.openxmlformats.org/drawingml/2006/main">
              <a:ext uri="{FF2B5EF4-FFF2-40B4-BE49-F238E27FC236}">
                <a16:creationId xmlns:a16="http://schemas.microsoft.com/office/drawing/2014/main" id="{5C09FC48-18EB-4515-AFA1-E3E37B05FCFB}"/>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Язык выбирается в submission.json</a:t>
            </a:r>
          </a:p>
        </p:txBody>
      </p:sp>
      <p:sp>
        <p:nvSpPr>
          <p:cNvPr id="4" name="">
            <a:extLst xmlns:a="http://schemas.openxmlformats.org/drawingml/2006/main">
              <a:ext uri="{FF2B5EF4-FFF2-40B4-BE49-F238E27FC236}">
                <a16:creationId xmlns:a16="http://schemas.microsoft.com/office/drawing/2014/main" id="{6E3B8D6D-3F3A-41F4-BF77-6EF39563FA6B}"/>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Код пишется в source выбранного языка</a:t>
            </a:r>
          </a:p>
        </p:txBody>
      </p:sp>
      <p:sp>
        <p:nvSpPr>
          <p:cNvPr id="5" name="">
            <a:extLst xmlns:a="http://schemas.openxmlformats.org/drawingml/2006/main">
              <a:ext uri="{FF2B5EF4-FFF2-40B4-BE49-F238E27FC236}">
                <a16:creationId xmlns:a16="http://schemas.microsoft.com/office/drawing/2014/main" id="{48929CE5-DD1C-456F-83AC-3F9E0A81A639}"/>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Одна строка ввода содержит один JSON-запрос</a:t>
            </a:r>
          </a:p>
        </p:txBody>
      </p:sp>
      <p:sp>
        <p:nvSpPr>
          <p:cNvPr id="6" name="">
            <a:extLst xmlns:a="http://schemas.openxmlformats.org/drawingml/2006/main">
              <a:ext uri="{FF2B5EF4-FFF2-40B4-BE49-F238E27FC236}">
                <a16:creationId xmlns:a16="http://schemas.microsoft.com/office/drawing/2014/main" id="{E07E0BDD-820D-4AC4-801C-5E2964AFCB18}"/>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На stdout выводится один JSON-результат на запрос</a:t>
            </a:r>
          </a:p>
        </p:txBody>
      </p:sp>
      <p:sp>
        <p:nvSpPr>
          <p:cNvPr id="7" name="">
            <a:extLst xmlns:a="http://schemas.openxmlformats.org/drawingml/2006/main">
              <a:ext uri="{FF2B5EF4-FFF2-40B4-BE49-F238E27FC236}">
                <a16:creationId xmlns:a16="http://schemas.microsoft.com/office/drawing/2014/main" id="{570A9B47-F74B-4523-80A1-9A13C3AD03D8}"/>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{"task":"dsu","n":3,"operations":[[0,1]]}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{"states":[[2,2]]}</a:t>
            </a:r>
          </a:p>
        </p:txBody>
      </p:sp>
      <p:sp>
        <p:nvSpPr>
          <p:cNvPr id="8" name="">
            <a:extLst xmlns:a="http://schemas.openxmlformats.org/drawingml/2006/main">
              <a:ext uri="{FF2B5EF4-FFF2-40B4-BE49-F238E27FC236}">
                <a16:creationId xmlns:a16="http://schemas.microsoft.com/office/drawing/2014/main" id="{DD8F3C11-358A-42F4-A72C-C4B1391ED48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08480327-265A-41C8-944F-3C879B36F4B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05 / 41</a:t>
            </a:r>
          </a:p>
        </p:txBody>
      </p:sp>
    </p:spTree>
    <p:extLst>
      <p:ext uri="{BB962C8B-B14F-4D97-AF65-F5344CB8AC3E}">
        <p14:creationId xmlns:p14="http://schemas.microsoft.com/office/powerpoint/2010/main" val="21031225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F58BD61-DDE7-4360-87E9-882D3734335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CE1B4A3A-465E-4EA0-8E71-6EA3A8AD8113}"/>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Опубликованные ограничения входа</a:t>
            </a:r>
          </a:p>
        </p:txBody>
      </p:sp>
      <p:sp>
        <p:nvSpPr>
          <p:cNvPr id="3" name="">
            <a:extLst xmlns:a="http://schemas.openxmlformats.org/drawingml/2006/main">
              <a:ext uri="{FF2B5EF4-FFF2-40B4-BE49-F238E27FC236}">
                <a16:creationId xmlns:a16="http://schemas.microsoft.com/office/drawing/2014/main" id="{48E4E4A3-4A8B-4485-AE7E-7711B554AFF1}"/>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Границы включаются в допустимый диапазон</a:t>
            </a:r>
          </a:p>
        </p:txBody>
      </p:sp>
      <p:sp>
        <p:nvSpPr>
          <p:cNvPr id="4" name="">
            <a:extLst xmlns:a="http://schemas.openxmlformats.org/drawingml/2006/main">
              <a:ext uri="{FF2B5EF4-FFF2-40B4-BE49-F238E27FC236}">
                <a16:creationId xmlns:a16="http://schemas.microsoft.com/office/drawing/2014/main" id="{D6F25D29-B22E-4631-9B17-4FEE48D134C5}"/>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0 ≤ u,v &lt; n, 0 ≤ source &lt; n</a:t>
            </a:r>
          </a:p>
        </p:txBody>
      </p:sp>
      <p:sp>
        <p:nvSpPr>
          <p:cNvPr id="5" name="">
            <a:extLst xmlns:a="http://schemas.openxmlformats.org/drawingml/2006/main">
              <a:ext uri="{FF2B5EF4-FFF2-40B4-BE49-F238E27FC236}">
                <a16:creationId xmlns:a16="http://schemas.microsoft.com/office/drawing/2014/main" id="{2D40ABAB-A914-420C-83F7-3A609711FB01}"/>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−1,000,000,000 ≤ w ≤ 1,000,000,000</a:t>
            </a:r>
          </a:p>
        </p:txBody>
      </p:sp>
      <p:sp>
        <p:nvSpPr>
          <p:cNvPr id="6" name="">
            <a:extLst xmlns:a="http://schemas.openxmlformats.org/drawingml/2006/main">
              <a:ext uri="{FF2B5EF4-FFF2-40B4-BE49-F238E27FC236}">
                <a16:creationId xmlns:a16="http://schemas.microsoft.com/office/drawing/2014/main" id="{01B5BB0D-E962-4571-B756-2913C191D3EE}"/>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Вход соответствует контракту JSON</a:t>
            </a:r>
          </a:p>
        </p:txBody>
      </p:sp>
      <p:graphicFrame>
        <p:nvGraphicFramePr>
          <p:cNvPr id="7" name="">
            <a:extLst xmlns:a="http://schemas.openxmlformats.org/drawingml/2006/main">
              <a:ext uri="{FF2B5EF4-FFF2-40B4-BE49-F238E27FC236}">
                <a16:creationId xmlns:a16="http://schemas.microsoft.com/office/drawing/2014/main" id="{182C7E11-9C14-4A13-9831-0AFEADE7129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800100">
                <a:tc>
                  <a:txBody>
                    <a:bodyPr/>
                    <a:lstStyle/>
                    <a:p>
                      <a:r>
                        <a:rPr sz="1725" b="1">
                          <a:solidFill>
                            <a:srgbClr val="15273F"/>
                          </a:solidFill>
                          <a:latin typeface="Arial"/>
                          <a:ea typeface="Arial"/>
                          <a:cs typeface="Arial"/>
                        </a:rPr>
                        <a:t>Задачи</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n</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m или q</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DSU</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q: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Краскал / Прим</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SCC /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DAG</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1…100000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m: 0…250000</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F52F323-2D87-46ED-9EBC-267EBF214A5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875B9FA4-409A-45DF-9FFF-099784F61A7B}"/>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06 / 41</a:t>
            </a:r>
          </a:p>
        </p:txBody>
      </p:sp>
    </p:spTree>
    <p:extLst>
      <p:ext uri="{BB962C8B-B14F-4D97-AF65-F5344CB8AC3E}">
        <p14:creationId xmlns:p14="http://schemas.microsoft.com/office/powerpoint/2010/main" val="1246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0A847F-D014-4731-B40C-D77B44C2664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F7E92B3-EABC-4237-9CDB-F1B93E484C94}"/>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DSU: разбиение на компоненты</a:t>
            </a:r>
          </a:p>
        </p:txBody>
      </p:sp>
      <p:sp>
        <p:nvSpPr>
          <p:cNvPr id="3" name="">
            <a:extLst xmlns:a="http://schemas.openxmlformats.org/drawingml/2006/main">
              <a:ext uri="{FF2B5EF4-FFF2-40B4-BE49-F238E27FC236}">
                <a16:creationId xmlns:a16="http://schemas.microsoft.com/office/drawing/2014/main" id="{89D94DA8-C8FD-4479-B4BD-CAF82FD9C0BC}"/>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Сначала parent[v]=v и size[v]=1</a:t>
            </a:r>
          </a:p>
        </p:txBody>
      </p:sp>
      <p:sp>
        <p:nvSpPr>
          <p:cNvPr id="4" name="">
            <a:extLst xmlns:a="http://schemas.openxmlformats.org/drawingml/2006/main">
              <a:ext uri="{FF2B5EF4-FFF2-40B4-BE49-F238E27FC236}">
                <a16:creationId xmlns:a16="http://schemas.microsoft.com/office/drawing/2014/main" id="{A916F52D-BAA2-4330-BBF6-6A4926D9CC07}"/>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find(v) возвращает представителя</a:t>
            </a:r>
          </a:p>
        </p:txBody>
      </p:sp>
      <p:sp>
        <p:nvSpPr>
          <p:cNvPr id="5" name="">
            <a:extLst xmlns:a="http://schemas.openxmlformats.org/drawingml/2006/main">
              <a:ext uri="{FF2B5EF4-FFF2-40B4-BE49-F238E27FC236}">
                <a16:creationId xmlns:a16="http://schemas.microsoft.com/office/drawing/2014/main" id="{6F35FFC3-E8A2-4D88-A51A-CCADD48B9956}"/>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union объединяет разные компоненты</a:t>
            </a:r>
          </a:p>
        </p:txBody>
      </p:sp>
      <p:sp>
        <p:nvSpPr>
          <p:cNvPr id="6" name="">
            <a:extLst xmlns:a="http://schemas.openxmlformats.org/drawingml/2006/main">
              <a:ext uri="{FF2B5EF4-FFF2-40B4-BE49-F238E27FC236}">
                <a16:creationId xmlns:a16="http://schemas.microsoft.com/office/drawing/2014/main" id="{0548E926-A2C0-4DD7-9137-45C68CF701AE}"/>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Записывайте components и largest после операции</a:t>
            </a:r>
          </a:p>
        </p:txBody>
      </p:sp>
      <p:graphicFrame>
        <p:nvGraphicFramePr>
          <p:cNvPr id="7" name="">
            <a:extLst xmlns:a="http://schemas.openxmlformats.org/drawingml/2006/main">
              <a:ext uri="{FF2B5EF4-FFF2-40B4-BE49-F238E27FC236}">
                <a16:creationId xmlns:a16="http://schemas.microsoft.com/office/drawing/2014/main" id="{A998224C-41D6-4B2D-A175-7A3FF744A462}"/>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666750">
                <a:tc>
                  <a:txBody>
                    <a:bodyPr/>
                    <a:lstStyle/>
                    <a:p>
                      <a:r>
                        <a:rPr sz="1725" b="1">
                          <a:solidFill>
                            <a:srgbClr val="15273F"/>
                          </a:solidFill>
                          <a:latin typeface="Arial"/>
                          <a:ea typeface="Arial"/>
                          <a:cs typeface="Arial"/>
                        </a:rPr>
                        <a:t>n=6: операция</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components</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largest</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union(0,1)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union(2,0)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union(5,5)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44DA6F4-618E-4FCE-B442-95FF0A5FF8B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A42516A4-B5DB-4C3F-9647-4A959C45AEF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07 / 41</a:t>
            </a:r>
          </a:p>
        </p:txBody>
      </p:sp>
    </p:spTree>
    <p:extLst>
      <p:ext uri="{BB962C8B-B14F-4D97-AF65-F5344CB8AC3E}">
        <p14:creationId xmlns:p14="http://schemas.microsoft.com/office/powerpoint/2010/main" val="3885508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EBCA7CA-CE86-48C9-8B25-13A9D8E772B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31477DF9-6A3C-4AF3-AB4F-263A93EE93E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Сжатие пути: сохранение следующей ссылки</a:t>
            </a:r>
          </a:p>
        </p:txBody>
      </p:sp>
      <p:sp>
        <p:nvSpPr>
          <p:cNvPr id="3" name="">
            <a:extLst xmlns:a="http://schemas.openxmlformats.org/drawingml/2006/main">
              <a:ext uri="{FF2B5EF4-FFF2-40B4-BE49-F238E27FC236}">
                <a16:creationId xmlns:a16="http://schemas.microsoft.com/office/drawing/2014/main" id="{BC03BFDA-87E2-4658-80DF-F6232195EFF2}"/>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До find: 0 → 1 → 2 → 3, parent[3]=3</a:t>
            </a:r>
          </a:p>
        </p:txBody>
      </p:sp>
      <p:sp>
        <p:nvSpPr>
          <p:cNvPr id="4" name="">
            <a:extLst xmlns:a="http://schemas.openxmlformats.org/drawingml/2006/main">
              <a:ext uri="{FF2B5EF4-FFF2-40B4-BE49-F238E27FC236}">
                <a16:creationId xmlns:a16="http://schemas.microsoft.com/office/drawing/2014/main" id="{3108D8B0-D7C1-4812-8350-07C1D3BA157F}"/>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После find(0) вершины 0, 1 и 2 указывают на 3</a:t>
            </a:r>
          </a:p>
        </p:txBody>
      </p:sp>
      <p:sp>
        <p:nvSpPr>
          <p:cNvPr id="5" name="">
            <a:extLst xmlns:a="http://schemas.openxmlformats.org/drawingml/2006/main">
              <a:ext uri="{FF2B5EF4-FFF2-40B4-BE49-F238E27FC236}">
                <a16:creationId xmlns:a16="http://schemas.microsoft.com/office/drawing/2014/main" id="{B2BD9C69-5868-4242-BBCB-12F2EBD0373C}"/>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Сначала найдите корень, затем сократите путь</a:t>
            </a:r>
          </a:p>
        </p:txBody>
      </p:sp>
      <p:sp>
        <p:nvSpPr>
          <p:cNvPr id="6" name="">
            <a:extLst xmlns:a="http://schemas.openxmlformats.org/drawingml/2006/main">
              <a:ext uri="{FF2B5EF4-FFF2-40B4-BE49-F238E27FC236}">
                <a16:creationId xmlns:a16="http://schemas.microsoft.com/office/drawing/2014/main" id="{7B841CAC-4DA9-42FB-A44F-3962A997A4DF}"/>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Сохраните старый parent до его перезаписи</a:t>
            </a:r>
          </a:p>
        </p:txBody>
      </p:sp>
      <p:sp>
        <p:nvSpPr>
          <p:cNvPr id="7" name="">
            <a:extLst xmlns:a="http://schemas.openxmlformats.org/drawingml/2006/main">
              <a:ext uri="{FF2B5EF4-FFF2-40B4-BE49-F238E27FC236}">
                <a16:creationId xmlns:a16="http://schemas.microsoft.com/office/drawing/2014/main" id="{36DC4BCB-C56E-4F17-8D6A-2F89277E5463}"/>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root has already been found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while (parent[v] != v)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next = parent[v];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parent[v] = root;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v = next;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AE65E589-911C-4CA0-93C8-CCA465CCC54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94229C2E-D215-491A-BF5E-77D659821ADF}"/>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08 / 41</a:t>
            </a:r>
          </a:p>
        </p:txBody>
      </p:sp>
    </p:spTree>
    <p:extLst>
      <p:ext uri="{BB962C8B-B14F-4D97-AF65-F5344CB8AC3E}">
        <p14:creationId xmlns:p14="http://schemas.microsoft.com/office/powerpoint/2010/main" val="1099305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4EEEB5D-71D5-410E-BBF6-2833791C375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9B012C41-3945-46ED-A26A-9AC3549FE989}"/>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Объединение по размеру и статистика</a:t>
            </a:r>
          </a:p>
        </p:txBody>
      </p:sp>
      <p:sp>
        <p:nvSpPr>
          <p:cNvPr id="3" name="">
            <a:extLst xmlns:a="http://schemas.openxmlformats.org/drawingml/2006/main">
              <a:ext uri="{FF2B5EF4-FFF2-40B4-BE49-F238E27FC236}">
                <a16:creationId xmlns:a16="http://schemas.microsoft.com/office/drawing/2014/main" id="{D4FE156C-384B-47B0-A967-8652E690B4A8}"/>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Меньший корень присоединяется к большему</a:t>
            </a:r>
          </a:p>
        </p:txBody>
      </p:sp>
      <p:sp>
        <p:nvSpPr>
          <p:cNvPr id="4" name="">
            <a:extLst xmlns:a="http://schemas.openxmlformats.org/drawingml/2006/main">
              <a:ext uri="{FF2B5EF4-FFF2-40B4-BE49-F238E27FC236}">
                <a16:creationId xmlns:a16="http://schemas.microsoft.com/office/drawing/2014/main" id="{CB93AC5A-0080-4DDA-BDE6-24D8EE53DBFE}"/>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Размер обновляется у нового общего корня</a:t>
            </a:r>
          </a:p>
        </p:txBody>
      </p:sp>
      <p:sp>
        <p:nvSpPr>
          <p:cNvPr id="5" name="">
            <a:extLst xmlns:a="http://schemas.openxmlformats.org/drawingml/2006/main">
              <a:ext uri="{FF2B5EF4-FFF2-40B4-BE49-F238E27FC236}">
                <a16:creationId xmlns:a16="http://schemas.microsoft.com/office/drawing/2014/main" id="{5B876177-8D6E-49CF-AA87-207DBED73253}"/>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components уменьшается при реальном слиянии</a:t>
            </a:r>
          </a:p>
        </p:txBody>
      </p:sp>
      <p:sp>
        <p:nvSpPr>
          <p:cNvPr id="6" name="">
            <a:extLst xmlns:a="http://schemas.openxmlformats.org/drawingml/2006/main">
              <a:ext uri="{FF2B5EF4-FFF2-40B4-BE49-F238E27FC236}">
                <a16:creationId xmlns:a16="http://schemas.microsoft.com/office/drawing/2014/main" id="{73A3899F-34DC-4FF6-850B-A023BBD07DEB}"/>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largest учитывает размер новой компоненты</a:t>
            </a:r>
          </a:p>
        </p:txBody>
      </p:sp>
      <p:sp>
        <p:nvSpPr>
          <p:cNvPr id="7" name="">
            <a:extLst xmlns:a="http://schemas.openxmlformats.org/drawingml/2006/main">
              <a:ext uri="{FF2B5EF4-FFF2-40B4-BE49-F238E27FC236}">
                <a16:creationId xmlns:a16="http://schemas.microsoft.com/office/drawing/2014/main" id="{2CA64A07-20A8-4004-B25F-AD704E27D163}"/>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 and b are distinct roots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(size[a] &lt; size[b])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tmp = a; a = b; b = tmp;</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parent[b] = a;</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size[a] += size[b];</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components--;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largest = Math.max(largest, size[a]);</a:t>
            </a:r>
          </a:p>
        </p:txBody>
      </p:sp>
      <p:sp>
        <p:nvSpPr>
          <p:cNvPr id="8" name="">
            <a:extLst xmlns:a="http://schemas.openxmlformats.org/drawingml/2006/main">
              <a:ext uri="{FF2B5EF4-FFF2-40B4-BE49-F238E27FC236}">
                <a16:creationId xmlns:a16="http://schemas.microsoft.com/office/drawing/2014/main" id="{98FF00BD-A2B4-4004-91D5-23E699A9CB2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3B0DA5F9-2D21-4A6F-9141-3342D1510F5E}"/>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09 / 41</a:t>
            </a:r>
          </a:p>
        </p:txBody>
      </p:sp>
    </p:spTree>
    <p:extLst>
      <p:ext uri="{BB962C8B-B14F-4D97-AF65-F5344CB8AC3E}">
        <p14:creationId xmlns:p14="http://schemas.microsoft.com/office/powerpoint/2010/main" val="8658993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4F94BF-7D48-42B3-A080-2716C7F4DBC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2DBF5BC-5D39-4165-8F50-CA49ADA0D3B9}"/>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Ранг не заменяет размер компоненты</a:t>
            </a:r>
          </a:p>
        </p:txBody>
      </p:sp>
      <p:sp>
        <p:nvSpPr>
          <p:cNvPr id="3" name="">
            <a:extLst xmlns:a="http://schemas.openxmlformats.org/drawingml/2006/main">
              <a:ext uri="{FF2B5EF4-FFF2-40B4-BE49-F238E27FC236}">
                <a16:creationId xmlns:a16="http://schemas.microsoft.com/office/drawing/2014/main" id="{CCF46DC1-DE6D-4FA1-A883-A5F2800400F7}"/>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Ранг определяет выбор родителя</a:t>
            </a:r>
          </a:p>
        </p:txBody>
      </p:sp>
      <p:sp>
        <p:nvSpPr>
          <p:cNvPr id="4" name="">
            <a:extLst xmlns:a="http://schemas.openxmlformats.org/drawingml/2006/main">
              <a:ext uri="{FF2B5EF4-FFF2-40B4-BE49-F238E27FC236}">
                <a16:creationId xmlns:a16="http://schemas.microsoft.com/office/drawing/2014/main" id="{3C17E8CB-9038-4396-A552-9D068F4798D7}"/>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Ранг растёт при слиянии равных рангов</a:t>
            </a:r>
          </a:p>
        </p:txBody>
      </p:sp>
      <p:sp>
        <p:nvSpPr>
          <p:cNvPr id="5" name="">
            <a:extLst xmlns:a="http://schemas.openxmlformats.org/drawingml/2006/main">
              <a:ext uri="{FF2B5EF4-FFF2-40B4-BE49-F238E27FC236}">
                <a16:creationId xmlns:a16="http://schemas.microsoft.com/office/drawing/2014/main" id="{063484B9-B439-4DDA-81F4-246DEFF0B62E}"/>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Размер хранится у оставшегося корня</a:t>
            </a:r>
          </a:p>
        </p:txBody>
      </p:sp>
      <p:sp>
        <p:nvSpPr>
          <p:cNvPr id="6" name="">
            <a:extLst xmlns:a="http://schemas.openxmlformats.org/drawingml/2006/main">
              <a:ext uri="{FF2B5EF4-FFF2-40B4-BE49-F238E27FC236}">
                <a16:creationId xmlns:a16="http://schemas.microsoft.com/office/drawing/2014/main" id="{D295198D-FF30-42FD-8280-605F44E74BAF}"/>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largest вычисляется из size, а не rank</a:t>
            </a:r>
          </a:p>
        </p:txBody>
      </p:sp>
      <p:graphicFrame>
        <p:nvGraphicFramePr>
          <p:cNvPr id="7" name="">
            <a:extLst xmlns:a="http://schemas.openxmlformats.org/drawingml/2006/main">
              <a:ext uri="{FF2B5EF4-FFF2-40B4-BE49-F238E27FC236}">
                <a16:creationId xmlns:a16="http://schemas.microsoft.com/office/drawing/2014/main" id="{66E1F774-6EF9-497D-90B6-D5A7BE6860C9}"/>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800100">
                <a:tc>
                  <a:txBody>
                    <a:bodyPr/>
                    <a:lstStyle/>
                    <a:p>
                      <a:r>
                        <a:rPr sz="1725" b="1">
                          <a:solidFill>
                            <a:srgbClr val="15273F"/>
                          </a:solidFill>
                          <a:latin typeface="Arial"/>
                          <a:ea typeface="Arial"/>
                          <a:cs typeface="Arial"/>
                        </a:rPr>
                        <a:t>Ситуация</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Ранг корня</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Размер компоненты</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Одна вершина</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Слияние одиночных</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Ещё одна вершина</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Повтор того же union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17FB711-04B6-42D8-9482-33F6170BBB37}"/>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9D8EBC87-B121-4806-B9A2-D4950A03314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10 / 41</a:t>
            </a:r>
          </a:p>
        </p:txBody>
      </p:sp>
    </p:spTree>
    <p:extLst>
      <p:ext uri="{BB962C8B-B14F-4D97-AF65-F5344CB8AC3E}">
        <p14:creationId xmlns:p14="http://schemas.microsoft.com/office/powerpoint/2010/main" val="17243334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5FC3E1A-82AB-486D-83B4-170DE3097C8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4BCF4790-0DDB-4400-8E5B-D65B8B1F47A4}"/>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Минимальный остовный лес</a:t>
            </a:r>
          </a:p>
        </p:txBody>
      </p:sp>
      <p:sp>
        <p:nvSpPr>
          <p:cNvPr id="3" name="">
            <a:extLst xmlns:a="http://schemas.openxmlformats.org/drawingml/2006/main">
              <a:ext uri="{FF2B5EF4-FFF2-40B4-BE49-F238E27FC236}">
                <a16:creationId xmlns:a16="http://schemas.microsoft.com/office/drawing/2014/main" id="{2AFE429B-B3C1-4DD9-8BAB-56996C9BE84D}"/>
              </a:ext>
            </a:extLst>
          </p:cNvPr>
          <p:cNvSpPr>
            <a:spLocks xmlns:a="http://schemas.openxmlformats.org/drawingml/2006/main" noGrp="1"/>
          </p:cNvSpPr>
          <p:nvPr/>
        </p:nvSpPr>
        <p:spPr>
          <a:xfrm xmlns:a="http://schemas.openxmlformats.org/drawingml/2006/main">
            <a:off x="609600" y="18097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Минимальная стоимость в каждой компоненте</a:t>
            </a:r>
          </a:p>
        </p:txBody>
      </p:sp>
      <p:sp>
        <p:nvSpPr>
          <p:cNvPr id="4" name="">
            <a:extLst xmlns:a="http://schemas.openxmlformats.org/drawingml/2006/main">
              <a:ext uri="{FF2B5EF4-FFF2-40B4-BE49-F238E27FC236}">
                <a16:creationId xmlns:a16="http://schemas.microsoft.com/office/drawing/2014/main" id="{4BE59ED4-8227-4B24-834A-E95B7A8F30D1}"/>
              </a:ext>
            </a:extLst>
          </p:cNvPr>
          <p:cNvSpPr>
            <a:spLocks xmlns:a="http://schemas.openxmlformats.org/drawingml/2006/main" noGrp="1"/>
          </p:cNvSpPr>
          <p:nvPr/>
        </p:nvSpPr>
        <p:spPr>
          <a:xfrm xmlns:a="http://schemas.openxmlformats.org/drawingml/2006/main">
            <a:off x="609600" y="28384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Изоляты входят в число компонент</a:t>
            </a:r>
          </a:p>
        </p:txBody>
      </p:sp>
      <p:sp>
        <p:nvSpPr>
          <p:cNvPr id="5" name="">
            <a:extLst xmlns:a="http://schemas.openxmlformats.org/drawingml/2006/main">
              <a:ext uri="{FF2B5EF4-FFF2-40B4-BE49-F238E27FC236}">
                <a16:creationId xmlns:a16="http://schemas.microsoft.com/office/drawing/2014/main" id="{D3315C5B-AC66-4BAA-9E4F-54C4DE743F7D}"/>
              </a:ext>
            </a:extLst>
          </p:cNvPr>
          <p:cNvSpPr>
            <a:spLocks xmlns:a="http://schemas.openxmlformats.org/drawingml/2006/main" noGrp="1"/>
          </p:cNvSpPr>
          <p:nvPr/>
        </p:nvSpPr>
        <p:spPr>
          <a:xfrm xmlns:a="http://schemas.openxmlformats.org/drawingml/2006/main">
            <a:off x="609600" y="38671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Для c компонент лес содержит n−c рёбер</a:t>
            </a:r>
          </a:p>
        </p:txBody>
      </p:sp>
      <p:sp>
        <p:nvSpPr>
          <p:cNvPr id="6" name="">
            <a:extLst xmlns:a="http://schemas.openxmlformats.org/drawingml/2006/main">
              <a:ext uri="{FF2B5EF4-FFF2-40B4-BE49-F238E27FC236}">
                <a16:creationId xmlns:a16="http://schemas.microsoft.com/office/drawing/2014/main" id="{104E658D-A5B9-479D-9691-20C0C1C3A392}"/>
              </a:ext>
            </a:extLst>
          </p:cNvPr>
          <p:cNvSpPr>
            <a:spLocks xmlns:a="http://schemas.openxmlformats.org/drawingml/2006/main" noGrp="1"/>
          </p:cNvSpPr>
          <p:nvPr/>
        </p:nvSpPr>
        <p:spPr>
          <a:xfrm xmlns:a="http://schemas.openxmlformats.org/drawingml/2006/main">
            <a:off x="609600" y="489585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Сумму стоимости храните в long</a:t>
            </a:r>
          </a:p>
        </p:txBody>
      </p:sp>
      <p:pic>
        <p:nvPicPr>
          <p:cNvPr id="7" name="">
            <a:extLst xmlns:a="http://schemas.openxmlformats.org/drawingml/2006/main">
              <a:ext uri="{FF2B5EF4-FFF2-40B4-BE49-F238E27FC236}">
                <a16:creationId xmlns:a16="http://schemas.microsoft.com/office/drawing/2014/main" id="{0B04A732-5440-4515-8956-C087843471D8}"/>
              </a:ext>
            </a:extLst>
          </p:cNvPr>
          <p:cNvPicPr>
            <a:picLocks xmlns:a="http://schemas.openxmlformats.org/drawingml/2006/main" noChangeAspect="1"/>
          </p:cNvPicPr>
          <p:nvPr/>
        </p:nvPicPr>
        <p:blipFill>
          <a:blip xmlns:r="http://schemas.openxmlformats.org/officeDocument/2006/relationships" xmlns:a="http://schemas.openxmlformats.org/drawingml/2006/main" r:embed="Rddeb908b7aaa40a7"/>
          <a:stretch xmlns:a="http://schemas.openxmlformats.org/drawingml/2006/main"/>
        </p:blipFill>
        <p:spPr>
          <a:xfrm xmlns:a="http://schemas.openxmlformats.org/drawingml/2006/main">
            <a:off x="4429125" y="1799752"/>
            <a:ext cx="7143750" cy="4020496"/>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CE36BFA-876E-44AF-BF8A-64129BBB23E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1614DAD8-EA2C-4FCC-8734-8EA9DA0555E2}"/>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11 / 41</a:t>
            </a:r>
          </a:p>
        </p:txBody>
      </p:sp>
    </p:spTree>
    <p:extLst>
      <p:ext uri="{BB962C8B-B14F-4D97-AF65-F5344CB8AC3E}">
        <p14:creationId xmlns:p14="http://schemas.microsoft.com/office/powerpoint/2010/main" val="113079325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C126D12-A04F-40DD-A48A-D050B9ED56C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A57B1CF3-400C-46EB-9347-0316E1549CF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Списки смежности сохраняют исходный ID</a:t>
            </a:r>
          </a:p>
        </p:txBody>
      </p:sp>
      <p:sp>
        <p:nvSpPr>
          <p:cNvPr id="3" name="">
            <a:extLst xmlns:a="http://schemas.openxmlformats.org/drawingml/2006/main">
              <a:ext uri="{FF2B5EF4-FFF2-40B4-BE49-F238E27FC236}">
                <a16:creationId xmlns:a16="http://schemas.microsoft.com/office/drawing/2014/main" id="{8F7B947A-EF34-4BD1-852A-0784B57B59A0}"/>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Каждый список содержит исходящие варианты</a:t>
            </a:r>
          </a:p>
        </p:txBody>
      </p:sp>
      <p:sp>
        <p:nvSpPr>
          <p:cNvPr id="4" name="">
            <a:extLst xmlns:a="http://schemas.openxmlformats.org/drawingml/2006/main">
              <a:ext uri="{FF2B5EF4-FFF2-40B4-BE49-F238E27FC236}">
                <a16:creationId xmlns:a16="http://schemas.microsoft.com/office/drawing/2014/main" id="{FE21E33C-03EB-424C-B7D5-D08C9F388FAC}"/>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Arc хранит конец, вес и ID</a:t>
            </a:r>
          </a:p>
        </p:txBody>
      </p:sp>
      <p:sp>
        <p:nvSpPr>
          <p:cNvPr id="5" name="">
            <a:extLst xmlns:a="http://schemas.openxmlformats.org/drawingml/2006/main">
              <a:ext uri="{FF2B5EF4-FFF2-40B4-BE49-F238E27FC236}">
                <a16:creationId xmlns:a16="http://schemas.microsoft.com/office/drawing/2014/main" id="{458B7D7A-8259-43F3-B25D-491446C4921B}"/>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Неориентированное ребро даёт две записи</a:t>
            </a:r>
          </a:p>
        </p:txBody>
      </p:sp>
      <p:sp>
        <p:nvSpPr>
          <p:cNvPr id="6" name="">
            <a:extLst xmlns:a="http://schemas.openxmlformats.org/drawingml/2006/main">
              <a:ext uri="{FF2B5EF4-FFF2-40B4-BE49-F238E27FC236}">
                <a16:creationId xmlns:a16="http://schemas.microsoft.com/office/drawing/2014/main" id="{369615EF-5FA7-46FB-9C70-B42D2908EBEA}"/>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Обе записи хранят один исходный ID</a:t>
            </a:r>
          </a:p>
        </p:txBody>
      </p:sp>
      <p:sp>
        <p:nvSpPr>
          <p:cNvPr id="7" name="">
            <a:extLst xmlns:a="http://schemas.openxmlformats.org/drawingml/2006/main">
              <a:ext uri="{FF2B5EF4-FFF2-40B4-BE49-F238E27FC236}">
                <a16:creationId xmlns:a16="http://schemas.microsoft.com/office/drawing/2014/main" id="{411B93F5-4A7F-4996-8954-6120AD1F187A}"/>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adj is a fresh adjacency list array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(int id = 0; id &lt; edges.length; id++)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u = edges[id][0], v = edges[id][1];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w = edges[id][2];</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adj[u].add(new Arc(v, w, 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Undirected MST only: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adj[v].add(new Arc(u, w, 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91C1302C-B77B-43DB-A8D9-8AB40E1BD33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BF16A332-5C52-48AF-8BBA-028957D6E035}"/>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12 / 41</a:t>
            </a:r>
          </a:p>
        </p:txBody>
      </p:sp>
    </p:spTree>
    <p:extLst>
      <p:ext uri="{BB962C8B-B14F-4D97-AF65-F5344CB8AC3E}">
        <p14:creationId xmlns:p14="http://schemas.microsoft.com/office/powerpoint/2010/main" val="19885887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E4B0D-E14C-4E23-ACA3-A2D539B7A69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4EA080AE-38B8-4E1E-9240-1F2361CA97C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Краскал: сортировка и DSU</a:t>
            </a:r>
          </a:p>
        </p:txBody>
      </p:sp>
      <p:sp>
        <p:nvSpPr>
          <p:cNvPr id="3" name="">
            <a:extLst xmlns:a="http://schemas.openxmlformats.org/drawingml/2006/main">
              <a:ext uri="{FF2B5EF4-FFF2-40B4-BE49-F238E27FC236}">
                <a16:creationId xmlns:a16="http://schemas.microsoft.com/office/drawing/2014/main" id="{14261884-4EF3-449A-B37B-1B0BD85D7BCE}"/>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Сортируйте исходные записи по весу</a:t>
            </a:r>
          </a:p>
        </p:txBody>
      </p:sp>
      <p:sp>
        <p:nvSpPr>
          <p:cNvPr id="4" name="">
            <a:extLst xmlns:a="http://schemas.openxmlformats.org/drawingml/2006/main">
              <a:ext uri="{FF2B5EF4-FFF2-40B4-BE49-F238E27FC236}">
                <a16:creationId xmlns:a16="http://schemas.microsoft.com/office/drawing/2014/main" id="{FAD30E49-9B5F-4CCD-8617-1FE934ABFDC3}"/>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Принимайте ребро при find(u) != find(v)</a:t>
            </a:r>
          </a:p>
        </p:txBody>
      </p:sp>
      <p:sp>
        <p:nvSpPr>
          <p:cNvPr id="5" name="">
            <a:extLst xmlns:a="http://schemas.openxmlformats.org/drawingml/2006/main">
              <a:ext uri="{FF2B5EF4-FFF2-40B4-BE49-F238E27FC236}">
                <a16:creationId xmlns:a16="http://schemas.microsoft.com/office/drawing/2014/main" id="{74AE48AE-C3A3-43D7-A76A-1B93DF0024D1}"/>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Ребро внутри компоненты образует цикл</a:t>
            </a:r>
          </a:p>
        </p:txBody>
      </p:sp>
      <p:sp>
        <p:nvSpPr>
          <p:cNvPr id="6" name="">
            <a:extLst xmlns:a="http://schemas.openxmlformats.org/drawingml/2006/main">
              <a:ext uri="{FF2B5EF4-FFF2-40B4-BE49-F238E27FC236}">
                <a16:creationId xmlns:a16="http://schemas.microsoft.com/office/drawing/2014/main" id="{442302B7-596F-4729-9A95-97395D259BF6}"/>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Сохраняйте исходный ID принятого ребра</a:t>
            </a:r>
          </a:p>
        </p:txBody>
      </p:sp>
      <p:graphicFrame>
        <p:nvGraphicFramePr>
          <p:cNvPr id="7" name="">
            <a:extLst xmlns:a="http://schemas.openxmlformats.org/drawingml/2006/main">
              <a:ext uri="{FF2B5EF4-FFF2-40B4-BE49-F238E27FC236}">
                <a16:creationId xmlns:a16="http://schemas.microsoft.com/office/drawing/2014/main" id="{8CD037D2-BF6B-4983-B56E-47F8858B4A15}"/>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666750">
                <a:tc>
                  <a:txBody>
                    <a:bodyPr/>
                    <a:lstStyle/>
                    <a:p>
                      <a:r>
                        <a:rPr sz="1725" b="1">
                          <a:solidFill>
                            <a:srgbClr val="15273F"/>
                          </a:solidFill>
                          <a:latin typeface="Arial"/>
                          <a:ea typeface="Arial"/>
                          <a:cs typeface="Arial"/>
                        </a:rPr>
                        <a:t>ID: ребро</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Вес</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Решение</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Сумма</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1: 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принять</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3: 2–3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принять</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0: 0–1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принять</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4: 1–3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цикл</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2: 0–2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цикл</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BEBE921-7739-4A2A-90C9-393A12F32467}"/>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135F945C-D933-426D-88F1-90D51FCAE72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13 / 41</a:t>
            </a:r>
          </a:p>
        </p:txBody>
      </p:sp>
    </p:spTree>
    <p:extLst>
      <p:ext uri="{BB962C8B-B14F-4D97-AF65-F5344CB8AC3E}">
        <p14:creationId xmlns:p14="http://schemas.microsoft.com/office/powerpoint/2010/main" val="180661036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7680E3-419C-48FE-81EE-85D190A061D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B4985159-77D3-417B-9D68-8B91B43DB216}"/>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Почему минимальное ребро разреза безопасно</a:t>
            </a:r>
          </a:p>
        </p:txBody>
      </p:sp>
      <p:sp>
        <p:nvSpPr>
          <p:cNvPr id="3" name="">
            <a:extLst xmlns:a="http://schemas.openxmlformats.org/drawingml/2006/main">
              <a:ext uri="{FF2B5EF4-FFF2-40B4-BE49-F238E27FC236}">
                <a16:creationId xmlns:a16="http://schemas.microsoft.com/office/drawing/2014/main" id="{0BAAFDE8-BBC7-4697-8D0B-2E21D23FA621}"/>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Разрез не пересекает уже выбранные рёбра</a:t>
            </a:r>
          </a:p>
        </p:txBody>
      </p:sp>
      <p:sp>
        <p:nvSpPr>
          <p:cNvPr id="4" name="">
            <a:extLst xmlns:a="http://schemas.openxmlformats.org/drawingml/2006/main">
              <a:ext uri="{FF2B5EF4-FFF2-40B4-BE49-F238E27FC236}">
                <a16:creationId xmlns:a16="http://schemas.microsoft.com/office/drawing/2014/main" id="{8C802DB6-A21F-4B9C-8D4A-76AC8B08DC9D}"/>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Выберите минимальное пересекающее ребро</a:t>
            </a:r>
          </a:p>
        </p:txBody>
      </p:sp>
      <p:sp>
        <p:nvSpPr>
          <p:cNvPr id="5" name="">
            <a:extLst xmlns:a="http://schemas.openxmlformats.org/drawingml/2006/main">
              <a:ext uri="{FF2B5EF4-FFF2-40B4-BE49-F238E27FC236}">
                <a16:creationId xmlns:a16="http://schemas.microsoft.com/office/drawing/2014/main" id="{B9F9BC5E-4D43-4201-A857-4124A9C4B2F4}"/>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Обмен сохраняет оптимум и уже выбранный лес</a:t>
            </a:r>
          </a:p>
        </p:txBody>
      </p:sp>
      <p:sp>
        <p:nvSpPr>
          <p:cNvPr id="6" name="">
            <a:extLst xmlns:a="http://schemas.openxmlformats.org/drawingml/2006/main">
              <a:ext uri="{FF2B5EF4-FFF2-40B4-BE49-F238E27FC236}">
                <a16:creationId xmlns:a16="http://schemas.microsoft.com/office/drawing/2014/main" id="{AABAE929-03D3-4B52-A66D-BF393B0636A3}"/>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Равные веса допускают несколько оптимумов</a:t>
            </a:r>
          </a:p>
        </p:txBody>
      </p:sp>
      <p:sp>
        <p:nvSpPr>
          <p:cNvPr id="7" name="">
            <a:extLst xmlns:a="http://schemas.openxmlformats.org/drawingml/2006/main">
              <a:ext uri="{FF2B5EF4-FFF2-40B4-BE49-F238E27FC236}">
                <a16:creationId xmlns:a16="http://schemas.microsoft.com/office/drawing/2014/main" id="{2FB39BFA-B465-48AF-A530-0C0BED597FBB}"/>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Edges retain their original IDs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(Edge e : edgesSortedByWeight)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(find(e.u) != find(e.v))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union(e.u, e.v);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record e.id and add e.weight to long cost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45A34CC5-6816-4AD8-917E-E07462592568}"/>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960944E5-528A-4C14-9C13-4D003D7BF5F7}"/>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14 / 41</a:t>
            </a:r>
          </a:p>
        </p:txBody>
      </p:sp>
    </p:spTree>
    <p:extLst>
      <p:ext uri="{BB962C8B-B14F-4D97-AF65-F5344CB8AC3E}">
        <p14:creationId xmlns:p14="http://schemas.microsoft.com/office/powerpoint/2010/main" val="77112099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DFFA7F4-0303-464A-A09E-062795004D2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DD9F0C28-CC66-4720-85BB-139E58E3D0DC}"/>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Прим: расширение через границу</a:t>
            </a:r>
          </a:p>
        </p:txBody>
      </p:sp>
      <p:sp>
        <p:nvSpPr>
          <p:cNvPr id="3" name="">
            <a:extLst xmlns:a="http://schemas.openxmlformats.org/drawingml/2006/main">
              <a:ext uri="{FF2B5EF4-FFF2-40B4-BE49-F238E27FC236}">
                <a16:creationId xmlns:a16="http://schemas.microsoft.com/office/drawing/2014/main" id="{C45115C6-E0AB-43E1-828B-41D9B2DFEF90}"/>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Используйте списки смежности и min-heap</a:t>
            </a:r>
          </a:p>
        </p:txBody>
      </p:sp>
      <p:sp>
        <p:nvSpPr>
          <p:cNvPr id="4" name="">
            <a:extLst xmlns:a="http://schemas.openxmlformats.org/drawingml/2006/main">
              <a:ext uri="{FF2B5EF4-FFF2-40B4-BE49-F238E27FC236}">
                <a16:creationId xmlns:a16="http://schemas.microsoft.com/office/drawing/2014/main" id="{DD234543-44FB-48B1-A8C3-D0D61E809512}"/>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Начинайте новый корень в каждой компоненте</a:t>
            </a:r>
          </a:p>
        </p:txBody>
      </p:sp>
      <p:sp>
        <p:nvSpPr>
          <p:cNvPr id="5" name="">
            <a:extLst xmlns:a="http://schemas.openxmlformats.org/drawingml/2006/main">
              <a:ext uri="{FF2B5EF4-FFF2-40B4-BE49-F238E27FC236}">
                <a16:creationId xmlns:a16="http://schemas.microsoft.com/office/drawing/2014/main" id="{763CD004-1CC5-429C-98D3-66FE48285C7F}"/>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Берите лёгкое ребро к новой вершине</a:t>
            </a:r>
          </a:p>
        </p:txBody>
      </p:sp>
      <p:sp>
        <p:nvSpPr>
          <p:cNvPr id="6" name="">
            <a:extLst xmlns:a="http://schemas.openxmlformats.org/drawingml/2006/main">
              <a:ext uri="{FF2B5EF4-FFF2-40B4-BE49-F238E27FC236}">
                <a16:creationId xmlns:a16="http://schemas.microsoft.com/office/drawing/2014/main" id="{4C6CD130-7A40-4DF5-8467-A1EC46836507}"/>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Пропускайте устаревшие записи кучи</a:t>
            </a:r>
          </a:p>
        </p:txBody>
      </p:sp>
      <p:graphicFrame>
        <p:nvGraphicFramePr>
          <p:cNvPr id="7" name="">
            <a:extLst xmlns:a="http://schemas.openxmlformats.org/drawingml/2006/main">
              <a:ext uri="{FF2B5EF4-FFF2-40B4-BE49-F238E27FC236}">
                <a16:creationId xmlns:a16="http://schemas.microsoft.com/office/drawing/2014/main" id="{399E844E-26C0-4245-B0A3-50A28CB0B07E}"/>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666750">
                <a:tc>
                  <a:txBody>
                    <a:bodyPr/>
                    <a:lstStyle/>
                    <a:p>
                      <a:r>
                        <a:rPr sz="1725" b="1">
                          <a:solidFill>
                            <a:srgbClr val="15273F"/>
                          </a:solidFill>
                          <a:latin typeface="Arial"/>
                          <a:ea typeface="Arial"/>
                          <a:cs typeface="Arial"/>
                        </a:rPr>
                        <a:t>Вершина</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Выбранный ID</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Вес</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Сумма</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0: корень</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нет</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1</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4: корень</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нет</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4A5CB9CE-46F7-48F0-960D-B21F89D31FB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930AA2C9-E2AF-49C6-B3AA-063E4985858D}"/>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15 / 41</a:t>
            </a:r>
          </a:p>
        </p:txBody>
      </p:sp>
    </p:spTree>
    <p:extLst>
      <p:ext uri="{BB962C8B-B14F-4D97-AF65-F5344CB8AC3E}">
        <p14:creationId xmlns:p14="http://schemas.microsoft.com/office/powerpoint/2010/main" val="4812320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4A61051-8A81-431B-9B86-31C241572B8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1E35A061-9B0B-4581-929E-7DD6F744C6E4}"/>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Прим: устаревшие и параллельные рёбра</a:t>
            </a:r>
          </a:p>
        </p:txBody>
      </p:sp>
      <p:sp>
        <p:nvSpPr>
          <p:cNvPr id="3" name="">
            <a:extLst xmlns:a="http://schemas.openxmlformats.org/drawingml/2006/main">
              <a:ext uri="{FF2B5EF4-FFF2-40B4-BE49-F238E27FC236}">
                <a16:creationId xmlns:a16="http://schemas.microsoft.com/office/drawing/2014/main" id="{E5B22586-869B-48FF-A104-F01E2BB40F76}"/>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Для вершины возможны несколько кандидатов</a:t>
            </a:r>
          </a:p>
        </p:txBody>
      </p:sp>
      <p:sp>
        <p:nvSpPr>
          <p:cNvPr id="4" name="">
            <a:extLst xmlns:a="http://schemas.openxmlformats.org/drawingml/2006/main">
              <a:ext uri="{FF2B5EF4-FFF2-40B4-BE49-F238E27FC236}">
                <a16:creationId xmlns:a16="http://schemas.microsoft.com/office/drawing/2014/main" id="{7A13FC8D-A3AB-4DC8-86C0-8B4C9DD23672}"/>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Запись в куче может стать неактуальной</a:t>
            </a:r>
          </a:p>
        </p:txBody>
      </p:sp>
      <p:sp>
        <p:nvSpPr>
          <p:cNvPr id="5" name="">
            <a:extLst xmlns:a="http://schemas.openxmlformats.org/drawingml/2006/main">
              <a:ext uri="{FF2B5EF4-FFF2-40B4-BE49-F238E27FC236}">
                <a16:creationId xmlns:a16="http://schemas.microsoft.com/office/drawing/2014/main" id="{CDE2037F-8DD8-40E0-AD93-CE727351185A}"/>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Ребро к уже посещённой вершине пропускается</a:t>
            </a:r>
          </a:p>
        </p:txBody>
      </p:sp>
      <p:sp>
        <p:nvSpPr>
          <p:cNvPr id="6" name="">
            <a:extLst xmlns:a="http://schemas.openxmlformats.org/drawingml/2006/main">
              <a:ext uri="{FF2B5EF4-FFF2-40B4-BE49-F238E27FC236}">
                <a16:creationId xmlns:a16="http://schemas.microsoft.com/office/drawing/2014/main" id="{2D95EB59-EBF8-4355-B549-CA42C5D2EE73}"/>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Сохраняйте ID фактически выбранного ребра</a:t>
            </a:r>
          </a:p>
        </p:txBody>
      </p:sp>
      <p:sp>
        <p:nvSpPr>
          <p:cNvPr id="7" name="">
            <a:extLst xmlns:a="http://schemas.openxmlformats.org/drawingml/2006/main">
              <a:ext uri="{FF2B5EF4-FFF2-40B4-BE49-F238E27FC236}">
                <a16:creationId xmlns:a16="http://schemas.microsoft.com/office/drawing/2014/main" id="{35D04BFB-B74D-4726-A477-606C1C60C23D}"/>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Edge e = heap.remove();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(used[e.to]) continue;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used[e.to] = true;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Record the real incoming edge, if any.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Add edges from e.to to unvisited neighbours.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The outer root loop handles disconnected graphs.</a:t>
            </a:r>
          </a:p>
        </p:txBody>
      </p:sp>
      <p:sp>
        <p:nvSpPr>
          <p:cNvPr id="8" name="">
            <a:extLst xmlns:a="http://schemas.openxmlformats.org/drawingml/2006/main">
              <a:ext uri="{FF2B5EF4-FFF2-40B4-BE49-F238E27FC236}">
                <a16:creationId xmlns:a16="http://schemas.microsoft.com/office/drawing/2014/main" id="{C6403F42-B548-4DDC-8862-F31A1B45AD13}"/>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4540924D-1123-4052-8CEC-01752DEF2E1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16 / 41</a:t>
            </a:r>
          </a:p>
        </p:txBody>
      </p:sp>
    </p:spTree>
    <p:extLst>
      <p:ext uri="{BB962C8B-B14F-4D97-AF65-F5344CB8AC3E}">
        <p14:creationId xmlns:p14="http://schemas.microsoft.com/office/powerpoint/2010/main" val="155949503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5E6586E-160B-4751-9252-F04E5140203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F96DA3E3-4BF9-4E23-8ADE-51EB1AAEDC1A}"/>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Краскал и Прим: сравнение результатов</a:t>
            </a:r>
          </a:p>
        </p:txBody>
      </p:sp>
      <p:sp>
        <p:nvSpPr>
          <p:cNvPr id="3" name="">
            <a:extLst xmlns:a="http://schemas.openxmlformats.org/drawingml/2006/main">
              <a:ext uri="{FF2B5EF4-FFF2-40B4-BE49-F238E27FC236}">
                <a16:creationId xmlns:a16="http://schemas.microsoft.com/office/drawing/2014/main" id="{BDDFD095-B55D-459B-A330-FB4D6369390C}"/>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Оба строят минимальный лес всех компонент</a:t>
            </a:r>
          </a:p>
        </p:txBody>
      </p:sp>
      <p:sp>
        <p:nvSpPr>
          <p:cNvPr id="4" name="">
            <a:extLst xmlns:a="http://schemas.openxmlformats.org/drawingml/2006/main">
              <a:ext uri="{FF2B5EF4-FFF2-40B4-BE49-F238E27FC236}">
                <a16:creationId xmlns:a16="http://schemas.microsoft.com/office/drawing/2014/main" id="{94E60C9A-F0DE-489F-85A5-488120298094}"/>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При равенстве оптимумов ID могут различаться</a:t>
            </a:r>
          </a:p>
        </p:txBody>
      </p:sp>
      <p:sp>
        <p:nvSpPr>
          <p:cNvPr id="5" name="">
            <a:extLst xmlns:a="http://schemas.openxmlformats.org/drawingml/2006/main">
              <a:ext uri="{FF2B5EF4-FFF2-40B4-BE49-F238E27FC236}">
                <a16:creationId xmlns:a16="http://schemas.microsoft.com/office/drawing/2014/main" id="{DA6E0FCC-6FA7-4153-B28C-60C14DBF940A}"/>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Проверяйте стоимость и корректность леса</a:t>
            </a:r>
          </a:p>
        </p:txBody>
      </p:sp>
      <p:sp>
        <p:nvSpPr>
          <p:cNvPr id="6" name="">
            <a:extLst xmlns:a="http://schemas.openxmlformats.org/drawingml/2006/main">
              <a:ext uri="{FF2B5EF4-FFF2-40B4-BE49-F238E27FC236}">
                <a16:creationId xmlns:a16="http://schemas.microsoft.com/office/drawing/2014/main" id="{70E04397-4004-4E3D-80BD-0485101DDA24}"/>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Порядок ID не определяет правильность</a:t>
            </a:r>
          </a:p>
        </p:txBody>
      </p:sp>
      <p:graphicFrame>
        <p:nvGraphicFramePr>
          <p:cNvPr id="7" name="">
            <a:extLst xmlns:a="http://schemas.openxmlformats.org/drawingml/2006/main">
              <a:ext uri="{FF2B5EF4-FFF2-40B4-BE49-F238E27FC236}">
                <a16:creationId xmlns:a16="http://schemas.microsoft.com/office/drawing/2014/main" id="{6BE7AE0D-84EE-4761-9C4A-2625B638E27F}"/>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Метод</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Структура</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Оценка</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Краскал</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sort + DSU</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 + m log(m+1))</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Ленивый Прим</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списки + куча</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 + m log(m+1))</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Оба</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граф и результат</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 памяти</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236D79A-4669-4202-A8ED-A1E549614C1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A5C3893C-7026-425B-A0C8-9449DC19E0AE}"/>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17 / 41</a:t>
            </a:r>
          </a:p>
        </p:txBody>
      </p:sp>
    </p:spTree>
    <p:extLst>
      <p:ext uri="{BB962C8B-B14F-4D97-AF65-F5344CB8AC3E}">
        <p14:creationId xmlns:p14="http://schemas.microsoft.com/office/powerpoint/2010/main" val="98953124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8C59F3D-F92E-4CBE-8187-82B784AD926C}"/>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8AF77FB3-7494-4AB2-B8D8-9B57E7FCE8F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Компоненты сильной связности</a:t>
            </a:r>
          </a:p>
        </p:txBody>
      </p:sp>
      <p:sp>
        <p:nvSpPr>
          <p:cNvPr id="3" name="">
            <a:extLst xmlns:a="http://schemas.openxmlformats.org/drawingml/2006/main">
              <a:ext uri="{FF2B5EF4-FFF2-40B4-BE49-F238E27FC236}">
                <a16:creationId xmlns:a16="http://schemas.microsoft.com/office/drawing/2014/main" id="{0B6EC273-06DF-4A33-A92D-303BBCEE0503}"/>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 одной SCC вершины взаимно достижимы</a:t>
            </a:r>
          </a:p>
        </p:txBody>
      </p:sp>
      <p:sp>
        <p:nvSpPr>
          <p:cNvPr id="4" name="">
            <a:extLst xmlns:a="http://schemas.openxmlformats.org/drawingml/2006/main">
              <a:ext uri="{FF2B5EF4-FFF2-40B4-BE49-F238E27FC236}">
                <a16:creationId xmlns:a16="http://schemas.microsoft.com/office/drawing/2014/main" id="{9D944402-1DFB-4D55-810F-153FCC657738}"/>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Каждая вершина входит ровно в одну SCC</a:t>
            </a:r>
          </a:p>
        </p:txBody>
      </p:sp>
      <p:sp>
        <p:nvSpPr>
          <p:cNvPr id="5" name="">
            <a:extLst xmlns:a="http://schemas.openxmlformats.org/drawingml/2006/main">
              <a:ext uri="{FF2B5EF4-FFF2-40B4-BE49-F238E27FC236}">
                <a16:creationId xmlns:a16="http://schemas.microsoft.com/office/drawing/2014/main" id="{86EE6625-E292-408D-BD32-132193BCE0C7}"/>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Метки обозначают группы, а не порядок</a:t>
            </a:r>
          </a:p>
        </p:txBody>
      </p:sp>
      <p:sp>
        <p:nvSpPr>
          <p:cNvPr id="6" name="">
            <a:extLst xmlns:a="http://schemas.openxmlformats.org/drawingml/2006/main">
              <a:ext uri="{FF2B5EF4-FFF2-40B4-BE49-F238E27FC236}">
                <a16:creationId xmlns:a16="http://schemas.microsoft.com/office/drawing/2014/main" id="{ECEC4589-26F4-4CA1-BDE9-A9D538047093}"/>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Конденсация содержит уникальные связи SCC</a:t>
            </a:r>
          </a:p>
        </p:txBody>
      </p:sp>
      <p:graphicFrame>
        <p:nvGraphicFramePr>
          <p:cNvPr id="7" name="">
            <a:extLst xmlns:a="http://schemas.openxmlformats.org/drawingml/2006/main">
              <a:ext uri="{FF2B5EF4-FFF2-40B4-BE49-F238E27FC236}">
                <a16:creationId xmlns:a16="http://schemas.microsoft.com/office/drawing/2014/main" id="{D947A08C-6FA2-4872-B7CA-BD2EA8D4BE54}"/>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Исходные дуги</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Допустимые метки</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Конденсация</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0→1, 1→0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[7,7,9,9,12]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7→9</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1→2, 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одно разбиение</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одна дуга</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2→3, 3→2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 изолят</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без петель</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44407F3-7E1C-4451-8269-10132C8E86EE}"/>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13DB719E-2427-454C-95E8-AE656DF5768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18 / 41</a:t>
            </a:r>
          </a:p>
        </p:txBody>
      </p:sp>
    </p:spTree>
    <p:extLst>
      <p:ext uri="{BB962C8B-B14F-4D97-AF65-F5344CB8AC3E}">
        <p14:creationId xmlns:p14="http://schemas.microsoft.com/office/powerpoint/2010/main" val="173452851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60461A9-AD0B-4E2F-B068-FA715AE6C551}"/>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52A82D1B-AA70-4C89-8ADB-C58CDB82F616}"/>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Косарайю: завершение и транспонирование</a:t>
            </a:r>
          </a:p>
        </p:txBody>
      </p:sp>
      <p:sp>
        <p:nvSpPr>
          <p:cNvPr id="3" name="">
            <a:extLst xmlns:a="http://schemas.openxmlformats.org/drawingml/2006/main">
              <a:ext uri="{FF2B5EF4-FFF2-40B4-BE49-F238E27FC236}">
                <a16:creationId xmlns:a16="http://schemas.microsoft.com/office/drawing/2014/main" id="{B0586DFC-1C8F-4181-A315-D0749A7B11F5}"/>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Первый DFS записывает порядок завершения</a:t>
            </a:r>
          </a:p>
        </p:txBody>
      </p:sp>
      <p:sp>
        <p:nvSpPr>
          <p:cNvPr id="4" name="">
            <a:extLst xmlns:a="http://schemas.openxmlformats.org/drawingml/2006/main">
              <a:ext uri="{FF2B5EF4-FFF2-40B4-BE49-F238E27FC236}">
                <a16:creationId xmlns:a16="http://schemas.microsoft.com/office/drawing/2014/main" id="{0EF4FA80-4460-490A-9F0A-E39D4AEBAC6A}"/>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Корни второго прохода идут в обратном порядке</a:t>
            </a:r>
          </a:p>
        </p:txBody>
      </p:sp>
      <p:sp>
        <p:nvSpPr>
          <p:cNvPr id="5" name="">
            <a:extLst xmlns:a="http://schemas.openxmlformats.org/drawingml/2006/main">
              <a:ext uri="{FF2B5EF4-FFF2-40B4-BE49-F238E27FC236}">
                <a16:creationId xmlns:a16="http://schemas.microsoft.com/office/drawing/2014/main" id="{1F9328BB-C65F-4176-9A4A-55FBF1231C5A}"/>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Второй DFS работает на транспонированном графе</a:t>
            </a:r>
          </a:p>
        </p:txBody>
      </p:sp>
      <p:sp>
        <p:nvSpPr>
          <p:cNvPr id="6" name="">
            <a:extLst xmlns:a="http://schemas.openxmlformats.org/drawingml/2006/main">
              <a:ext uri="{FF2B5EF4-FFF2-40B4-BE49-F238E27FC236}">
                <a16:creationId xmlns:a16="http://schemas.microsoft.com/office/drawing/2014/main" id="{9A21A552-1852-4A1B-9EFB-E1994923DC7F}"/>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Один поиск второго прохода задаёт одну SCC</a:t>
            </a:r>
          </a:p>
        </p:txBody>
      </p:sp>
      <p:graphicFrame>
        <p:nvGraphicFramePr>
          <p:cNvPr id="7" name="">
            <a:extLst xmlns:a="http://schemas.openxmlformats.org/drawingml/2006/main">
              <a:ext uri="{FF2B5EF4-FFF2-40B4-BE49-F238E27FC236}">
                <a16:creationId xmlns:a16="http://schemas.microsoft.com/office/drawing/2014/main" id="{12F941DB-0FBF-4FC2-BA06-A4A01ADFC593}"/>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1000125">
                <a:tc>
                  <a:txBody>
                    <a:bodyPr/>
                    <a:lstStyle/>
                    <a:p>
                      <a:r>
                        <a:rPr sz="1725" b="1">
                          <a:solidFill>
                            <a:srgbClr val="15273F"/>
                          </a:solidFill>
                          <a:latin typeface="Arial"/>
                          <a:ea typeface="Arial"/>
                          <a:cs typeface="Arial"/>
                        </a:rPr>
                        <a:t>Первый проход</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Порядок</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DFS по 0→1→2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открытие: 0,1,2</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Возврат из глубины</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finish: 2,1,0</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Корни на транспонированном графе</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reverse finish: 0,1,2</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1FC22CD8-127E-457B-A87E-639606099B7B}"/>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07986EB2-87F9-4CF5-A912-5A63CD88A74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19 / 41</a:t>
            </a:r>
          </a:p>
        </p:txBody>
      </p:sp>
    </p:spTree>
    <p:extLst>
      <p:ext uri="{BB962C8B-B14F-4D97-AF65-F5344CB8AC3E}">
        <p14:creationId xmlns:p14="http://schemas.microsoft.com/office/powerpoint/2010/main" val="79138250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0F18DF-1897-4086-84EB-AFB5C398A27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A81EF039-998D-4AF7-BB0D-02966FB0D75D}"/>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Косарайю: точный результат и сброс</a:t>
            </a:r>
          </a:p>
        </p:txBody>
      </p:sp>
      <p:sp>
        <p:nvSpPr>
          <p:cNvPr id="3" name="">
            <a:extLst xmlns:a="http://schemas.openxmlformats.org/drawingml/2006/main">
              <a:ext uri="{FF2B5EF4-FFF2-40B4-BE49-F238E27FC236}">
                <a16:creationId xmlns:a16="http://schemas.microsoft.com/office/drawing/2014/main" id="{247FDD45-EE3D-47D0-B100-D87DAAC31B56}"/>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Для каждой дуги создайте обратную дугу</a:t>
            </a:r>
          </a:p>
        </p:txBody>
      </p:sp>
      <p:sp>
        <p:nvSpPr>
          <p:cNvPr id="4" name="">
            <a:extLst xmlns:a="http://schemas.openxmlformats.org/drawingml/2006/main">
              <a:ext uri="{FF2B5EF4-FFF2-40B4-BE49-F238E27FC236}">
                <a16:creationId xmlns:a16="http://schemas.microsoft.com/office/drawing/2014/main" id="{16425C71-EBCB-4F2E-A194-319B9F639B85}"/>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Обойдите все корни, включая изоляты</a:t>
            </a:r>
          </a:p>
        </p:txBody>
      </p:sp>
      <p:sp>
        <p:nvSpPr>
          <p:cNvPr id="5" name="">
            <a:extLst xmlns:a="http://schemas.openxmlformats.org/drawingml/2006/main">
              <a:ext uri="{FF2B5EF4-FFF2-40B4-BE49-F238E27FC236}">
                <a16:creationId xmlns:a16="http://schemas.microsoft.com/office/drawing/2014/main" id="{2B7A8B4D-A405-4DA9-93AD-045C40B49F87}"/>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Удалите дубликаты пар меток конденсации</a:t>
            </a:r>
          </a:p>
        </p:txBody>
      </p:sp>
      <p:sp>
        <p:nvSpPr>
          <p:cNvPr id="6" name="">
            <a:extLst xmlns:a="http://schemas.openxmlformats.org/drawingml/2006/main">
              <a:ext uri="{FF2B5EF4-FFF2-40B4-BE49-F238E27FC236}">
                <a16:creationId xmlns:a16="http://schemas.microsoft.com/office/drawing/2014/main" id="{8277366B-65EA-45A4-AADB-16A589113E15}"/>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Создавайте новое состояние для каждого запроса</a:t>
            </a:r>
          </a:p>
        </p:txBody>
      </p:sp>
      <p:sp>
        <p:nvSpPr>
          <p:cNvPr id="7" name="">
            <a:extLst xmlns:a="http://schemas.openxmlformats.org/drawingml/2006/main">
              <a:ext uri="{FF2B5EF4-FFF2-40B4-BE49-F238E27FC236}">
                <a16:creationId xmlns:a16="http://schemas.microsoft.com/office/drawing/2014/main" id="{7EBC40C6-9C1C-44D9-83BD-DE700597A0B0}"/>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After both DFS passes have assigned component[]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Set&lt;Pair&gt; pairs = new HashSet&lt;&gt;();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(int[] e : originalEdges)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a = component[e[0]], b = component[e[1]];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(a != b) pairs.add(new Pair(a, b));</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6433077E-F279-4C6B-B08F-FD8441B6B00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12A7A8A8-12EC-4E06-8005-6FE756BBB98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20 / 41</a:t>
            </a:r>
          </a:p>
        </p:txBody>
      </p:sp>
    </p:spTree>
    <p:extLst>
      <p:ext uri="{BB962C8B-B14F-4D97-AF65-F5344CB8AC3E}">
        <p14:creationId xmlns:p14="http://schemas.microsoft.com/office/powerpoint/2010/main" val="22100109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146E56D-47E1-47D7-8375-337DE25D649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200AF1C1-248D-484B-9CDF-8BAFA43D4CDE}"/>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Топологический порядок через DFS</a:t>
            </a:r>
          </a:p>
        </p:txBody>
      </p:sp>
      <p:sp>
        <p:nvSpPr>
          <p:cNvPr id="3" name="">
            <a:extLst xmlns:a="http://schemas.openxmlformats.org/drawingml/2006/main">
              <a:ext uri="{FF2B5EF4-FFF2-40B4-BE49-F238E27FC236}">
                <a16:creationId xmlns:a16="http://schemas.microsoft.com/office/drawing/2014/main" id="{818C7D9F-404D-47FC-BE45-83217AC0689A}"/>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WHITE: вершина ещё не открыта</a:t>
            </a:r>
          </a:p>
        </p:txBody>
      </p:sp>
      <p:sp>
        <p:nvSpPr>
          <p:cNvPr id="4" name="">
            <a:extLst xmlns:a="http://schemas.openxmlformats.org/drawingml/2006/main">
              <a:ext uri="{FF2B5EF4-FFF2-40B4-BE49-F238E27FC236}">
                <a16:creationId xmlns:a16="http://schemas.microsoft.com/office/drawing/2014/main" id="{EC9A2469-0E46-45F6-8BD0-D6320045A2C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GRAY: вершина на активном пути DFS</a:t>
            </a:r>
          </a:p>
        </p:txBody>
      </p:sp>
      <p:sp>
        <p:nvSpPr>
          <p:cNvPr id="5" name="">
            <a:extLst xmlns:a="http://schemas.openxmlformats.org/drawingml/2006/main">
              <a:ext uri="{FF2B5EF4-FFF2-40B4-BE49-F238E27FC236}">
                <a16:creationId xmlns:a16="http://schemas.microsoft.com/office/drawing/2014/main" id="{A8C2B26F-6755-4619-87A0-967257D50222}"/>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BLACK: обработка полностью завершена</a:t>
            </a:r>
          </a:p>
        </p:txBody>
      </p:sp>
      <p:sp>
        <p:nvSpPr>
          <p:cNvPr id="6" name="">
            <a:extLst xmlns:a="http://schemas.openxmlformats.org/drawingml/2006/main">
              <a:ext uri="{FF2B5EF4-FFF2-40B4-BE49-F238E27FC236}">
                <a16:creationId xmlns:a16="http://schemas.microsoft.com/office/drawing/2014/main" id="{F32D1798-EB9D-4EC2-BADC-F96C1CA6380B}"/>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Ребро к GRAY доказывает цикл</a:t>
            </a:r>
          </a:p>
        </p:txBody>
      </p:sp>
      <p:graphicFrame>
        <p:nvGraphicFramePr>
          <p:cNvPr id="7" name="">
            <a:extLst xmlns:a="http://schemas.openxmlformats.org/drawingml/2006/main">
              <a:ext uri="{FF2B5EF4-FFF2-40B4-BE49-F238E27FC236}">
                <a16:creationId xmlns:a16="http://schemas.microsoft.com/office/drawing/2014/main" id="{81A30D01-BC5A-4F85-A852-7E0C3D6DBF29}"/>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Граф: 0→1, 0→2, 1→3, 2→3</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Порядок</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Старт 0, сосед 1 до 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открытие: 0,1,3,2</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Завершённые вершины</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finish: 3,1,2,0</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Разворот finish</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0,2,1,3</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2→3 встречает BLACK 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цикла нет</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27DCD23-3B4C-45C5-B1BA-A29005114D13}"/>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A0103C78-EBF2-4CE8-A79B-0B098914CF4F}"/>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21 / 41</a:t>
            </a:r>
          </a:p>
        </p:txBody>
      </p:sp>
    </p:spTree>
    <p:extLst>
      <p:ext uri="{BB962C8B-B14F-4D97-AF65-F5344CB8AC3E}">
        <p14:creationId xmlns:p14="http://schemas.microsoft.com/office/powerpoint/2010/main" val="73634689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85B05A-85D4-420F-B018-3354FCC1666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9150BF44-56CD-4835-917A-B770FB91BE86}"/>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Итеративный DFS: индекс следующего соседа</a:t>
            </a:r>
          </a:p>
        </p:txBody>
      </p:sp>
      <p:sp>
        <p:nvSpPr>
          <p:cNvPr id="3" name="">
            <a:extLst xmlns:a="http://schemas.openxmlformats.org/drawingml/2006/main">
              <a:ext uri="{FF2B5EF4-FFF2-40B4-BE49-F238E27FC236}">
                <a16:creationId xmlns:a16="http://schemas.microsoft.com/office/drawing/2014/main" id="{2B5732A4-7D5D-4D68-9CCB-52780689ACB6}"/>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Стек вершин должен моделировать возврат DFS</a:t>
            </a:r>
          </a:p>
        </p:txBody>
      </p:sp>
      <p:sp>
        <p:nvSpPr>
          <p:cNvPr id="4" name="">
            <a:extLst xmlns:a="http://schemas.openxmlformats.org/drawingml/2006/main">
              <a:ext uri="{FF2B5EF4-FFF2-40B4-BE49-F238E27FC236}">
                <a16:creationId xmlns:a16="http://schemas.microsoft.com/office/drawing/2014/main" id="{A0D2CD3C-177F-4534-8E06-16B892F28823}"/>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Кадр хранит вершину и индекс следующего соседа</a:t>
            </a:r>
          </a:p>
        </p:txBody>
      </p:sp>
      <p:sp>
        <p:nvSpPr>
          <p:cNvPr id="5" name="">
            <a:extLst xmlns:a="http://schemas.openxmlformats.org/drawingml/2006/main">
              <a:ext uri="{FF2B5EF4-FFF2-40B4-BE49-F238E27FC236}">
                <a16:creationId xmlns:a16="http://schemas.microsoft.com/office/drawing/2014/main" id="{4556E5DC-2B60-4C81-97B8-4FC1544A1692}"/>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Добавляйте вершину в finish после всех соседей</a:t>
            </a:r>
          </a:p>
        </p:txBody>
      </p:sp>
      <p:sp>
        <p:nvSpPr>
          <p:cNvPr id="6" name="">
            <a:extLst xmlns:a="http://schemas.openxmlformats.org/drawingml/2006/main">
              <a:ext uri="{FF2B5EF4-FFF2-40B4-BE49-F238E27FC236}">
                <a16:creationId xmlns:a16="http://schemas.microsoft.com/office/drawing/2014/main" id="{9D62BE43-A78A-4F6F-8214-92515F5D70C6}"/>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Явный стек подходит для глубокого графа</a:t>
            </a:r>
          </a:p>
        </p:txBody>
      </p:sp>
      <p:sp>
        <p:nvSpPr>
          <p:cNvPr id="7" name="">
            <a:extLst xmlns:a="http://schemas.openxmlformats.org/drawingml/2006/main">
              <a:ext uri="{FF2B5EF4-FFF2-40B4-BE49-F238E27FC236}">
                <a16:creationId xmlns:a16="http://schemas.microsoft.com/office/drawing/2014/main" id="{9EB79507-AA94-40EA-AE9F-1E7003585C03}"/>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Frame f = stack.peek();</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(f.next == adj[f.v].size())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color[f.v] = BLACK;</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finish.add(f.v);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stack.pop();</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else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int to = adj[f.v].get(f.next++);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 Handle WHITE, GRAY and BLACK separately.</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F133A590-35A7-484E-8741-7FB9F3FA3A7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D5582C98-C63F-4411-BBAD-0DD68CBA3C9C}"/>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22 / 41</a:t>
            </a:r>
          </a:p>
        </p:txBody>
      </p:sp>
    </p:spTree>
    <p:extLst>
      <p:ext uri="{BB962C8B-B14F-4D97-AF65-F5344CB8AC3E}">
        <p14:creationId xmlns:p14="http://schemas.microsoft.com/office/powerpoint/2010/main" val="193795498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8175FDF-60FE-4CFB-8F56-2D02731A4259}"/>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6BC2C463-FA9D-4398-8938-FEA4CD4610F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Цикл вне компоненты источника</a:t>
            </a:r>
          </a:p>
        </p:txBody>
      </p:sp>
      <p:sp>
        <p:nvSpPr>
          <p:cNvPr id="3" name="">
            <a:extLst xmlns:a="http://schemas.openxmlformats.org/drawingml/2006/main">
              <a:ext uri="{FF2B5EF4-FFF2-40B4-BE49-F238E27FC236}">
                <a16:creationId xmlns:a16="http://schemas.microsoft.com/office/drawing/2014/main" id="{672B4CB0-26CB-40E0-A373-D93A5CFAA0D9}"/>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n=4, source=0</a:t>
            </a:r>
          </a:p>
        </p:txBody>
      </p:sp>
      <p:sp>
        <p:nvSpPr>
          <p:cNvPr id="4" name="">
            <a:extLst xmlns:a="http://schemas.openxmlformats.org/drawingml/2006/main">
              <a:ext uri="{FF2B5EF4-FFF2-40B4-BE49-F238E27FC236}">
                <a16:creationId xmlns:a16="http://schemas.microsoft.com/office/drawing/2014/main" id="{0F0FCD37-A3D1-450D-BE48-13A5B1941FD8}"/>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Дуги: 0→1, 2→3, 3→2</a:t>
            </a:r>
          </a:p>
        </p:txBody>
      </p:sp>
      <p:sp>
        <p:nvSpPr>
          <p:cNvPr id="5" name="">
            <a:extLst xmlns:a="http://schemas.openxmlformats.org/drawingml/2006/main">
              <a:ext uri="{FF2B5EF4-FFF2-40B4-BE49-F238E27FC236}">
                <a16:creationId xmlns:a16="http://schemas.microsoft.com/office/drawing/2014/main" id="{181E288A-D37F-450B-8A6C-110E22D52D08}"/>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Обход только из 0 пропустит цикл</a:t>
            </a:r>
          </a:p>
        </p:txBody>
      </p:sp>
      <p:sp>
        <p:nvSpPr>
          <p:cNvPr id="6" name="">
            <a:extLst xmlns:a="http://schemas.openxmlformats.org/drawingml/2006/main">
              <a:ext uri="{FF2B5EF4-FFF2-40B4-BE49-F238E27FC236}">
                <a16:creationId xmlns:a16="http://schemas.microsoft.com/office/drawing/2014/main" id="{A30FA85F-DD77-4950-9A67-38AE963F3116}"/>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DFS всего графа должен отклонить вход</a:t>
            </a:r>
          </a:p>
        </p:txBody>
      </p:sp>
      <p:graphicFrame>
        <p:nvGraphicFramePr>
          <p:cNvPr id="7" name="">
            <a:extLst xmlns:a="http://schemas.openxmlformats.org/drawingml/2006/main">
              <a:ext uri="{FF2B5EF4-FFF2-40B4-BE49-F238E27FC236}">
                <a16:creationId xmlns:a16="http://schemas.microsoft.com/office/drawing/2014/main" id="{1C593F3A-BF2B-468C-A768-1EC978AD6704}"/>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1333500">
                <a:tc>
                  <a:txBody>
                    <a:bodyPr/>
                    <a:lstStyle/>
                    <a:p>
                      <a:r>
                        <a:rPr sz="1725" b="1">
                          <a:solidFill>
                            <a:srgbClr val="15273F"/>
                          </a:solidFill>
                          <a:latin typeface="Arial"/>
                          <a:ea typeface="Arial"/>
                          <a:cs typeface="Arial"/>
                        </a:rPr>
                        <a:t>Запрос</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Корректный результат</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333500">
                <a:tc>
                  <a:txBody>
                    <a:bodyPr/>
                    <a:lstStyle/>
                    <a:p>
                      <a:r>
                        <a:rPr sz="1725" b="0">
                          <a:solidFill>
                            <a:srgbClr val="15273F"/>
                          </a:solidFill>
                          <a:latin typeface="Arial"/>
                          <a:ea typeface="Arial"/>
                          <a:cs typeface="Arial"/>
                        </a:rPr>
                        <a:t>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acyclic=false, order=[]</a:t>
                      </a:r>
                    </a:p>
                  </a:txBody>
                  <a:tcPr marL="91440" marR="91440" marT="45720" marB="45720">
                    <a:lnR w="9525">
                      <a:solidFill>
                        <a:srgbClr val="D8DEE6"/>
                      </a:solidFill>
                      <a:prstDash val="solid"/>
                    </a:lnR>
                    <a:lnB w="9525">
                      <a:solidFill>
                        <a:srgbClr val="D8DEE6"/>
                      </a:solidFill>
                      <a:prstDash val="solid"/>
                    </a:lnB>
                    <a:solidFill>
                      <a:srgbClr val="FFFFFF"/>
                    </a:solidFill>
                  </a:tcPr>
                </a:tc>
              </a:tr>
              <a:tr h="1333500">
                <a:tc>
                  <a:txBody>
                    <a:bodyPr/>
                    <a:lstStyle/>
                    <a:p>
                      <a:r>
                        <a:rPr sz="1725" b="0">
                          <a:solidFill>
                            <a:srgbClr val="15273F"/>
                          </a:solidFill>
                          <a:latin typeface="Arial"/>
                          <a:ea typeface="Arial"/>
                          <a:cs typeface="Arial"/>
                        </a:rPr>
                        <a:t>dag, source=0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acyclic=false, distance=[], parent_edge=[]</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5EABE200-450E-4C5F-B660-539A5E4DF519}"/>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1BA47A63-59FA-4F3F-91EC-834CC25E0E0D}"/>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23 / 41</a:t>
            </a:r>
          </a:p>
        </p:txBody>
      </p:sp>
    </p:spTree>
    <p:extLst>
      <p:ext uri="{BB962C8B-B14F-4D97-AF65-F5344CB8AC3E}">
        <p14:creationId xmlns:p14="http://schemas.microsoft.com/office/powerpoint/2010/main" val="74368484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8354F56-5C72-4802-8093-F0AA97EBFBD8}"/>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13080086-D4E6-4660-B84B-15A9E6C8B6F9}"/>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Кратчайшие пути в DAG: трассировка</a:t>
            </a:r>
          </a:p>
        </p:txBody>
      </p:sp>
      <p:sp>
        <p:nvSpPr>
          <p:cNvPr id="3" name="">
            <a:extLst xmlns:a="http://schemas.openxmlformats.org/drawingml/2006/main">
              <a:ext uri="{FF2B5EF4-FFF2-40B4-BE49-F238E27FC236}">
                <a16:creationId xmlns:a16="http://schemas.microsoft.com/office/drawing/2014/main" id="{FB6530B9-E95D-4E68-8A87-A3561C33E07D}"/>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Сначала проверьте весь граф на циклы</a:t>
            </a:r>
          </a:p>
        </p:txBody>
      </p:sp>
      <p:sp>
        <p:nvSpPr>
          <p:cNvPr id="4" name="">
            <a:extLst xmlns:a="http://schemas.openxmlformats.org/drawingml/2006/main">
              <a:ext uri="{FF2B5EF4-FFF2-40B4-BE49-F238E27FC236}">
                <a16:creationId xmlns:a16="http://schemas.microsoft.com/office/drawing/2014/main" id="{FF8B184E-F50D-4B50-AED0-1189A41980F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Обрабатывайте вершины в топологическом порядке</a:t>
            </a:r>
          </a:p>
        </p:txBody>
      </p:sp>
      <p:sp>
        <p:nvSpPr>
          <p:cNvPr id="5" name="">
            <a:extLst xmlns:a="http://schemas.openxmlformats.org/drawingml/2006/main">
              <a:ext uri="{FF2B5EF4-FFF2-40B4-BE49-F238E27FC236}">
                <a16:creationId xmlns:a16="http://schemas.microsoft.com/office/drawing/2014/main" id="{3E64716C-C708-478D-8F34-6BD685FBEBF1}"/>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Отрицательные веса допустимы</a:t>
            </a:r>
          </a:p>
        </p:txBody>
      </p:sp>
      <p:sp>
        <p:nvSpPr>
          <p:cNvPr id="6" name="">
            <a:extLst xmlns:a="http://schemas.openxmlformats.org/drawingml/2006/main">
              <a:ext uri="{FF2B5EF4-FFF2-40B4-BE49-F238E27FC236}">
                <a16:creationId xmlns:a16="http://schemas.microsoft.com/office/drawing/2014/main" id="{F58BC850-ECEE-4DC9-956D-E1DD540C0664}"/>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Недостижимое расстояние обозначается null</a:t>
            </a:r>
          </a:p>
        </p:txBody>
      </p:sp>
      <p:graphicFrame>
        <p:nvGraphicFramePr>
          <p:cNvPr id="7" name="">
            <a:extLst xmlns:a="http://schemas.openxmlformats.org/drawingml/2006/main">
              <a:ext uri="{FF2B5EF4-FFF2-40B4-BE49-F238E27FC236}">
                <a16:creationId xmlns:a16="http://schemas.microsoft.com/office/drawing/2014/main" id="{0F019A7B-94E4-4510-918F-35D8E53BAAA0}"/>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225550"/>
                <a:gridCol w="1225550"/>
                <a:gridCol w="1225550"/>
                <a:gridCol w="1225550"/>
                <a:gridCol w="1225550"/>
                <a:gridCol w="1225550"/>
              </a:tblGrid>
              <a:tr h="800100">
                <a:tc>
                  <a:txBody>
                    <a:bodyPr/>
                    <a:lstStyle/>
                    <a:p>
                      <a:r>
                        <a:rPr sz="1725" b="1">
                          <a:solidFill>
                            <a:srgbClr val="15273F"/>
                          </a:solidFill>
                          <a:latin typeface="Arial"/>
                          <a:ea typeface="Arial"/>
                          <a:cs typeface="Arial"/>
                        </a:rPr>
                        <a:t>Шаг</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d1</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d3</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d4</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initial</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0: 0→1(3), 0→2(8)</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8</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1: 1→2(−5)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2: 2→3(4)</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null</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66AD087-EB3A-49FE-88EC-1756B9BF438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821A3BA2-F272-4C63-9AE4-79CC507B5A12}"/>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24 / 41</a:t>
            </a:r>
          </a:p>
        </p:txBody>
      </p:sp>
    </p:spTree>
    <p:extLst>
      <p:ext uri="{BB962C8B-B14F-4D97-AF65-F5344CB8AC3E}">
        <p14:creationId xmlns:p14="http://schemas.microsoft.com/office/powerpoint/2010/main" val="43129306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6FD96ED-DFDD-499B-8501-FB26543B1B1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8EB4C0A-86E0-4883-9EC4-9A83EC8172B1}"/>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Почему достаточно одного прохода</a:t>
            </a:r>
          </a:p>
        </p:txBody>
      </p:sp>
      <p:sp>
        <p:nvSpPr>
          <p:cNvPr id="3" name="">
            <a:extLst xmlns:a="http://schemas.openxmlformats.org/drawingml/2006/main">
              <a:ext uri="{FF2B5EF4-FFF2-40B4-BE49-F238E27FC236}">
                <a16:creationId xmlns:a16="http://schemas.microsoft.com/office/drawing/2014/main" id="{08889426-C40E-4264-A90A-A3E2A6CF3720}"/>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Предшественники обрабатываются раньше вершины</a:t>
            </a:r>
          </a:p>
        </p:txBody>
      </p:sp>
      <p:sp>
        <p:nvSpPr>
          <p:cNvPr id="4" name="">
            <a:extLst xmlns:a="http://schemas.openxmlformats.org/drawingml/2006/main">
              <a:ext uri="{FF2B5EF4-FFF2-40B4-BE49-F238E27FC236}">
                <a16:creationId xmlns:a16="http://schemas.microsoft.com/office/drawing/2014/main" id="{4CFF661A-ED3B-4BA8-AC9B-D1816895FDC2}"/>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К моменту обработки u расстояние до неё готово</a:t>
            </a:r>
          </a:p>
        </p:txBody>
      </p:sp>
      <p:sp>
        <p:nvSpPr>
          <p:cNvPr id="5" name="">
            <a:extLst xmlns:a="http://schemas.openxmlformats.org/drawingml/2006/main">
              <a:ext uri="{FF2B5EF4-FFF2-40B4-BE49-F238E27FC236}">
                <a16:creationId xmlns:a16="http://schemas.microsoft.com/office/drawing/2014/main" id="{AEBD0FC0-D935-43FA-BE9A-69A50F7EF10E}"/>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Каждое исходящее ребро релаксируется один раз</a:t>
            </a:r>
          </a:p>
        </p:txBody>
      </p:sp>
      <p:sp>
        <p:nvSpPr>
          <p:cNvPr id="6" name="">
            <a:extLst xmlns:a="http://schemas.openxmlformats.org/drawingml/2006/main">
              <a:ext uri="{FF2B5EF4-FFF2-40B4-BE49-F238E27FC236}">
                <a16:creationId xmlns:a16="http://schemas.microsoft.com/office/drawing/2014/main" id="{20D07D3D-49A4-4298-9F3B-322994821E8C}"/>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При distance[u]=null вершина пропускается</a:t>
            </a:r>
          </a:p>
        </p:txBody>
      </p:sp>
      <p:sp>
        <p:nvSpPr>
          <p:cNvPr id="7" name="">
            <a:extLst xmlns:a="http://schemas.openxmlformats.org/drawingml/2006/main">
              <a:ext uri="{FF2B5EF4-FFF2-40B4-BE49-F238E27FC236}">
                <a16:creationId xmlns:a16="http://schemas.microsoft.com/office/drawing/2014/main" id="{3A10BA86-BA0B-4E76-B9C4-1BCCF7042E61}"/>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Long du = distance[u];</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if (du == null) continue;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for (Edge e : outgoing[u])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long candidate = du + e.weight;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if (distance[e.to] == null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candidate &lt; distance[e.to])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distance[e.to] = candidate;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parentEdge[e.to] = e.id;</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a:t>
            </a:r>
          </a:p>
        </p:txBody>
      </p:sp>
      <p:sp>
        <p:nvSpPr>
          <p:cNvPr id="8" name="">
            <a:extLst xmlns:a="http://schemas.openxmlformats.org/drawingml/2006/main">
              <a:ext uri="{FF2B5EF4-FFF2-40B4-BE49-F238E27FC236}">
                <a16:creationId xmlns:a16="http://schemas.microsoft.com/office/drawing/2014/main" id="{022B0D85-FF5C-43E7-A5ED-78125DEF7A0C}"/>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0D9D5DD7-7484-49E3-AD64-FDAD1CD869A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25 / 41</a:t>
            </a:r>
          </a:p>
        </p:txBody>
      </p:sp>
    </p:spTree>
    <p:extLst>
      <p:ext uri="{BB962C8B-B14F-4D97-AF65-F5344CB8AC3E}">
        <p14:creationId xmlns:p14="http://schemas.microsoft.com/office/powerpoint/2010/main" val="133745176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10D0248-7277-49A4-B900-B04CCBFF5D4A}"/>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A6F9C12C-D929-42B5-B0A3-DDF629AAA2D6}"/>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Восстановление маршрута по parent_edge</a:t>
            </a:r>
          </a:p>
        </p:txBody>
      </p:sp>
      <p:sp>
        <p:nvSpPr>
          <p:cNvPr id="3" name="">
            <a:extLst xmlns:a="http://schemas.openxmlformats.org/drawingml/2006/main">
              <a:ext uri="{FF2B5EF4-FFF2-40B4-BE49-F238E27FC236}">
                <a16:creationId xmlns:a16="http://schemas.microsoft.com/office/drawing/2014/main" id="{028E2D79-ACCD-44BA-BDCB-04BCD94E196E}"/>
              </a:ext>
            </a:extLst>
          </p:cNvPr>
          <p:cNvSpPr>
            <a:spLocks xmlns:a="http://schemas.openxmlformats.org/drawingml/2006/main" noGrp="1"/>
          </p:cNvSpPr>
          <p:nvPr/>
        </p:nvSpPr>
        <p:spPr>
          <a:xfrm xmlns:a="http://schemas.openxmlformats.org/drawingml/2006/main">
            <a:off x="609600" y="16668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parent_edge[v] хранит ID входящего ребра</a:t>
            </a:r>
          </a:p>
        </p:txBody>
      </p:sp>
      <p:sp>
        <p:nvSpPr>
          <p:cNvPr id="4" name="">
            <a:extLst xmlns:a="http://schemas.openxmlformats.org/drawingml/2006/main">
              <a:ext uri="{FF2B5EF4-FFF2-40B4-BE49-F238E27FC236}">
                <a16:creationId xmlns:a16="http://schemas.microsoft.com/office/drawing/2014/main" id="{AA54D32F-F5B3-4EF2-926E-B4203F4474F6}"/>
              </a:ext>
            </a:extLst>
          </p:cNvPr>
          <p:cNvSpPr>
            <a:spLocks xmlns:a="http://schemas.openxmlformats.org/drawingml/2006/main" noGrp="1"/>
          </p:cNvSpPr>
          <p:nvPr/>
        </p:nvSpPr>
        <p:spPr>
          <a:xfrm xmlns:a="http://schemas.openxmlformats.org/drawingml/2006/main">
            <a:off x="609600" y="2038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Следуйте рёбрам назад к источнику</a:t>
            </a:r>
          </a:p>
        </p:txBody>
      </p:sp>
      <p:sp>
        <p:nvSpPr>
          <p:cNvPr id="5" name="">
            <a:extLst xmlns:a="http://schemas.openxmlformats.org/drawingml/2006/main">
              <a:ext uri="{FF2B5EF4-FFF2-40B4-BE49-F238E27FC236}">
                <a16:creationId xmlns:a16="http://schemas.microsoft.com/office/drawing/2014/main" id="{BB186D04-A85D-41F7-87CC-3217FBE16F7C}"/>
              </a:ext>
            </a:extLst>
          </p:cNvPr>
          <p:cNvSpPr>
            <a:spLocks xmlns:a="http://schemas.openxmlformats.org/drawingml/2006/main" noGrp="1"/>
          </p:cNvSpPr>
          <p:nvPr/>
        </p:nvSpPr>
        <p:spPr>
          <a:xfrm xmlns:a="http://schemas.openxmlformats.org/drawingml/2006/main">
            <a:off x="609600" y="24098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Разверните собранные вершины</a:t>
            </a:r>
          </a:p>
        </p:txBody>
      </p:sp>
      <p:sp>
        <p:nvSpPr>
          <p:cNvPr id="6" name="">
            <a:extLst xmlns:a="http://schemas.openxmlformats.org/drawingml/2006/main">
              <a:ext uri="{FF2B5EF4-FFF2-40B4-BE49-F238E27FC236}">
                <a16:creationId xmlns:a16="http://schemas.microsoft.com/office/drawing/2014/main" id="{FD67929C-26B3-4ADA-B9A5-1D084640B404}"/>
              </a:ext>
            </a:extLst>
          </p:cNvPr>
          <p:cNvSpPr>
            <a:spLocks xmlns:a="http://schemas.openxmlformats.org/drawingml/2006/main" noGrp="1"/>
          </p:cNvSpPr>
          <p:nvPr/>
        </p:nvSpPr>
        <p:spPr>
          <a:xfrm xmlns:a="http://schemas.openxmlformats.org/drawingml/2006/main">
            <a:off x="609600" y="27813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Проверьте цель, источник и отсутствие пути</a:t>
            </a:r>
          </a:p>
        </p:txBody>
      </p:sp>
      <p:graphicFrame>
        <p:nvGraphicFramePr>
          <p:cNvPr id="7" name="">
            <a:extLst xmlns:a="http://schemas.openxmlformats.org/drawingml/2006/main">
              <a:ext uri="{FF2B5EF4-FFF2-40B4-BE49-F238E27FC236}">
                <a16:creationId xmlns:a16="http://schemas.microsoft.com/office/drawing/2014/main" id="{AF30EB13-33C4-4E6D-B981-AA432C9539FE}"/>
              </a:ext>
            </a:extLst>
          </p:cNvPr>
          <p:cNvGraphicFramePr/>
          <p:nvPr/>
        </p:nvGraphicFramePr>
        <p:xfrm>
          <a:off xmlns:a="http://schemas.openxmlformats.org/drawingml/2006/main" x="609600" y="3419475"/>
          <a:ext xmlns:a="http://schemas.openxmlformats.org/drawingml/2006/main" cx="5334000" cy="2428875"/>
        </p:xfrm>
        <a:graphic xmlns:a="http://schemas.openxmlformats.org/drawingml/2006/main">
          <a:graphicData uri="http://schemas.openxmlformats.org/drawingml/2006/table">
            <a:tbl>
              <a:tblPr/>
              <a:tblGrid>
                <a:gridCol w="1333500"/>
                <a:gridCol w="2080260"/>
                <a:gridCol w="1920240"/>
              </a:tblGrid>
              <a:tr h="607219">
                <a:tc>
                  <a:txBody>
                    <a:bodyPr/>
                    <a:lstStyle/>
                    <a:p>
                      <a:r>
                        <a:rPr sz="1725" b="1">
                          <a:solidFill>
                            <a:srgbClr val="15273F"/>
                          </a:solidFill>
                          <a:latin typeface="Arial"/>
                          <a:ea typeface="Arial"/>
                          <a:cs typeface="Arial"/>
                        </a:rPr>
                        <a:t>Цель</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Пример пути</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Стоимость helper</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07219">
                <a:tc>
                  <a:txBody>
                    <a:bodyPr/>
                    <a:lstStyle/>
                    <a:p>
                      <a:r>
                        <a:rPr sz="1725" b="0">
                          <a:solidFill>
                            <a:srgbClr val="15273F"/>
                          </a:solidFill>
                          <a:latin typeface="Arial"/>
                          <a:ea typeface="Arial"/>
                          <a:cs typeface="Arial"/>
                        </a:rPr>
                        <a:t>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[0,1,2,3]</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 L=4</a:t>
                      </a:r>
                    </a:p>
                  </a:txBody>
                  <a:tcPr marL="91440" marR="91440" marT="45720" marB="45720">
                    <a:lnR w="9525">
                      <a:solidFill>
                        <a:srgbClr val="D8DEE6"/>
                      </a:solidFill>
                      <a:prstDash val="solid"/>
                    </a:lnR>
                    <a:lnB w="9525">
                      <a:solidFill>
                        <a:srgbClr val="D8DEE6"/>
                      </a:solidFill>
                      <a:prstDash val="solid"/>
                    </a:lnB>
                    <a:solidFill>
                      <a:srgbClr val="FFFFFF"/>
                    </a:solidFill>
                  </a:tcPr>
                </a:tc>
              </a:tr>
              <a:tr h="607219">
                <a:tc>
                  <a:txBody>
                    <a:bodyPr/>
                    <a:lstStyle/>
                    <a:p>
                      <a:r>
                        <a:rPr sz="1725" b="0">
                          <a:solidFill>
                            <a:srgbClr val="15273F"/>
                          </a:solidFill>
                          <a:latin typeface="Arial"/>
                          <a:ea typeface="Arial"/>
                          <a:cs typeface="Arial"/>
                        </a:rPr>
                        <a:t>0: исток</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O(1)</a:t>
                      </a:r>
                    </a:p>
                  </a:txBody>
                  <a:tcPr marL="91440" marR="91440" marT="45720" marB="45720">
                    <a:lnR w="9525">
                      <a:solidFill>
                        <a:srgbClr val="D8DEE6"/>
                      </a:solidFill>
                      <a:prstDash val="solid"/>
                    </a:lnR>
                    <a:lnB w="9525">
                      <a:solidFill>
                        <a:srgbClr val="D8DEE6"/>
                      </a:solidFill>
                      <a:prstDash val="solid"/>
                    </a:lnB>
                    <a:solidFill>
                      <a:srgbClr val="FFFFFF"/>
                    </a:solidFill>
                  </a:tcPr>
                </a:tc>
              </a:tr>
              <a:tr h="607219">
                <a:tc>
                  <a:txBody>
                    <a:bodyPr/>
                    <a:lstStyle/>
                    <a:p>
                      <a:r>
                        <a:rPr sz="1725" b="0">
                          <a:solidFill>
                            <a:srgbClr val="15273F"/>
                          </a:solidFill>
                          <a:latin typeface="Arial"/>
                          <a:ea typeface="Arial"/>
                          <a:cs typeface="Arial"/>
                        </a:rPr>
                        <a:t>4: пути нет</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 пример</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O(1)</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5B5F4D6-C5D5-4A0C-9C80-E1DD3A35F663}"/>
              </a:ext>
            </a:extLst>
          </p:cNvPr>
          <p:cNvSpPr>
            <a:spLocks xmlns:a="http://schemas.openxmlformats.org/drawingml/2006/main" noGrp="1"/>
          </p:cNvSpPr>
          <p:nvPr/>
        </p:nvSpPr>
        <p:spPr>
          <a:xfrm xmlns:a="http://schemas.openxmlformats.org/drawingml/2006/main">
            <a:off x="6419850" y="3419475"/>
            <a:ext cx="52387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While v != source:</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int id = parentEdge[v];</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int previous = edges[id][0];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Collect v, move to previous.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Reverse the collected route.</a:t>
            </a:r>
          </a:p>
        </p:txBody>
      </p:sp>
      <p:sp>
        <p:nvSpPr>
          <p:cNvPr id="9" name="">
            <a:extLst xmlns:a="http://schemas.openxmlformats.org/drawingml/2006/main">
              <a:ext uri="{FF2B5EF4-FFF2-40B4-BE49-F238E27FC236}">
                <a16:creationId xmlns:a16="http://schemas.microsoft.com/office/drawing/2014/main" id="{82056CA7-6676-4CBC-BF58-6E17ECF6B150}"/>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10" name="">
            <a:extLst xmlns:a="http://schemas.openxmlformats.org/drawingml/2006/main">
              <a:ext uri="{FF2B5EF4-FFF2-40B4-BE49-F238E27FC236}">
                <a16:creationId xmlns:a16="http://schemas.microsoft.com/office/drawing/2014/main" id="{926B4528-9477-4C93-8DE1-43567AC4782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26 / 41</a:t>
            </a:r>
          </a:p>
        </p:txBody>
      </p:sp>
    </p:spTree>
    <p:extLst>
      <p:ext uri="{BB962C8B-B14F-4D97-AF65-F5344CB8AC3E}">
        <p14:creationId xmlns:p14="http://schemas.microsoft.com/office/powerpoint/2010/main" val="141406259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507B08-4AD8-4194-BFD1-D9CCA67EE8A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F70315B3-A1EF-4D2C-BCA7-EBE557B22BFA}"/>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Равные пути, ID и 64-битные суммы</a:t>
            </a:r>
          </a:p>
        </p:txBody>
      </p:sp>
      <p:sp>
        <p:nvSpPr>
          <p:cNvPr id="3" name="">
            <a:extLst xmlns:a="http://schemas.openxmlformats.org/drawingml/2006/main">
              <a:ext uri="{FF2B5EF4-FFF2-40B4-BE49-F238E27FC236}">
                <a16:creationId xmlns:a16="http://schemas.microsoft.com/office/drawing/2014/main" id="{84EC5A70-AC20-4221-B549-671483EC99AD}"/>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Параллельные рёбра сохраняют разные ID</a:t>
            </a:r>
          </a:p>
        </p:txBody>
      </p:sp>
      <p:sp>
        <p:nvSpPr>
          <p:cNvPr id="4" name="">
            <a:extLst xmlns:a="http://schemas.openxmlformats.org/drawingml/2006/main">
              <a:ext uri="{FF2B5EF4-FFF2-40B4-BE49-F238E27FC236}">
                <a16:creationId xmlns:a16="http://schemas.microsoft.com/office/drawing/2014/main" id="{B5A3308B-FA74-45E2-A781-8B7CA34A7701}"/>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Равные длины допускают разные пути</a:t>
            </a:r>
          </a:p>
        </p:txBody>
      </p:sp>
      <p:sp>
        <p:nvSpPr>
          <p:cNvPr id="5" name="">
            <a:extLst xmlns:a="http://schemas.openxmlformats.org/drawingml/2006/main">
              <a:ext uri="{FF2B5EF4-FFF2-40B4-BE49-F238E27FC236}">
                <a16:creationId xmlns:a16="http://schemas.microsoft.com/office/drawing/2014/main" id="{635B80D5-51D1-42A6-80AA-65429AD1501A}"/>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Родительское ребро должно входить в вершину</a:t>
            </a:r>
          </a:p>
        </p:txBody>
      </p:sp>
      <p:sp>
        <p:nvSpPr>
          <p:cNvPr id="6" name="">
            <a:extLst xmlns:a="http://schemas.openxmlformats.org/drawingml/2006/main">
              <a:ext uri="{FF2B5EF4-FFF2-40B4-BE49-F238E27FC236}">
                <a16:creationId xmlns:a16="http://schemas.microsoft.com/office/drawing/2014/main" id="{ED6912B2-161C-427F-911B-B07CF24B5F7D}"/>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Расширяйте тип до потенциального переполнения</a:t>
            </a:r>
          </a:p>
        </p:txBody>
      </p:sp>
      <p:sp>
        <p:nvSpPr>
          <p:cNvPr id="7" name="">
            <a:extLst xmlns:a="http://schemas.openxmlformats.org/drawingml/2006/main">
              <a:ext uri="{FF2B5EF4-FFF2-40B4-BE49-F238E27FC236}">
                <a16:creationId xmlns:a16="http://schemas.microsoft.com/office/drawing/2014/main" id="{8E493C78-C517-4294-A7A1-87C44AA90D8C}"/>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long safe = 3L * 1_000_000_000; // 3000000000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3 * 1_000_000_000 overflows as int first.</a:t>
            </a:r>
          </a:p>
          <a:p xmlns:a="http://schemas.openxmlformats.org/drawingml/2006/main">
            <a:r>
              <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Source and unreachable parent edge: -1</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Source distance: 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 Unreachable distance: null</a:t>
            </a:r>
          </a:p>
        </p:txBody>
      </p:sp>
      <p:sp>
        <p:nvSpPr>
          <p:cNvPr id="8" name="">
            <a:extLst xmlns:a="http://schemas.openxmlformats.org/drawingml/2006/main">
              <a:ext uri="{FF2B5EF4-FFF2-40B4-BE49-F238E27FC236}">
                <a16:creationId xmlns:a16="http://schemas.microsoft.com/office/drawing/2014/main" id="{5C2041F1-5008-4238-97A0-57A60CC7F3B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0B5FEFFC-D8A7-4205-9F81-8AAD3D3CDFED}"/>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27 / 41</a:t>
            </a:r>
          </a:p>
        </p:txBody>
      </p:sp>
    </p:spTree>
    <p:extLst>
      <p:ext uri="{BB962C8B-B14F-4D97-AF65-F5344CB8AC3E}">
        <p14:creationId xmlns:p14="http://schemas.microsoft.com/office/powerpoint/2010/main" val="173494092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C834FD-2868-4868-8F1A-6FF643F962D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FEA13B8C-CA8B-4D33-8456-8DAB6B2194D8}"/>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Равные пути и параллельные ID: пример</a:t>
            </a:r>
          </a:p>
        </p:txBody>
      </p:sp>
      <p:sp>
        <p:nvSpPr>
          <p:cNvPr id="3" name="">
            <a:extLst xmlns:a="http://schemas.openxmlformats.org/drawingml/2006/main">
              <a:ext uri="{FF2B5EF4-FFF2-40B4-BE49-F238E27FC236}">
                <a16:creationId xmlns:a16="http://schemas.microsoft.com/office/drawing/2014/main" id="{CF259F1E-616B-4057-8CCB-69877AF276B1}"/>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n=3, source=0</a:t>
            </a:r>
          </a:p>
        </p:txBody>
      </p:sp>
      <p:sp>
        <p:nvSpPr>
          <p:cNvPr id="4" name="">
            <a:extLst xmlns:a="http://schemas.openxmlformats.org/drawingml/2006/main">
              <a:ext uri="{FF2B5EF4-FFF2-40B4-BE49-F238E27FC236}">
                <a16:creationId xmlns:a16="http://schemas.microsoft.com/office/drawing/2014/main" id="{B6177978-D4F1-4F8E-A491-F9BCEC6E5B5E}"/>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ID 0 и 1: 0→1, вес 2</a:t>
            </a:r>
          </a:p>
        </p:txBody>
      </p:sp>
      <p:sp>
        <p:nvSpPr>
          <p:cNvPr id="5" name="">
            <a:extLst xmlns:a="http://schemas.openxmlformats.org/drawingml/2006/main">
              <a:ext uri="{FF2B5EF4-FFF2-40B4-BE49-F238E27FC236}">
                <a16:creationId xmlns:a16="http://schemas.microsoft.com/office/drawing/2014/main" id="{620B3C9A-0A30-4625-96DF-2CCCAC0333B4}"/>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ID 2: 1→2, вес 1; ID 3: 0→2, вес 3</a:t>
            </a:r>
          </a:p>
        </p:txBody>
      </p:sp>
      <p:sp>
        <p:nvSpPr>
          <p:cNvPr id="6" name="">
            <a:extLst xmlns:a="http://schemas.openxmlformats.org/drawingml/2006/main">
              <a:ext uri="{FF2B5EF4-FFF2-40B4-BE49-F238E27FC236}">
                <a16:creationId xmlns:a16="http://schemas.microsoft.com/office/drawing/2014/main" id="{B0039358-758E-4F71-A07F-467B24949F33}"/>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Все варианты дают distance=[0,2,3]</a:t>
            </a:r>
          </a:p>
        </p:txBody>
      </p:sp>
      <p:graphicFrame>
        <p:nvGraphicFramePr>
          <p:cNvPr id="7" name="">
            <a:extLst xmlns:a="http://schemas.openxmlformats.org/drawingml/2006/main">
              <a:ext uri="{FF2B5EF4-FFF2-40B4-BE49-F238E27FC236}">
                <a16:creationId xmlns:a16="http://schemas.microsoft.com/office/drawing/2014/main" id="{6C28CBD8-CF13-4C14-B26D-36842D9AF58C}"/>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parent_edge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Путь к 2</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Длина</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[-1,0,2]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[-1,1,2]</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[0,1,2]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[-1,1,3]</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[0,2]</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5CAB070-95B2-4A70-887C-D4DA7798A964}"/>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4C544228-C6F2-4802-B3BF-CDF85012C7B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28 / 41</a:t>
            </a:r>
          </a:p>
        </p:txBody>
      </p:sp>
    </p:spTree>
    <p:extLst>
      <p:ext uri="{BB962C8B-B14F-4D97-AF65-F5344CB8AC3E}">
        <p14:creationId xmlns:p14="http://schemas.microsoft.com/office/powerpoint/2010/main" val="138348998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22FC43-FF2F-481B-BCC0-4FCC7F33C62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A3AA2BE-E130-4755-A6FA-F2F09C2E2C9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Время и память с учётом результата</a:t>
            </a:r>
          </a:p>
        </p:txBody>
      </p:sp>
      <p:sp>
        <p:nvSpPr>
          <p:cNvPr id="3" name="">
            <a:extLst xmlns:a="http://schemas.openxmlformats.org/drawingml/2006/main">
              <a:ext uri="{FF2B5EF4-FFF2-40B4-BE49-F238E27FC236}">
                <a16:creationId xmlns:a16="http://schemas.microsoft.com/office/drawing/2014/main" id="{8F1E5E87-8AA5-4BBF-B3BA-421F70EE267D}"/>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Списки смежности дают линейные обходы</a:t>
            </a:r>
          </a:p>
        </p:txBody>
      </p:sp>
      <p:sp>
        <p:nvSpPr>
          <p:cNvPr id="4" name="">
            <a:extLst xmlns:a="http://schemas.openxmlformats.org/drawingml/2006/main">
              <a:ext uri="{FF2B5EF4-FFF2-40B4-BE49-F238E27FC236}">
                <a16:creationId xmlns:a16="http://schemas.microsoft.com/office/drawing/2014/main" id="{87C76DEE-0460-418B-9B29-FC5655FE4E7A}"/>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Амортизированное время относится к серии операций</a:t>
            </a:r>
          </a:p>
        </p:txBody>
      </p:sp>
      <p:sp>
        <p:nvSpPr>
          <p:cNvPr id="5" name="">
            <a:extLst xmlns:a="http://schemas.openxmlformats.org/drawingml/2006/main">
              <a:ext uri="{FF2B5EF4-FFF2-40B4-BE49-F238E27FC236}">
                <a16:creationId xmlns:a16="http://schemas.microsoft.com/office/drawing/2014/main" id="{6A54FC59-4332-4FA8-82A5-CB605FAE899D}"/>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Учитывайте states, edge_ids, метки и пути</a:t>
            </a:r>
          </a:p>
        </p:txBody>
      </p:sp>
      <p:sp>
        <p:nvSpPr>
          <p:cNvPr id="6" name="">
            <a:extLst xmlns:a="http://schemas.openxmlformats.org/drawingml/2006/main">
              <a:ext uri="{FF2B5EF4-FFF2-40B4-BE49-F238E27FC236}">
                <a16:creationId xmlns:a16="http://schemas.microsoft.com/office/drawing/2014/main" id="{E67103B8-8627-4866-BF6F-BCB75FCEB034}"/>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Обоснуйте выбранное представление графа</a:t>
            </a:r>
          </a:p>
        </p:txBody>
      </p:sp>
      <p:graphicFrame>
        <p:nvGraphicFramePr>
          <p:cNvPr id="7" name="">
            <a:extLst xmlns:a="http://schemas.openxmlformats.org/drawingml/2006/main">
              <a:ext uri="{FF2B5EF4-FFF2-40B4-BE49-F238E27FC236}">
                <a16:creationId xmlns:a16="http://schemas.microsoft.com/office/drawing/2014/main" id="{223B8E7B-ABB7-4F72-A2CA-EB30B21B5506}"/>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666750">
                <a:tc>
                  <a:txBody>
                    <a:bodyPr/>
                    <a:lstStyle/>
                    <a:p>
                      <a:r>
                        <a:rPr sz="1725" b="1">
                          <a:solidFill>
                            <a:srgbClr val="15273F"/>
                          </a:solidFill>
                          <a:latin typeface="Arial"/>
                          <a:ea typeface="Arial"/>
                          <a:cs typeface="Arial"/>
                        </a:rPr>
                        <a:t>Метод</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Время</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Память с результатом</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666750">
                <a:tc>
                  <a:txBody>
                    <a:bodyPr/>
                    <a:lstStyle/>
                    <a:p>
                      <a:r>
                        <a:rPr sz="1725" b="0">
                          <a:solidFill>
                            <a:srgbClr val="15273F"/>
                          </a:solidFill>
                          <a:latin typeface="Arial"/>
                          <a:ea typeface="Arial"/>
                          <a:cs typeface="Arial"/>
                        </a:rPr>
                        <a:t>DSU, q операций</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O(n+q α(n))</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O(n+q), включая states</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Краскал / ленивый Прим</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 log(m+1))</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Косарайю / DFS topo</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DAG paths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O(n+m)</a:t>
                      </a:r>
                    </a:p>
                  </a:txBody>
                  <a:tcPr marL="91440" marR="91440" marT="45720" marB="45720">
                    <a:lnR w="9525">
                      <a:solidFill>
                        <a:srgbClr val="D8DEE6"/>
                      </a:solidFill>
                      <a:prstDash val="solid"/>
                    </a:lnR>
                    <a:lnB w="9525">
                      <a:solidFill>
                        <a:srgbClr val="D8DEE6"/>
                      </a:solidFill>
                      <a:prstDash val="solid"/>
                    </a:lnB>
                    <a:solidFill>
                      <a:srgbClr val="FFFFFF"/>
                    </a:solidFill>
                  </a:tcPr>
                </a:tc>
              </a:tr>
              <a:tr h="666750">
                <a:tc>
                  <a:txBody>
                    <a:bodyPr/>
                    <a:lstStyle/>
                    <a:p>
                      <a:r>
                        <a:rPr sz="1725" b="0">
                          <a:solidFill>
                            <a:srgbClr val="15273F"/>
                          </a:solidFill>
                          <a:latin typeface="Arial"/>
                          <a:ea typeface="Arial"/>
                          <a:cs typeface="Arial"/>
                        </a:rPr>
                        <a:t>Helper, L вершин</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O(L) результат</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0C07CCA-F8FA-4274-82ED-4A4BB21DE1F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30E7B31E-6020-4E00-903F-F3C6AE473029}"/>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29 / 41</a:t>
            </a:r>
          </a:p>
        </p:txBody>
      </p:sp>
    </p:spTree>
    <p:extLst>
      <p:ext uri="{BB962C8B-B14F-4D97-AF65-F5344CB8AC3E}">
        <p14:creationId xmlns:p14="http://schemas.microsoft.com/office/powerpoint/2010/main" val="118014538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0BA233F-0C5B-4A60-AF9F-DFAEDCEF4C2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1CC8C37-236A-4D0E-A90F-0B58B1033D25}"/>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Проверка свидетельства результата</a:t>
            </a:r>
          </a:p>
        </p:txBody>
      </p:sp>
      <p:sp>
        <p:nvSpPr>
          <p:cNvPr id="3" name="">
            <a:extLst xmlns:a="http://schemas.openxmlformats.org/drawingml/2006/main">
              <a:ext uri="{FF2B5EF4-FFF2-40B4-BE49-F238E27FC236}">
                <a16:creationId xmlns:a16="http://schemas.microsoft.com/office/drawing/2014/main" id="{5ABCBA97-34E1-43A7-9AAB-EBB4060B8533}"/>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Лесу нужны реальные ID без повторов и циклов</a:t>
            </a:r>
          </a:p>
        </p:txBody>
      </p:sp>
      <p:sp>
        <p:nvSpPr>
          <p:cNvPr id="4" name="">
            <a:extLst xmlns:a="http://schemas.openxmlformats.org/drawingml/2006/main">
              <a:ext uri="{FF2B5EF4-FFF2-40B4-BE49-F238E27FC236}">
                <a16:creationId xmlns:a16="http://schemas.microsoft.com/office/drawing/2014/main" id="{5DC40BB9-7DAF-4A4D-AFBC-833CC22F7F5E}"/>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Метки SCC должны задавать точное разбиение</a:t>
            </a:r>
          </a:p>
        </p:txBody>
      </p:sp>
      <p:sp>
        <p:nvSpPr>
          <p:cNvPr id="5" name="">
            <a:extLst xmlns:a="http://schemas.openxmlformats.org/drawingml/2006/main">
              <a:ext uri="{FF2B5EF4-FFF2-40B4-BE49-F238E27FC236}">
                <a16:creationId xmlns:a16="http://schemas.microsoft.com/office/drawing/2014/main" id="{353A091D-2814-4A23-9A2F-61F7E110A062}"/>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Topo содержит все вершины ровно один раз</a:t>
            </a:r>
          </a:p>
        </p:txBody>
      </p:sp>
      <p:sp>
        <p:nvSpPr>
          <p:cNvPr id="6" name="">
            <a:extLst xmlns:a="http://schemas.openxmlformats.org/drawingml/2006/main">
              <a:ext uri="{FF2B5EF4-FFF2-40B4-BE49-F238E27FC236}">
                <a16:creationId xmlns:a16="http://schemas.microsoft.com/office/drawing/2014/main" id="{AE55DD64-4382-4C62-A238-CA125440E5A6}"/>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Родительские рёбра задают реальные пути</a:t>
            </a:r>
          </a:p>
        </p:txBody>
      </p:sp>
      <p:graphicFrame>
        <p:nvGraphicFramePr>
          <p:cNvPr id="7" name="">
            <a:extLst xmlns:a="http://schemas.openxmlformats.org/drawingml/2006/main">
              <a:ext uri="{FF2B5EF4-FFF2-40B4-BE49-F238E27FC236}">
                <a16:creationId xmlns:a16="http://schemas.microsoft.com/office/drawing/2014/main" id="{00EF07B0-6ACF-4C4F-8762-C98910A9FCF2}"/>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Случай</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Результат проверки</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Та же сумма, повтор ID</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отклонить witness</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Согласованная замена меток SCC</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принять разбиение</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Другой равный кратчайший путь</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принять optimum</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Верные distance, неверный parent_edge</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отклонить witness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C8D0A575-F433-4707-9338-F6615DB5A875}"/>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A4B58687-74BD-4A4C-A173-8B44EA30756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30 / 41</a:t>
            </a:r>
          </a:p>
        </p:txBody>
      </p:sp>
    </p:spTree>
    <p:extLst>
      <p:ext uri="{BB962C8B-B14F-4D97-AF65-F5344CB8AC3E}">
        <p14:creationId xmlns:p14="http://schemas.microsoft.com/office/powerpoint/2010/main" val="97833404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3F046FC-FF92-44BA-8D15-5C9EEE4DBD75}"/>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675A318E-C53B-4803-86AB-A879AC6BDBDA}"/>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Собственные тесты и независимость запросов</a:t>
            </a:r>
          </a:p>
        </p:txBody>
      </p:sp>
      <p:sp>
        <p:nvSpPr>
          <p:cNvPr id="3" name="">
            <a:extLst xmlns:a="http://schemas.openxmlformats.org/drawingml/2006/main">
              <a:ext uri="{FF2B5EF4-FFF2-40B4-BE49-F238E27FC236}">
                <a16:creationId xmlns:a16="http://schemas.microsoft.com/office/drawing/2014/main" id="{01F973FC-ABA7-444A-8DAF-BE6F34FFE1B2}"/>
              </a:ext>
            </a:extLst>
          </p:cNvPr>
          <p:cNvSpPr>
            <a:spLocks xmlns:a="http://schemas.openxmlformats.org/drawingml/2006/main" noGrp="1"/>
          </p:cNvSpPr>
          <p:nvPr/>
        </p:nvSpPr>
        <p:spPr>
          <a:xfrm xmlns:a="http://schemas.openxmlformats.org/drawingml/2006/main">
            <a:off x="609600" y="168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Запишите вход, ожидаемый и фактический результат</a:t>
            </a:r>
          </a:p>
        </p:txBody>
      </p:sp>
      <p:sp>
        <p:nvSpPr>
          <p:cNvPr id="4" name="">
            <a:extLst xmlns:a="http://schemas.openxmlformats.org/drawingml/2006/main">
              <a:ext uri="{FF2B5EF4-FFF2-40B4-BE49-F238E27FC236}">
                <a16:creationId xmlns:a16="http://schemas.microsoft.com/office/drawing/2014/main" id="{8FC6080F-9D97-4BB0-B6AF-1A23AC43923E}"/>
              </a:ext>
            </a:extLst>
          </p:cNvPr>
          <p:cNvSpPr>
            <a:spLocks xmlns:a="http://schemas.openxmlformats.org/drawingml/2006/main" noGrp="1"/>
          </p:cNvSpPr>
          <p:nvPr/>
        </p:nvSpPr>
        <p:spPr>
          <a:xfrm xmlns:a="http://schemas.openxmlformats.org/drawingml/2006/main">
            <a:off x="609600" y="20955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Покройте обычные и допустимые крайние случаи</a:t>
            </a:r>
          </a:p>
        </p:txBody>
      </p:sp>
      <p:sp>
        <p:nvSpPr>
          <p:cNvPr id="5" name="">
            <a:extLst xmlns:a="http://schemas.openxmlformats.org/drawingml/2006/main">
              <a:ext uri="{FF2B5EF4-FFF2-40B4-BE49-F238E27FC236}">
                <a16:creationId xmlns:a16="http://schemas.microsoft.com/office/drawing/2014/main" id="{3AD8FDC1-EE98-40F4-AC20-5E9D46F01300}"/>
              </a:ext>
            </a:extLst>
          </p:cNvPr>
          <p:cNvSpPr>
            <a:spLocks xmlns:a="http://schemas.openxmlformats.org/drawingml/2006/main" noGrp="1"/>
          </p:cNvSpPr>
          <p:nvPr/>
        </p:nvSpPr>
        <p:spPr>
          <a:xfrm xmlns:a="http://schemas.openxmlformats.org/drawingml/2006/main">
            <a:off x="609600" y="25050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Отправьте несколько задач в одном процессе</a:t>
            </a:r>
          </a:p>
        </p:txBody>
      </p:sp>
      <p:sp>
        <p:nvSpPr>
          <p:cNvPr id="6" name="">
            <a:extLst xmlns:a="http://schemas.openxmlformats.org/drawingml/2006/main">
              <a:ext uri="{FF2B5EF4-FFF2-40B4-BE49-F238E27FC236}">
                <a16:creationId xmlns:a16="http://schemas.microsoft.com/office/drawing/2014/main" id="{EFD13C5F-B8F2-4914-8339-A9FDCD9B20A5}"/>
              </a:ext>
            </a:extLst>
          </p:cNvPr>
          <p:cNvSpPr>
            <a:spLocks xmlns:a="http://schemas.openxmlformats.org/drawingml/2006/main" noGrp="1"/>
          </p:cNvSpPr>
          <p:nvPr/>
        </p:nvSpPr>
        <p:spPr>
          <a:xfrm xmlns:a="http://schemas.openxmlformats.org/drawingml/2006/main">
            <a:off x="609600" y="2914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00" b="0">
                <a:solidFill>
                  <a:srgbClr val="15273F"/>
                </a:solidFill>
                <a:latin typeface="Arial"/>
                <a:ea typeface="Arial"/>
                <a:cs typeface="Arial"/>
              </a:defRPr>
            </a:defPPr>
          </a:lstStyle>
          <a:p xmlns:a="http://schemas.openxmlformats.org/drawingml/2006/main">
            <a:pPr>
              <a:defRPr sz="2100" b="0">
                <a:solidFill>
                  <a:srgbClr val="15273F"/>
                </a:solidFill>
                <a:latin typeface="Arial"/>
                <a:ea typeface="Arial"/>
                <a:cs typeface="Arial"/>
              </a:defRPr>
            </a:pPr>
            <a:r>
              <a:rPr sz="2100" b="0">
                <a:solidFill>
                  <a:srgbClr val="15273F"/>
                </a:solidFill>
                <a:latin typeface="Arial"/>
                <a:ea typeface="Arial"/>
                <a:cs typeface="Arial"/>
              </a:rPr>
              <a:t>После малых тестов проверьте большие и глубокие</a:t>
            </a:r>
          </a:p>
        </p:txBody>
      </p:sp>
      <p:sp>
        <p:nvSpPr>
          <p:cNvPr id="7" name="">
            <a:extLst xmlns:a="http://schemas.openxmlformats.org/drawingml/2006/main">
              <a:ext uri="{FF2B5EF4-FFF2-40B4-BE49-F238E27FC236}">
                <a16:creationId xmlns:a16="http://schemas.microsoft.com/office/drawing/2014/main" id="{FAB63824-2E8D-4572-B69F-2921FF9F4791}"/>
              </a:ext>
            </a:extLst>
          </p:cNvPr>
          <p:cNvSpPr>
            <a:spLocks xmlns:a="http://schemas.openxmlformats.org/drawingml/2006/main" noGrp="1"/>
          </p:cNvSpPr>
          <p:nvPr/>
        </p:nvSpPr>
        <p:spPr>
          <a:xfrm xmlns:a="http://schemas.openxmlformats.org/drawingml/2006/main">
            <a:off x="609600" y="3590925"/>
            <a:ext cx="10972800" cy="2724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725" b="0">
                <a:solidFill>
                  <a:srgbClr val="15273F"/>
                </a:solidFill>
                <a:latin typeface="Courier New"/>
                <a:ea typeface="Courier New"/>
                <a:cs typeface="Courier New"/>
              </a:defRPr>
            </a:defPPr>
          </a:lstStyle>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DSU request → repeat union → DSU request n=0</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MST request → disconnected forest → SCC request</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Topo DAG → cyclic graph → DAG shortest paths</a:t>
            </a:r>
          </a:p>
          <a:p xmlns:a="http://schemas.openxmlformats.org/drawingml/2006/main">
            <a:pPr>
              <a:defRPr sz="1725" b="0">
                <a:solidFill>
                  <a:srgbClr val="15273F"/>
                </a:solidFill>
                <a:latin typeface="Courier New"/>
                <a:ea typeface="Courier New"/>
                <a:cs typeface="Courier New"/>
              </a:defRPr>
            </a:pPr>
            <a:r>
              <a:rPr sz="1725" b="0">
                <a:solidFill>
                  <a:srgbClr val="15273F"/>
                </a:solidFill>
                <a:latin typeface="Courier New"/>
                <a:ea typeface="Courier New"/>
                <a:cs typeface="Courier New"/>
              </a:rPr>
              <a:t>Reachable helper → source helper → unreachable helper</a:t>
            </a:r>
          </a:p>
        </p:txBody>
      </p:sp>
      <p:sp>
        <p:nvSpPr>
          <p:cNvPr id="8" name="">
            <a:extLst xmlns:a="http://schemas.openxmlformats.org/drawingml/2006/main">
              <a:ext uri="{FF2B5EF4-FFF2-40B4-BE49-F238E27FC236}">
                <a16:creationId xmlns:a16="http://schemas.microsoft.com/office/drawing/2014/main" id="{9443225F-E5D1-4734-A403-66B2D949E84A}"/>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B68CBA0D-F7C2-4FCE-9CE6-455258CCE0FB}"/>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31 / 41</a:t>
            </a:r>
          </a:p>
        </p:txBody>
      </p:sp>
    </p:spTree>
    <p:extLst>
      <p:ext uri="{BB962C8B-B14F-4D97-AF65-F5344CB8AC3E}">
        <p14:creationId xmlns:p14="http://schemas.microsoft.com/office/powerpoint/2010/main" val="122133181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9A0078-23F8-4B34-A450-2C4F4A2558E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2ADDF08C-F005-4BE8-9B38-31C74628C2C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Малые тесты с точными ожидаемыми ответами</a:t>
            </a:r>
          </a:p>
        </p:txBody>
      </p:sp>
      <p:sp>
        <p:nvSpPr>
          <p:cNvPr id="3" name="">
            <a:extLst xmlns:a="http://schemas.openxmlformats.org/drawingml/2006/main">
              <a:ext uri="{FF2B5EF4-FFF2-40B4-BE49-F238E27FC236}">
                <a16:creationId xmlns:a16="http://schemas.microsoft.com/office/drawing/2014/main" id="{035EBD40-E967-4A28-A531-6736007BD932}"/>
              </a:ext>
            </a:extLst>
          </p:cNvPr>
          <p:cNvSpPr>
            <a:spLocks xmlns:a="http://schemas.openxmlformats.org/drawingml/2006/main" noGrp="1"/>
          </p:cNvSpPr>
          <p:nvPr/>
        </p:nvSpPr>
        <p:spPr>
          <a:xfrm xmlns:a="http://schemas.openxmlformats.org/drawingml/2006/main">
            <a:off x="609600" y="1743075"/>
            <a:ext cx="10972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025" b="0">
                <a:solidFill>
                  <a:srgbClr val="15273F"/>
                </a:solidFill>
                <a:latin typeface="Arial"/>
                <a:ea typeface="Arial"/>
                <a:cs typeface="Arial"/>
              </a:defRPr>
            </a:defPPr>
          </a:lstStyle>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Запустите настоящую реализацию</a:t>
            </a:r>
          </a:p>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Сравните ожидаемый и фактический результат</a:t>
            </a:r>
          </a:p>
          <a:p xmlns:a="http://schemas.openxmlformats.org/drawingml/2006/main">
            <a:pPr>
              <a:defRPr sz="2025" b="0">
                <a:solidFill>
                  <a:srgbClr val="15273F"/>
                </a:solidFill>
                <a:latin typeface="Arial"/>
                <a:ea typeface="Arial"/>
                <a:cs typeface="Arial"/>
              </a:defRPr>
            </a:pPr>
            <a:r>
              <a:rPr sz="2025" b="0">
                <a:solidFill>
                  <a:srgbClr val="15273F"/>
                </a:solidFill>
                <a:latin typeface="Arial"/>
                <a:ea typeface="Arial"/>
                <a:cs typeface="Arial"/>
              </a:rPr>
              <a:t>Пустые графы допустимы не для всех задач</a:t>
            </a:r>
          </a:p>
        </p:txBody>
      </p:sp>
      <p:graphicFrame>
        <p:nvGraphicFramePr>
          <p:cNvPr id="4" name="">
            <a:extLst xmlns:a="http://schemas.openxmlformats.org/drawingml/2006/main">
              <a:ext uri="{FF2B5EF4-FFF2-40B4-BE49-F238E27FC236}">
                <a16:creationId xmlns:a16="http://schemas.microsoft.com/office/drawing/2014/main" id="{9FA2A1CD-CDD0-4351-9B56-9235AF2191A2}"/>
              </a:ext>
            </a:extLst>
          </p:cNvPr>
          <p:cNvGraphicFramePr/>
          <p:nvPr/>
        </p:nvGraphicFramePr>
        <p:xfrm>
          <a:off xmlns:a="http://schemas.openxmlformats.org/drawingml/2006/main" x="609600" y="3086100"/>
          <a:ext xmlns:a="http://schemas.openxmlformats.org/drawingml/2006/main" cx="10972800" cy="3000375"/>
        </p:xfrm>
        <a:graphic xmlns:a="http://schemas.openxmlformats.org/drawingml/2006/main">
          <a:graphicData uri="http://schemas.openxmlformats.org/drawingml/2006/table">
            <a:tbl>
              <a:tblPr/>
              <a:tblGrid>
                <a:gridCol w="3950208"/>
                <a:gridCol w="7022592"/>
              </a:tblGrid>
              <a:tr h="500063">
                <a:tc>
                  <a:txBody>
                    <a:bodyPr/>
                    <a:lstStyle/>
                    <a:p>
                      <a:r>
                        <a:rPr sz="1725" b="1">
                          <a:solidFill>
                            <a:srgbClr val="15273F"/>
                          </a:solidFill>
                          <a:latin typeface="Arial"/>
                          <a:ea typeface="Arial"/>
                          <a:cs typeface="Arial"/>
                        </a:rPr>
                        <a:t>Задача и вход</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Ожидаемый результат</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500063">
                <a:tc>
                  <a:txBody>
                    <a:bodyPr/>
                    <a:lstStyle/>
                    <a:p>
                      <a:r>
                        <a:rPr sz="1725" b="0">
                          <a:solidFill>
                            <a:srgbClr val="15273F"/>
                          </a:solidFill>
                          <a:latin typeface="Arial"/>
                          <a:ea typeface="Arial"/>
                          <a:cs typeface="Arial"/>
                        </a:rPr>
                        <a:t>dsu: n=0, operations=[]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states=[]</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kruskal/prim: n=0,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cost=0, components=0, edge_ids=[]</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scc: n=0,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component=[], condensation=[]</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topo: n=0,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acyclic=true, order=[]</a:t>
                      </a:r>
                    </a:p>
                  </a:txBody>
                  <a:tcPr marL="91440" marR="91440" marT="45720" marB="45720">
                    <a:lnR w="9525">
                      <a:solidFill>
                        <a:srgbClr val="D8DEE6"/>
                      </a:solidFill>
                      <a:prstDash val="solid"/>
                    </a:lnR>
                    <a:lnB w="9525">
                      <a:solidFill>
                        <a:srgbClr val="D8DEE6"/>
                      </a:solidFill>
                      <a:prstDash val="solid"/>
                    </a:lnB>
                    <a:solidFill>
                      <a:srgbClr val="FFFFFF"/>
                    </a:solidFill>
                  </a:tcPr>
                </a:tc>
              </a:tr>
              <a:tr h="500063">
                <a:tc>
                  <a:txBody>
                    <a:bodyPr/>
                    <a:lstStyle/>
                    <a:p>
                      <a:r>
                        <a:rPr sz="1725" b="0">
                          <a:solidFill>
                            <a:srgbClr val="15273F"/>
                          </a:solidFill>
                          <a:latin typeface="Arial"/>
                          <a:ea typeface="Arial"/>
                          <a:cs typeface="Arial"/>
                        </a:rPr>
                        <a:t>dag: n=1, source=0, edges=[]</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acyclic=true, distance=[0], parent_edge=[-1]</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57548DB-B852-47AB-A742-9EC2096C8F8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6" name="">
            <a:extLst xmlns:a="http://schemas.openxmlformats.org/drawingml/2006/main">
              <a:ext uri="{FF2B5EF4-FFF2-40B4-BE49-F238E27FC236}">
                <a16:creationId xmlns:a16="http://schemas.microsoft.com/office/drawing/2014/main" id="{F4E237C3-511C-4FD8-9E30-CEA74B0794C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32 / 41</a:t>
            </a:r>
          </a:p>
        </p:txBody>
      </p:sp>
    </p:spTree>
    <p:extLst>
      <p:ext uri="{BB962C8B-B14F-4D97-AF65-F5344CB8AC3E}">
        <p14:creationId xmlns:p14="http://schemas.microsoft.com/office/powerpoint/2010/main" val="19941144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8F1B5E5-3B41-4180-8DC8-09BC256B5C23}"/>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DBC8C29C-30D2-4A84-89BF-DD54DB60D46F}"/>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Benchmark Краскала и Прима: пример данных</a:t>
            </a:r>
          </a:p>
        </p:txBody>
      </p:sp>
      <p:sp>
        <p:nvSpPr>
          <p:cNvPr id="3" name="">
            <a:extLst xmlns:a="http://schemas.openxmlformats.org/drawingml/2006/main">
              <a:ext uri="{FF2B5EF4-FFF2-40B4-BE49-F238E27FC236}">
                <a16:creationId xmlns:a16="http://schemas.microsoft.com/office/drawing/2014/main" id="{771F1037-2EF6-41F0-8750-9801291EA9F3}"/>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Сначала проверьте корректность</a:t>
            </a:r>
          </a:p>
        </p:txBody>
      </p:sp>
      <p:sp>
        <p:nvSpPr>
          <p:cNvPr id="4" name="">
            <a:extLst xmlns:a="http://schemas.openxmlformats.org/drawingml/2006/main">
              <a:ext uri="{FF2B5EF4-FFF2-40B4-BE49-F238E27FC236}">
                <a16:creationId xmlns:a16="http://schemas.microsoft.com/office/drawing/2014/main" id="{3FA111E7-893E-4CB4-AB07-58B255B52949}"/>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Одинаковые графы, среда и границы измерения</a:t>
            </a:r>
          </a:p>
        </p:txBody>
      </p:sp>
      <p:sp>
        <p:nvSpPr>
          <p:cNvPr id="5" name="">
            <a:extLst xmlns:a="http://schemas.openxmlformats.org/drawingml/2006/main">
              <a:ext uri="{FF2B5EF4-FFF2-40B4-BE49-F238E27FC236}">
                <a16:creationId xmlns:a16="http://schemas.microsoft.com/office/drawing/2014/main" id="{FB052AA9-43DC-4186-9E40-302EB2D9795C}"/>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Три замера метода на каждом из трёх размеров</a:t>
            </a:r>
          </a:p>
        </p:txBody>
      </p:sp>
      <p:sp>
        <p:nvSpPr>
          <p:cNvPr id="6" name="">
            <a:extLst xmlns:a="http://schemas.openxmlformats.org/drawingml/2006/main">
              <a:ext uri="{FF2B5EF4-FFF2-40B4-BE49-F238E27FC236}">
                <a16:creationId xmlns:a16="http://schemas.microsoft.com/office/drawing/2014/main" id="{DB722B70-1E71-4B4D-923C-CFAAE0E2A8BF}"/>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Покажите все замеры и медианы</a:t>
            </a:r>
          </a:p>
        </p:txBody>
      </p:sp>
      <p:graphicFrame>
        <p:nvGraphicFramePr>
          <p:cNvPr id="7" name="">
            <a:extLst xmlns:a="http://schemas.openxmlformats.org/drawingml/2006/main">
              <a:ext uri="{FF2B5EF4-FFF2-40B4-BE49-F238E27FC236}">
                <a16:creationId xmlns:a16="http://schemas.microsoft.com/office/drawing/2014/main" id="{B44FCF32-DCAD-4D4C-945E-403978E0F796}"/>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1838325"/>
                <a:gridCol w="1838325"/>
                <a:gridCol w="1838325"/>
              </a:tblGrid>
              <a:tr h="1000125">
                <a:tc>
                  <a:txBody>
                    <a:bodyPr/>
                    <a:lstStyle/>
                    <a:p>
                      <a:r>
                        <a:rPr sz="1725" b="1">
                          <a:solidFill>
                            <a:srgbClr val="15273F"/>
                          </a:solidFill>
                          <a:latin typeface="Arial"/>
                          <a:ea typeface="Arial"/>
                          <a:cs typeface="Arial"/>
                        </a:rPr>
                        <a:t>n,m</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Краскал, мс</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Прим, мс</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Медианы К/П</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1000,3000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12,9,10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8,6,7</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10 / 7</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5000,15000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68,60,64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49,43,46</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64 / 46</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10000,30000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151,139,145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110,98,104</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145 / 104</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6706C5C3-66DF-4126-A3F0-B00B5AA2DEAB}"/>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B10DCFEB-6784-482C-BD36-DD26C5C39B43}"/>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33 / 41</a:t>
            </a:r>
          </a:p>
        </p:txBody>
      </p:sp>
    </p:spTree>
    <p:extLst>
      <p:ext uri="{BB962C8B-B14F-4D97-AF65-F5344CB8AC3E}">
        <p14:creationId xmlns:p14="http://schemas.microsoft.com/office/powerpoint/2010/main" val="143360823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FC37C3-E221-495A-872F-B7AF316089EB}"/>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548E0BA7-F3CB-4505-9D5A-28B2BE770C00}"/>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Содержание ANALYSIS.md</a:t>
            </a:r>
          </a:p>
        </p:txBody>
      </p:sp>
      <p:sp>
        <p:nvSpPr>
          <p:cNvPr id="3" name="">
            <a:extLst xmlns:a="http://schemas.openxmlformats.org/drawingml/2006/main">
              <a:ext uri="{FF2B5EF4-FFF2-40B4-BE49-F238E27FC236}">
                <a16:creationId xmlns:a16="http://schemas.microsoft.com/office/drawing/2014/main" id="{6FEBDE1B-0EB7-4797-8810-56D2D4504334}"/>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Для каждого метода объясните инвариант и шаги</a:t>
            </a:r>
          </a:p>
        </p:txBody>
      </p:sp>
      <p:sp>
        <p:nvSpPr>
          <p:cNvPr id="4" name="">
            <a:extLst xmlns:a="http://schemas.openxmlformats.org/drawingml/2006/main">
              <a:ext uri="{FF2B5EF4-FFF2-40B4-BE49-F238E27FC236}">
                <a16:creationId xmlns:a16="http://schemas.microsoft.com/office/drawing/2014/main" id="{4D85082E-F377-4929-8DF3-BDB9C8D0BC07}"/>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Обоснуйте корректность, время и память</a:t>
            </a:r>
          </a:p>
        </p:txBody>
      </p:sp>
      <p:sp>
        <p:nvSpPr>
          <p:cNvPr id="5" name="">
            <a:extLst xmlns:a="http://schemas.openxmlformats.org/drawingml/2006/main">
              <a:ext uri="{FF2B5EF4-FFF2-40B4-BE49-F238E27FC236}">
                <a16:creationId xmlns:a16="http://schemas.microsoft.com/office/drawing/2014/main" id="{2CE72BAE-DDF1-4AE6-B6BC-152A5167D841}"/>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Приведите свои тесты и реальные вызовы helper</a:t>
            </a:r>
          </a:p>
        </p:txBody>
      </p:sp>
      <p:sp>
        <p:nvSpPr>
          <p:cNvPr id="6" name="">
            <a:extLst xmlns:a="http://schemas.openxmlformats.org/drawingml/2006/main">
              <a:ext uri="{FF2B5EF4-FFF2-40B4-BE49-F238E27FC236}">
                <a16:creationId xmlns:a16="http://schemas.microsoft.com/office/drawing/2014/main" id="{A56623F9-FB21-49E2-B619-B2E40E7ED8AD}"/>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Укажите свой benchmark и раскройте помощь</a:t>
            </a:r>
          </a:p>
        </p:txBody>
      </p:sp>
      <p:sp>
        <p:nvSpPr>
          <p:cNvPr id="7" name="">
            <a:extLst xmlns:a="http://schemas.openxmlformats.org/drawingml/2006/main">
              <a:ext uri="{FF2B5EF4-FFF2-40B4-BE49-F238E27FC236}">
                <a16:creationId xmlns:a16="http://schemas.microsoft.com/office/drawing/2014/main" id="{05D574DE-AA62-4FD0-94A6-6E0AF4528D99}"/>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8" name="">
            <a:extLst xmlns:a="http://schemas.openxmlformats.org/drawingml/2006/main">
              <a:ext uri="{FF2B5EF4-FFF2-40B4-BE49-F238E27FC236}">
                <a16:creationId xmlns:a16="http://schemas.microsoft.com/office/drawing/2014/main" id="{67DBD139-15E3-47AD-8B6B-0EB201C5ACBF}"/>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34 / 41</a:t>
            </a:r>
          </a:p>
        </p:txBody>
      </p:sp>
    </p:spTree>
    <p:extLst>
      <p:ext uri="{BB962C8B-B14F-4D97-AF65-F5344CB8AC3E}">
        <p14:creationId xmlns:p14="http://schemas.microsoft.com/office/powerpoint/2010/main" val="104989612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2FE49FD-D1DE-4D44-B298-0301613BF170}"/>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F080C46F-98D6-468C-8724-760CA2FAAC8C}"/>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Реализация в выбранном языке</a:t>
            </a:r>
          </a:p>
        </p:txBody>
      </p:sp>
      <p:sp>
        <p:nvSpPr>
          <p:cNvPr id="3" name="">
            <a:extLst xmlns:a="http://schemas.openxmlformats.org/drawingml/2006/main">
              <a:ext uri="{FF2B5EF4-FFF2-40B4-BE49-F238E27FC236}">
                <a16:creationId xmlns:a16="http://schemas.microsoft.com/office/drawing/2014/main" id="{9EBD036A-1077-4361-A538-4A581C7B2CB9}"/>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Создайте свой репозиторий через Use this template</a:t>
            </a:r>
          </a:p>
        </p:txBody>
      </p:sp>
      <p:sp>
        <p:nvSpPr>
          <p:cNvPr id="4" name="">
            <a:extLst xmlns:a="http://schemas.openxmlformats.org/drawingml/2006/main">
              <a:ext uri="{FF2B5EF4-FFF2-40B4-BE49-F238E27FC236}">
                <a16:creationId xmlns:a16="http://schemas.microsoft.com/office/drawing/2014/main" id="{ECC4E1FE-6BF1-42F0-8E49-08919945ADD9}"/>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Выберите language в submission.json</a:t>
            </a:r>
          </a:p>
        </p:txBody>
      </p:sp>
      <p:sp>
        <p:nvSpPr>
          <p:cNvPr id="5" name="">
            <a:extLst xmlns:a="http://schemas.openxmlformats.org/drawingml/2006/main">
              <a:ext uri="{FF2B5EF4-FFF2-40B4-BE49-F238E27FC236}">
                <a16:creationId xmlns:a16="http://schemas.microsoft.com/office/drawing/2014/main" id="{A8A58FE0-B28D-4DBC-876C-111B3AFA6DD1}"/>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Заполните шесть методов с TODO</a:t>
            </a:r>
          </a:p>
        </p:txBody>
      </p:sp>
      <p:sp>
        <p:nvSpPr>
          <p:cNvPr id="6" name="">
            <a:extLst xmlns:a="http://schemas.openxmlformats.org/drawingml/2006/main">
              <a:ext uri="{FF2B5EF4-FFF2-40B4-BE49-F238E27FC236}">
                <a16:creationId xmlns:a16="http://schemas.microsoft.com/office/drawing/2014/main" id="{C91E52F9-3C47-4C22-8504-1CF3DEBD5F41}"/>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Отправьте коммит и откройте Public checks</a:t>
            </a:r>
          </a:p>
        </p:txBody>
      </p:sp>
      <p:graphicFrame>
        <p:nvGraphicFramePr>
          <p:cNvPr id="7" name="">
            <a:extLst xmlns:a="http://schemas.openxmlformats.org/drawingml/2006/main">
              <a:ext uri="{FF2B5EF4-FFF2-40B4-BE49-F238E27FC236}">
                <a16:creationId xmlns:a16="http://schemas.microsoft.com/office/drawing/2014/main" id="{0133B1CD-8E50-4E89-B3C4-83FD671AA14D}"/>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Значение language</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Файл реализации</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Java</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Java/source/Algorithms.java</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Python</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Python/source/algorithms.py</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Cpp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Cpp/source/algorithms.hpp</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CSharp</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CSharp/source/Algorithms.cs</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22CC7066-C5AC-4798-88B6-94E5EB639E71}"/>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E6037CA8-07C1-47D8-BFC4-9FAC8824D244}"/>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35 / 41</a:t>
            </a:r>
          </a:p>
        </p:txBody>
      </p:sp>
    </p:spTree>
    <p:extLst>
      <p:ext uri="{BB962C8B-B14F-4D97-AF65-F5344CB8AC3E}">
        <p14:creationId xmlns:p14="http://schemas.microsoft.com/office/powerpoint/2010/main" val="24826285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C999514-0027-4BE8-BAA9-1C9473B6824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998206C0-2F38-4051-B2CD-7A60FE4AEDC9}"/>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Как читать результат Public checks</a:t>
            </a:r>
          </a:p>
        </p:txBody>
      </p:sp>
      <p:sp>
        <p:nvSpPr>
          <p:cNvPr id="3" name="">
            <a:extLst xmlns:a="http://schemas.openxmlformats.org/drawingml/2006/main">
              <a:ext uri="{FF2B5EF4-FFF2-40B4-BE49-F238E27FC236}">
                <a16:creationId xmlns:a16="http://schemas.microsoft.com/office/drawing/2014/main" id="{77C37B6C-9582-4BA4-9C06-9D5617DF07A9}"/>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Откройте упавший шаг и его журнал</a:t>
            </a:r>
          </a:p>
        </p:txBody>
      </p:sp>
      <p:sp>
        <p:nvSpPr>
          <p:cNvPr id="4" name="">
            <a:extLst xmlns:a="http://schemas.openxmlformats.org/drawingml/2006/main">
              <a:ext uri="{FF2B5EF4-FFF2-40B4-BE49-F238E27FC236}">
                <a16:creationId xmlns:a16="http://schemas.microsoft.com/office/drawing/2014/main" id="{77045A1A-B8C2-4477-B5EA-FCBF3F94A7F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Сборка и корректность алгоритма проверяются отдельно</a:t>
            </a:r>
          </a:p>
        </p:txBody>
      </p:sp>
      <p:sp>
        <p:nvSpPr>
          <p:cNvPr id="5" name="">
            <a:extLst xmlns:a="http://schemas.openxmlformats.org/drawingml/2006/main">
              <a:ext uri="{FF2B5EF4-FFF2-40B4-BE49-F238E27FC236}">
                <a16:creationId xmlns:a16="http://schemas.microsoft.com/office/drawing/2014/main" id="{59E57AAA-66C3-425C-AACD-1475EDCC28C6}"/>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Падение TODO ожидаемо во время работы</a:t>
            </a:r>
          </a:p>
        </p:txBody>
      </p:sp>
      <p:sp>
        <p:nvSpPr>
          <p:cNvPr id="6" name="">
            <a:extLst xmlns:a="http://schemas.openxmlformats.org/drawingml/2006/main">
              <a:ext uri="{FF2B5EF4-FFF2-40B4-BE49-F238E27FC236}">
                <a16:creationId xmlns:a16="http://schemas.microsoft.com/office/drawing/2014/main" id="{98C903FF-3566-4436-A7B4-889A95ED0B0A}"/>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Для сдачи нужен успешный запуск того же SHA</a:t>
            </a:r>
          </a:p>
        </p:txBody>
      </p:sp>
      <p:graphicFrame>
        <p:nvGraphicFramePr>
          <p:cNvPr id="7" name="">
            <a:extLst xmlns:a="http://schemas.openxmlformats.org/drawingml/2006/main">
              <a:ext uri="{FF2B5EF4-FFF2-40B4-BE49-F238E27FC236}">
                <a16:creationId xmlns:a16="http://schemas.microsoft.com/office/drawing/2014/main" id="{6CB36DE8-C75B-422B-B357-43C1D26044C2}"/>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2647188"/>
                <a:gridCol w="4706112"/>
              </a:tblGrid>
              <a:tr h="800100">
                <a:tc>
                  <a:txBody>
                    <a:bodyPr/>
                    <a:lstStyle/>
                    <a:p>
                      <a:r>
                        <a:rPr sz="1725" b="1">
                          <a:solidFill>
                            <a:srgbClr val="15273F"/>
                          </a:solidFill>
                          <a:latin typeface="Arial"/>
                          <a:ea typeface="Arial"/>
                          <a:cs typeface="Arial"/>
                        </a:rPr>
                        <a:t>Наблюдение</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Действие</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800100">
                <a:tc>
                  <a:txBody>
                    <a:bodyPr/>
                    <a:lstStyle/>
                    <a:p>
                      <a:r>
                        <a:rPr sz="1725" b="0">
                          <a:solidFill>
                            <a:srgbClr val="15273F"/>
                          </a:solidFill>
                          <a:latin typeface="Arial"/>
                          <a:ea typeface="Arial"/>
                          <a:cs typeface="Arial"/>
                        </a:rPr>
                        <a:t>Не проходит сборка</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Проверить синтаксис, файлы и язык</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Сборка прошла, неверный ответ</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Проследить вход и исправить метод</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Лишний stdout / число ответов</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Оставить только JSON-lines</a:t>
                      </a:r>
                    </a:p>
                  </a:txBody>
                  <a:tcPr marL="91440" marR="91440" marT="45720" marB="45720">
                    <a:lnR w="9525">
                      <a:solidFill>
                        <a:srgbClr val="D8DEE6"/>
                      </a:solidFill>
                      <a:prstDash val="solid"/>
                    </a:lnR>
                    <a:lnB w="9525">
                      <a:solidFill>
                        <a:srgbClr val="D8DEE6"/>
                      </a:solidFill>
                      <a:prstDash val="solid"/>
                    </a:lnB>
                    <a:solidFill>
                      <a:srgbClr val="FFFFFF"/>
                    </a:solidFill>
                  </a:tcPr>
                </a:tc>
              </a:tr>
              <a:tr h="800100">
                <a:tc>
                  <a:txBody>
                    <a:bodyPr/>
                    <a:lstStyle/>
                    <a:p>
                      <a:r>
                        <a:rPr sz="1725" b="0">
                          <a:solidFill>
                            <a:srgbClr val="15273F"/>
                          </a:solidFill>
                          <a:latin typeface="Arial"/>
                          <a:ea typeface="Arial"/>
                          <a:cs typeface="Arial"/>
                        </a:rPr>
                        <a:t>Не запускается среда / checker</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Разобраться и повторить запуск</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8721D90A-41C4-41E7-BB29-29D0C89C116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038D5367-4842-4A39-8C39-B689365D8560}"/>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36 / 41</a:t>
            </a:r>
          </a:p>
        </p:txBody>
      </p:sp>
    </p:spTree>
    <p:extLst>
      <p:ext uri="{BB962C8B-B14F-4D97-AF65-F5344CB8AC3E}">
        <p14:creationId xmlns:p14="http://schemas.microsoft.com/office/powerpoint/2010/main" val="160267875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050ED2-75F1-4FE5-8509-CC22B39EF476}"/>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85254769-5C7D-43C6-94BA-482772631798}"/>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Сдача двух ссылок одного SHA</a:t>
            </a:r>
          </a:p>
        </p:txBody>
      </p:sp>
      <p:sp>
        <p:nvSpPr>
          <p:cNvPr id="3" name="">
            <a:extLst xmlns:a="http://schemas.openxmlformats.org/drawingml/2006/main">
              <a:ext uri="{FF2B5EF4-FFF2-40B4-BE49-F238E27FC236}">
                <a16:creationId xmlns:a16="http://schemas.microsoft.com/office/drawing/2014/main" id="{447E1D09-804C-4890-B7C6-204CF01052FE}"/>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Ссылка на конкретный GitHub commit</a:t>
            </a:r>
          </a:p>
        </p:txBody>
      </p:sp>
      <p:sp>
        <p:nvSpPr>
          <p:cNvPr id="4" name="">
            <a:extLst xmlns:a="http://schemas.openxmlformats.org/drawingml/2006/main">
              <a:ext uri="{FF2B5EF4-FFF2-40B4-BE49-F238E27FC236}">
                <a16:creationId xmlns:a16="http://schemas.microsoft.com/office/drawing/2014/main" id="{26C99659-A7BF-46C9-992D-2DB3A246CB76}"/>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Ссылка на успешный Public checks того же SHA</a:t>
            </a:r>
          </a:p>
        </p:txBody>
      </p:sp>
      <p:sp>
        <p:nvSpPr>
          <p:cNvPr id="5" name="">
            <a:extLst xmlns:a="http://schemas.openxmlformats.org/drawingml/2006/main">
              <a:ext uri="{FF2B5EF4-FFF2-40B4-BE49-F238E27FC236}">
                <a16:creationId xmlns:a16="http://schemas.microsoft.com/office/drawing/2014/main" id="{159D11C5-A8C4-4409-8E02-28636E68790B}"/>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Обе ссылки вставляются в Moodle Online text</a:t>
            </a:r>
          </a:p>
        </p:txBody>
      </p:sp>
      <p:sp>
        <p:nvSpPr>
          <p:cNvPr id="6" name="">
            <a:extLst xmlns:a="http://schemas.openxmlformats.org/drawingml/2006/main">
              <a:ext uri="{FF2B5EF4-FFF2-40B4-BE49-F238E27FC236}">
                <a16:creationId xmlns:a16="http://schemas.microsoft.com/office/drawing/2014/main" id="{1F37668D-795C-4787-9714-C1B29A76F519}"/>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Нажмите Submit assignment и проверьте статус</a:t>
            </a:r>
          </a:p>
        </p:txBody>
      </p:sp>
      <p:sp>
        <p:nvSpPr>
          <p:cNvPr id="7" name="">
            <a:extLst xmlns:a="http://schemas.openxmlformats.org/drawingml/2006/main">
              <a:ext uri="{FF2B5EF4-FFF2-40B4-BE49-F238E27FC236}">
                <a16:creationId xmlns:a16="http://schemas.microsoft.com/office/drawing/2014/main" id="{16FD2E41-C711-4119-B2A8-84F99E508002}"/>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8" name="">
            <a:extLst xmlns:a="http://schemas.openxmlformats.org/drawingml/2006/main">
              <a:ext uri="{FF2B5EF4-FFF2-40B4-BE49-F238E27FC236}">
                <a16:creationId xmlns:a16="http://schemas.microsoft.com/office/drawing/2014/main" id="{A076ACAD-187B-4F5E-8A85-12097CD85E04}"/>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37 / 41</a:t>
            </a:r>
          </a:p>
        </p:txBody>
      </p:sp>
    </p:spTree>
    <p:extLst>
      <p:ext uri="{BB962C8B-B14F-4D97-AF65-F5344CB8AC3E}">
        <p14:creationId xmlns:p14="http://schemas.microsoft.com/office/powerpoint/2010/main" val="2483856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91F6D27-3385-4FD0-9623-483FE15FCB2E}"/>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95082159-ABDB-42F0-9064-7469A2A7E92B}"/>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Оценивание: 50 автоматически + 50 автоматически</a:t>
            </a:r>
          </a:p>
        </p:txBody>
      </p:sp>
      <p:sp>
        <p:nvSpPr>
          <p:cNvPr id="3" name="">
            <a:extLst xmlns:a="http://schemas.openxmlformats.org/drawingml/2006/main">
              <a:ext uri="{FF2B5EF4-FFF2-40B4-BE49-F238E27FC236}">
                <a16:creationId xmlns:a16="http://schemas.microsoft.com/office/drawing/2014/main" id="{0C6B4F20-6D10-49B7-90E0-938110524643}"/>
              </a:ext>
            </a:extLst>
          </p:cNvPr>
          <p:cNvSpPr>
            <a:spLocks xmlns:a="http://schemas.openxmlformats.org/drawingml/2006/main" noGrp="1"/>
          </p:cNvSpPr>
          <p:nvPr/>
        </p:nvSpPr>
        <p:spPr>
          <a:xfrm xmlns:a="http://schemas.openxmlformats.org/drawingml/2006/main">
            <a:off x="609600" y="18097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Практика: 18 исходных групп, сумма до 50</a:t>
            </a:r>
          </a:p>
        </p:txBody>
      </p:sp>
      <p:sp>
        <p:nvSpPr>
          <p:cNvPr id="4" name="">
            <a:extLst xmlns:a="http://schemas.openxmlformats.org/drawingml/2006/main">
              <a:ext uri="{FF2B5EF4-FFF2-40B4-BE49-F238E27FC236}">
                <a16:creationId xmlns:a16="http://schemas.microsoft.com/office/drawing/2014/main" id="{AC9CDD67-A3A4-4FCB-8061-5BC9418C19F1}"/>
              </a:ext>
            </a:extLst>
          </p:cNvPr>
          <p:cNvSpPr>
            <a:spLocks xmlns:a="http://schemas.openxmlformats.org/drawingml/2006/main" noGrp="1"/>
          </p:cNvSpPr>
          <p:nvPr/>
        </p:nvSpPr>
        <p:spPr>
          <a:xfrm xmlns:a="http://schemas.openxmlformats.org/drawingml/2006/main">
            <a:off x="609600" y="28194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Квиз: 30 вопросов, 30 минут, одна попытка</a:t>
            </a:r>
          </a:p>
        </p:txBody>
      </p:sp>
      <p:sp>
        <p:nvSpPr>
          <p:cNvPr id="5" name="">
            <a:extLst xmlns:a="http://schemas.openxmlformats.org/drawingml/2006/main">
              <a:ext uri="{FF2B5EF4-FFF2-40B4-BE49-F238E27FC236}">
                <a16:creationId xmlns:a16="http://schemas.microsoft.com/office/drawing/2014/main" id="{38542F21-3A77-4710-8386-7F3281DA750A}"/>
              </a:ext>
            </a:extLst>
          </p:cNvPr>
          <p:cNvSpPr>
            <a:spLocks xmlns:a="http://schemas.openxmlformats.org/drawingml/2006/main" noGrp="1"/>
          </p:cNvSpPr>
          <p:nvPr/>
        </p:nvSpPr>
        <p:spPr>
          <a:xfrm xmlns:a="http://schemas.openxmlformats.org/drawingml/2006/main">
            <a:off x="609600" y="382905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Верно: 1 raw, неверно или пусто: 0</a:t>
            </a:r>
          </a:p>
        </p:txBody>
      </p:sp>
      <p:sp>
        <p:nvSpPr>
          <p:cNvPr id="6" name="">
            <a:extLst xmlns:a="http://schemas.openxmlformats.org/drawingml/2006/main">
              <a:ext uri="{FF2B5EF4-FFF2-40B4-BE49-F238E27FC236}">
                <a16:creationId xmlns:a16="http://schemas.microsoft.com/office/drawing/2014/main" id="{1F3BA15E-8AE8-4530-8EB0-E74CD2FE8D4E}"/>
              </a:ext>
            </a:extLst>
          </p:cNvPr>
          <p:cNvSpPr>
            <a:spLocks xmlns:a="http://schemas.openxmlformats.org/drawingml/2006/main" noGrp="1"/>
          </p:cNvSpPr>
          <p:nvPr/>
        </p:nvSpPr>
        <p:spPr>
          <a:xfrm xmlns:a="http://schemas.openxmlformats.org/drawingml/2006/main">
            <a:off x="609600" y="4838700"/>
            <a:ext cx="32575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875" b="0">
                <a:solidFill>
                  <a:srgbClr val="15273F"/>
                </a:solidFill>
                <a:latin typeface="Arial"/>
                <a:ea typeface="Arial"/>
                <a:cs typeface="Arial"/>
              </a:defRPr>
            </a:defPPr>
          </a:lstStyle>
          <a:p xmlns:a="http://schemas.openxmlformats.org/drawingml/2006/main">
            <a:pPr>
              <a:defRPr sz="1875" b="0">
                <a:solidFill>
                  <a:srgbClr val="15273F"/>
                </a:solidFill>
                <a:latin typeface="Arial"/>
                <a:ea typeface="Arial"/>
                <a:cs typeface="Arial"/>
              </a:defRPr>
            </a:pPr>
            <a:r>
              <a:rPr sz="1875" b="0">
                <a:solidFill>
                  <a:srgbClr val="15273F"/>
                </a:solidFill>
                <a:latin typeface="Arial"/>
                <a:ea typeface="Arial"/>
                <a:cs typeface="Arial"/>
              </a:rPr>
              <a:t>Квиз = raw / 30 × 50</a:t>
            </a:r>
          </a:p>
        </p:txBody>
      </p:sp>
      <p:graphicFrame>
        <p:nvGraphicFramePr>
          <p:cNvPr id="7" name="">
            <a:extLst xmlns:a="http://schemas.openxmlformats.org/drawingml/2006/main">
              <a:ext uri="{FF2B5EF4-FFF2-40B4-BE49-F238E27FC236}">
                <a16:creationId xmlns:a16="http://schemas.microsoft.com/office/drawing/2014/main" id="{E87CF687-CEF1-4256-9862-10BED255F056}"/>
              </a:ext>
            </a:extLst>
          </p:cNvPr>
          <p:cNvGraphicFramePr/>
          <p:nvPr/>
        </p:nvGraphicFramePr>
        <p:xfrm>
          <a:off xmlns:a="http://schemas.openxmlformats.org/drawingml/2006/main" x="4229100" y="1809750"/>
          <a:ext xmlns:a="http://schemas.openxmlformats.org/drawingml/2006/main" cx="7353300" cy="4000500"/>
        </p:xfrm>
        <a:graphic xmlns:a="http://schemas.openxmlformats.org/drawingml/2006/main">
          <a:graphicData uri="http://schemas.openxmlformats.org/drawingml/2006/table">
            <a:tbl>
              <a:tblPr/>
              <a:tblGrid>
                <a:gridCol w="1838325"/>
                <a:gridCol w="2867787"/>
                <a:gridCol w="2647188"/>
              </a:tblGrid>
              <a:tr h="1000125">
                <a:tc>
                  <a:txBody>
                    <a:bodyPr/>
                    <a:lstStyle/>
                    <a:p>
                      <a:r>
                        <a:rPr sz="1725" b="1">
                          <a:solidFill>
                            <a:srgbClr val="15273F"/>
                          </a:solidFill>
                          <a:latin typeface="Arial"/>
                          <a:ea typeface="Arial"/>
                          <a:cs typeface="Arial"/>
                        </a:rPr>
                        <a:t>Верных ответов</a:t>
                      </a:r>
                    </a:p>
                  </a:txBody>
                  <a:tcPr marL="91440" marR="91440" marT="45720" marB="45720">
                    <a:lnL w="9525">
                      <a:solidFill>
                        <a:srgbClr val="D8DEE6"/>
                      </a:solidFill>
                      <a:prstDash val="solid"/>
                    </a:lnL>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Raw /30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c>
                  <a:txBody>
                    <a:bodyPr/>
                    <a:lstStyle/>
                    <a:p>
                      <a:r>
                        <a:rPr sz="1725" b="1">
                          <a:solidFill>
                            <a:srgbClr val="15273F"/>
                          </a:solidFill>
                          <a:latin typeface="Arial"/>
                          <a:ea typeface="Arial"/>
                          <a:cs typeface="Arial"/>
                        </a:rPr>
                        <a:t>Квиз /50</a:t>
                      </a:r>
                    </a:p>
                  </a:txBody>
                  <a:tcPr marL="91440" marR="91440" marT="45720" marB="45720">
                    <a:lnR w="9525">
                      <a:solidFill>
                        <a:srgbClr val="D8DEE6"/>
                      </a:solidFill>
                      <a:prstDash val="solid"/>
                    </a:lnR>
                    <a:lnT w="9525">
                      <a:solidFill>
                        <a:srgbClr val="D8DEE6"/>
                      </a:solidFill>
                      <a:prstDash val="solid"/>
                    </a:lnT>
                    <a:lnB w="9525">
                      <a:solidFill>
                        <a:srgbClr val="D8DEE6"/>
                      </a:solidFill>
                      <a:prstDash val="solid"/>
                    </a:lnB>
                    <a:solidFill>
                      <a:srgbClr val="F7EAF0"/>
                    </a:solidFill>
                  </a:tcPr>
                </a:tc>
              </a:tr>
              <a:tr h="1000125">
                <a:tc>
                  <a:txBody>
                    <a:bodyPr/>
                    <a:lstStyle/>
                    <a:p>
                      <a:r>
                        <a:rPr sz="1725" b="0">
                          <a:solidFill>
                            <a:srgbClr val="15273F"/>
                          </a:solidFill>
                          <a:latin typeface="Arial"/>
                          <a:ea typeface="Arial"/>
                          <a:cs typeface="Arial"/>
                        </a:rPr>
                        <a:t>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0</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15</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15</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25</a:t>
                      </a:r>
                    </a:p>
                  </a:txBody>
                  <a:tcPr marL="91440" marR="91440" marT="45720" marB="45720">
                    <a:lnR w="9525">
                      <a:solidFill>
                        <a:srgbClr val="D8DEE6"/>
                      </a:solidFill>
                      <a:prstDash val="solid"/>
                    </a:lnR>
                    <a:lnB w="9525">
                      <a:solidFill>
                        <a:srgbClr val="D8DEE6"/>
                      </a:solidFill>
                      <a:prstDash val="solid"/>
                    </a:lnB>
                    <a:solidFill>
                      <a:srgbClr val="FFFFFF"/>
                    </a:solidFill>
                  </a:tcPr>
                </a:tc>
              </a:tr>
              <a:tr h="1000125">
                <a:tc>
                  <a:txBody>
                    <a:bodyPr/>
                    <a:lstStyle/>
                    <a:p>
                      <a:r>
                        <a:rPr sz="1725" b="0">
                          <a:solidFill>
                            <a:srgbClr val="15273F"/>
                          </a:solidFill>
                          <a:latin typeface="Arial"/>
                          <a:ea typeface="Arial"/>
                          <a:cs typeface="Arial"/>
                        </a:rPr>
                        <a:t>30</a:t>
                      </a:r>
                    </a:p>
                  </a:txBody>
                  <a:tcPr marL="91440" marR="91440" marT="45720" marB="45720">
                    <a:lnL w="9525">
                      <a:solidFill>
                        <a:srgbClr val="D8DEE6"/>
                      </a:solidFill>
                      <a:prstDash val="solid"/>
                    </a:lnL>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30</a:t>
                      </a:r>
                    </a:p>
                  </a:txBody>
                  <a:tcPr marL="91440" marR="91440" marT="45720" marB="45720">
                    <a:lnR w="9525">
                      <a:solidFill>
                        <a:srgbClr val="D8DEE6"/>
                      </a:solidFill>
                      <a:prstDash val="solid"/>
                    </a:lnR>
                    <a:lnB w="9525">
                      <a:solidFill>
                        <a:srgbClr val="D8DEE6"/>
                      </a:solidFill>
                      <a:prstDash val="solid"/>
                    </a:lnB>
                    <a:solidFill>
                      <a:srgbClr val="FFFFFF"/>
                    </a:solidFill>
                  </a:tcPr>
                </a:tc>
                <a:tc>
                  <a:txBody>
                    <a:bodyPr/>
                    <a:lstStyle/>
                    <a:p>
                      <a:r>
                        <a:rPr sz="1725" b="0">
                          <a:solidFill>
                            <a:srgbClr val="15273F"/>
                          </a:solidFill>
                          <a:latin typeface="Arial"/>
                          <a:ea typeface="Arial"/>
                          <a:cs typeface="Arial"/>
                        </a:rPr>
                        <a:t>50</a:t>
                      </a:r>
                    </a:p>
                  </a:txBody>
                  <a:tcPr marL="91440" marR="91440" marT="45720" marB="45720">
                    <a:lnR w="9525">
                      <a:solidFill>
                        <a:srgbClr val="D8DEE6"/>
                      </a:solidFill>
                      <a:prstDash val="solid"/>
                    </a:lnR>
                    <a:lnB w="9525">
                      <a:solidFill>
                        <a:srgbClr val="D8DEE6"/>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FD6A26AF-6AB1-4122-9C39-E4646C3F6E26}"/>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9" name="">
            <a:extLst xmlns:a="http://schemas.openxmlformats.org/drawingml/2006/main">
              <a:ext uri="{FF2B5EF4-FFF2-40B4-BE49-F238E27FC236}">
                <a16:creationId xmlns:a16="http://schemas.microsoft.com/office/drawing/2014/main" id="{94F0F8B0-4574-4FE0-BB72-4D6CF05CA202}"/>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38 / 41</a:t>
            </a:r>
          </a:p>
        </p:txBody>
      </p:sp>
    </p:spTree>
    <p:extLst>
      <p:ext uri="{BB962C8B-B14F-4D97-AF65-F5344CB8AC3E}">
        <p14:creationId xmlns:p14="http://schemas.microsoft.com/office/powerpoint/2010/main" val="384111760"/>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19C7A4-802C-432D-88F8-B772DED1FD57}"/>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91731515-8B18-4D96-B2B7-1F3C98D88DA1}"/>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Готовность к сдаче</a:t>
            </a:r>
          </a:p>
        </p:txBody>
      </p:sp>
      <p:sp>
        <p:nvSpPr>
          <p:cNvPr id="3" name="">
            <a:extLst xmlns:a="http://schemas.openxmlformats.org/drawingml/2006/main">
              <a:ext uri="{FF2B5EF4-FFF2-40B4-BE49-F238E27FC236}">
                <a16:creationId xmlns:a16="http://schemas.microsoft.com/office/drawing/2014/main" id="{2F3C2BC4-5951-44A1-A56C-33D6E2EDD1C0}"/>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Шесть методов, один язык, новое состояние на запрос</a:t>
            </a:r>
          </a:p>
        </p:txBody>
      </p:sp>
      <p:sp>
        <p:nvSpPr>
          <p:cNvPr id="4" name="">
            <a:extLst xmlns:a="http://schemas.openxmlformats.org/drawingml/2006/main">
              <a:ext uri="{FF2B5EF4-FFF2-40B4-BE49-F238E27FC236}">
                <a16:creationId xmlns:a16="http://schemas.microsoft.com/office/drawing/2014/main" id="{D0F8CBBD-AD8C-44CE-BD2A-5B5319DC09C7}"/>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Корректные witness, long, null и проверенный helper</a:t>
            </a:r>
          </a:p>
        </p:txBody>
      </p:sp>
      <p:sp>
        <p:nvSpPr>
          <p:cNvPr id="5" name="">
            <a:extLst xmlns:a="http://schemas.openxmlformats.org/drawingml/2006/main">
              <a:ext uri="{FF2B5EF4-FFF2-40B4-BE49-F238E27FC236}">
                <a16:creationId xmlns:a16="http://schemas.microsoft.com/office/drawing/2014/main" id="{E7F06465-B912-4455-9D2A-550C3CFAC4E9}"/>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Свои тесты, английский анализ, реальный benchmark</a:t>
            </a:r>
          </a:p>
        </p:txBody>
      </p:sp>
      <p:sp>
        <p:nvSpPr>
          <p:cNvPr id="6" name="">
            <a:extLst xmlns:a="http://schemas.openxmlformats.org/drawingml/2006/main">
              <a:ext uri="{FF2B5EF4-FFF2-40B4-BE49-F238E27FC236}">
                <a16:creationId xmlns:a16="http://schemas.microsoft.com/office/drawing/2014/main" id="{FA8020B0-58AC-4ABC-9040-528E1E9037D0}"/>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Успешная проверка и две ссылки одного SHA</a:t>
            </a:r>
          </a:p>
        </p:txBody>
      </p:sp>
      <p:sp>
        <p:nvSpPr>
          <p:cNvPr id="7" name="">
            <a:extLst xmlns:a="http://schemas.openxmlformats.org/drawingml/2006/main">
              <a:ext uri="{FF2B5EF4-FFF2-40B4-BE49-F238E27FC236}">
                <a16:creationId xmlns:a16="http://schemas.microsoft.com/office/drawing/2014/main" id="{9551B0A9-BBB6-4DBF-87A7-22ED4C3B787D}"/>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8" name="">
            <a:extLst xmlns:a="http://schemas.openxmlformats.org/drawingml/2006/main">
              <a:ext uri="{FF2B5EF4-FFF2-40B4-BE49-F238E27FC236}">
                <a16:creationId xmlns:a16="http://schemas.microsoft.com/office/drawing/2014/main" id="{E9EE023D-64DB-4183-B380-8FD0B43B987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39 / 41</a:t>
            </a:r>
          </a:p>
        </p:txBody>
      </p:sp>
    </p:spTree>
    <p:extLst>
      <p:ext uri="{BB962C8B-B14F-4D97-AF65-F5344CB8AC3E}">
        <p14:creationId xmlns:p14="http://schemas.microsoft.com/office/powerpoint/2010/main" val="87667539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E7A918-77FF-48F3-B821-27FE87A83FA4}"/>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E9F3808A-8CA8-47D9-8AF2-A0D61DD8B392}"/>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Источники и дальнейшее чтение</a:t>
            </a:r>
          </a:p>
        </p:txBody>
      </p:sp>
      <p:sp>
        <p:nvSpPr>
          <p:cNvPr id="3" name="">
            <a:extLst xmlns:a="http://schemas.openxmlformats.org/drawingml/2006/main">
              <a:ext uri="{FF2B5EF4-FFF2-40B4-BE49-F238E27FC236}">
                <a16:creationId xmlns:a16="http://schemas.microsoft.com/office/drawing/2014/main" id="{983156E9-943C-4539-8A3D-30CBCCD6DAE5}"/>
              </a:ext>
            </a:extLst>
          </p:cNvPr>
          <p:cNvSpPr>
            <a:spLocks xmlns:a="http://schemas.openxmlformats.org/drawingml/2006/main" noGrp="1"/>
          </p:cNvSpPr>
          <p:nvPr/>
        </p:nvSpPr>
        <p:spPr>
          <a:xfrm xmlns:a="http://schemas.openxmlformats.org/drawingml/2006/main">
            <a:off x="609600" y="18859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Спецификация A3, CONTRACTS, TESTING и RUBRIC</a:t>
            </a:r>
          </a:p>
        </p:txBody>
      </p:sp>
      <p:sp>
        <p:nvSpPr>
          <p:cNvPr id="4" name="">
            <a:extLst xmlns:a="http://schemas.openxmlformats.org/drawingml/2006/main">
              <a:ext uri="{FF2B5EF4-FFF2-40B4-BE49-F238E27FC236}">
                <a16:creationId xmlns:a16="http://schemas.microsoft.com/office/drawing/2014/main" id="{74350510-6272-4B44-8435-96711D0D3BE0}"/>
              </a:ext>
            </a:extLst>
          </p:cNvPr>
          <p:cNvSpPr>
            <a:spLocks xmlns:a="http://schemas.openxmlformats.org/drawingml/2006/main" noGrp="1"/>
          </p:cNvSpPr>
          <p:nvPr/>
        </p:nvSpPr>
        <p:spPr>
          <a:xfrm xmlns:a="http://schemas.openxmlformats.org/drawingml/2006/main">
            <a:off x="609600" y="26955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Лекции 6–7 и отдельные уточнения к A3</a:t>
            </a:r>
          </a:p>
        </p:txBody>
      </p:sp>
      <p:sp>
        <p:nvSpPr>
          <p:cNvPr id="5" name="">
            <a:extLst xmlns:a="http://schemas.openxmlformats.org/drawingml/2006/main">
              <a:ext uri="{FF2B5EF4-FFF2-40B4-BE49-F238E27FC236}">
                <a16:creationId xmlns:a16="http://schemas.microsoft.com/office/drawing/2014/main" id="{CFF04F61-8AE3-4C0A-9B94-388DEB1119D8}"/>
              </a:ext>
            </a:extLst>
          </p:cNvPr>
          <p:cNvSpPr>
            <a:spLocks xmlns:a="http://schemas.openxmlformats.org/drawingml/2006/main" noGrp="1"/>
          </p:cNvSpPr>
          <p:nvPr/>
        </p:nvSpPr>
        <p:spPr>
          <a:xfrm xmlns:a="http://schemas.openxmlformats.org/drawingml/2006/main">
            <a:off x="609600" y="3505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CLRS 4e: DSU, обходы, MST и DAG paths</a:t>
            </a:r>
          </a:p>
        </p:txBody>
      </p:sp>
      <p:sp>
        <p:nvSpPr>
          <p:cNvPr id="6" name="">
            <a:extLst xmlns:a="http://schemas.openxmlformats.org/drawingml/2006/main">
              <a:ext uri="{FF2B5EF4-FFF2-40B4-BE49-F238E27FC236}">
                <a16:creationId xmlns:a16="http://schemas.microsoft.com/office/drawing/2014/main" id="{265F4E24-B4D8-4EAB-AF78-684976E06483}"/>
              </a:ext>
            </a:extLst>
          </p:cNvPr>
          <p:cNvSpPr>
            <a:spLocks xmlns:a="http://schemas.openxmlformats.org/drawingml/2006/main" noGrp="1"/>
          </p:cNvSpPr>
          <p:nvPr/>
        </p:nvSpPr>
        <p:spPr>
          <a:xfrm xmlns:a="http://schemas.openxmlformats.org/drawingml/2006/main">
            <a:off x="609600" y="43148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550" b="0">
                <a:solidFill>
                  <a:srgbClr val="15273F"/>
                </a:solidFill>
                <a:latin typeface="Arial"/>
                <a:ea typeface="Arial"/>
                <a:cs typeface="Arial"/>
              </a:defRPr>
            </a:defPPr>
          </a:lstStyle>
          <a:p xmlns:a="http://schemas.openxmlformats.org/drawingml/2006/main">
            <a:pPr>
              <a:defRPr sz="2550" b="0">
                <a:solidFill>
                  <a:srgbClr val="15273F"/>
                </a:solidFill>
                <a:latin typeface="Arial"/>
                <a:ea typeface="Arial"/>
                <a:cs typeface="Arial"/>
              </a:defRPr>
            </a:pPr>
            <a:r>
              <a:rPr sz="2550" b="0">
                <a:solidFill>
                  <a:srgbClr val="15273F"/>
                </a:solidFill>
                <a:latin typeface="Arial"/>
                <a:ea typeface="Arial"/>
                <a:cs typeface="Arial"/>
              </a:rPr>
              <a:t>Sedgewick &amp; Wayne 4e, Skiena 3e: графы и анализ</a:t>
            </a:r>
          </a:p>
        </p:txBody>
      </p:sp>
      <p:sp>
        <p:nvSpPr>
          <p:cNvPr id="7" name="">
            <a:extLst xmlns:a="http://schemas.openxmlformats.org/drawingml/2006/main">
              <a:ext uri="{FF2B5EF4-FFF2-40B4-BE49-F238E27FC236}">
                <a16:creationId xmlns:a16="http://schemas.microsoft.com/office/drawing/2014/main" id="{1AC7EB76-7807-4882-8201-69035DB9EE1C}"/>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8" name="">
            <a:extLst xmlns:a="http://schemas.openxmlformats.org/drawingml/2006/main">
              <a:ext uri="{FF2B5EF4-FFF2-40B4-BE49-F238E27FC236}">
                <a16:creationId xmlns:a16="http://schemas.microsoft.com/office/drawing/2014/main" id="{02A3D382-F24E-4A60-8907-BA8AB7D39A66}"/>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40 / 41</a:t>
            </a:r>
          </a:p>
        </p:txBody>
      </p:sp>
    </p:spTree>
    <p:extLst>
      <p:ext uri="{BB962C8B-B14F-4D97-AF65-F5344CB8AC3E}">
        <p14:creationId xmlns:p14="http://schemas.microsoft.com/office/powerpoint/2010/main" val="199903965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018A1C9-5135-433E-92CA-215DF6E02CAD}"/>
              </a:ext>
            </a:extLst>
          </p:cNvPr>
          <p:cNvSpPr>
            <a:spLocks xmlns:a="http://schemas.openxmlformats.org/drawingml/2006/main" noGrp="1"/>
          </p:cNvSpPr>
          <p:nvPr/>
        </p:nvSpPr>
        <p:spPr>
          <a:xfrm xmlns:a="http://schemas.openxmlformats.org/drawingml/2006/main">
            <a:off x="609600" y="2667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275" b="1">
                <a:solidFill>
                  <a:srgbClr val="A84E70"/>
                </a:solidFill>
                <a:latin typeface="Arial"/>
                <a:ea typeface="Arial"/>
                <a:cs typeface="Arial"/>
              </a:defRPr>
            </a:defPPr>
          </a:lstStyle>
          <a:p xmlns:a="http://schemas.openxmlformats.org/drawingml/2006/main">
            <a:pPr>
              <a:defRPr sz="1275" b="1">
                <a:solidFill>
                  <a:srgbClr val="A84E70"/>
                </a:solidFill>
                <a:latin typeface="Arial"/>
                <a:ea typeface="Arial"/>
                <a:cs typeface="Arial"/>
              </a:defRPr>
            </a:pPr>
            <a:r>
              <a:rPr sz="1275" b="1">
                <a:solidFill>
                  <a:srgbClr val="A84E70"/>
                </a:solidFill>
                <a:latin typeface="Arial"/>
                <a:ea typeface="Arial"/>
                <a:cs typeface="Arial"/>
              </a:rPr>
              <a:t>DESIGN AND ANALYSIS OF ALGORITHMS / РУССКИЙ</a:t>
            </a:r>
          </a:p>
        </p:txBody>
      </p:sp>
      <p:sp>
        <p:nvSpPr>
          <p:cNvPr id="2" name="">
            <a:extLst xmlns:a="http://schemas.openxmlformats.org/drawingml/2006/main">
              <a:ext uri="{FF2B5EF4-FFF2-40B4-BE49-F238E27FC236}">
                <a16:creationId xmlns:a16="http://schemas.microsoft.com/office/drawing/2014/main" id="{D75F851D-BAAA-4F17-8717-D28D788E4113}"/>
              </a:ext>
            </a:extLst>
          </p:cNvPr>
          <p:cNvSpPr>
            <a:spLocks xmlns:a="http://schemas.openxmlformats.org/drawingml/2006/main" noGrp="1"/>
          </p:cNvSpPr>
          <p:nvPr/>
        </p:nvSpPr>
        <p:spPr>
          <a:xfrm xmlns:a="http://schemas.openxmlformats.org/drawingml/2006/main">
            <a:off x="609600" y="723900"/>
            <a:ext cx="109728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3225" b="1">
                <a:solidFill>
                  <a:srgbClr val="15273F"/>
                </a:solidFill>
                <a:latin typeface="Arial"/>
                <a:ea typeface="Arial"/>
                <a:cs typeface="Arial"/>
              </a:defRPr>
            </a:defPPr>
          </a:lstStyle>
          <a:p xmlns:a="http://schemas.openxmlformats.org/drawingml/2006/main">
            <a:pPr>
              <a:defRPr sz="3225" b="1">
                <a:solidFill>
                  <a:srgbClr val="15273F"/>
                </a:solidFill>
                <a:latin typeface="Arial"/>
                <a:ea typeface="Arial"/>
                <a:cs typeface="Arial"/>
              </a:defRPr>
            </a:pPr>
            <a:r>
              <a:rPr sz="3225" b="1">
                <a:solidFill>
                  <a:srgbClr val="15273F"/>
                </a:solidFill>
                <a:latin typeface="Arial"/>
                <a:ea typeface="Arial"/>
                <a:cs typeface="Arial"/>
              </a:rPr>
              <a:t>Английское видеообъяснение</a:t>
            </a:r>
          </a:p>
        </p:txBody>
      </p:sp>
      <p:sp>
        <p:nvSpPr>
          <p:cNvPr id="3" name="">
            <a:extLst xmlns:a="http://schemas.openxmlformats.org/drawingml/2006/main">
              <a:ext uri="{FF2B5EF4-FFF2-40B4-BE49-F238E27FC236}">
                <a16:creationId xmlns:a16="http://schemas.microsoft.com/office/drawing/2014/main" id="{227F905F-E97A-4E8D-8E5D-1C760C962936}"/>
              </a:ext>
            </a:extLst>
          </p:cNvPr>
          <p:cNvSpPr>
            <a:spLocks xmlns:a="http://schemas.openxmlformats.org/drawingml/2006/main" noGrp="1"/>
          </p:cNvSpPr>
          <p:nvPr/>
        </p:nvSpPr>
        <p:spPr>
          <a:xfrm xmlns:a="http://schemas.openxmlformats.org/drawingml/2006/main">
            <a:off x="609600" y="1809750"/>
            <a:ext cx="10953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2175" b="0">
                <a:solidFill>
                  <a:srgbClr val="15273F"/>
                </a:solidFill>
                <a:latin typeface="Arial"/>
                <a:ea typeface="Arial"/>
                <a:cs typeface="Arial"/>
              </a:defRPr>
            </a:defPPr>
          </a:lstStyle>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Пошаговое объяснение с учебными примерами</a:t>
            </a:r>
          </a:p>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Видео встроено в файл PowerPoint</a:t>
            </a:r>
          </a:p>
          <a:p xmlns:a="http://schemas.openxmlformats.org/drawingml/2006/main">
            <a:pPr>
              <a:defRPr sz="2175" b="0">
                <a:solidFill>
                  <a:srgbClr val="15273F"/>
                </a:solidFill>
                <a:latin typeface="Arial"/>
                <a:ea typeface="Arial"/>
                <a:cs typeface="Arial"/>
              </a:defRPr>
            </a:pPr>
            <a:r>
              <a:rPr sz="2175" b="0">
                <a:solidFill>
                  <a:srgbClr val="15273F"/>
                </a:solidFill>
                <a:latin typeface="Arial"/>
                <a:ea typeface="Arial"/>
                <a:cs typeface="Arial"/>
              </a:rPr>
              <a:t>Голос синтетический, язык озвучки английский</a:t>
            </a:r>
          </a:p>
        </p:txBody>
      </p:sp>
      <p:pic>
        <p:nvPicPr>
          <p:cNvPr id="4" name="Assignment 3 English narrated walkthrough">
            <a:extLst xmlns:a="http://schemas.openxmlformats.org/drawingml/2006/main">
              <a:ext uri="{FF2B5EF4-FFF2-40B4-BE49-F238E27FC236}">
                <a16:creationId xmlns:a16="http://schemas.microsoft.com/office/drawing/2014/main" id="{E4102DB7-9348-4F3C-9331-54589D696212}"/>
              </a:ext>
            </a:extLst>
            <ns4:hlinkClick xmlns:ns4="http://schemas.openxmlformats.org/drawingml/2006/main" action="ppaction://media"/>
          </p:cNvPr>
          <p:cNvPicPr>
            <a:picLocks xmlns:a="http://schemas.openxmlformats.org/drawingml/2006/main" noChangeAspect="1"/>
          </p:cNvPicPr>
          <p:nvPr>
            <ns0:videoFile xmlns:ns0="http://schemas.openxmlformats.org/drawingml/2006/main" xmlns:ns1="http://schemas.openxmlformats.org/officeDocument/2006/relationships" ns1:link="rIdA3Video"/>
            <p:extLst>
              <p:ext uri="{DAA4B4D4-6D71-4841-9C94-3DE7FCFB9230}">
                <ns2:media xmlns:ns2="http://schemas.microsoft.com/office/powerpoint/2010/main" xmlns:ns3="http://schemas.openxmlformats.org/officeDocument/2006/relationships" ns3:embed="rIdA3Media"/>
              </p:ext>
            </p:extLst>
          </p:nvPr>
        </p:nvPicPr>
        <p:blipFill>
          <a:blip xmlns:r="http://schemas.openxmlformats.org/officeDocument/2006/relationships" xmlns:a="http://schemas.openxmlformats.org/drawingml/2006/main" r:embed="R6de93730865046d8"/>
          <a:stretch xmlns:a="http://schemas.openxmlformats.org/drawingml/2006/main"/>
        </p:blipFill>
        <p:spPr>
          <a:xfrm xmlns:a="http://schemas.openxmlformats.org/drawingml/2006/main">
            <a:off x="3268133" y="3162300"/>
            <a:ext cx="5655733" cy="3181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A2473F9-6C10-4664-B293-67B4AF4A5A93}"/>
              </a:ext>
            </a:extLst>
          </p:cNvPr>
          <p:cNvSpPr>
            <a:spLocks xmlns:a="http://schemas.openxmlformats.org/drawingml/2006/main" noGrp="1"/>
          </p:cNvSpPr>
          <p:nvPr/>
        </p:nvSpPr>
        <p:spPr>
          <a:xfrm xmlns:a="http://schemas.openxmlformats.org/drawingml/2006/main">
            <a:off x="609600" y="6477000"/>
            <a:ext cx="914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125" b="0">
                <a:solidFill>
                  <a:srgbClr val="627083"/>
                </a:solidFill>
                <a:latin typeface="Arial"/>
                <a:ea typeface="Arial"/>
                <a:cs typeface="Arial"/>
              </a:defRPr>
            </a:defPPr>
          </a:lstStyle>
          <a:p xmlns:a="http://schemas.openxmlformats.org/drawingml/2006/main">
            <a:pPr>
              <a:defRPr sz="1125" b="0">
                <a:solidFill>
                  <a:srgbClr val="627083"/>
                </a:solidFill>
                <a:latin typeface="Arial"/>
                <a:ea typeface="Arial"/>
                <a:cs typeface="Arial"/>
              </a:defRPr>
            </a:pPr>
            <a:r>
              <a:rPr sz="1125" b="0">
                <a:solidFill>
                  <a:srgbClr val="627083"/>
                </a:solidFill>
                <a:latin typeface="Arial"/>
                <a:ea typeface="Arial"/>
                <a:cs typeface="Arial"/>
              </a:rPr>
              <a:t>Assignment 3  /  Объяснение для студентов</a:t>
            </a:r>
          </a:p>
        </p:txBody>
      </p:sp>
      <p:sp>
        <p:nvSpPr>
          <p:cNvPr id="6" name="">
            <a:extLst xmlns:a="http://schemas.openxmlformats.org/drawingml/2006/main">
              <a:ext uri="{FF2B5EF4-FFF2-40B4-BE49-F238E27FC236}">
                <a16:creationId xmlns:a16="http://schemas.microsoft.com/office/drawing/2014/main" id="{766785D3-CED8-413E-BF13-89F8C31EC635}"/>
              </a:ext>
            </a:extLst>
          </p:cNvPr>
          <p:cNvSpPr>
            <a:spLocks xmlns:a="http://schemas.openxmlformats.org/drawingml/2006/main" noGrp="1"/>
          </p:cNvSpPr>
          <p:nvPr/>
        </p:nvSpPr>
        <p:spPr>
          <a:xfrm xmlns:a="http://schemas.openxmlformats.org/drawingml/2006/main">
            <a:off x="10477500" y="6438900"/>
            <a:ext cx="1104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defPPr>
              <a:defRPr sz="1500" b="1">
                <a:solidFill>
                  <a:srgbClr val="A84E70"/>
                </a:solidFill>
                <a:latin typeface="Arial"/>
                <a:ea typeface="Arial"/>
                <a:cs typeface="Arial"/>
              </a:defRPr>
            </a:defPPr>
          </a:lstStyle>
          <a:p xmlns:a="http://schemas.openxmlformats.org/drawingml/2006/main">
            <a:pPr>
              <a:defRPr sz="1500" b="1">
                <a:solidFill>
                  <a:srgbClr val="A84E70"/>
                </a:solidFill>
                <a:latin typeface="Arial"/>
                <a:ea typeface="Arial"/>
                <a:cs typeface="Arial"/>
              </a:defRPr>
            </a:pPr>
            <a:r>
              <a:rPr sz="1500" b="1">
                <a:solidFill>
                  <a:srgbClr val="A84E70"/>
                </a:solidFill>
                <a:latin typeface="Arial"/>
                <a:ea typeface="Arial"/>
                <a:cs typeface="Arial"/>
              </a:rPr>
              <a:t>41 / 41</a:t>
            </a:r>
          </a:p>
        </p:txBody>
      </p:sp>
    </p:spTree>
    <p:extLst>
      <p:ext uri="{BB962C8B-B14F-4D97-AF65-F5344CB8AC3E}">
        <p14:creationId xmlns:p14="http://schemas.microsoft.com/office/powerpoint/2010/main" val="896669419"/>
      </p:ext>
    </p:extLst>
  </p:cSld>
  <p:timing>
    <p:tnLst>
      <p:par>
        <p:cTn id="1" dur="indefinite" restart="never" nodeType="tmRoot">
          <p:childTnLst>
            <p:video>
              <p:cMediaNode vol="100000">
                <p:cTn id="2" fill="hold" display="0">
                  <p:stCondLst>
                    <p:cond delay="indefinite"/>
                  </p:stCondLst>
                </p:cTn>
                <p:tgtEl>
                  <p:spTgt spid="4"/>
                </p:tgtEl>
              </p:cMediaNode>
            </p:video>
          </p:childTnLst>
        </p:cTn>
      </p:par>
    </p:tn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2026-10-16T00:42:23.5690000Z</dcterms:created>
  <dcterms:modified xsi:type="dcterms:W3CDTF">2026-10-16T00:42:23.5690000Z</dcterms:modified>
</coreProperties>
</file>