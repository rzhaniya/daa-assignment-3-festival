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Default Extension="mp4" ContentType="video/mp4"/>
</Types>
</file>

<file path=_rels/.rels>&#65279;<?xml version="1.0" encoding="utf-8"?><Relationships xmlns="http://schemas.openxmlformats.org/package/2006/relationships"><Relationship Type="http://schemas.openxmlformats.org/package/2006/relationships/metadata/core-properties" Target="/docProps/core.xml" Id="R3755d4e5c6354dbb" /><Relationship Type="http://schemas.openxmlformats.org/officeDocument/2006/relationships/extended-properties" Target="/docProps/app.xml" Id="R9354ef6479ee49bd" /><Relationship Type="http://schemas.openxmlformats.org/officeDocument/2006/relationships/officeDocument" Target="/ppt/presentation.xml" Id="R9c3ccf941a4b4017" /></Relationships>
</file>

<file path=ppt/presentation.xml><?xml version="1.0" encoding="utf-8"?>
<p:presentation xmlns:p="http://schemas.openxmlformats.org/presentationml/2006/main">
  <p:sldMasterIdLst>
    <p:sldMasterId xmlns:r="http://schemas.openxmlformats.org/officeDocument/2006/relationships" id="2147483648" r:id="Rdd7187caf80d4a66"/>
  </p:sldMasterIdLst>
  <p:notesMasterIdLst>
    <p:notesMasterId xmlns:r="http://schemas.openxmlformats.org/officeDocument/2006/relationships" r:id="R44a79a43458a4bbc"/>
  </p:notesMasterIdLst>
  <p:sldIdLst>
    <p:sldId xmlns:r="http://schemas.openxmlformats.org/officeDocument/2006/relationships" id="256" r:id="R450b00a4005e4bf0"/>
    <p:sldId xmlns:r="http://schemas.openxmlformats.org/officeDocument/2006/relationships" id="257" r:id="Rb4d665f27338488b"/>
    <p:sldId xmlns:r="http://schemas.openxmlformats.org/officeDocument/2006/relationships" id="258" r:id="R207529d41c024a2f"/>
    <p:sldId xmlns:r="http://schemas.openxmlformats.org/officeDocument/2006/relationships" id="259" r:id="Radd0fc1df4614b0a"/>
    <p:sldId xmlns:r="http://schemas.openxmlformats.org/officeDocument/2006/relationships" id="260" r:id="R2cd8673c0a844095"/>
    <p:sldId xmlns:r="http://schemas.openxmlformats.org/officeDocument/2006/relationships" id="261" r:id="R09b38d5a6bc14b95"/>
    <p:sldId xmlns:r="http://schemas.openxmlformats.org/officeDocument/2006/relationships" id="262" r:id="Rac181b11fa5746f8"/>
    <p:sldId xmlns:r="http://schemas.openxmlformats.org/officeDocument/2006/relationships" id="263" r:id="R30aa152df11543ad"/>
    <p:sldId xmlns:r="http://schemas.openxmlformats.org/officeDocument/2006/relationships" id="264" r:id="R5104823732bc4e86"/>
    <p:sldId xmlns:r="http://schemas.openxmlformats.org/officeDocument/2006/relationships" id="265" r:id="Ra914bff74f7d4511"/>
    <p:sldId xmlns:r="http://schemas.openxmlformats.org/officeDocument/2006/relationships" id="266" r:id="R5f5b3e420c1e4d4f"/>
    <p:sldId xmlns:r="http://schemas.openxmlformats.org/officeDocument/2006/relationships" id="267" r:id="Rbb4f3d32fc2b448a"/>
    <p:sldId xmlns:r="http://schemas.openxmlformats.org/officeDocument/2006/relationships" id="268" r:id="R61f98d40468144eb"/>
    <p:sldId xmlns:r="http://schemas.openxmlformats.org/officeDocument/2006/relationships" id="269" r:id="R47471925071d43a8"/>
    <p:sldId xmlns:r="http://schemas.openxmlformats.org/officeDocument/2006/relationships" id="270" r:id="Rb00f13d459824d97"/>
    <p:sldId xmlns:r="http://schemas.openxmlformats.org/officeDocument/2006/relationships" id="271" r:id="R7723c3214ba041ff"/>
    <p:sldId xmlns:r="http://schemas.openxmlformats.org/officeDocument/2006/relationships" id="272" r:id="R8a5361ab9c6e4321"/>
    <p:sldId xmlns:r="http://schemas.openxmlformats.org/officeDocument/2006/relationships" id="273" r:id="R659878e35eaa4cb4"/>
    <p:sldId xmlns:r="http://schemas.openxmlformats.org/officeDocument/2006/relationships" id="274" r:id="R2107a1396ab94cb5"/>
    <p:sldId xmlns:r="http://schemas.openxmlformats.org/officeDocument/2006/relationships" id="275" r:id="Rae6b582d71b7451c"/>
    <p:sldId xmlns:r="http://schemas.openxmlformats.org/officeDocument/2006/relationships" id="276" r:id="R6307686e8fde42a4"/>
    <p:sldId xmlns:r="http://schemas.openxmlformats.org/officeDocument/2006/relationships" id="277" r:id="Re7b5d53b8ffc4e32"/>
    <p:sldId xmlns:r="http://schemas.openxmlformats.org/officeDocument/2006/relationships" id="278" r:id="R8a5be275699743a9"/>
    <p:sldId xmlns:r="http://schemas.openxmlformats.org/officeDocument/2006/relationships" id="279" r:id="R741acc4897ea41d4"/>
    <p:sldId xmlns:r="http://schemas.openxmlformats.org/officeDocument/2006/relationships" id="280" r:id="Re8cb5fa6a11d4562"/>
    <p:sldId xmlns:r="http://schemas.openxmlformats.org/officeDocument/2006/relationships" id="281" r:id="Rce76b495b0384186"/>
    <p:sldId xmlns:r="http://schemas.openxmlformats.org/officeDocument/2006/relationships" id="282" r:id="Rdd98322474a04148"/>
    <p:sldId xmlns:r="http://schemas.openxmlformats.org/officeDocument/2006/relationships" id="283" r:id="R9a5661eb99ab4768"/>
    <p:sldId xmlns:r="http://schemas.openxmlformats.org/officeDocument/2006/relationships" id="284" r:id="R0fdd9faf60e94194"/>
    <p:sldId xmlns:r="http://schemas.openxmlformats.org/officeDocument/2006/relationships" id="285" r:id="Ra826105e3935409e"/>
    <p:sldId xmlns:r="http://schemas.openxmlformats.org/officeDocument/2006/relationships" id="286" r:id="Re9731cdebc164218"/>
    <p:sldId xmlns:r="http://schemas.openxmlformats.org/officeDocument/2006/relationships" id="287" r:id="R4bee1237ae8d4a74"/>
    <p:sldId xmlns:r="http://schemas.openxmlformats.org/officeDocument/2006/relationships" id="288" r:id="R70778144d6b44042"/>
    <p:sldId xmlns:r="http://schemas.openxmlformats.org/officeDocument/2006/relationships" id="289" r:id="Rb7f8c4cd736a487e"/>
    <p:sldId xmlns:r="http://schemas.openxmlformats.org/officeDocument/2006/relationships" id="290" r:id="Rf95e3cf94ec548da"/>
    <p:sldId xmlns:r="http://schemas.openxmlformats.org/officeDocument/2006/relationships" id="291" r:id="R7b4b29d2bfb94c92"/>
    <p:sldId xmlns:r="http://schemas.openxmlformats.org/officeDocument/2006/relationships" id="292" r:id="R0bf4eff3bbe344c0"/>
    <p:sldId xmlns:r="http://schemas.openxmlformats.org/officeDocument/2006/relationships" id="293" r:id="R2977f46d23a64426"/>
    <p:sldId xmlns:r="http://schemas.openxmlformats.org/officeDocument/2006/relationships" id="294" r:id="Rf065a1e64c7e4ce2"/>
    <p:sldId xmlns:r="http://schemas.openxmlformats.org/officeDocument/2006/relationships" id="295" r:id="R65bfea2c92994206"/>
    <p:sldId xmlns:r="http://schemas.openxmlformats.org/officeDocument/2006/relationships" id="296" r:id="R5c65ffad106a4a10"/>
    <p:sldId xmlns:r="http://schemas.openxmlformats.org/officeDocument/2006/relationships" id="297" r:id="Rb37a0fdee407477e"/>
    <p:sldId xmlns:r="http://schemas.openxmlformats.org/officeDocument/2006/relationships" id="298" r:id="Rd91e08181a7f4bcd"/>
    <p:sldId xmlns:r="http://schemas.openxmlformats.org/officeDocument/2006/relationships" id="299" r:id="R9914d5d4a7fc476e"/>
    <p:sldId xmlns:r="http://schemas.openxmlformats.org/officeDocument/2006/relationships" id="300" r:id="Rf74a61fe66534d0e"/>
    <p:sldId xmlns:r="http://schemas.openxmlformats.org/officeDocument/2006/relationships" id="301" r:id="R3224070cb9604ddf"/>
    <p:sldId xmlns:r="http://schemas.openxmlformats.org/officeDocument/2006/relationships" id="302" r:id="R71b4bc96ca6a409d"/>
    <p:sldId xmlns:r="http://schemas.openxmlformats.org/officeDocument/2006/relationships" id="303" r:id="R1b3c302ec61c4bb8"/>
    <p:sldId xmlns:r="http://schemas.openxmlformats.org/officeDocument/2006/relationships" id="304" r:id="Rb36cae6f6bd9456b"/>
    <p:sldId xmlns:r="http://schemas.openxmlformats.org/officeDocument/2006/relationships" id="305" r:id="Rba0d63b34e5e4160"/>
    <p:sldId xmlns:r="http://schemas.openxmlformats.org/officeDocument/2006/relationships" id="306" r:id="Rb3f32b1305a6492d"/>
    <p:sldId xmlns:r="http://schemas.openxmlformats.org/officeDocument/2006/relationships" id="307" r:id="R986f4f970fce4cec"/>
    <p:sldId xmlns:r="http://schemas.openxmlformats.org/officeDocument/2006/relationships" id="308" r:id="Reb2f66650cab4021"/>
    <p:sldId xmlns:r="http://schemas.openxmlformats.org/officeDocument/2006/relationships" id="309" r:id="R56b3421beb454351"/>
    <p:sldId xmlns:r="http://schemas.openxmlformats.org/officeDocument/2006/relationships" id="310" r:id="Rc739a690691f475b"/>
    <p:sldId xmlns:r="http://schemas.openxmlformats.org/officeDocument/2006/relationships" id="311" r:id="R2a40e0ec67b748e2"/>
    <p:sldId xmlns:r="http://schemas.openxmlformats.org/officeDocument/2006/relationships" id="312" r:id="R9f4323049de54e2f"/>
    <p:sldId xmlns:r="http://schemas.openxmlformats.org/officeDocument/2006/relationships" id="313" r:id="R6d661cfa2f04480f"/>
    <p:sldId xmlns:r="http://schemas.openxmlformats.org/officeDocument/2006/relationships" id="314" r:id="R6d8a427970e8411b"/>
    <p:sldId xmlns:r="http://schemas.openxmlformats.org/officeDocument/2006/relationships" id="315" r:id="Ra0e5dd0c0219481f"/>
    <p:sldId xmlns:r="http://schemas.openxmlformats.org/officeDocument/2006/relationships" id="316" r:id="Re7032101867f4d5e"/>
    <p:sldId xmlns:r="http://schemas.openxmlformats.org/officeDocument/2006/relationships" id="317" r:id="Rafa6a8b25787405c"/>
    <p:sldId xmlns:r="http://schemas.openxmlformats.org/officeDocument/2006/relationships" id="318" r:id="R9c20d62843eb4982"/>
    <p:sldId xmlns:r="http://schemas.openxmlformats.org/officeDocument/2006/relationships" id="319" r:id="R37442eccc586408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d96a663fbcb4779" /><Relationship Type="http://schemas.openxmlformats.org/officeDocument/2006/relationships/slideMaster" Target="/ppt/slideMasters/slideMaster1.xml" Id="Rdd7187caf80d4a66" /><Relationship Type="http://schemas.openxmlformats.org/officeDocument/2006/relationships/notesMaster" Target="/ppt/notesMasters/notesMaster1.xml" Id="R44a79a43458a4bbc" /><Relationship Type="http://schemas.openxmlformats.org/officeDocument/2006/relationships/presProps" Target="/ppt/presProps.xml" Id="Ra8bb32871ee74620" /><Relationship Type="http://schemas.openxmlformats.org/officeDocument/2006/relationships/tableStyles" Target="/ppt/tableStyles.xml" Id="R7e03bd7f6fec44de" /><Relationship Type="http://schemas.openxmlformats.org/officeDocument/2006/relationships/slide" Target="/ppt/slides/slide1.xml" Id="R450b00a4005e4bf0" /><Relationship Type="http://schemas.openxmlformats.org/officeDocument/2006/relationships/slide" Target="/ppt/slides/slide2.xml" Id="Rb4d665f27338488b" /><Relationship Type="http://schemas.openxmlformats.org/officeDocument/2006/relationships/slide" Target="/ppt/slides/slide3.xml" Id="R207529d41c024a2f" /><Relationship Type="http://schemas.openxmlformats.org/officeDocument/2006/relationships/slide" Target="/ppt/slides/slide4.xml" Id="Radd0fc1df4614b0a" /><Relationship Type="http://schemas.openxmlformats.org/officeDocument/2006/relationships/slide" Target="/ppt/slides/slide5.xml" Id="R2cd8673c0a844095" /><Relationship Type="http://schemas.openxmlformats.org/officeDocument/2006/relationships/slide" Target="/ppt/slides/slide6.xml" Id="R09b38d5a6bc14b95" /><Relationship Type="http://schemas.openxmlformats.org/officeDocument/2006/relationships/slide" Target="/ppt/slides/slide7.xml" Id="Rac181b11fa5746f8" /><Relationship Type="http://schemas.openxmlformats.org/officeDocument/2006/relationships/slide" Target="/ppt/slides/slide8.xml" Id="R30aa152df11543ad" /><Relationship Type="http://schemas.openxmlformats.org/officeDocument/2006/relationships/slide" Target="/ppt/slides/slide9.xml" Id="R5104823732bc4e86" /><Relationship Type="http://schemas.openxmlformats.org/officeDocument/2006/relationships/slide" Target="/ppt/slides/slide10.xml" Id="Ra914bff74f7d4511" /><Relationship Type="http://schemas.openxmlformats.org/officeDocument/2006/relationships/slide" Target="/ppt/slides/slide11.xml" Id="R5f5b3e420c1e4d4f" /><Relationship Type="http://schemas.openxmlformats.org/officeDocument/2006/relationships/slide" Target="/ppt/slides/slide12.xml" Id="Rbb4f3d32fc2b448a" /><Relationship Type="http://schemas.openxmlformats.org/officeDocument/2006/relationships/slide" Target="/ppt/slides/slide13.xml" Id="R61f98d40468144eb" /><Relationship Type="http://schemas.openxmlformats.org/officeDocument/2006/relationships/slide" Target="/ppt/slides/slide14.xml" Id="R47471925071d43a8" /><Relationship Type="http://schemas.openxmlformats.org/officeDocument/2006/relationships/slide" Target="/ppt/slides/slide15.xml" Id="Rb00f13d459824d97" /><Relationship Type="http://schemas.openxmlformats.org/officeDocument/2006/relationships/slide" Target="/ppt/slides/slide16.xml" Id="R7723c3214ba041ff" /><Relationship Type="http://schemas.openxmlformats.org/officeDocument/2006/relationships/slide" Target="/ppt/slides/slide17.xml" Id="R8a5361ab9c6e4321" /><Relationship Type="http://schemas.openxmlformats.org/officeDocument/2006/relationships/slide" Target="/ppt/slides/slide18.xml" Id="R659878e35eaa4cb4" /><Relationship Type="http://schemas.openxmlformats.org/officeDocument/2006/relationships/slide" Target="/ppt/slides/slide19.xml" Id="R2107a1396ab94cb5" /><Relationship Type="http://schemas.openxmlformats.org/officeDocument/2006/relationships/slide" Target="/ppt/slides/slide20.xml" Id="Rae6b582d71b7451c" /><Relationship Type="http://schemas.openxmlformats.org/officeDocument/2006/relationships/slide" Target="/ppt/slides/slide21.xml" Id="R6307686e8fde42a4" /><Relationship Type="http://schemas.openxmlformats.org/officeDocument/2006/relationships/slide" Target="/ppt/slides/slide22.xml" Id="Re7b5d53b8ffc4e32" /><Relationship Type="http://schemas.openxmlformats.org/officeDocument/2006/relationships/slide" Target="/ppt/slides/slide23.xml" Id="R8a5be275699743a9" /><Relationship Type="http://schemas.openxmlformats.org/officeDocument/2006/relationships/slide" Target="/ppt/slides/slide24.xml" Id="R741acc4897ea41d4" /><Relationship Type="http://schemas.openxmlformats.org/officeDocument/2006/relationships/slide" Target="/ppt/slides/slide25.xml" Id="Re8cb5fa6a11d4562" /><Relationship Type="http://schemas.openxmlformats.org/officeDocument/2006/relationships/slide" Target="/ppt/slides/slide26.xml" Id="Rce76b495b0384186" /><Relationship Type="http://schemas.openxmlformats.org/officeDocument/2006/relationships/slide" Target="/ppt/slides/slide27.xml" Id="Rdd98322474a04148" /><Relationship Type="http://schemas.openxmlformats.org/officeDocument/2006/relationships/slide" Target="/ppt/slides/slide28.xml" Id="R9a5661eb99ab4768" /><Relationship Type="http://schemas.openxmlformats.org/officeDocument/2006/relationships/slide" Target="/ppt/slides/slide29.xml" Id="R0fdd9faf60e94194" /><Relationship Type="http://schemas.openxmlformats.org/officeDocument/2006/relationships/slide" Target="/ppt/slides/slide30.xml" Id="Ra826105e3935409e" /><Relationship Type="http://schemas.openxmlformats.org/officeDocument/2006/relationships/slide" Target="/ppt/slides/slide31.xml" Id="Re9731cdebc164218" /><Relationship Type="http://schemas.openxmlformats.org/officeDocument/2006/relationships/slide" Target="/ppt/slides/slide32.xml" Id="R4bee1237ae8d4a74" /><Relationship Type="http://schemas.openxmlformats.org/officeDocument/2006/relationships/slide" Target="/ppt/slides/slide33.xml" Id="R70778144d6b44042" /><Relationship Type="http://schemas.openxmlformats.org/officeDocument/2006/relationships/slide" Target="/ppt/slides/slide34.xml" Id="Rb7f8c4cd736a487e" /><Relationship Type="http://schemas.openxmlformats.org/officeDocument/2006/relationships/slide" Target="/ppt/slides/slide35.xml" Id="Rf95e3cf94ec548da" /><Relationship Type="http://schemas.openxmlformats.org/officeDocument/2006/relationships/slide" Target="/ppt/slides/slide36.xml" Id="R7b4b29d2bfb94c92" /><Relationship Type="http://schemas.openxmlformats.org/officeDocument/2006/relationships/slide" Target="/ppt/slides/slide37.xml" Id="R0bf4eff3bbe344c0" /><Relationship Type="http://schemas.openxmlformats.org/officeDocument/2006/relationships/slide" Target="/ppt/slides/slide38.xml" Id="R2977f46d23a64426" /><Relationship Type="http://schemas.openxmlformats.org/officeDocument/2006/relationships/slide" Target="/ppt/slides/slide39.xml" Id="Rf065a1e64c7e4ce2" /><Relationship Type="http://schemas.openxmlformats.org/officeDocument/2006/relationships/slide" Target="/ppt/slides/slide40.xml" Id="R65bfea2c92994206" /><Relationship Type="http://schemas.openxmlformats.org/officeDocument/2006/relationships/slide" Target="/ppt/slides/slide41.xml" Id="R5c65ffad106a4a10" /><Relationship Type="http://schemas.openxmlformats.org/officeDocument/2006/relationships/slide" Target="/ppt/slides/slide42.xml" Id="Rb37a0fdee407477e" /><Relationship Type="http://schemas.openxmlformats.org/officeDocument/2006/relationships/slide" Target="/ppt/slides/slide43.xml" Id="Rd91e08181a7f4bcd" /><Relationship Type="http://schemas.openxmlformats.org/officeDocument/2006/relationships/slide" Target="/ppt/slides/slide44.xml" Id="R9914d5d4a7fc476e" /><Relationship Type="http://schemas.openxmlformats.org/officeDocument/2006/relationships/slide" Target="/ppt/slides/slide45.xml" Id="Rf74a61fe66534d0e" /><Relationship Type="http://schemas.openxmlformats.org/officeDocument/2006/relationships/slide" Target="/ppt/slides/slide46.xml" Id="R3224070cb9604ddf" /><Relationship Type="http://schemas.openxmlformats.org/officeDocument/2006/relationships/slide" Target="/ppt/slides/slide47.xml" Id="R71b4bc96ca6a409d" /><Relationship Type="http://schemas.openxmlformats.org/officeDocument/2006/relationships/slide" Target="/ppt/slides/slide48.xml" Id="R1b3c302ec61c4bb8" /><Relationship Type="http://schemas.openxmlformats.org/officeDocument/2006/relationships/slide" Target="/ppt/slides/slide49.xml" Id="Rb36cae6f6bd9456b" /><Relationship Type="http://schemas.openxmlformats.org/officeDocument/2006/relationships/slide" Target="/ppt/slides/slide50.xml" Id="Rba0d63b34e5e4160" /><Relationship Type="http://schemas.openxmlformats.org/officeDocument/2006/relationships/slide" Target="/ppt/slides/slide51.xml" Id="Rb3f32b1305a6492d" /><Relationship Type="http://schemas.openxmlformats.org/officeDocument/2006/relationships/slide" Target="/ppt/slides/slide52.xml" Id="R986f4f970fce4cec" /><Relationship Type="http://schemas.openxmlformats.org/officeDocument/2006/relationships/slide" Target="/ppt/slides/slide53.xml" Id="Reb2f66650cab4021" /><Relationship Type="http://schemas.openxmlformats.org/officeDocument/2006/relationships/slide" Target="/ppt/slides/slide54.xml" Id="R56b3421beb454351" /><Relationship Type="http://schemas.openxmlformats.org/officeDocument/2006/relationships/slide" Target="/ppt/slides/slide55.xml" Id="Rc739a690691f475b" /><Relationship Type="http://schemas.openxmlformats.org/officeDocument/2006/relationships/slide" Target="/ppt/slides/slide56.xml" Id="R2a40e0ec67b748e2" /><Relationship Type="http://schemas.openxmlformats.org/officeDocument/2006/relationships/slide" Target="/ppt/slides/slide57.xml" Id="R9f4323049de54e2f" /><Relationship Type="http://schemas.openxmlformats.org/officeDocument/2006/relationships/slide" Target="/ppt/slides/slide58.xml" Id="R6d661cfa2f04480f" /><Relationship Type="http://schemas.openxmlformats.org/officeDocument/2006/relationships/slide" Target="/ppt/slides/slide59.xml" Id="R6d8a427970e8411b" /><Relationship Type="http://schemas.openxmlformats.org/officeDocument/2006/relationships/slide" Target="/ppt/slides/slide60.xml" Id="Ra0e5dd0c0219481f" /><Relationship Type="http://schemas.openxmlformats.org/officeDocument/2006/relationships/slide" Target="/ppt/slides/slide61.xml" Id="Re7032101867f4d5e" /><Relationship Type="http://schemas.openxmlformats.org/officeDocument/2006/relationships/slide" Target="/ppt/slides/slide62.xml" Id="Rafa6a8b25787405c" /><Relationship Type="http://schemas.openxmlformats.org/officeDocument/2006/relationships/slide" Target="/ppt/slides/slide63.xml" Id="R9c20d62843eb4982" /><Relationship Type="http://schemas.openxmlformats.org/officeDocument/2006/relationships/slide" Target="/ppt/slides/slide64.xml" Id="R37442eccc586408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d13a55591f44c7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dc825705e384a70" /><Relationship Type="http://schemas.openxmlformats.org/officeDocument/2006/relationships/notesMaster" Target="/ppt/notesMasters/notesMaster1.xml" Id="Rf5dea5870c42412a" /></Relationships>
</file>

<file path=ppt/notesSlides/_rels/notesSlide2.xml.rels>&#65279;<?xml version="1.0" encoding="utf-8"?><Relationships xmlns="http://schemas.openxmlformats.org/package/2006/relationships"><Relationship Type="http://schemas.openxmlformats.org/officeDocument/2006/relationships/slide" Target="/ppt/slides/slide2.xml" Id="R5f326134faca4915" /><Relationship Type="http://schemas.openxmlformats.org/officeDocument/2006/relationships/notesMaster" Target="/ppt/notesMasters/notesMaster1.xml" Id="R56e4010eeec84312" /></Relationships>
</file>

<file path=ppt/notesSlides/_rels/notesSlide3.xml.rels>&#65279;<?xml version="1.0" encoding="utf-8"?><Relationships xmlns="http://schemas.openxmlformats.org/package/2006/relationships"><Relationship Type="http://schemas.openxmlformats.org/officeDocument/2006/relationships/slide" Target="/ppt/slides/slide3.xml" Id="Rb2f86a768d1f4024" /><Relationship Type="http://schemas.openxmlformats.org/officeDocument/2006/relationships/notesMaster" Target="/ppt/notesMasters/notesMaster1.xml" Id="Rc91685118f6f4078" /></Relationships>
</file>

<file path=ppt/notesSlides/_rels/notesSlide4.xml.rels>&#65279;<?xml version="1.0" encoding="utf-8"?><Relationships xmlns="http://schemas.openxmlformats.org/package/2006/relationships"><Relationship Type="http://schemas.openxmlformats.org/officeDocument/2006/relationships/slide" Target="/ppt/slides/slide4.xml" Id="R58e65803d49c4e51" /><Relationship Type="http://schemas.openxmlformats.org/officeDocument/2006/relationships/notesMaster" Target="/ppt/notesMasters/notesMaster1.xml" Id="R88938d1f478c4d36" /></Relationships>
</file>

<file path=ppt/notesSlides/_rels/notesSlide5.xml.rels>&#65279;<?xml version="1.0" encoding="utf-8"?><Relationships xmlns="http://schemas.openxmlformats.org/package/2006/relationships"><Relationship Type="http://schemas.openxmlformats.org/officeDocument/2006/relationships/slide" Target="/ppt/slides/slide5.xml" Id="Rdab14f2726c04af6" /><Relationship Type="http://schemas.openxmlformats.org/officeDocument/2006/relationships/notesMaster" Target="/ppt/notesMasters/notesMaster1.xml" Id="Rb7ca5f83fbd44884" /></Relationships>
</file>

<file path=ppt/notesSlides/_rels/notesSlide6.xml.rels>&#65279;<?xml version="1.0" encoding="utf-8"?><Relationships xmlns="http://schemas.openxmlformats.org/package/2006/relationships"><Relationship Type="http://schemas.openxmlformats.org/officeDocument/2006/relationships/slide" Target="/ppt/slides/slide6.xml" Id="R42e1e37c4469492e" /><Relationship Type="http://schemas.openxmlformats.org/officeDocument/2006/relationships/notesMaster" Target="/ppt/notesMasters/notesMaster1.xml" Id="R6f82f21d583943d7" /></Relationships>
</file>

<file path=ppt/notesSlides/_rels/notesSlide7.xml.rels>&#65279;<?xml version="1.0" encoding="utf-8"?><Relationships xmlns="http://schemas.openxmlformats.org/package/2006/relationships"><Relationship Type="http://schemas.openxmlformats.org/officeDocument/2006/relationships/slide" Target="/ppt/slides/slide7.xml" Id="R3031c8852dd14494" /><Relationship Type="http://schemas.openxmlformats.org/officeDocument/2006/relationships/notesMaster" Target="/ppt/notesMasters/notesMaster1.xml" Id="R576dc67007cc4531" /></Relationships>
</file>

<file path=ppt/notesSlides/_rels/notesSlide8.xml.rels>&#65279;<?xml version="1.0" encoding="utf-8"?><Relationships xmlns="http://schemas.openxmlformats.org/package/2006/relationships"><Relationship Type="http://schemas.openxmlformats.org/officeDocument/2006/relationships/slide" Target="/ppt/slides/slide8.xml" Id="Rfa27723248884ba9" /><Relationship Type="http://schemas.openxmlformats.org/officeDocument/2006/relationships/notesMaster" Target="/ppt/notesMasters/notesMaster1.xml" Id="R9b419f0342374f79" /></Relationships>
</file>

<file path=ppt/notesSlides/_rels/notesSlide9.xml.rels>&#65279;<?xml version="1.0" encoding="utf-8"?><Relationships xmlns="http://schemas.openxmlformats.org/package/2006/relationships"><Relationship Type="http://schemas.openxmlformats.org/officeDocument/2006/relationships/slide" Target="/ppt/slides/slide9.xml" Id="R70294435ab9649bd" /><Relationship Type="http://schemas.openxmlformats.org/officeDocument/2006/relationships/notesMaster" Target="/ppt/notesMasters/notesMaster1.xml" Id="R772a06986a94499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960f11585774fde" /><Relationship Type="http://schemas.openxmlformats.org/officeDocument/2006/relationships/notesMaster" Target="/ppt/notesMasters/notesMaster1.xml" Id="Rd5997c46a390435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20bc4f630b04cc7" /><Relationship Type="http://schemas.openxmlformats.org/officeDocument/2006/relationships/notesMaster" Target="/ppt/notesMasters/notesMaster1.xml" Id="R625877af3cd04f5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262f838f3c9424e" /><Relationship Type="http://schemas.openxmlformats.org/officeDocument/2006/relationships/notesMaster" Target="/ppt/notesMasters/notesMaster1.xml" Id="R88c19d1b396548c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d8c8e0c1fe747fc" /><Relationship Type="http://schemas.openxmlformats.org/officeDocument/2006/relationships/notesMaster" Target="/ppt/notesMasters/notesMaster1.xml" Id="R15324a44ea5a499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0aaaeec459242f9" /><Relationship Type="http://schemas.openxmlformats.org/officeDocument/2006/relationships/notesMaster" Target="/ppt/notesMasters/notesMaster1.xml" Id="Re017af1059a2417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c174ea63eb64301" /><Relationship Type="http://schemas.openxmlformats.org/officeDocument/2006/relationships/notesMaster" Target="/ppt/notesMasters/notesMaster1.xml" Id="R06b41511460548f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9d55f705d854538" /><Relationship Type="http://schemas.openxmlformats.org/officeDocument/2006/relationships/notesMaster" Target="/ppt/notesMasters/notesMaster1.xml" Id="Rddfcb1ea709e47f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355c1cf63f64b94" /><Relationship Type="http://schemas.openxmlformats.org/officeDocument/2006/relationships/notesMaster" Target="/ppt/notesMasters/notesMaster1.xml" Id="R015200201a63453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53e55a6811448a2" /><Relationship Type="http://schemas.openxmlformats.org/officeDocument/2006/relationships/notesMaster" Target="/ppt/notesMasters/notesMaster1.xml" Id="R26494e375b3f465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d81f9d7239241f7" /><Relationship Type="http://schemas.openxmlformats.org/officeDocument/2006/relationships/notesMaster" Target="/ppt/notesMasters/notesMaster1.xml" Id="R2f16ee1628ea420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4af3aa77c3b49d3" /><Relationship Type="http://schemas.openxmlformats.org/officeDocument/2006/relationships/notesMaster" Target="/ppt/notesMasters/notesMaster1.xml" Id="Ref0929b4a8f8451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44e8b7f70674077" /><Relationship Type="http://schemas.openxmlformats.org/officeDocument/2006/relationships/notesMaster" Target="/ppt/notesMasters/notesMaster1.xml" Id="Rd5384a62b6d64e7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20cd3477d9c44c4" /><Relationship Type="http://schemas.openxmlformats.org/officeDocument/2006/relationships/notesMaster" Target="/ppt/notesMasters/notesMaster1.xml" Id="Ra9c0537ab75d4cc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829edf36b8cf4eab" /><Relationship Type="http://schemas.openxmlformats.org/officeDocument/2006/relationships/notesMaster" Target="/ppt/notesMasters/notesMaster1.xml" Id="Rf5b9cb33d01445e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eff002978ab4d2d" /><Relationship Type="http://schemas.openxmlformats.org/officeDocument/2006/relationships/notesMaster" Target="/ppt/notesMasters/notesMaster1.xml" Id="Rb2ba94f9a45f469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9c113fb78384ca7" /><Relationship Type="http://schemas.openxmlformats.org/officeDocument/2006/relationships/notesMaster" Target="/ppt/notesMasters/notesMaster1.xml" Id="R705fdef2e43447f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648cbaf336c48e4" /><Relationship Type="http://schemas.openxmlformats.org/officeDocument/2006/relationships/notesMaster" Target="/ppt/notesMasters/notesMaster1.xml" Id="Rccedfbb1d6414cd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378d8eebaf448e0" /><Relationship Type="http://schemas.openxmlformats.org/officeDocument/2006/relationships/notesMaster" Target="/ppt/notesMasters/notesMaster1.xml" Id="R8c93ea0dee704492"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7a2e2a40cee4f2c" /><Relationship Type="http://schemas.openxmlformats.org/officeDocument/2006/relationships/notesMaster" Target="/ppt/notesMasters/notesMaster1.xml" Id="R227a2f71539e478d"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70af9cf0add4739" /><Relationship Type="http://schemas.openxmlformats.org/officeDocument/2006/relationships/notesMaster" Target="/ppt/notesMasters/notesMaster1.xml" Id="R1705845ad6a24ccf"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dfc889ac7f974bd9" /><Relationship Type="http://schemas.openxmlformats.org/officeDocument/2006/relationships/notesMaster" Target="/ppt/notesMasters/notesMaster1.xml" Id="R0ee17e460c7442ad"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88b5f7836cdb4374" /><Relationship Type="http://schemas.openxmlformats.org/officeDocument/2006/relationships/notesMaster" Target="/ppt/notesMasters/notesMaster1.xml" Id="R4dc29fd63a584b8b"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ba724f89bc1f4a61" /><Relationship Type="http://schemas.openxmlformats.org/officeDocument/2006/relationships/notesMaster" Target="/ppt/notesMasters/notesMaster1.xml" Id="R32630e4f0dfc4ae0"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e3a4ca8d3f614d79" /><Relationship Type="http://schemas.openxmlformats.org/officeDocument/2006/relationships/notesMaster" Target="/ppt/notesMasters/notesMaster1.xml" Id="R9091b1bed0d042eb"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d9c999321ffc4351" /><Relationship Type="http://schemas.openxmlformats.org/officeDocument/2006/relationships/notesMaster" Target="/ppt/notesMasters/notesMaster1.xml" Id="Rb3204e97542c41b5"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b1aa779c93ee435d" /><Relationship Type="http://schemas.openxmlformats.org/officeDocument/2006/relationships/notesMaster" Target="/ppt/notesMasters/notesMaster1.xml" Id="R1938ee17aae44ada"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b20cf3aa4b664f1f" /><Relationship Type="http://schemas.openxmlformats.org/officeDocument/2006/relationships/notesMaster" Target="/ppt/notesMasters/notesMaster1.xml" Id="Rcdaf6fdcfab44279"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79f6c567fe6d452f" /><Relationship Type="http://schemas.openxmlformats.org/officeDocument/2006/relationships/notesMaster" Target="/ppt/notesMasters/notesMaster1.xml" Id="R165ee6c900a64f16"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94376341dcd141fa" /><Relationship Type="http://schemas.openxmlformats.org/officeDocument/2006/relationships/notesMaster" Target="/ppt/notesMasters/notesMaster1.xml" Id="Ra6a28e88428a4448"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fdc85e3fd1694ac8" /><Relationship Type="http://schemas.openxmlformats.org/officeDocument/2006/relationships/notesMaster" Target="/ppt/notesMasters/notesMaster1.xml" Id="Rf5d035af7fc1405e"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a0d1afb275934e9a" /><Relationship Type="http://schemas.openxmlformats.org/officeDocument/2006/relationships/notesMaster" Target="/ppt/notesMasters/notesMaster1.xml" Id="R529d0c85c2d544ef"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35e6c1dae4ad4d6a" /><Relationship Type="http://schemas.openxmlformats.org/officeDocument/2006/relationships/notesMaster" Target="/ppt/notesMasters/notesMaster1.xml" Id="R7e8de4243cad4534"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1b82ebaf4df8499c" /><Relationship Type="http://schemas.openxmlformats.org/officeDocument/2006/relationships/notesMaster" Target="/ppt/notesMasters/notesMaster1.xml" Id="R500aa66ce7684fb0"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9e1850d8187e4ed8" /><Relationship Type="http://schemas.openxmlformats.org/officeDocument/2006/relationships/notesMaster" Target="/ppt/notesMasters/notesMaster1.xml" Id="Ra0c094b02bda4898"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97111470ffc24a6d" /><Relationship Type="http://schemas.openxmlformats.org/officeDocument/2006/relationships/notesMaster" Target="/ppt/notesMasters/notesMaster1.xml" Id="Rd2ad8b9172f04745"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01575484351f4c63" /><Relationship Type="http://schemas.openxmlformats.org/officeDocument/2006/relationships/notesMaster" Target="/ppt/notesMasters/notesMaster1.xml" Id="Rffa4b605cf104403"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8a9bdd16cd1f43da" /><Relationship Type="http://schemas.openxmlformats.org/officeDocument/2006/relationships/notesMaster" Target="/ppt/notesMasters/notesMaster1.xml" Id="Rfb7bca761c7545cc"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5deec038efb643a4" /><Relationship Type="http://schemas.openxmlformats.org/officeDocument/2006/relationships/notesMaster" Target="/ppt/notesMasters/notesMaster1.xml" Id="Re2f4bea4bb1c4035"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aabb04952fff4ea7" /><Relationship Type="http://schemas.openxmlformats.org/officeDocument/2006/relationships/notesMaster" Target="/ppt/notesMasters/notesMaster1.xml" Id="Rcc2d8dbde8d74be5"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b1e7629709e44b72" /><Relationship Type="http://schemas.openxmlformats.org/officeDocument/2006/relationships/notesMaster" Target="/ppt/notesMasters/notesMaster1.xml" Id="Rc5c853d779cd49e5"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9b627ee5c1ec4e43" /><Relationship Type="http://schemas.openxmlformats.org/officeDocument/2006/relationships/notesMaster" Target="/ppt/notesMasters/notesMaster1.xml" Id="Rf6906966e7eb4d83"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9da6e0e576c64159" /><Relationship Type="http://schemas.openxmlformats.org/officeDocument/2006/relationships/notesMaster" Target="/ppt/notesMasters/notesMaster1.xml" Id="R7ffd6c8923584e5e"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5b4b19789d264cc2" /><Relationship Type="http://schemas.openxmlformats.org/officeDocument/2006/relationships/notesMaster" Target="/ppt/notesMasters/notesMaster1.xml" Id="R3046157b0ec04448"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40dc9d7176674eb6" /><Relationship Type="http://schemas.openxmlformats.org/officeDocument/2006/relationships/notesMaster" Target="/ppt/notesMasters/notesMaster1.xml" Id="R16fcdb8b97114460"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66290e61aeb0458a" /><Relationship Type="http://schemas.openxmlformats.org/officeDocument/2006/relationships/notesMaster" Target="/ppt/notesMasters/notesMaster1.xml" Id="R3d9dbed37ae84f44"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d1c17b6c4850416d" /><Relationship Type="http://schemas.openxmlformats.org/officeDocument/2006/relationships/notesMaster" Target="/ppt/notesMasters/notesMaster1.xml" Id="Ra2a32f6038fc4507"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b08304e2ff71481a" /><Relationship Type="http://schemas.openxmlformats.org/officeDocument/2006/relationships/notesMaster" Target="/ppt/notesMasters/notesMaster1.xml" Id="Rf874fe3b4db54232"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ab4c27b0ba7b4eb3" /><Relationship Type="http://schemas.openxmlformats.org/officeDocument/2006/relationships/notesMaster" Target="/ppt/notesMasters/notesMaster1.xml" Id="R46cd9ea30d0542b1"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bfcb7e7722064a7f" /><Relationship Type="http://schemas.openxmlformats.org/officeDocument/2006/relationships/notesMaster" Target="/ppt/notesMasters/notesMaster1.xml" Id="Rfe3bfbd7455e4c4f"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9688b223b7c44b54" /><Relationship Type="http://schemas.openxmlformats.org/officeDocument/2006/relationships/notesMaster" Target="/ppt/notesMasters/notesMaster1.xml" Id="Rf41546102a4747ee"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b82f1a2d2b324cea" /><Relationship Type="http://schemas.openxmlformats.org/officeDocument/2006/relationships/notesMaster" Target="/ppt/notesMasters/notesMaster1.xml" Id="R679b6dd4f14d490a"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e24a229ade434137" /><Relationship Type="http://schemas.openxmlformats.org/officeDocument/2006/relationships/notesMaster" Target="/ppt/notesMasters/notesMaster1.xml" Id="R27aec20ce4e74ff3"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e2ec6fe7de3a4878" /><Relationship Type="http://schemas.openxmlformats.org/officeDocument/2006/relationships/notesMaster" Target="/ppt/notesMasters/notesMaster1.xml" Id="Rdc3954ce86db4eba"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10895df4629b4c7a" /><Relationship Type="http://schemas.openxmlformats.org/officeDocument/2006/relationships/notesMaster" Target="/ppt/notesMasters/notesMaster1.xml" Id="Re3373c7592d04f57"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6f644e2409e149de" /><Relationship Type="http://schemas.openxmlformats.org/officeDocument/2006/relationships/notesMaster" Target="/ppt/notesMasters/notesMaster1.xml" Id="R99bc631c3e73426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Как из маленького графа получить ответ, а затем написать свой код.</a:t>
            </a:r>
          </a:p>
          <a:p xmlns:a="http://schemas.openxmlformats.org/drawingml/2006/main">
            <a:r>
              <a:t/>
            </a:r>
          </a:p>
          <a:p xmlns:a="http://schemas.openxmlformats.org/drawingml/2006/main">
            <a:r>
              <a:t>Сначала решаем пример руками. Потом связываем каждое действие с кодом.</a:t>
            </a:r>
          </a:p>
          <a:p xmlns:a="http://schemas.openxmlformats.org/drawingml/2006/main">
            <a:r>
              <a:t/>
            </a:r>
          </a:p>
          <a:p xmlns:a="http://schemas.openxmlformats.org/drawingml/2006/main">
            <a:r>
              <a:t>Идите в своём темпе. После каждого шага попробуйте предсказать следующее состояние. Вопросы внизу помогают проверить понимание. Ответ можно открыть отдельно. Java-фрагменты показывают отдельные действия. Полные шесть методов вы реализуете самостоятельно. Точные интерфейсы определяет CONTRACTS.md.</a:t>
            </a:r>
          </a:p>
          <a:p xmlns:a="http://schemas.openxmlformats.org/drawingml/2006/main">
            <a:r>
              <a:t/>
            </a:r>
          </a:p>
          <a:p xmlns:a="http://schemas.openxmlformats.org/drawingml/2006/main">
            <a:r>
              <a:t>Шесть методов, понятные примеры и пояснения на двух языках.</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Вершина — объект. Ребро — связь между двумя объектами.</a:t>
            </a:r>
          </a:p>
          <a:p xmlns:a="http://schemas.openxmlformats.org/drawingml/2006/main">
            <a:r>
              <a:t/>
            </a:r>
          </a:p>
          <a:p xmlns:a="http://schemas.openxmlformats.org/drawingml/2006/main">
            <a:r>
              <a:t>Три площадки: 0, 1, 2. Кабели соединяют 0 с 1 и 1 с 2.</a:t>
            </a:r>
          </a:p>
          <a:p xmlns:a="http://schemas.openxmlformats.org/drawingml/2006/main">
            <a:r>
              <a:t/>
            </a:r>
          </a:p>
          <a:p xmlns:a="http://schemas.openxmlformats.org/drawingml/2006/main">
            <a:r>
              <a:t>Из 0 можно добраться до 2 через 1. Прямое ребро 0–2 для этого не нужно.</a:t>
            </a:r>
          </a:p>
          <a:p xmlns:a="http://schemas.openxmlformats.org/drawingml/2006/main">
            <a:r>
              <a:t/>
            </a:r>
          </a:p>
          <a:p xmlns:a="http://schemas.openxmlformats.org/drawingml/2006/main">
            <a:r>
              <a:t>Из 0 можно добраться до 2 через 1. Прямое ребро 0–2 для этого не нужно.</a:t>
            </a:r>
          </a:p>
          <a:p xmlns:a="http://schemas.openxmlformats.org/drawingml/2006/main">
            <a:r>
              <a:t/>
            </a:r>
          </a:p>
          <a:p xmlns:a="http://schemas.openxmlformats.org/drawingml/2006/main">
            <a:r>
              <a:t>Сколько здесь вершин и сколько рёбер?</a:t>
            </a:r>
          </a:p>
          <a:p xmlns:a="http://schemas.openxmlformats.org/drawingml/2006/main">
            <a:r>
              <a:t>3 вершины и 2 ребра. Вершины считаем по объектам, рёбра — по связям.</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Стрелка разрешает движение в одну сторону. Вес — число на ребре.</a:t>
            </a:r>
          </a:p>
          <a:p xmlns:a="http://schemas.openxmlformats.org/drawingml/2006/main">
            <a:r>
              <a:t/>
            </a:r>
          </a:p>
          <a:p xmlns:a="http://schemas.openxmlformats.org/drawingml/2006/main">
            <a:r>
              <a:t>[0, 1, 4]: из 0 в 1, стоимость 4. Для MST связь двусторонняя.</a:t>
            </a:r>
          </a:p>
          <a:p xmlns:a="http://schemas.openxmlformats.org/drawingml/2006/main">
            <a:r>
              <a:t/>
            </a:r>
          </a:p>
          <a:p xmlns:a="http://schemas.openxmlformats.org/drawingml/2006/main">
            <a:r>
              <a:t>В SCC, topo и DAG направление важно. Из существования 0→1 не следует 1→0. В MST ребро неориентированное: [0,1,4] соединяет обе вершины. Вес может означать стоимость, а отрицательный вес — скидку. Отсутствующее ребро нельзя придумывать.</a:t>
            </a:r>
          </a:p>
          <a:p xmlns:a="http://schemas.openxmlformats.org/drawingml/2006/main">
            <a:r>
              <a:t/>
            </a:r>
          </a:p>
          <a:p xmlns:a="http://schemas.openxmlformats.org/drawingml/2006/main">
            <a:r>
              <a:t>Модель зависит от задачи: кабели, порядок работ и доставка используют разные графы.</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Сначала определяем нужный результат. Потом выбираем требуемый метод.</a:t>
            </a:r>
          </a:p>
          <a:p xmlns:a="http://schemas.openxmlformats.org/drawingml/2006/main">
            <a:r>
              <a:t/>
            </a:r>
          </a:p>
          <a:p xmlns:a="http://schemas.openxmlformats.org/drawingml/2006/main">
            <a:r>
              <a:t>Один и тот же сюжет фестиваля даёт разные математические задачи.</a:t>
            </a:r>
          </a:p>
          <a:p xmlns:a="http://schemas.openxmlformats.org/drawingml/2006/main">
            <a:r>
              <a:t/>
            </a:r>
          </a:p>
          <a:p xmlns:a="http://schemas.openxmlformats.org/drawingml/2006/main">
            <a:r>
              <a:t>Краскал и Прим решают одну задачу, но в A3 нужны две отдельные реализации.</a:t>
            </a:r>
          </a:p>
          <a:p xmlns:a="http://schemas.openxmlformats.org/drawingml/2006/main">
            <a:r>
              <a:t/>
            </a:r>
          </a:p>
          <a:p xmlns:a="http://schemas.openxmlformats.org/drawingml/2006/main">
            <a:r>
              <a:t>Краскал и Прим решают одну задачу, но в A3 нужны две отдельные реализации.</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Нумерация начинается с нуля. ID сохраняется при сортировке.</a:t>
            </a:r>
          </a:p>
          <a:p xmlns:a="http://schemas.openxmlformats.org/drawingml/2006/main">
            <a:r>
              <a:t/>
            </a:r>
          </a:p>
          <a:p xmlns:a="http://schemas.openxmlformats.org/drawingml/2006/main">
            <a:r>
              <a:t>Два одинаковых ребра могут иметь разные ID.</a:t>
            </a:r>
          </a:p>
          <a:p xmlns:a="http://schemas.openxmlformats.org/drawingml/2006/main">
            <a:r>
              <a:t/>
            </a:r>
          </a:p>
          <a:p xmlns:a="http://schemas.openxmlformats.org/drawingml/2006/main">
            <a:r>
              <a:t>Когда ответ требует edge_ids или parent_edge, возвращаем исходный ID.</a:t>
            </a:r>
          </a:p>
          <a:p xmlns:a="http://schemas.openxmlformats.org/drawingml/2006/main">
            <a:r>
              <a:t/>
            </a:r>
          </a:p>
          <a:p xmlns:a="http://schemas.openxmlformats.org/drawingml/2006/main">
            <a:r>
              <a:t>Когда ответ требует edge_ids или parent_edge, возвращаем исходный ID.</a:t>
            </a:r>
          </a:p>
          <a:p xmlns:a="http://schemas.openxmlformats.org/drawingml/2006/main">
            <a:r>
              <a:t/>
            </a:r>
          </a:p>
          <a:p xmlns:a="http://schemas.openxmlformats.org/drawingml/2006/main">
            <a:r>
              <a:t>После сортировки ребро [1,2,1] стало первым. Какой у него ID?</a:t>
            </a:r>
          </a:p>
          <a:p xmlns:a="http://schemas.openxmlformats.org/drawingml/2006/main">
            <a:r>
              <a:t>ID = 1. Его исходная позиция не меняется.</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Адаптер уже читает JSON и вызывает ваш метод.</a:t>
            </a:r>
          </a:p>
          <a:p xmlns:a="http://schemas.openxmlformats.org/drawingml/2006/main">
            <a:r>
              <a:t/>
            </a:r>
          </a:p>
          <a:p xmlns:a="http://schemas.openxmlformats.org/drawingml/2006/main">
            <a:r>
              <a:t>Ввод: {"task":"dsu","n":3,"operations":[[0,1]]}</a:t>
            </a:r>
          </a:p>
          <a:p xmlns:a="http://schemas.openxmlformats.org/drawingml/2006/main">
            <a:r>
              <a:t>Вывод: {"states":[[2,2]]}</a:t>
            </a:r>
          </a:p>
          <a:p xmlns:a="http://schemas.openxmlformats.org/drawingml/2006/main">
            <a:r>
              <a:t/>
            </a:r>
          </a:p>
          <a:p xmlns:a="http://schemas.openxmlformats.org/drawingml/2006/main">
            <a:r>
              <a:t>states хранит пару [components, largest] после каждой операции. components — число групп. largest — размер самой большой группы. Отладочный текст нельзя печатать в stdout: там нужен только JSON. Следующая строка ввода — независимая задача с новым состоянием.</a:t>
            </a:r>
          </a:p>
          <a:p xmlns:a="http://schemas.openxmlformats.org/drawingml/2006/main">
            <a:r>
              <a:t/>
            </a:r>
          </a:p>
          <a:p xmlns:a="http://schemas.openxmlformats.org/drawingml/2006/main">
            <a:r>
              <a:t>После связи 0–1 осталось две группы. Самая большая содержит две вершины.</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DSU хранит, какие вершины уже соединены цепочкой связей.</a:t>
            </a:r>
          </a:p>
          <a:p xmlns:a="http://schemas.openxmlformats.org/drawingml/2006/main">
            <a:r>
              <a:t/>
            </a:r>
          </a:p>
          <a:p xmlns:a="http://schemas.openxmlformats.org/drawingml/2006/main">
            <a:r>
              <a:t>Старт: {0}, {1}, {2}, {3}, {4}. Добавляем 0–1, затем 1–2.</a:t>
            </a:r>
          </a:p>
          <a:p xmlns:a="http://schemas.openxmlformats.org/drawingml/2006/main">
            <a:r>
              <a:t/>
            </a:r>
          </a:p>
          <a:p xmlns:a="http://schemas.openxmlformats.org/drawingml/2006/main">
            <a:r>
              <a:t>Каждое соединение сливает две группы в одну: 5, затем 4, затем 3 группы. В {0,1,2} три вершины, поэтому largest=3.</a:t>
            </a:r>
          </a:p>
          <a:p xmlns:a="http://schemas.openxmlformats.org/drawingml/2006/main">
            <a:r>
              <a:t/>
            </a:r>
          </a:p>
          <a:p xmlns:a="http://schemas.openxmlformats.org/drawingml/2006/main">
            <a:r>
              <a:t>Каждое соединение сливает две группы в одну: 5, затем 4, затем 3 группы. В {0,1,2} три вершины, поэтому largest=3.</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parent[x] хранит следующую вершину на пути к представителю группы.</a:t>
            </a:r>
          </a:p>
          <a:p xmlns:a="http://schemas.openxmlformats.org/drawingml/2006/main">
            <a:r>
              <a:t/>
            </a:r>
          </a:p>
          <a:p xmlns:a="http://schemas.openxmlformats.org/drawingml/2006/main">
            <a:r>
              <a:t>parent = [0, 0, 1, 3, 4]. Для вершины 2 идём: 2 → 1 → 0.</a:t>
            </a:r>
          </a:p>
          <a:p xmlns:a="http://schemas.openxmlformats.org/drawingml/2006/main">
            <a:r>
              <a:t/>
            </a:r>
          </a:p>
          <a:p xmlns:a="http://schemas.openxmlformats.org/drawingml/2006/main">
            <a:r>
              <a:t>До первого union у каждой вершины parent[x]=x и size[x]=1. Здесь показан отдельный допустимый пример внутреннего дерева группы {0,1,2}. Это дерево указателей DSU, а не исходный граф связей. parent[2]=1 означает только следующий шаг к корню. Прямого ребра 2–0 во входе может не быть. У разных групп разные корни.</a:t>
            </a:r>
          </a:p>
          <a:p xmlns:a="http://schemas.openxmlformats.org/drawingml/2006/main">
            <a:r>
              <a:t/>
            </a:r>
          </a:p>
          <a:p xmlns:a="http://schemas.openxmlformats.org/drawingml/2006/main">
            <a:r>
              <a:t>Вершина 0 указывает на себя. Это корень, или представитель группы.</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find возвращает корень. Сравнение корней проверяет принадлежность группе.</a:t>
            </a:r>
          </a:p>
          <a:p xmlns:a="http://schemas.openxmlformats.org/drawingml/2006/main">
            <a:r>
              <a:t/>
            </a:r>
          </a:p>
          <a:p xmlns:a="http://schemas.openxmlformats.org/drawingml/2006/main">
            <a:r>
              <a:t>2 → 1 → 0. Останавливаемся, потому что parent[0] = 0.</a:t>
            </a:r>
          </a:p>
          <a:p xmlns:a="http://schemas.openxmlformats.org/drawingml/2006/main">
            <a:r>
              <a:t/>
            </a:r>
          </a:p>
          <a:p xmlns:a="http://schemas.openxmlformats.org/drawingml/2006/main">
            <a:r>
              <a:t>Если сравнить только parent[2] и parent[1], получится 1 и 0, хотя группа одна. Поэтому перед union надо найти настоящие корни. root — локальная переменная, которая движется по указателям. Цикл ниже иллюстрирует поиск без сжатия.</a:t>
            </a:r>
          </a:p>
          <a:p xmlns:a="http://schemas.openxmlformats.org/drawingml/2006/main">
            <a:r>
              <a:t/>
            </a:r>
          </a:p>
          <a:p xmlns:a="http://schemas.openxmlformats.org/drawingml/2006/main">
            <a:r>
              <a:t>find(2) = 0 и find(1) = 0: вершины 2 и 1 уже в одной группе.</a:t>
            </a:r>
          </a:p>
          <a:p xmlns:a="http://schemas.openxmlformats.org/drawingml/2006/main">
            <a:r>
              <a:t/>
            </a:r>
          </a:p>
          <a:p xmlns:a="http://schemas.openxmlformats.org/drawingml/2006/main">
            <a:r>
              <a:t>Можно сравнить parent[a] и parent[b] вместо find(a) и find(b)?</a:t>
            </a:r>
          </a:p>
          <a:p xmlns:a="http://schemas.openxmlformats.org/drawingml/2006/main">
            <a:r>
              <a:t>Нет. parent может указывать на промежуточную вершину. Нужно сравнивать корни.</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После find направляем посещённые вершины сразу к найденному корню.</a:t>
            </a:r>
          </a:p>
          <a:p xmlns:a="http://schemas.openxmlformats.org/drawingml/2006/main">
            <a:r>
              <a:t/>
            </a:r>
          </a:p>
          <a:p xmlns:a="http://schemas.openxmlformats.org/drawingml/2006/main">
            <a:r>
              <a:t>До: 2 → 1 → 0. После: 2 → 0 и 1 → 0.</a:t>
            </a:r>
          </a:p>
          <a:p xmlns:a="http://schemas.openxmlformats.org/drawingml/2006/main">
            <a:r>
              <a:t/>
            </a:r>
          </a:p>
          <a:p xmlns:a="http://schemas.openxmlformats.org/drawingml/2006/main">
            <a:r>
              <a:t>Группа та же. Меняется только внутренняя форма дерева parent.</a:t>
            </a:r>
          </a:p>
          <a:p xmlns:a="http://schemas.openxmlformats.org/drawingml/2006/main">
            <a:r>
              <a:t/>
            </a:r>
          </a:p>
          <a:p xmlns:a="http://schemas.openxmlformats.org/drawingml/2006/main">
            <a:r>
              <a:t>Группа та же. Меняется только внутренняя форма дерева parent.</a:t>
            </a:r>
          </a:p>
          <a:p xmlns:a="http://schemas.openxmlformats.org/drawingml/2006/main">
            <a:r>
              <a:t/>
            </a:r>
          </a:p>
          <a:p xmlns:a="http://schemas.openxmlformats.org/drawingml/2006/main">
            <a:r>
              <a:t>Сколько стало групп после сжатия?</a:t>
            </a:r>
          </a:p>
          <a:p xmlns:a="http://schemas.openxmlformats.org/drawingml/2006/main">
            <a:r>
              <a:t>По-прежнему три: {0,1,2}, {3}, {4}. Сжатие не соединяет разные группы.</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Перед изменением parent[x] запоминаем, куда он указывал раньше.</a:t>
            </a:r>
          </a:p>
          <a:p xmlns:a="http://schemas.openxmlformats.org/drawingml/2006/main">
            <a:r>
              <a:t/>
            </a:r>
          </a:p>
          <a:p xmlns:a="http://schemas.openxmlformats.org/drawingml/2006/main">
            <a:r>
              <a:t>Отдельный длинный путь: 3→2→1→0. Для x=3 сохраняем next=2 перед parent[3]=0.</a:t>
            </a:r>
          </a:p>
          <a:p xmlns:a="http://schemas.openxmlformats.org/drawingml/2006/main">
            <a:r>
              <a:t/>
            </a:r>
          </a:p>
          <a:p xmlns:a="http://schemas.openxmlformats.org/drawingml/2006/main">
            <a:r>
              <a:t>Здесь root=0 уже найден первым проходом. На каждой итерации сначала сохраняем старую ссылку, затем заменяем её на root, затем переходим по сохранённой ссылке. Если после записи сделать x=parent[x], сразу попадём в 0 и пропустим вершину 2. Тогда parent[2] останется 1 вместо прямой ссылки на 0. Корень найден, но полное сжатие посещённого пути не выполнено.</a:t>
            </a:r>
          </a:p>
          <a:p xmlns:a="http://schemas.openxmlformats.org/drawingml/2006/main">
            <a:r>
              <a:t/>
            </a:r>
          </a:p>
          <a:p xmlns:a="http://schemas.openxmlformats.org/drawingml/2006/main">
            <a:r>
              <a:t>next позволяет продолжить старый путь и сжать остальные вершины.</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Сначала находим два корня. Если они разные, соединяем деревья.</a:t>
            </a:r>
          </a:p>
          <a:p xmlns:a="http://schemas.openxmlformats.org/drawingml/2006/main">
            <a:r>
              <a:t/>
            </a:r>
          </a:p>
          <a:p xmlns:a="http://schemas.openxmlformats.org/drawingml/2006/main">
            <a:r>
              <a:t>Корень 0: size=3. Корень 3: size=1. Делаем parent[3]=0.</a:t>
            </a:r>
          </a:p>
          <a:p xmlns:a="http://schemas.openxmlformats.org/drawingml/2006/main">
            <a:r>
              <a:t/>
            </a:r>
          </a:p>
          <a:p xmlns:a="http://schemas.openxmlformats.org/drawingml/2006/main">
            <a:r>
              <a:t>size хранит число вершин группы у её корня. Маленькое дерево присоединяем к большому, чтобы указатели не образовывали длинную цепочку. После объединения значим именно size нового корня. Статистику обновляем только при успешном соединении разных групп.</a:t>
            </a:r>
          </a:p>
          <a:p xmlns:a="http://schemas.openxmlformats.org/drawingml/2006/main">
            <a:r>
              <a:t/>
            </a:r>
          </a:p>
          <a:p xmlns:a="http://schemas.openxmlformats.org/drawingml/2006/main">
            <a:r>
              <a:t>Новый size[0] = 4. Число групп уменьшается на 1. largest становится 4.</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Если корни одинаковы, возвращаем прежнюю статистику.</a:t>
            </a:r>
          </a:p>
          <a:p xmlns:a="http://schemas.openxmlformats.org/drawingml/2006/main">
            <a:r>
              <a:t/>
            </a:r>
          </a:p>
          <a:p xmlns:a="http://schemas.openxmlformats.org/drawingml/2006/main">
            <a:r>
              <a:t>После {0,1,2,3} добавляем [0,2] и [4,4].</a:t>
            </a:r>
          </a:p>
          <a:p xmlns:a="http://schemas.openxmlformats.org/drawingml/2006/main">
            <a:r>
              <a:t/>
            </a:r>
          </a:p>
          <a:p xmlns:a="http://schemas.openxmlformats.org/drawingml/2006/main">
            <a:r>
              <a:t>[0,2] соединяет вершины одной группы. [4,4] соединяет вершину с собой. В обоих случаях новой связи между группами нет. Но в states всё равно надо добавить строку после каждой операции. При n=0 операции пусты и states тоже пуст.</a:t>
            </a:r>
          </a:p>
          <a:p xmlns:a="http://schemas.openxmlformats.org/drawingml/2006/main">
            <a:r>
              <a:t/>
            </a:r>
          </a:p>
          <a:p xmlns:a="http://schemas.openxmlformats.org/drawingml/2006/main">
            <a:r>
              <a:t>Обе операции сохраняют components=2 и largest=4.</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size считает вершины. rank помогает выбирать корень при объединении.</a:t>
            </a:r>
          </a:p>
          <a:p xmlns:a="http://schemas.openxmlformats.org/drawingml/2006/main">
            <a:r>
              <a:t/>
            </a:r>
          </a:p>
          <a:p xmlns:a="http://schemas.openxmlformats.org/drawingml/2006/main">
            <a:r>
              <a:t>Две одиночные вершины: rank 0 и 0. После соединения rank корня = 1.</a:t>
            </a:r>
          </a:p>
          <a:p xmlns:a="http://schemas.openxmlformats.org/drawingml/2006/main">
            <a:r>
              <a:t/>
            </a:r>
          </a:p>
          <a:p xmlns:a="http://schemas.openxmlformats.org/drawingml/2006/main">
            <a:r>
              <a:t>В A3 разрешено объединение по size или по rank. Сжатие пути требуется в обоих случаях. При rank меньший ранг присоединяем к большему. Только при равных рангах повышаем ранг нового корня на 1. Для largest всё равно отдельно считаем size. После сжатия rank не обязан совпадать с текущей высотой.</a:t>
            </a:r>
          </a:p>
          <a:p xmlns:a="http://schemas.openxmlformats.org/drawingml/2006/main">
            <a:r>
              <a:t/>
            </a:r>
          </a:p>
          <a:p xmlns:a="http://schemas.openxmlformats.org/drawingml/2006/main">
            <a:r>
              <a:t>Добавили третью вершину: size=3, но rank остаётся 1.</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Возвращаем состояние после каждой операции, включая повтор и соединение с собой.</a:t>
            </a:r>
          </a:p>
          <a:p xmlns:a="http://schemas.openxmlformats.org/drawingml/2006/main">
            <a:r>
              <a:t/>
            </a:r>
          </a:p>
          <a:p xmlns:a="http://schemas.openxmlformats.org/drawingml/2006/main">
            <a:r>
              <a:t>Те же пять вершин. После [2,3] группа {0,1,2,3} содержит четыре вершины.</a:t>
            </a:r>
          </a:p>
          <a:p xmlns:a="http://schemas.openxmlformats.org/drawingml/2006/main">
            <a:r>
              <a:t/>
            </a:r>
          </a:p>
          <a:p xmlns:a="http://schemas.openxmlformats.org/drawingml/2006/main">
            <a:r>
              <a:t>Пять операций дают ровно пять пар в states. Начальное состояние отдельно не добавляем.</a:t>
            </a:r>
          </a:p>
          <a:p xmlns:a="http://schemas.openxmlformats.org/drawingml/2006/main">
            <a:r>
              <a:t/>
            </a:r>
          </a:p>
          <a:p xmlns:a="http://schemas.openxmlformats.org/drawingml/2006/main">
            <a:r>
              <a:t>Пять операций дают ровно пять пар в states. Начальное состояние отдельно не добавляем.</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Нужно соединить доступные площадки с минимальной общей стоимостью кабелей.</a:t>
            </a:r>
          </a:p>
          <a:p xmlns:a="http://schemas.openxmlformats.org/drawingml/2006/main">
            <a:r>
              <a:t/>
            </a:r>
          </a:p>
          <a:p xmlns:a="http://schemas.openxmlformats.org/drawingml/2006/main">
            <a:r>
              <a:t>У нас 0, 1, 2, 3 и отдельная площадка 4 без кабелей.</a:t>
            </a:r>
          </a:p>
          <a:p xmlns:a="http://schemas.openxmlformats.org/drawingml/2006/main">
            <a:r>
              <a:t/>
            </a:r>
          </a:p>
          <a:p xmlns:a="http://schemas.openxmlformats.org/drawingml/2006/main">
            <a:r>
              <a:t>Дерево связывает вершины без цикла. Лес состоит из нескольких таких деревьев. В A3 нельзя требовать связи всего графа, если вход разъединён. Изолированная вершина тоже считается компонентой. Для n вершин и c компонент лес содержит n−c рёбер.</a:t>
            </a:r>
          </a:p>
          <a:p xmlns:a="http://schemas.openxmlformats.org/drawingml/2006/main">
            <a:r>
              <a:t/>
            </a:r>
          </a:p>
          <a:p xmlns:a="http://schemas.openxmlformats.org/drawingml/2006/main">
            <a:r>
              <a:t>Площадку 4 соединить нельзя. Ответ — лес: дерево группы и отдельная вершина.</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Пять доступных кабелей. Все связи двусторонние.</a:t>
            </a:r>
          </a:p>
          <a:p xmlns:a="http://schemas.openxmlformats.org/drawingml/2006/main">
            <a:r>
              <a:t/>
            </a:r>
          </a:p>
          <a:p xmlns:a="http://schemas.openxmlformats.org/drawingml/2006/main">
            <a:r>
              <a:t>n=5. Вершина 4 изолирована, поэтому c=2 и нужно 5−2=3 ребра.</a:t>
            </a:r>
          </a:p>
          <a:p xmlns:a="http://schemas.openxmlformats.org/drawingml/2006/main">
            <a:r>
              <a:t/>
            </a:r>
          </a:p>
          <a:p xmlns:a="http://schemas.openxmlformats.org/drawingml/2006/main">
            <a:r>
              <a:t>Цель: минимальная сумма весов, а не кратчайший путь из одной вершины.</a:t>
            </a:r>
          </a:p>
          <a:p xmlns:a="http://schemas.openxmlformats.org/drawingml/2006/main">
            <a:r>
              <a:t/>
            </a:r>
          </a:p>
          <a:p xmlns:a="http://schemas.openxmlformats.org/drawingml/2006/main">
            <a:r>
              <a:t>Цель: минимальная сумма весов, а не кратчайший путь из одной вершины.</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Сортируем все рёбра по весу. Для групп используем DSU.</a:t>
            </a:r>
          </a:p>
          <a:p xmlns:a="http://schemas.openxmlformats.org/drawingml/2006/main">
            <a:r>
              <a:t/>
            </a:r>
          </a:p>
          <a:p xmlns:a="http://schemas.openxmlformats.org/drawingml/2006/main">
            <a:r>
              <a:t>Порядок ID: 1, 3, 0, 4, 2. Веса: 1, 2, 4, 5, 6.</a:t>
            </a:r>
          </a:p>
          <a:p xmlns:a="http://schemas.openxmlformats.org/drawingml/2006/main">
            <a:r>
              <a:t/>
            </a:r>
          </a:p>
          <a:p xmlns:a="http://schemas.openxmlformats.org/drawingml/2006/main">
            <a:r>
              <a:t>До первого шага каждая вершина сама себе группа. Сортировка меняет порядок просмотра, но сохраняет ID. Если оба конца уже связаны выбранными рёбрами, добавление ребра создаст цикл и оно не нужно. Для проверки вызываем find у обоих концов.</a:t>
            </a:r>
          </a:p>
          <a:p xmlns:a="http://schemas.openxmlformats.org/drawingml/2006/main">
            <a:r>
              <a:t/>
            </a:r>
          </a:p>
          <a:p xmlns:a="http://schemas.openxmlformats.org/drawingml/2006/main">
            <a:r>
              <a:t>Ребро берём, когда оно соединяет две разные группы.</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Оба ребра соединяют разные группы, поэтому принимаем их.</a:t>
            </a:r>
          </a:p>
          <a:p xmlns:a="http://schemas.openxmlformats.org/drawingml/2006/main">
            <a:r>
              <a:t/>
            </a:r>
          </a:p>
          <a:p xmlns:a="http://schemas.openxmlformats.org/drawingml/2006/main">
            <a:r>
              <a:t>ID 1 соединяет 1–2 за 1. Затем ID 3 соединяет 2–3 за 2.</a:t>
            </a:r>
          </a:p>
          <a:p xmlns:a="http://schemas.openxmlformats.org/drawingml/2006/main">
            <a:r>
              <a:t/>
            </a:r>
          </a:p>
          <a:p xmlns:a="http://schemas.openxmlformats.org/drawingml/2006/main">
            <a:r>
              <a:t>Теперь группа {1,2,3}, стоимость 3. Вершины 0 и 4 пока отдельно.</a:t>
            </a:r>
          </a:p>
          <a:p xmlns:a="http://schemas.openxmlformats.org/drawingml/2006/main">
            <a:r>
              <a:t/>
            </a:r>
          </a:p>
          <a:p xmlns:a="http://schemas.openxmlformats.org/drawingml/2006/main">
            <a:r>
              <a:t>Теперь группа {1,2,3}, стоимость 3. Вершины 0 и 4 пока отдельно.</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ID 0 присоединяет 0 к группе. Остальные рёбра создают цикл.</a:t>
            </a:r>
          </a:p>
          <a:p xmlns:a="http://schemas.openxmlformats.org/drawingml/2006/main">
            <a:r>
              <a:t/>
            </a:r>
          </a:p>
          <a:p xmlns:a="http://schemas.openxmlformats.org/drawingml/2006/main">
            <a:r>
              <a:t>Берём ID 0 за 4: всего 1+2+4=7. ID 4 и ID 2 пропускаем.</a:t>
            </a:r>
          </a:p>
          <a:p xmlns:a="http://schemas.openxmlformats.org/drawingml/2006/main">
            <a:r>
              <a:t/>
            </a:r>
          </a:p>
          <a:p xmlns:a="http://schemas.openxmlformats.org/drawingml/2006/main">
            <a:r>
              <a:t>Ответ: cost=7, edge_ids=[1,3,0], components=2.</a:t>
            </a:r>
          </a:p>
          <a:p xmlns:a="http://schemas.openxmlformats.org/drawingml/2006/main">
            <a:r>
              <a:t/>
            </a:r>
          </a:p>
          <a:p xmlns:a="http://schemas.openxmlformats.org/drawingml/2006/main">
            <a:r>
              <a:t>Ответ: cost=7, edge_ids=[1,3,0], components=2.</a:t>
            </a:r>
          </a:p>
          <a:p xmlns:a="http://schemas.openxmlformats.org/drawingml/2006/main">
            <a:r>
              <a:t/>
            </a:r>
          </a:p>
          <a:p xmlns:a="http://schemas.openxmlformats.org/drawingml/2006/main">
            <a:r>
              <a:t>Почему components не равно 1?</a:t>
            </a:r>
          </a:p>
          <a:p xmlns:a="http://schemas.openxmlformats.org/drawingml/2006/main">
            <a:r>
              <a:t>У вершины 4 нет входных рёбер. Она остаётся отдельной компонентой.</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Разделим вершины на две стороны. Чтобы соединить стороны, нужно пересечь границу.</a:t>
            </a:r>
          </a:p>
          <a:p xmlns:a="http://schemas.openxmlformats.org/drawingml/2006/main">
            <a:r>
              <a:t/>
            </a:r>
          </a:p>
          <a:p xmlns:a="http://schemas.openxmlformats.org/drawingml/2006/main">
            <a:r>
              <a:t>Для стороны {0}: кабель 0–1 стоит 4, а 0–2 стоит 6.</a:t>
            </a:r>
          </a:p>
          <a:p xmlns:a="http://schemas.openxmlformats.org/drawingml/2006/main">
            <a:r>
              <a:t/>
            </a:r>
          </a:p>
          <a:p xmlns:a="http://schemas.openxmlformats.org/drawingml/2006/main">
            <a:r>
              <a:t>Это свойство разреза. Берём минимальное ребро между двумя сторонами разреза, который не разрывает уже выбранные компоненты. Если оптимальное дерево его не содержит, добавление создаёт цикл. На цикле есть другое ребро через этот разрез. Удаляем его: связность сохраняется, стоимость не растёт. Значит, существует оптимальное дерево с выбранным ребром. При равных весах оптимум может быть не единственным.</a:t>
            </a:r>
          </a:p>
          <a:p xmlns:a="http://schemas.openxmlformats.org/drawingml/2006/main">
            <a:r>
              <a:t/>
            </a:r>
          </a:p>
          <a:p xmlns:a="http://schemas.openxmlformats.org/drawingml/2006/main">
            <a:r>
              <a:t>Более дорогой переход можно заменить дешёвым, сохранив связность дерева.</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Начинаем с вершины. Каждый раз выбираем самый дешёвый выход наружу.</a:t>
            </a:r>
          </a:p>
          <a:p xmlns:a="http://schemas.openxmlformats.org/drawingml/2006/main">
            <a:r>
              <a:t/>
            </a:r>
          </a:p>
          <a:p xmlns:a="http://schemas.openxmlformats.org/drawingml/2006/main">
            <a:r>
              <a:t>Стартуем в 0. Кандидаты: ID 0 за 4 и ID 2 за 6.</a:t>
            </a:r>
          </a:p>
          <a:p xmlns:a="http://schemas.openxmlformats.org/drawingml/2006/main">
            <a:r>
              <a:t/>
            </a:r>
          </a:p>
          <a:p xmlns:a="http://schemas.openxmlformats.org/drawingml/2006/main">
            <a:r>
              <a:t>Список кандидатов удобно хранить в priority queue: она быстро отдаёт запись с минимальным весом. В Приме выбираем только переход из уже подключённой части в новую вершину. В отличие от Краскала, не сортируем один раз весь граф и не соединяем произвольные группы.</a:t>
            </a:r>
          </a:p>
          <a:p xmlns:a="http://schemas.openxmlformats.org/drawingml/2006/main">
            <a:r>
              <a:t/>
            </a:r>
          </a:p>
          <a:p xmlns:a="http://schemas.openxmlformats.org/drawingml/2006/main">
            <a:r>
              <a:t>Берём ID 0: подключены {0,1}, стоимость 4.</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После новой вершины добавляем её рёбра к ещё не подключённым вершинам.</a:t>
            </a:r>
          </a:p>
          <a:p xmlns:a="http://schemas.openxmlformats.org/drawingml/2006/main">
            <a:r>
              <a:t/>
            </a:r>
          </a:p>
          <a:p xmlns:a="http://schemas.openxmlformats.org/drawingml/2006/main">
            <a:r>
              <a:t>После 1 есть 1–2 за 1 и 1–3 за 5. Старое 0–2 за 6 тоже осталось.</a:t>
            </a:r>
          </a:p>
          <a:p xmlns:a="http://schemas.openxmlformats.org/drawingml/2006/main">
            <a:r>
              <a:t/>
            </a:r>
          </a:p>
          <a:p xmlns:a="http://schemas.openxmlformats.org/drawingml/2006/main">
            <a:r>
              <a:t>Берём вес 1, затем вес 2. Итог снова 4+1+2=7.</a:t>
            </a:r>
          </a:p>
          <a:p xmlns:a="http://schemas.openxmlformats.org/drawingml/2006/main">
            <a:r>
              <a:t/>
            </a:r>
          </a:p>
          <a:p xmlns:a="http://schemas.openxmlformats.org/drawingml/2006/main">
            <a:r>
              <a:t>Берём вес 1, затем вес 2. Итог снова 4+1+2=7.</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Когда запись извлекается, её конечная вершина уже может быть подключена.</a:t>
            </a:r>
          </a:p>
          <a:p xmlns:a="http://schemas.openxmlformats.org/drawingml/2006/main">
            <a:r>
              <a:t/>
            </a:r>
          </a:p>
          <a:p xmlns:a="http://schemas.openxmlformats.org/drawingml/2006/main">
            <a:r>
              <a:t>После {0,1,2,3} запись 1–3 за 5 всё ещё лежит в очереди.</a:t>
            </a:r>
          </a:p>
          <a:p xmlns:a="http://schemas.openxmlformats.org/drawingml/2006/main">
            <a:r>
              <a:t/>
            </a:r>
          </a:p>
          <a:p xmlns:a="http://schemas.openxmlformats.org/drawingml/2006/main">
            <a:r>
              <a:t>Это lazy Prim. Запись сохраняет вес, конечную вершину и исходный ID. Когда вершина уже посещена, запись устарела. Устаревшая запись не означает ошибку очереди. Следующую подходящую запись извлекаем обычным образом. Петля также не приводит к новой вершине.</a:t>
            </a:r>
          </a:p>
          <a:p xmlns:a="http://schemas.openxmlformats.org/drawingml/2006/main">
            <a:r>
              <a:t/>
            </a:r>
          </a:p>
          <a:p xmlns:a="http://schemas.openxmlformats.org/drawingml/2006/main">
            <a:r>
              <a:t>Вершина 3 уже посещена: не добавляем ребро и не увеличиваем стоимость.</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Внешний цикл ищет каждую ещё не посещённую вершину.</a:t>
            </a:r>
          </a:p>
          <a:p xmlns:a="http://schemas.openxmlformats.org/drawingml/2006/main">
            <a:r>
              <a:t/>
            </a:r>
          </a:p>
          <a:p xmlns:a="http://schemas.openxmlformats.org/drawingml/2006/main">
            <a:r>
              <a:t>Группа {0,1,2,3} готова. Начинаем отдельную компоненту с 4.</a:t>
            </a:r>
          </a:p>
          <a:p xmlns:a="http://schemas.openxmlformats.org/drawingml/2006/main">
            <a:r>
              <a:t/>
            </a:r>
          </a:p>
          <a:p xmlns:a="http://schemas.openxmlformats.org/drawingml/2006/main">
            <a:r>
              <a:t>Пустая очередь завершает только текущую компоненту. Без внешнего цикла Прим пропустит другие компоненты и изоляты. При n=0 внешний цикл не выполняется: cost=0, edge_ids=[], components=0.</a:t>
            </a:r>
          </a:p>
          <a:p xmlns:a="http://schemas.openxmlformats.org/drawingml/2006/main">
            <a:r>
              <a:t/>
            </a:r>
          </a:p>
          <a:p xmlns:a="http://schemas.openxmlformats.org/drawingml/2006/main">
            <a:r>
              <a:t>У 4 нет рёбер. components=2, cost=7, выбрано 3 ребра.</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Сравниваем стоимость и корректность леса. Список ID может отличаться.</a:t>
            </a:r>
          </a:p>
          <a:p xmlns:a="http://schemas.openxmlformats.org/drawingml/2006/main">
            <a:r>
              <a:t/>
            </a:r>
          </a:p>
          <a:p xmlns:a="http://schemas.openxmlformats.org/drawingml/2006/main">
            <a:r>
              <a:t>Треугольник: все три ребра стоят 1. Можно выбрать любые два.</a:t>
            </a:r>
          </a:p>
          <a:p xmlns:a="http://schemas.openxmlformats.org/drawingml/2006/main">
            <a:r>
              <a:t/>
            </a:r>
          </a:p>
          <a:p xmlns:a="http://schemas.openxmlformats.org/drawingml/2006/main">
            <a:r>
              <a:t>Проверяйте, что ID существуют во входе, не повторяются, не образуют цикл и соединяют каждую входную компоненту. Число рёбер равно n−c. Затем проверяйте минимальную стоимость независимым способом на маленьких графах. Отрицательные веса допустимы, параллельные рёбра сохраняют разные ID, сумму храните в 64 битах.</a:t>
            </a:r>
          </a:p>
          <a:p xmlns:a="http://schemas.openxmlformats.org/drawingml/2006/main">
            <a:r>
              <a:t/>
            </a:r>
          </a:p>
          <a:p xmlns:a="http://schemas.openxmlformats.org/drawingml/2006/main">
            <a:r>
              <a:t>У всех правильных ответов стоимость 2 и нет цикла.</a:t>
            </a:r>
          </a:p>
          <a:p xmlns:a="http://schemas.openxmlformats.org/drawingml/2006/main">
            <a:r>
              <a:t/>
            </a:r>
          </a:p>
          <a:p xmlns:a="http://schemas.openxmlformats.org/drawingml/2006/main">
            <a:r>
              <a:t>Нужно ли требовать, чтобы Краскал и Прим вернули одинаковые ID?</a:t>
            </a:r>
          </a:p>
          <a:p xmlns:a="http://schemas.openxmlformats.org/drawingml/2006/main">
            <a:r>
              <a:t>Нет. При равных весах могут быть разные минимальные леса.</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Две вершины в одной SCC, если каждая достижима из другой по стрелкам.</a:t>
            </a:r>
          </a:p>
          <a:p xmlns:a="http://schemas.openxmlformats.org/drawingml/2006/main">
            <a:r>
              <a:t/>
            </a:r>
          </a:p>
          <a:p xmlns:a="http://schemas.openxmlformats.org/drawingml/2006/main">
            <a:r>
              <a:t>0 → 1 и 1 → 0. Значит, {0,1} — одна группа.</a:t>
            </a:r>
          </a:p>
          <a:p xmlns:a="http://schemas.openxmlformats.org/drawingml/2006/main">
            <a:r>
              <a:t/>
            </a:r>
          </a:p>
          <a:p xmlns:a="http://schemas.openxmlformats.org/drawingml/2006/main">
            <a:r>
              <a:t>SCC расшифровывается как strongly connected component, компонента сильной связности. Группа максимальна: в неё включаем все вершины, которые взаимно достижимы. Самостоятельная изолированная вершина также образует SCC.</a:t>
            </a:r>
          </a:p>
          <a:p xmlns:a="http://schemas.openxmlformats.org/drawingml/2006/main">
            <a:r>
              <a:t/>
            </a:r>
          </a:p>
          <a:p xmlns:a="http://schemas.openxmlformats.org/drawingml/2006/main">
            <a:r>
              <a:t>Одного пути 0 → 2 недостаточно: нужен также путь из 2 в 0.</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Связи внутри пар двусторонние. Между парами есть только путь вправо.</a:t>
            </a:r>
          </a:p>
          <a:p xmlns:a="http://schemas.openxmlformats.org/drawingml/2006/main">
            <a:r>
              <a:t/>
            </a:r>
          </a:p>
          <a:p xmlns:a="http://schemas.openxmlformats.org/drawingml/2006/main">
            <a:r>
              <a:t>Рёбра: 0→1, 1→0, 1→2, 1→2, 2→3, 3→2. Вершина 4 отдельно.</a:t>
            </a:r>
          </a:p>
          <a:p xmlns:a="http://schemas.openxmlformats.org/drawingml/2006/main">
            <a:r>
              <a:t/>
            </a:r>
          </a:p>
          <a:p xmlns:a="http://schemas.openxmlformats.org/drawingml/2006/main">
            <a:r>
              <a:t>Правильные группы: {0,1}, {2,3}, {4}. Два ребра 1→2 не меняют группы.</a:t>
            </a:r>
          </a:p>
          <a:p xmlns:a="http://schemas.openxmlformats.org/drawingml/2006/main">
            <a:r>
              <a:t/>
            </a:r>
          </a:p>
          <a:p xmlns:a="http://schemas.openxmlformats.org/drawingml/2006/main">
            <a:r>
              <a:t>Правильные группы: {0,1}, {2,3}, {4}. Два ребра 1→2 не меняют группы.</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DFS идёт в ещё не посещённого соседа и сначала заканчивает его работу.</a:t>
            </a:r>
          </a:p>
          <a:p xmlns:a="http://schemas.openxmlformats.org/drawingml/2006/main">
            <a:r>
              <a:t/>
            </a:r>
          </a:p>
          <a:p xmlns:a="http://schemas.openxmlformats.org/drawingml/2006/main">
            <a:r>
              <a:t>Из 0 идём в 1, затем в 2, затем в 3.</a:t>
            </a:r>
          </a:p>
          <a:p xmlns:a="http://schemas.openxmlformats.org/drawingml/2006/main">
            <a:r>
              <a:t/>
            </a:r>
          </a:p>
          <a:p xmlns:a="http://schemas.openxmlformats.org/drawingml/2006/main">
            <a:r>
              <a:t>Вход означает, что мы начали разбирать вершину. Завершение означает, что обработаны её соседи и их продолжения. В цикле 0→1→0 повторно не заходим в уже посещённую 0. Для данного примера сначала завершается 3, затем 2, 1, 0. Внешний цикл после этого посещает 4.</a:t>
            </a:r>
          </a:p>
          <a:p xmlns:a="http://schemas.openxmlformats.org/drawingml/2006/main">
            <a:r>
              <a:t/>
            </a:r>
          </a:p>
          <a:p xmlns:a="http://schemas.openxmlformats.org/drawingml/2006/main">
            <a:r>
              <a:t>Записываем вершину при выходе, когда все её исходящие рёбра просмотрены.</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Транспонированный граф — тот же набор вершин со всеми обратными рёбрами.</a:t>
            </a:r>
          </a:p>
          <a:p xmlns:a="http://schemas.openxmlformats.org/drawingml/2006/main">
            <a:r>
              <a:t/>
            </a:r>
          </a:p>
          <a:p xmlns:a="http://schemas.openxmlformats.org/drawingml/2006/main">
            <a:r>
              <a:t>Было 1→2. Станет 2→1. Пары 0↔1 и 2↔3 останутся двусторонними.</a:t>
            </a:r>
          </a:p>
          <a:p xmlns:a="http://schemas.openxmlformats.org/drawingml/2006/main">
            <a:r>
              <a:t/>
            </a:r>
          </a:p>
          <a:p xmlns:a="http://schemas.openxmlformats.org/drawingml/2006/main">
            <a:r>
              <a:t>Первый проход был по исходному графу. Второй будет по транспонированному в порядке 4,0,1,2,3. Допустима и симметричная версия с обратным графом первым, если второй граф — его транспонирование. Здесь весь пример придерживается одного выбранного варианта.</a:t>
            </a:r>
          </a:p>
          <a:p xmlns:a="http://schemas.openxmlformats.org/drawingml/2006/main">
            <a:r>
              <a:t/>
            </a:r>
          </a:p>
          <a:p xmlns:a="http://schemas.openxmlformats.org/drawingml/2006/main">
            <a:r>
              <a:t>Перед вторым обходом очищаем visited. Иначе все вершины уже помечены.</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Второй обход начинает новую группу с каждой ещё не помеченной вершины.</a:t>
            </a:r>
          </a:p>
          <a:p xmlns:a="http://schemas.openxmlformats.org/drawingml/2006/main">
            <a:r>
              <a:t/>
            </a:r>
          </a:p>
          <a:p xmlns:a="http://schemas.openxmlformats.org/drawingml/2006/main">
            <a:r>
              <a:t>Порядок старта 4,0,1,2,3. Уже найденную группу повторно не обходим.</a:t>
            </a:r>
          </a:p>
          <a:p xmlns:a="http://schemas.openxmlformats.org/drawingml/2006/main">
            <a:r>
              <a:t/>
            </a:r>
          </a:p>
          <a:p xmlns:a="http://schemas.openxmlformats.org/drawingml/2006/main">
            <a:r>
              <a:t>Из 2 в обратном графе есть путь к 1, но 1 уже помечена. Через неё не идём.</a:t>
            </a:r>
          </a:p>
          <a:p xmlns:a="http://schemas.openxmlformats.org/drawingml/2006/main">
            <a:r>
              <a:t/>
            </a:r>
          </a:p>
          <a:p xmlns:a="http://schemas.openxmlformats.org/drawingml/2006/main">
            <a:r>
              <a:t>Из 2 в обратном графе есть путь к 1, но 1 уже помечена. Через неё не идём.</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Одинаковая метка означает одну SCC. Само число метки не важно.</a:t>
            </a:r>
          </a:p>
          <a:p xmlns:a="http://schemas.openxmlformats.org/drawingml/2006/main">
            <a:r>
              <a:t/>
            </a:r>
          </a:p>
          <a:p xmlns:a="http://schemas.openxmlformats.org/drawingml/2006/main">
            <a:r>
              <a:t>Можно вернуть [7,7,9,9,12] или [1,1,2,2,0].</a:t>
            </a:r>
          </a:p>
          <a:p xmlns:a="http://schemas.openxmlformats.org/drawingml/2006/main">
            <a:r>
              <a:t/>
            </a:r>
          </a:p>
          <a:p xmlns:a="http://schemas.openxmlformats.org/drawingml/2006/main">
            <a:r>
              <a:t>Индекс массива — номер вершины. Значение — неотрицательная целая метка её группы. Нельзя сравнивать правильность только с одним эталонным массивом меток. Проверяем, что равенство меток точно соответствует взаимной достижимости.</a:t>
            </a:r>
          </a:p>
          <a:p xmlns:a="http://schemas.openxmlformats.org/drawingml/2006/main">
            <a:r>
              <a:t/>
            </a:r>
          </a:p>
          <a:p xmlns:a="http://schemas.openxmlformats.org/drawingml/2006/main">
            <a:r>
              <a:t>Оба ответа задают те же группы: {0,1}, {2,3}, {4}.</a:t>
            </a:r>
          </a:p>
          <a:p xmlns:a="http://schemas.openxmlformats.org/drawingml/2006/main">
            <a:r>
              <a:t/>
            </a:r>
          </a:p>
          <a:p xmlns:a="http://schemas.openxmlformats.org/drawingml/2006/main">
            <a:r>
              <a:t>Допустимо ли [7,9,9,9,12] для нашего графа?</a:t>
            </a:r>
          </a:p>
          <a:p xmlns:a="http://schemas.openxmlformats.org/drawingml/2006/main">
            <a:r>
              <a:t>Нет. 0 и 1 должны иметь одну метку, а 1 и 2 — разные.</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Оставляем только переходы между разными SCC, без повторений.</a:t>
            </a:r>
          </a:p>
          <a:p xmlns:a="http://schemas.openxmlformats.org/drawingml/2006/main">
            <a:r>
              <a:t/>
            </a:r>
          </a:p>
          <a:p xmlns:a="http://schemas.openxmlformats.org/drawingml/2006/main">
            <a:r>
              <a:t>При метках [7,7,9,9,12] два ребра 1→2 дают один переход [7,9].</a:t>
            </a:r>
          </a:p>
          <a:p xmlns:a="http://schemas.openxmlformats.org/drawingml/2006/main">
            <a:r>
              <a:t/>
            </a:r>
          </a:p>
          <a:p xmlns:a="http://schemas.openxmlformats.org/drawingml/2006/main">
            <a:r>
              <a:t>Пройдите каждое исходное ребро u→v. Получите a=component[u] и b=component[v]. Если a=b, пропустите ребро. Если разные, добавьте пару в множество, чтобы убрать повторы. Для изолированной группы 12 не требуется вымышленное ребро. Циклов между SCC уже нет, иначе эти группы были бы одной SCC.</a:t>
            </a:r>
          </a:p>
          <a:p xmlns:a="http://schemas.openxmlformats.org/drawingml/2006/main">
            <a:r>
              <a:t/>
            </a:r>
          </a:p>
          <a:p xmlns:a="http://schemas.openxmlformats.org/drawingml/2006/main">
            <a:r>
              <a:t>Внутренние рёбра группы в ответ не входят. condensation=[[7,9]].</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component содержит метку каждой из пяти вершин. condensation перечисляет связи меток.</a:t>
            </a:r>
          </a:p>
          <a:p xmlns:a="http://schemas.openxmlformats.org/drawingml/2006/main">
            <a:r>
              <a:t/>
            </a:r>
          </a:p>
          <a:p xmlns:a="http://schemas.openxmlformats.org/drawingml/2006/main">
            <a:r>
              <a:t>Два ребра 1→2 дают только одну пару [7,9]. Вершина 4 имеет отдельную метку 12.</a:t>
            </a:r>
          </a:p>
          <a:p xmlns:a="http://schemas.openxmlformats.org/drawingml/2006/main">
            <a:r>
              <a:t/>
            </a:r>
          </a:p>
          <a:p xmlns:a="http://schemas.openxmlformats.org/drawingml/2006/main">
            <a:r>
              <a:t>Другие неотрицательные метки допустимы, если группы и связи остаются теми же.</a:t>
            </a:r>
          </a:p>
          <a:p xmlns:a="http://schemas.openxmlformats.org/drawingml/2006/main">
            <a:r>
              <a:t/>
            </a:r>
          </a:p>
          <a:p xmlns:a="http://schemas.openxmlformats.org/drawingml/2006/main">
            <a:r>
              <a:t>Другие неотрицательные метки допустимы, если группы и связи остаются теми же.</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Ребро u→v означает: работа u должна закончиться раньше v.</a:t>
            </a:r>
          </a:p>
          <a:p xmlns:a="http://schemas.openxmlformats.org/drawingml/2006/main">
            <a:r>
              <a:t/>
            </a:r>
          </a:p>
          <a:p xmlns:a="http://schemas.openxmlformats.org/drawingml/2006/main">
            <a:r>
              <a:t>0: подготовить площадку. 1: установить сцену. 2: провести питание. 3: начать концерт.</a:t>
            </a:r>
          </a:p>
          <a:p xmlns:a="http://schemas.openxmlformats.org/drawingml/2006/main">
            <a:r>
              <a:t/>
            </a:r>
          </a:p>
          <a:p xmlns:a="http://schemas.openxmlformats.org/drawingml/2006/main">
            <a:r>
              <a:t>Топологический порядок — список всех вершин по одному разу. Для каждого ребра его начало находится раньше конца. Например, [0,1,2,3] и [0,2,1,3] подходят. Начало DFS не равно готовому ответу: нужный порядок строим по завершениям.</a:t>
            </a:r>
          </a:p>
          <a:p xmlns:a="http://schemas.openxmlformats.org/drawingml/2006/main">
            <a:r>
              <a:t/>
            </a:r>
          </a:p>
          <a:p xmlns:a="http://schemas.openxmlformats.org/drawingml/2006/main">
            <a:r>
              <a:t>Зависимости: 0→1, 0→2, 1→3, 2→3. Концерт идёт после обеих подготовок.</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Нужно отличать текущую незавершённую цепочку от уже обработанной вершины.</a:t>
            </a:r>
          </a:p>
          <a:p xmlns:a="http://schemas.openxmlformats.org/drawingml/2006/main">
            <a:r>
              <a:t/>
            </a:r>
          </a:p>
          <a:p xmlns:a="http://schemas.openxmlformats.org/drawingml/2006/main">
            <a:r>
              <a:t>WHITE: не начинали. GRAY: начали, ещё не вышли. BLACK: закончили.</a:t>
            </a:r>
          </a:p>
          <a:p xmlns:a="http://schemas.openxmlformats.org/drawingml/2006/main">
            <a:r>
              <a:t/>
            </a:r>
          </a:p>
          <a:p xmlns:a="http://schemas.openxmlformats.org/drawingml/2006/main">
            <a:r>
              <a:t>Ребро к GRAY обнаруживает цикл. Ребро к BLACK само по себе цикла не доказывает.</a:t>
            </a:r>
          </a:p>
          <a:p xmlns:a="http://schemas.openxmlformats.org/drawingml/2006/main">
            <a:r>
              <a:t/>
            </a:r>
          </a:p>
          <a:p xmlns:a="http://schemas.openxmlformats.org/drawingml/2006/main">
            <a:r>
              <a:t>Ребро к GRAY обнаруживает цикл. Ребро к BLACK само по себе цикла не доказывает.</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Соседей 0 смотрим в порядке 1, затем 2.</a:t>
            </a:r>
          </a:p>
          <a:p xmlns:a="http://schemas.openxmlformats.org/drawingml/2006/main">
            <a:r>
              <a:t/>
            </a:r>
          </a:p>
          <a:p xmlns:a="http://schemas.openxmlformats.org/drawingml/2006/main">
            <a:r>
              <a:t>Входим в 0, затем в 1, затем в 3. У 3 соседей нет.</a:t>
            </a:r>
          </a:p>
          <a:p xmlns:a="http://schemas.openxmlformats.org/drawingml/2006/main">
            <a:r>
              <a:t/>
            </a:r>
          </a:p>
          <a:p xmlns:a="http://schemas.openxmlformats.org/drawingml/2006/main">
            <a:r>
              <a:t>Завершаем 3 и записываем [3]. Возвращаемся в 1, завершаем: [3,1].</a:t>
            </a:r>
          </a:p>
          <a:p xmlns:a="http://schemas.openxmlformats.org/drawingml/2006/main">
            <a:r>
              <a:t/>
            </a:r>
          </a:p>
          <a:p xmlns:a="http://schemas.openxmlformats.org/drawingml/2006/main">
            <a:r>
              <a:t>Завершаем 3 и записываем [3]. Возвращаемся в 1, завершаем: [3,1].</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 0 переходим в 2. Её сосед 3 уже BLACK.</a:t>
            </a:r>
          </a:p>
          <a:p xmlns:a="http://schemas.openxmlformats.org/drawingml/2006/main">
            <a:r>
              <a:t/>
            </a:r>
          </a:p>
          <a:p xmlns:a="http://schemas.openxmlformats.org/drawingml/2006/main">
            <a:r>
              <a:t>Цикла нет. Завершаем 2, затем 0: [3,1,2,0].</a:t>
            </a:r>
          </a:p>
          <a:p xmlns:a="http://schemas.openxmlformats.org/drawingml/2006/main">
            <a:r>
              <a:t/>
            </a:r>
          </a:p>
          <a:p xmlns:a="http://schemas.openxmlformats.org/drawingml/2006/main">
            <a:r>
              <a:t>Почему разворот работает? Для ребра u→v без цикла либо v заканчивается внутри обхода u, либо v уже BLACK. В обоих случаях v завершается раньше u. Поэтому после разворота u стоит раньше v. Проверьте четыре зависимости нашего примера отдельно.</a:t>
            </a:r>
          </a:p>
          <a:p xmlns:a="http://schemas.openxmlformats.org/drawingml/2006/main">
            <a:r>
              <a:t/>
            </a:r>
          </a:p>
          <a:p xmlns:a="http://schemas.openxmlformats.org/drawingml/2006/main">
            <a:r>
              <a:t>Разворачиваем список: [0,2,1,3]. Это один правильный topo order.</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Добавим 3→0. Теперь 0 должна предшествовать 3, а 3 — 0.</a:t>
            </a:r>
          </a:p>
          <a:p xmlns:a="http://schemas.openxmlformats.org/drawingml/2006/main">
            <a:r>
              <a:t/>
            </a:r>
          </a:p>
          <a:p xmlns:a="http://schemas.openxmlformats.org/drawingml/2006/main">
            <a:r>
              <a:t>В цепочке 0→1→3 видим ребро к GRAY-вершине 0.</a:t>
            </a:r>
          </a:p>
          <a:p xmlns:a="http://schemas.openxmlformats.org/drawingml/2006/main">
            <a:r>
              <a:t/>
            </a:r>
          </a:p>
          <a:p xmlns:a="http://schemas.openxmlformats.org/drawingml/2006/main">
            <a:r>
              <a:t>acyclic означает «без цикла». Замкнутая цепочка зависимостей не позволяет выбрать первый элемент этой цепочки. Петля u→u также цикл. Проверяем все компоненты: цикл может быть в стороне от вершины 0. В A3 обязателен DFS с тремя состояниями.</a:t>
            </a:r>
          </a:p>
          <a:p xmlns:a="http://schemas.openxmlformats.org/drawingml/2006/main">
            <a:r>
              <a:t/>
            </a:r>
          </a:p>
          <a:p xmlns:a="http://schemas.openxmlformats.org/drawingml/2006/main">
            <a:r>
              <a:t>Ответ: {"acyclic":false,"order":[]}. Частичный порядок возвращать нельзя.</a:t>
            </a:r>
          </a:p>
          <a:p xmlns:a="http://schemas.openxmlformats.org/drawingml/2006/main">
            <a:r>
              <a:t/>
            </a:r>
          </a:p>
          <a:p xmlns:a="http://schemas.openxmlformats.org/drawingml/2006/main">
            <a:r>
              <a:t>Почему ребро 2→3 из прошлого примера не было циклом?</a:t>
            </a:r>
          </a:p>
          <a:p xmlns:a="http://schemas.openxmlformats.org/drawingml/2006/main">
            <a:r>
              <a:t>3 была BLACK и не находилась в текущей цепочке. Пути назад к 2 не было.</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Для длинной цепочки рекурсивный стек может закончиться. Используем явный стек.</a:t>
            </a:r>
          </a:p>
          <a:p xmlns:a="http://schemas.openxmlformats.org/drawingml/2006/main">
            <a:r>
              <a:t/>
            </a:r>
          </a:p>
          <a:p xmlns:a="http://schemas.openxmlformats.org/drawingml/2006/main">
            <a:r>
              <a:t>Кадр хранит вершину v и номер следующего соседа next.</a:t>
            </a:r>
          </a:p>
          <a:p xmlns:a="http://schemas.openxmlformats.org/drawingml/2006/main">
            <a:r>
              <a:t/>
            </a:r>
          </a:p>
          <a:p xmlns:a="http://schemas.openxmlformats.org/drawingml/2006/main">
            <a:r>
              <a:t>Стек — список незавершённых вызовов. Верхний кадр соответствует текущему вызову. Перед спуском к соседу увеличьте next у родителя. Когда соседи кончились, покрасьте вершину BLACK, добавьте в finish и удалите кадр. Обычный стек только из номеров вершин без момента выхода не сохраняет правильный finish order автоматически.</a:t>
            </a:r>
          </a:p>
          <a:p xmlns:a="http://schemas.openxmlformats.org/drawingml/2006/main">
            <a:r>
              <a:t/>
            </a:r>
          </a:p>
          <a:p xmlns:a="http://schemas.openxmlformats.org/drawingml/2006/main">
            <a:r>
              <a:t>Пока у вершины есть необработанный сосед, она ещё не завершена.</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 order все вершины встречаются один раз. Каждая зависимость направлена вперёд.</a:t>
            </a:r>
          </a:p>
          <a:p xmlns:a="http://schemas.openxmlformats.org/drawingml/2006/main">
            <a:r>
              <a:t/>
            </a:r>
          </a:p>
          <a:p xmlns:a="http://schemas.openxmlformats.org/drawingml/2006/main">
            <a:r>
              <a:t>Для нашего примера подходят и [0,2,1,3], и [0,1,2,3].</a:t>
            </a:r>
          </a:p>
          <a:p xmlns:a="http://schemas.openxmlformats.org/drawingml/2006/main">
            <a:r>
              <a:t/>
            </a:r>
          </a:p>
          <a:p xmlns:a="http://schemas.openxmlformats.org/drawingml/2006/main">
            <a:r>
              <a:t>Если добавить цикл, acyclic=false и order=[] независимо от частичного обхода.</a:t>
            </a:r>
          </a:p>
          <a:p xmlns:a="http://schemas.openxmlformats.org/drawingml/2006/main">
            <a:r>
              <a:t/>
            </a:r>
          </a:p>
          <a:p xmlns:a="http://schemas.openxmlformats.org/drawingml/2006/main">
            <a:r>
              <a:t>Если добавить цикл, acyclic=false и order=[] независимо от частичного обхода.</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Теперь ищем самый дешёвый маршрут из заданной вершины source.</a:t>
            </a:r>
          </a:p>
          <a:p xmlns:a="http://schemas.openxmlformats.org/drawingml/2006/main">
            <a:r>
              <a:t/>
            </a:r>
          </a:p>
          <a:p xmlns:a="http://schemas.openxmlformats.org/drawingml/2006/main">
            <a:r>
              <a:t>source=0. В таблице перечислены входные рёбра с исходными ID.</a:t>
            </a:r>
          </a:p>
          <a:p xmlns:a="http://schemas.openxmlformats.org/drawingml/2006/main">
            <a:r>
              <a:t/>
            </a:r>
          </a:p>
          <a:p xmlns:a="http://schemas.openxmlformats.org/drawingml/2006/main">
            <a:r>
              <a:t>Вес −5 допустим: это скидка. В DAG нет возможности обходить цикл бесконечно.</a:t>
            </a:r>
          </a:p>
          <a:p xmlns:a="http://schemas.openxmlformats.org/drawingml/2006/main">
            <a:r>
              <a:t/>
            </a:r>
          </a:p>
          <a:p xmlns:a="http://schemas.openxmlformats.org/drawingml/2006/main">
            <a:r>
              <a:t>Вес −5 допустим: это скидка. В DAG нет возможности обходить цикл бесконечно.</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 источнике стоимость 0. Для остальных маршрута пока нет: null.</a:t>
            </a:r>
          </a:p>
          <a:p xmlns:a="http://schemas.openxmlformats.org/drawingml/2006/main">
            <a:r>
              <a:t/>
            </a:r>
          </a:p>
          <a:p xmlns:a="http://schemas.openxmlformats.org/drawingml/2006/main">
            <a:r>
              <a:t>distance = [0, null, null, null, null]. parent_edge = [−1,−1,−1,−1,−1].</a:t>
            </a:r>
          </a:p>
          <a:p xmlns:a="http://schemas.openxmlformats.org/drawingml/2006/main">
            <a:r>
              <a:t/>
            </a:r>
          </a:p>
          <a:p xmlns:a="http://schemas.openxmlformats.org/drawingml/2006/main">
            <a:r>
              <a:t>Индекс массива — номер вершины. distance[v] — стоимость лучшего найденного пути из source в v. parent_edge[v] — ID последнего ребра выбранного пути. −1 в parent_edge означает отсутствие родительского ребра, в том числе у source. Эти два массива используют разные обозначения отсутствия.</a:t>
            </a:r>
          </a:p>
          <a:p xmlns:a="http://schemas.openxmlformats.org/drawingml/2006/main">
            <a:r>
              <a:t/>
            </a:r>
          </a:p>
          <a:p xmlns:a="http://schemas.openxmlformats.org/drawingml/2006/main">
            <a:r>
              <a:t>null означает «маршрут не найден». Число −1 может быть настоящей стоимостью.</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Для ребра u→v считаем: стоимость до u плюс вес ребра.</a:t>
            </a:r>
          </a:p>
          <a:p xmlns:a="http://schemas.openxmlformats.org/drawingml/2006/main">
            <a:r>
              <a:t/>
            </a:r>
          </a:p>
          <a:p xmlns:a="http://schemas.openxmlformats.org/drawingml/2006/main">
            <a:r>
              <a:t>До 1 стоит 3. Ребро 1→2 весит −5. Кандидат до 2: 3−5=−2.</a:t>
            </a:r>
          </a:p>
          <a:p xmlns:a="http://schemas.openxmlformats.org/drawingml/2006/main">
            <a:r>
              <a:t/>
            </a:r>
          </a:p>
          <a:p xmlns:a="http://schemas.openxmlformats.org/drawingml/2006/main">
            <a:r>
              <a:t>Слово «релаксация» здесь означает одну попытку улучшить ответ соседней вершины. Если distance[u]=null, путь до u отсутствует и прибавлять вес нельзя. Ребро ID сохраняем одновременно с новой стоимостью, чтобы потом восстановить именно этот маршрут.</a:t>
            </a:r>
          </a:p>
          <a:p xmlns:a="http://schemas.openxmlformats.org/drawingml/2006/main">
            <a:r>
              <a:t/>
            </a:r>
          </a:p>
          <a:p xmlns:a="http://schemas.openxmlformats.org/drawingml/2006/main">
            <a:r>
              <a:t>Если до v пути ещё нет или новый путь дешевле, обновляем distance и parent_edge.</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Порядок [0,1,2,3,4] подходит: каждое ребро идёт вперёд.</a:t>
            </a:r>
          </a:p>
          <a:p xmlns:a="http://schemas.openxmlformats.org/drawingml/2006/main">
            <a:r>
              <a:t/>
            </a:r>
          </a:p>
          <a:p xmlns:a="http://schemas.openxmlformats.org/drawingml/2006/main">
            <a:r>
              <a:t>Ребро ID 0: до 1 получаем 0+3=3. ID 1: до 2 получаем 0+8=8.</a:t>
            </a:r>
          </a:p>
          <a:p xmlns:a="http://schemas.openxmlformats.org/drawingml/2006/main">
            <a:r>
              <a:t/>
            </a:r>
          </a:p>
          <a:p xmlns:a="http://schemas.openxmlformats.org/drawingml/2006/main">
            <a:r>
              <a:t>После 0: distance=[0,3,8,null,null], parent_edge=[−1,0,1,−1,−1].</a:t>
            </a:r>
          </a:p>
          <a:p xmlns:a="http://schemas.openxmlformats.org/drawingml/2006/main">
            <a:r>
              <a:t/>
            </a:r>
          </a:p>
          <a:p xmlns:a="http://schemas.openxmlformats.org/drawingml/2006/main">
            <a:r>
              <a:t>После 0: distance=[0,3,8,null,null], parent_edge=[−1,0,1,−1,−1].</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У 1 уже известна стоимость 3. Проверяем ребро ID 2: 1→2, вес −5.</a:t>
            </a:r>
          </a:p>
          <a:p xmlns:a="http://schemas.openxmlformats.org/drawingml/2006/main">
            <a:r>
              <a:t/>
            </a:r>
          </a:p>
          <a:p xmlns:a="http://schemas.openxmlformats.org/drawingml/2006/main">
            <a:r>
              <a:t>Кандидат −2 дешевле старого 8. Меняем обе записи для вершины 2.</a:t>
            </a:r>
          </a:p>
          <a:p xmlns:a="http://schemas.openxmlformats.org/drawingml/2006/main">
            <a:r>
              <a:t/>
            </a:r>
          </a:p>
          <a:p xmlns:a="http://schemas.openxmlformats.org/drawingml/2006/main">
            <a:r>
              <a:t>Новый путь до 2: 0→1→2. parent_edge[2]=2, а не номер вершины 1.</a:t>
            </a:r>
          </a:p>
          <a:p xmlns:a="http://schemas.openxmlformats.org/drawingml/2006/main">
            <a:r>
              <a:t/>
            </a:r>
          </a:p>
          <a:p xmlns:a="http://schemas.openxmlformats.org/drawingml/2006/main">
            <a:r>
              <a:t>Новый путь до 2: 0→1→2. parent_edge[2]=2, а не номер вершины 1.</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 2 идём в 3: −2+4=2. Изолированная 4 остаётся недостижимой.</a:t>
            </a:r>
          </a:p>
          <a:p xmlns:a="http://schemas.openxmlformats.org/drawingml/2006/main">
            <a:r>
              <a:t/>
            </a:r>
          </a:p>
          <a:p xmlns:a="http://schemas.openxmlformats.org/drawingml/2006/main">
            <a:r>
              <a:t>distance=[0,3,−2,2,null]. parent_edge=[−1,0,2,3,−1].</a:t>
            </a:r>
          </a:p>
          <a:p xmlns:a="http://schemas.openxmlformats.org/drawingml/2006/main">
            <a:r>
              <a:t/>
            </a:r>
          </a:p>
          <a:p xmlns:a="http://schemas.openxmlformats.org/drawingml/2006/main">
            <a:r>
              <a:t>У 3 нет исходящих рёбер. У 4 distance=null, поэтому из неё ничего не релаксируем. Итог: стоимость пути 0→1→2→3 равна 3−5+4=2. Не используйте −1 вместо null: например, ребро веса −1 из источника даёт правильное расстояние −1.</a:t>
            </a:r>
          </a:p>
          <a:p xmlns:a="http://schemas.openxmlformats.org/drawingml/2006/main">
            <a:r>
              <a:t/>
            </a:r>
          </a:p>
          <a:p xmlns:a="http://schemas.openxmlformats.org/drawingml/2006/main">
            <a:r>
              <a:t>Ответ включает acyclic=true и оба массива по одному элементу на вершину.</a:t>
            </a:r>
          </a:p>
          <a:p xmlns:a="http://schemas.openxmlformats.org/drawingml/2006/main">
            <a:r>
              <a:t/>
            </a:r>
          </a:p>
          <a:p xmlns:a="http://schemas.openxmlformats.org/drawingml/2006/main">
            <a:r>
              <a:t>Какое расстояние вернуть для вершины 4?</a:t>
            </a:r>
          </a:p>
          <a:p xmlns:a="http://schemas.openxmlformats.org/drawingml/2006/main">
            <a:r>
              <a:t>null. Вход не содержит пути из 0 в 4.</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 topo order все возможные предшественники вершины обработаны раньше неё.</a:t>
            </a:r>
          </a:p>
          <a:p xmlns:a="http://schemas.openxmlformats.org/drawingml/2006/main">
            <a:r>
              <a:t/>
            </a:r>
          </a:p>
          <a:p xmlns:a="http://schemas.openxmlformats.org/drawingml/2006/main">
            <a:r>
              <a:t>Перед обработкой 2 мы уже проверили 0→2 и 1→2.</a:t>
            </a:r>
          </a:p>
          <a:p xmlns:a="http://schemas.openxmlformats.org/drawingml/2006/main">
            <a:r>
              <a:t/>
            </a:r>
          </a:p>
          <a:p xmlns:a="http://schemas.openxmlformats.org/drawingml/2006/main">
            <a:r>
              <a:t>Поэтому к моменту обработки u её лучшее расстояние уже окончательно. Достаточно передать его всем соседям один раз. Это работает и с отрицательными весами. Сначала проверяем отсутствие цикла во всём графе. Если цикл есть даже в недостижимой части, возвращаем acyclic=false, distance=[], parent_edge=[].</a:t>
            </a:r>
          </a:p>
          <a:p xmlns:a="http://schemas.openxmlformats.org/drawingml/2006/main">
            <a:r>
              <a:t/>
            </a:r>
          </a:p>
          <a:p xmlns:a="http://schemas.openxmlformats.org/drawingml/2006/main">
            <a:r>
              <a:t>Вернуться из более поздней вершины в 2 нельзя: это нарушило бы topo order.</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parent_edge хранит последнюю часть маршрута. Начинаем с цели 3.</a:t>
            </a:r>
          </a:p>
          <a:p xmlns:a="http://schemas.openxmlformats.org/drawingml/2006/main">
            <a:r>
              <a:t/>
            </a:r>
          </a:p>
          <a:p xmlns:a="http://schemas.openxmlformats.org/drawingml/2006/main">
            <a:r>
              <a:t>3: ID 3 ведёт из 2. Затем 2: ID 2 ведёт из 1. Затем 1: ID 0 ведёт из 0.</a:t>
            </a:r>
          </a:p>
          <a:p xmlns:a="http://schemas.openxmlformats.org/drawingml/2006/main">
            <a:r>
              <a:t/>
            </a:r>
          </a:p>
          <a:p xmlns:a="http://schemas.openxmlformats.org/drawingml/2006/main">
            <a:r>
              <a:t>Собрали [3,2,1,0]. Развернули: [0,1,2,3].</a:t>
            </a:r>
          </a:p>
          <a:p xmlns:a="http://schemas.openxmlformats.org/drawingml/2006/main">
            <a:r>
              <a:t/>
            </a:r>
          </a:p>
          <a:p xmlns:a="http://schemas.openxmlformats.org/drawingml/2006/main">
            <a:r>
              <a:t>Собрали [3,2,1,0]. Развернули: [0,1,2,3].</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 собственных тестах вызываем helper для достижимой цели, источника и недостижимой цели.</a:t>
            </a:r>
          </a:p>
          <a:p xmlns:a="http://schemas.openxmlformats.org/drawingml/2006/main">
            <a:r>
              <a:t/>
            </a:r>
          </a:p>
          <a:p xmlns:a="http://schemas.openxmlformats.org/drawingml/2006/main">
            <a:r>
              <a:t>Наш пример: target=3 даёт [0,1,2,3]. target=0 даёт [0].</a:t>
            </a:r>
          </a:p>
          <a:p xmlns:a="http://schemas.openxmlformats.org/drawingml/2006/main">
            <a:r>
              <a:t/>
            </a:r>
          </a:p>
          <a:p xmlns:a="http://schemas.openxmlformats.org/drawingml/2006/main">
            <a:r>
              <a:t>Helper — вспомогательная функция вашей реализации, а не новый JSON task. Перед восстановлением проверяйте достижимость. Не пытайтесь получить ребро по ID −1. Для источника верните [source]. Для достижимой цели переходите по началу выбранного исходного ребра. Запишите реальные вызовы и результаты в ANALYSIS.md.</a:t>
            </a:r>
          </a:p>
          <a:p xmlns:a="http://schemas.openxmlformats.org/drawingml/2006/main">
            <a:r>
              <a:t/>
            </a:r>
          </a:p>
          <a:p xmlns:a="http://schemas.openxmlformats.org/drawingml/2006/main">
            <a:r>
              <a:t>Для target=4 выберите и опишите результат «пути нет», например [].</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 — текущая вершина. id — ID последнего ребра пути до неё.</a:t>
            </a:r>
          </a:p>
          <a:p xmlns:a="http://schemas.openxmlformats.org/drawingml/2006/main">
            <a:r>
              <a:t/>
            </a:r>
          </a:p>
          <a:p xmlns:a="http://schemas.openxmlformats.org/drawingml/2006/main">
            <a:r>
              <a:t>Для v=3 получаем id=3. edges[3]=[2,3,4], значит, предыдущая вершина — 2.</a:t>
            </a:r>
          </a:p>
          <a:p xmlns:a="http://schemas.openxmlformats.org/drawingml/2006/main">
            <a:r>
              <a:t/>
            </a:r>
          </a:p>
          <a:p xmlns:a="http://schemas.openxmlformats.org/drawingml/2006/main">
            <a:r>
              <a:t>Этот фрагмент выполняется внутри цикла восстановления для достижимой цели, пока v не равна source. route хранит вершины в обратном порядке. parentEdge — внутреннее Java-имя массива, который адаптер возвращает как parent_edge. edges[id][0] — начало именно выбранного исходного ребра. Доступ по −1 недопустим, поэтому источник обрабатываем отдельно.</a:t>
            </a:r>
          </a:p>
          <a:p xmlns:a="http://schemas.openxmlformats.org/drawingml/2006/main">
            <a:r>
              <a:t/>
            </a:r>
          </a:p>
          <a:p xmlns:a="http://schemas.openxmlformats.org/drawingml/2006/main">
            <a:r>
              <a:t>Сохраняем 3 в маршрут и продолжаем из 2. Готовый список надо развернуть.</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Если стоимость одинаковая, можно сохранить любой согласованный кратчайший путь.</a:t>
            </a:r>
          </a:p>
          <a:p xmlns:a="http://schemas.openxmlformats.org/drawingml/2006/main">
            <a:r>
              <a:t/>
            </a:r>
          </a:p>
          <a:p xmlns:a="http://schemas.openxmlformats.org/drawingml/2006/main">
            <a:r>
              <a:t>ID 0: 0→1 за 2. ID 1: такой же. ID 2: 1→2 за 1. ID 3: 0→2 за 3.</a:t>
            </a:r>
          </a:p>
          <a:p xmlns:a="http://schemas.openxmlformats.org/drawingml/2006/main">
            <a:r>
              <a:t/>
            </a:r>
          </a:p>
          <a:p xmlns:a="http://schemas.openxmlformats.org/drawingml/2006/main">
            <a:r>
              <a:t>До 2 стоят 3 и прямой путь, и путь через 1. Важно сохранить правильный ID.</a:t>
            </a:r>
          </a:p>
          <a:p xmlns:a="http://schemas.openxmlformats.org/drawingml/2006/main">
            <a:r>
              <a:t/>
            </a:r>
          </a:p>
          <a:p xmlns:a="http://schemas.openxmlformats.org/drawingml/2006/main">
            <a:r>
              <a:t>До 2 стоят 3 и прямой путь, и путь через 1. Важно сохранить правильный ID.</a:t>
            </a:r>
          </a:p>
          <a:p xmlns:a="http://schemas.openxmlformats.org/drawingml/2006/main">
            <a:r>
              <a:t/>
            </a:r>
          </a:p>
          <a:p xmlns:a="http://schemas.openxmlformats.org/drawingml/2006/main">
            <a:r>
              <a:t>Можно просто положить номер предыдущей вершины в parent_edge?</a:t>
            </a:r>
          </a:p>
          <a:p xmlns:a="http://schemas.openxmlformats.org/drawingml/2006/main">
            <a:r>
              <a:t>Нет. Это ID входного ребра. При параллельных рёбрах номер вершины не определяет выбранное ребро.</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Возвращаем стоимость и последнее ребро для каждой вершины.</a:t>
            </a:r>
          </a:p>
          <a:p xmlns:a="http://schemas.openxmlformats.org/drawingml/2006/main">
            <a:r>
              <a:t/>
            </a:r>
          </a:p>
          <a:p xmlns:a="http://schemas.openxmlformats.org/drawingml/2006/main">
            <a:r>
              <a:t>Возвращаемся к графу с весами 3, 8, −5, 4 и source=0.</a:t>
            </a:r>
          </a:p>
          <a:p xmlns:a="http://schemas.openxmlformats.org/drawingml/2006/main">
            <a:r>
              <a:t/>
            </a:r>
          </a:p>
          <a:p xmlns:a="http://schemas.openxmlformats.org/drawingml/2006/main">
            <a:r>
              <a:t>null стоит только у недостижимой 4. −1 в parent_edge стоит у источника и у 4.</a:t>
            </a:r>
          </a:p>
          <a:p xmlns:a="http://schemas.openxmlformats.org/drawingml/2006/main">
            <a:r>
              <a:t/>
            </a:r>
          </a:p>
          <a:p xmlns:a="http://schemas.openxmlformats.org/drawingml/2006/main">
            <a:r>
              <a:t>null стоит только у недостижимой 4. −1 в parent_edge стоит у источника и у 4.</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 — число вершин, m — число рёбер, q — число операций DSU.</a:t>
            </a:r>
          </a:p>
          <a:p xmlns:a="http://schemas.openxmlformats.org/drawingml/2006/main">
            <a:r>
              <a:t/>
            </a:r>
          </a:p>
          <a:p xmlns:a="http://schemas.openxmlformats.org/drawingml/2006/main">
            <a:r>
              <a:t>O(n+m): работа растёт примерно вместе с общим размером списков.</a:t>
            </a:r>
          </a:p>
          <a:p xmlns:a="http://schemas.openxmlformats.org/drawingml/2006/main">
            <a:r>
              <a:t/>
            </a:r>
          </a:p>
          <a:p xmlns:a="http://schemas.openxmlformats.org/drawingml/2006/main">
            <a:r>
              <a:t>O обозначает верхнюю оценку роста, а не точное время в миллисекундах. В Косарайю есть два DFS и построение обратного графа, но множитель 2 не меняет O(n+m). В DAG добавляется один проход по рёбрам в topo order. Helper тратит O(L), где L — число вершин возвращаемого маршрута.</a:t>
            </a:r>
          </a:p>
          <a:p xmlns:a="http://schemas.openxmlformats.org/drawingml/2006/main">
            <a:r>
              <a:t/>
            </a:r>
          </a:p>
          <a:p xmlns:a="http://schemas.openxmlformats.org/drawingml/2006/main">
            <a:r>
              <a:t>Для Косарайю, topo и DAG каждый список просматриваем постоянное число раз.</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Учитываем построение структур и размер возвращаемого ответа.</a:t>
            </a:r>
          </a:p>
          <a:p xmlns:a="http://schemas.openxmlformats.org/drawingml/2006/main">
            <a:r>
              <a:t/>
            </a:r>
          </a:p>
          <a:p xmlns:a="http://schemas.openxmlformats.org/drawingml/2006/main">
            <a:r>
              <a:t>В DSU states содержит q строк. Его тоже надо хранить.</a:t>
            </a:r>
          </a:p>
          <a:p xmlns:a="http://schemas.openxmlformats.org/drawingml/2006/main">
            <a:r>
              <a:t/>
            </a:r>
          </a:p>
          <a:p xmlns:a="http://schemas.openxmlformats.org/drawingml/2006/main">
            <a:r>
              <a:t>α(n) — очень медленно растущая функция для амортизированной оценки DSU со сжатием и объединением по размеру или рангу. Инициализация занимает O(n). Для lazy Prim очереди рёбер дают log(m+1). Индексированная очередь допускает O((n+m) log(n+1)). Сумма многих весов ±10^9 не помещается в 32 бита. Например, три ребра по 10^9 дают 3×10^9.</a:t>
            </a:r>
          </a:p>
          <a:p xmlns:a="http://schemas.openxmlformats.org/drawingml/2006/main">
            <a:r>
              <a:t/>
            </a:r>
          </a:p>
          <a:p xmlns:a="http://schemas.openxmlformats.org/drawingml/2006/main">
            <a:r>
              <a:t>В Java используйте long для больших сумм весов и расстояний.</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Создайте свой репозиторий через Use this template. Выберите один язык в submission.json.</a:t>
            </a:r>
          </a:p>
          <a:p xmlns:a="http://schemas.openxmlformats.org/drawingml/2006/main">
            <a:r>
              <a:t/>
            </a:r>
          </a:p>
          <a:p xmlns:a="http://schemas.openxmlformats.org/drawingml/2006/main">
            <a:r>
              <a:t>Например, для Java меняем методы в Java/source/Algorithms.java.</a:t>
            </a:r>
          </a:p>
          <a:p xmlns:a="http://schemas.openxmlformats.org/drawingml/2006/main">
            <a:r>
              <a:t/>
            </a:r>
          </a:p>
          <a:p xmlns:a="http://schemas.openxmlformats.org/drawingml/2006/main">
            <a:r>
              <a:t>Java — основной язык силлабуса, поэтому локальные фрагменты урока даны на Java. В A3 сохранён выбор одного из четырёх языков. Выберите язык точно как указан в manifest. Не нужно реализовывать всё на всех четырёх языках. ANALYSIS.md пишите на английском.</a:t>
            </a:r>
          </a:p>
          <a:p xmlns:a="http://schemas.openxmlformats.org/drawingml/2006/main">
            <a:r>
              <a:t/>
            </a:r>
          </a:p>
          <a:p xmlns:a="http://schemas.openxmlformats.org/drawingml/2006/main">
            <a:r>
              <a:t>Адаптеры и запуск уже предоставлены. TODO внутри алгоритмов — ваша работа.</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Начните с маленьких случаев, где ответ можно вычислить руками.</a:t>
            </a:r>
          </a:p>
          <a:p xmlns:a="http://schemas.openxmlformats.org/drawingml/2006/main">
            <a:r>
              <a:t/>
            </a:r>
          </a:p>
          <a:p xmlns:a="http://schemas.openxmlformats.org/drawingml/2006/main">
            <a:r>
              <a:t>Потом проверьте крайние случаи и большую глубину.</a:t>
            </a:r>
          </a:p>
          <a:p xmlns:a="http://schemas.openxmlformats.org/drawingml/2006/main">
            <a:r>
              <a:t/>
            </a:r>
          </a:p>
          <a:p xmlns:a="http://schemas.openxmlformats.org/drawingml/2006/main">
            <a:r>
              <a:t>В tests/student сохраните тесты, которые обнаруживают конкретную ошибку.</a:t>
            </a:r>
          </a:p>
          <a:p xmlns:a="http://schemas.openxmlformats.org/drawingml/2006/main">
            <a:r>
              <a:t/>
            </a:r>
          </a:p>
          <a:p xmlns:a="http://schemas.openxmlformats.org/drawingml/2006/main">
            <a:r>
              <a:t>В tests/student сохраните тесты, которые обнаруживают конкретную ошибку.</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Два запроса могут выполняться в одном процессе, но описывают разные задачи.</a:t>
            </a:r>
          </a:p>
          <a:p xmlns:a="http://schemas.openxmlformats.org/drawingml/2006/main">
            <a:r>
              <a:t/>
            </a:r>
          </a:p>
          <a:p xmlns:a="http://schemas.openxmlformats.org/drawingml/2006/main">
            <a:r>
              <a:t>Запрос 1: DSU n=3, [0,1] → [2,2]. Запрос 2: DSU n=3, [1,2] → [2,2].</a:t>
            </a:r>
          </a:p>
          <a:p xmlns:a="http://schemas.openxmlformats.org/drawingml/2006/main">
            <a:r>
              <a:t/>
            </a:r>
          </a:p>
          <a:p xmlns:a="http://schemas.openxmlformats.org/drawingml/2006/main">
            <a:r>
              <a:t>Создавайте новые parent, size, visited, component, distance, очереди и списки результата для каждого вызова. Проверьте также смешанную последовательность: DSU, SCC, DAG, снова DSU. Пустые задачи допустимы для DSU, MST, SCC и topo. Для DAG n≥1, source должен существовать.</a:t>
            </a:r>
          </a:p>
          <a:p xmlns:a="http://schemas.openxmlformats.org/drawingml/2006/main">
            <a:r>
              <a:t/>
            </a:r>
          </a:p>
          <a:p xmlns:a="http://schemas.openxmlformats.org/drawingml/2006/main">
            <a:r>
              <a:t>Если второй ответ [1,3], вы случайно сохранили группы первого запроса.</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Сначала проверьте правильность. Затем измеряйте одинаковую работу на одинаковых графах.</a:t>
            </a:r>
          </a:p>
          <a:p xmlns:a="http://schemas.openxmlformats.org/drawingml/2006/main">
            <a:r>
              <a:t/>
            </a:r>
          </a:p>
          <a:p xmlns:a="http://schemas.openxmlformats.org/drawingml/2006/main">
            <a:r>
              <a:t>Один размер: Краскал 12, 9, 10 мс. Прим 8, 6, 7 мс.</a:t>
            </a:r>
          </a:p>
          <a:p xmlns:a="http://schemas.openxmlformats.org/drawingml/2006/main">
            <a:r>
              <a:t/>
            </a:r>
          </a:p>
          <a:p xmlns:a="http://schemas.openxmlformats.org/drawingml/2006/main">
            <a:r>
              <a:t>Это учебные числа, а не результаты измерения шаблона. Возьмите три размера и минимум три измерения каждого метода на каждом размере. Укажите n, m, генератор/seed, язык и версии, компьютер, границу таймера. Например, оба метода измеряются с построением своих рабочих структур, но без чтения файла. Покажите все измерения и медиану. Один запуск не доказывает асимптотику.</a:t>
            </a:r>
          </a:p>
          <a:p xmlns:a="http://schemas.openxmlformats.org/drawingml/2006/main">
            <a:r>
              <a:t/>
            </a:r>
          </a:p>
          <a:p xmlns:a="http://schemas.openxmlformats.org/drawingml/2006/main">
            <a:r>
              <a:t>После сортировки: 9,10,12 и 6,7,8. Медианы: 10 мс и 7 мс.</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Пишем на английском. Для каждого метода объясняем идею и причину правильности.</a:t>
            </a:r>
          </a:p>
          <a:p xmlns:a="http://schemas.openxmlformats.org/drawingml/2006/main">
            <a:r>
              <a:t/>
            </a:r>
          </a:p>
          <a:p xmlns:a="http://schemas.openxmlformats.org/drawingml/2006/main">
            <a:r>
              <a:t>Пример: “I accept an edge only when its endpoints have different DSU roots.”</a:t>
            </a:r>
          </a:p>
          <a:p xmlns:a="http://schemas.openxmlformats.org/drawingml/2006/main">
            <a:r>
              <a:t/>
            </a:r>
          </a:p>
          <a:p xmlns:a="http://schemas.openxmlformats.org/drawingml/2006/main">
            <a:r>
              <a:t>Текст должен описывать именно вашу реализацию. Для Краскала объясните, почему не создаёте цикл и почему выбор дешёвого ребра безопасен. Для DAG объясните topo order, null и parent_edge. По силлабусу письменно раскройте использованные AI-инструменты и вклад помощи. Ответственность за понимание, код и проверку остаётся у студента.</a:t>
            </a:r>
          </a:p>
          <a:p xmlns:a="http://schemas.openxmlformats.org/drawingml/2006/main">
            <a:r>
              <a:t/>
            </a:r>
          </a:p>
          <a:p xmlns:a="http://schemas.openxmlformats.org/drawingml/2006/main">
            <a:r>
              <a:t>Добавьте сложность, свои тесты, реальные вызовы helper и результаты benchmark.</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Сначала смотрим, собрался ли проект. Потом читаем упавшую проверку.</a:t>
            </a:r>
          </a:p>
          <a:p xmlns:a="http://schemas.openxmlformats.org/drawingml/2006/main">
            <a:r>
              <a:t/>
            </a:r>
          </a:p>
          <a:p xmlns:a="http://schemas.openxmlformats.org/drawingml/2006/main">
            <a:r>
              <a:t>Setup прошёл, но DSU вернул TODO: значит, надо реализовать метод.</a:t>
            </a:r>
          </a:p>
          <a:p xmlns:a="http://schemas.openxmlformats.org/drawingml/2006/main">
            <a:r>
              <a:t/>
            </a:r>
          </a:p>
          <a:p xmlns:a="http://schemas.openxmlformats.org/drawingml/2006/main">
            <a:r>
              <a:t>Ошибка окружения требует исправления запуска и повторной проверки.</a:t>
            </a:r>
          </a:p>
          <a:p xmlns:a="http://schemas.openxmlformats.org/drawingml/2006/main">
            <a:r>
              <a:t/>
            </a:r>
          </a:p>
          <a:p xmlns:a="http://schemas.openxmlformats.org/drawingml/2006/main">
            <a:r>
              <a:t>Ошибка окружения требует исправления запуска и повторной проверки.</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После успешной проверки зафиксируйте точный коммит.</a:t>
            </a:r>
          </a:p>
          <a:p xmlns:a="http://schemas.openxmlformats.org/drawingml/2006/main">
            <a:r>
              <a:t/>
            </a:r>
          </a:p>
          <a:p xmlns:a="http://schemas.openxmlformats.org/drawingml/2006/main">
            <a:r>
              <a:t>В Moodle Online text: 1) commit URL; 2) успешный Public checks run URL того же коммита.</a:t>
            </a:r>
          </a:p>
          <a:p xmlns:a="http://schemas.openxmlformats.org/drawingml/2006/main">
            <a:r>
              <a:t/>
            </a:r>
          </a:p>
          <a:p xmlns:a="http://schemas.openxmlformats.org/drawingml/2006/main">
            <a:r>
              <a:t>SHA — идентификатор конкретного снимка кода. Если после успешного запуска изменить код, старый run уже не подтверждает новый коммит. ZIP, весь проект и student ID для этой процедуры не нужны. Соблюдайте действующие даты и индивидуальные продления в Moodle.</a:t>
            </a:r>
          </a:p>
          <a:p xmlns:a="http://schemas.openxmlformats.org/drawingml/2006/main">
            <a:r>
              <a:t/>
            </a:r>
          </a:p>
          <a:p xmlns:a="http://schemas.openxmlformats.org/drawingml/2006/main">
            <a:r>
              <a:t>Затем Submit assignment и проверка статуса сдачи. Приватный репозиторий доступен преподавателю.</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Практика: 50 автоматических баллов. Квиз: 50 автоматических баллов.</a:t>
            </a:r>
          </a:p>
          <a:p xmlns:a="http://schemas.openxmlformats.org/drawingml/2006/main">
            <a:r>
              <a:t/>
            </a:r>
          </a:p>
          <a:p xmlns:a="http://schemas.openxmlformats.org/drawingml/2006/main">
            <a:r>
              <a:t>Квиз: 30 вопросов за 30 минут. 15 правильных → 25 из 50.</a:t>
            </a:r>
          </a:p>
          <a:p xmlns:a="http://schemas.openxmlformats.org/drawingml/2006/main">
            <a:r>
              <a:t/>
            </a:r>
          </a:p>
          <a:p xmlns:a="http://schemas.openxmlformats.org/drawingml/2006/main">
            <a:r>
              <a:t>Квиз имеет одну попытку. Каждый правильный ответ даёт 1 сырой балл, неправильный или пустой — 0. Итог raw/30×50. Практика использует опубликованные автоматические группы из RUBRIC.md. Ручных баллов и устного восстановления нет. Обязательные материалы и требуемые алгоритмы сохраняются.</a:t>
            </a:r>
          </a:p>
          <a:p xmlns:a="http://schemas.openxmlformats.org/drawingml/2006/main">
            <a:r>
              <a:t/>
            </a:r>
          </a:p>
          <a:p xmlns:a="http://schemas.openxmlformats.org/drawingml/2006/main">
            <a:r>
              <a:t>Проверьте шесть методов, tests/student, английский ANALYSIS.md и две ссылки одного SHA.</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Точные поля и ограничения смотрите в CONTRACTS.md. Требования сдачи — в README и Moodle.</a:t>
            </a:r>
          </a:p>
          <a:p xmlns:a="http://schemas.openxmlformats.org/drawingml/2006/main">
            <a:r>
              <a:t/>
            </a:r>
          </a:p>
          <a:p xmlns:a="http://schemas.openxmlformats.org/drawingml/2006/main">
            <a:r>
              <a:t>Дополнительное видео на английском встроено в HTML и PowerPoint.</a:t>
            </a:r>
          </a:p>
          <a:p xmlns:a="http://schemas.openxmlformats.org/drawingml/2006/main">
            <a:r>
              <a:t/>
            </a:r>
          </a:p>
          <a:p xmlns:a="http://schemas.openxmlformats.org/drawingml/2006/main">
            <a:r>
              <a:t>Источники: актуальные материалы A3, уточнения к лекциям 6–7, CLRS 4e §§19.3–19.4,20.3–20.5,21.1–21.2,22.2; Sedgewick &amp; Wayne 4e §§1.5,4.2–4.4; Skiena 3e §§7.10,8.1,8.3. Английское видео является дополнительным обзором основных методов с синтетической озвучкой. Оно не заменяет новые подробные шаги. В лекции 6, слайд 9, для Краскала правильное условие принятия: find(x) != find(y).</a:t>
            </a:r>
          </a:p>
          <a:p xmlns:a="http://schemas.openxmlformats.org/drawingml/2006/main">
            <a:r>
              <a:t/>
            </a:r>
          </a:p>
          <a:p xmlns:a="http://schemas.openxmlformats.org/drawingml/2006/main">
            <a:r>
              <a:t>Урок можно проходить без видео: каждый шаг объяснён письменно на обоих языках.</a:t>
            </a:r>
          </a:p>
          <a:p xmlns:a="http://schemas.openxmlformats.org/drawingml/2006/main">
            <a:r>
              <a:t/>
            </a:r>
          </a:p>
          <a:p xmlns:a="http://schemas.openxmlformats.org/drawingml/2006/main">
            <a:r>
              <a:t>Sources: A3 CONTRACTS.md, TESTING.md, RUBRIC.md; lecture clarifications 6–7; CLRS 4e chapters 19–22; Sedgewick &amp; Wayne 4e sections 1.5 and 4.2–4.4; Skiena 3e chapters 7–8. Numerical traces are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a8fb8758cf44bd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ccfdfb09210406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adcbfe1dedc4b8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d17b9e65270424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751610633ec45a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8626156a4b043b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090796A-62A1-4ED7-8E50-986B2454CC3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E0D0710-D682-4D9B-A54B-3DEDCFDE34E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F7CF9A1-E6AE-44C1-A40C-6E6664235DF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496E447-16CA-4CDF-82D4-02238250E52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CD1FF61-4339-4CD5-AF8C-3B51771542B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0CA261A-67CE-4979-93A0-74D7DC5CA93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7D5C315-2EFA-4321-A0F6-1D2B4471A23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9E62573-CF03-4004-BAC2-123D6E3A461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CB6A3A8-0525-48E3-9F95-5790FE8564E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F207688-58F5-4B74-A3FE-578556BDC02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bf59bf0d32e4822" /><Relationship Type="http://schemas.openxmlformats.org/officeDocument/2006/relationships/slideLayout" Target="/ppt/slideLayouts/slideLayout1.xml" Id="R5509407821744838" /><Relationship Type="http://schemas.openxmlformats.org/officeDocument/2006/relationships/slideLayout" Target="/ppt/slideLayouts/slideLayout2.xml" Id="R18636fbadf244957" /><Relationship Type="http://schemas.openxmlformats.org/officeDocument/2006/relationships/slideLayout" Target="/ppt/slideLayouts/slideLayout3.xml" Id="R882847b3dfd547d1" /><Relationship Type="http://schemas.openxmlformats.org/officeDocument/2006/relationships/slideLayout" Target="/ppt/slideLayouts/slideLayout4.xml" Id="Rdc8cf3139c704051" /><Relationship Type="http://schemas.openxmlformats.org/officeDocument/2006/relationships/slideLayout" Target="/ppt/slideLayouts/slideLayout5.xml" Id="Rb7dfc0b1f3dd4605" /><Relationship Type="http://schemas.openxmlformats.org/officeDocument/2006/relationships/slideLayout" Target="/ppt/slideLayouts/slideLayout6.xml" Id="R21ec7fad792d4a6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509407821744838"/>
    <p:sldLayoutId xmlns:r="http://schemas.openxmlformats.org/officeDocument/2006/relationships" id="2147483650" r:id="R18636fbadf244957"/>
    <p:sldLayoutId xmlns:r="http://schemas.openxmlformats.org/officeDocument/2006/relationships" id="2147483651" r:id="R882847b3dfd547d1"/>
    <p:sldLayoutId xmlns:r="http://schemas.openxmlformats.org/officeDocument/2006/relationships" id="2147483652" r:id="Rdc8cf3139c704051"/>
    <p:sldLayoutId xmlns:r="http://schemas.openxmlformats.org/officeDocument/2006/relationships" id="2147483653" r:id="Rb7dfc0b1f3dd4605"/>
    <p:sldLayoutId xmlns:r="http://schemas.openxmlformats.org/officeDocument/2006/relationships" id="2147483654" r:id="R21ec7fad792d4a6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a7feaf20b9a48c9" /><Relationship Type="http://schemas.openxmlformats.org/officeDocument/2006/relationships/image" Target="/ppt/media/image.png" Id="R283575e476d9499d" /><Relationship Type="http://schemas.openxmlformats.org/officeDocument/2006/relationships/notesSlide" Target="/ppt/notesSlides/notesSlide1.xml" Id="R4ca171800110429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e9fc521a5a84b6f" /><Relationship Type="http://schemas.openxmlformats.org/officeDocument/2006/relationships/notesSlide" Target="/ppt/notesSlides/notesSlide2.xml" Id="R7cb1dbf5da29459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d552e0a31cb431f" /><Relationship Type="http://schemas.openxmlformats.org/officeDocument/2006/relationships/notesSlide" Target="/ppt/notesSlides/notesSlide3.xml" Id="Rbddde088e30c479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e695feb34be4b32" /><Relationship Type="http://schemas.openxmlformats.org/officeDocument/2006/relationships/notesSlide" Target="/ppt/notesSlides/notesSlide4.xml" Id="R6dd811055c5e477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b551a729cba4931" /><Relationship Type="http://schemas.openxmlformats.org/officeDocument/2006/relationships/notesSlide" Target="/ppt/notesSlides/notesSlide5.xml" Id="R8ff76dd00d9045d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e33f9c4e09143d5" /><Relationship Type="http://schemas.openxmlformats.org/officeDocument/2006/relationships/notesSlide" Target="/ppt/notesSlides/notesSlide6.xml" Id="Rc5b6293f9e1248c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3be51edb66a4ef9" /><Relationship Type="http://schemas.openxmlformats.org/officeDocument/2006/relationships/notesSlide" Target="/ppt/notesSlides/notesSlide7.xml" Id="Rfa53c24c3ed144a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43c4f59492d40fc" /><Relationship Type="http://schemas.openxmlformats.org/officeDocument/2006/relationships/notesSlide" Target="/ppt/notesSlides/notesSlide8.xml" Id="R4f4d4ed602714a0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174ed6f535d4f11" /><Relationship Type="http://schemas.openxmlformats.org/officeDocument/2006/relationships/notesSlide" Target="/ppt/notesSlides/notesSlide9.xml" Id="R39f8ef4040dd45f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fcf4da534604b14" /><Relationship Type="http://schemas.openxmlformats.org/officeDocument/2006/relationships/notesSlide" Target="/ppt/notesSlides/notesSlide10.xml" Id="Rabdce90fdb6141b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845ffea164441f8" /><Relationship Type="http://schemas.openxmlformats.org/officeDocument/2006/relationships/notesSlide" Target="/ppt/notesSlides/notesSlide11.xml" Id="Re1409c2ea22041c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14e630ab1e84d08" /><Relationship Type="http://schemas.openxmlformats.org/officeDocument/2006/relationships/notesSlide" Target="/ppt/notesSlides/notesSlide12.xml" Id="R71017e3c09494e5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138485315d44bdf" /><Relationship Type="http://schemas.openxmlformats.org/officeDocument/2006/relationships/notesSlide" Target="/ppt/notesSlides/notesSlide13.xml" Id="Rbed57e2d050c443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c91033262224946" /><Relationship Type="http://schemas.openxmlformats.org/officeDocument/2006/relationships/notesSlide" Target="/ppt/notesSlides/notesSlide14.xml" Id="R25cfacd7f9ba476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6f44f5e2ce146fa" /><Relationship Type="http://schemas.openxmlformats.org/officeDocument/2006/relationships/notesSlide" Target="/ppt/notesSlides/notesSlide15.xml" Id="R64077d0929eb497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864756fc91a5434d" /><Relationship Type="http://schemas.openxmlformats.org/officeDocument/2006/relationships/notesSlide" Target="/ppt/notesSlides/notesSlide16.xml" Id="R309a4687d47447a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46e3b4c5952f4d33" /><Relationship Type="http://schemas.openxmlformats.org/officeDocument/2006/relationships/image" Target="/ppt/media/image2.png" Id="Rd11014677cce4b3c" /><Relationship Type="http://schemas.openxmlformats.org/officeDocument/2006/relationships/notesSlide" Target="/ppt/notesSlides/notesSlide17.xml" Id="R23080a76df65484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a540cd2cab8b47a4" /><Relationship Type="http://schemas.openxmlformats.org/officeDocument/2006/relationships/notesSlide" Target="/ppt/notesSlides/notesSlide18.xml" Id="Rfbd8c1082344456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663af043a4fc4e70" /><Relationship Type="http://schemas.openxmlformats.org/officeDocument/2006/relationships/notesSlide" Target="/ppt/notesSlides/notesSlide19.xml" Id="R930ed9d7d0fd48a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598203b998fb42d6" /><Relationship Type="http://schemas.openxmlformats.org/officeDocument/2006/relationships/notesSlide" Target="/ppt/notesSlides/notesSlide20.xml" Id="R0daed84948dd488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3c36010c602e47a0" /><Relationship Type="http://schemas.openxmlformats.org/officeDocument/2006/relationships/notesSlide" Target="/ppt/notesSlides/notesSlide21.xml" Id="Rf61476002b4e434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b11b976d8b2d4c9b" /><Relationship Type="http://schemas.openxmlformats.org/officeDocument/2006/relationships/notesSlide" Target="/ppt/notesSlides/notesSlide22.xml" Id="Rc3b35ff63d0446b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5fb6b989703f4ff0" /><Relationship Type="http://schemas.openxmlformats.org/officeDocument/2006/relationships/notesSlide" Target="/ppt/notesSlides/notesSlide23.xml" Id="R51ecc775966d4cd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c7fd757ab18a448e" /><Relationship Type="http://schemas.openxmlformats.org/officeDocument/2006/relationships/notesSlide" Target="/ppt/notesSlides/notesSlide24.xml" Id="R57b46b35632a416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acf86941b9f54d78" /><Relationship Type="http://schemas.openxmlformats.org/officeDocument/2006/relationships/notesSlide" Target="/ppt/notesSlides/notesSlide25.xml" Id="R3bf0405d58674e74"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ff3d7dc425144185" /><Relationship Type="http://schemas.openxmlformats.org/officeDocument/2006/relationships/notesSlide" Target="/ppt/notesSlides/notesSlide26.xml" Id="Rba6ade13ba564eb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286cd91439b94faf" /><Relationship Type="http://schemas.openxmlformats.org/officeDocument/2006/relationships/notesSlide" Target="/ppt/notesSlides/notesSlide27.xml" Id="R5b5942fdc658461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8fecdbf63d124329" /><Relationship Type="http://schemas.openxmlformats.org/officeDocument/2006/relationships/notesSlide" Target="/ppt/notesSlides/notesSlide28.xml" Id="R293b0f8bcd88462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925b0dd277cf43c1" /><Relationship Type="http://schemas.openxmlformats.org/officeDocument/2006/relationships/notesSlide" Target="/ppt/notesSlides/notesSlide29.xml" Id="Rec834a59e02848e3"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faf45126751a49b4" /><Relationship Type="http://schemas.openxmlformats.org/officeDocument/2006/relationships/notesSlide" Target="/ppt/notesSlides/notesSlide30.xml" Id="Rbbf186c2534349d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5c76e4bca3864487" /><Relationship Type="http://schemas.openxmlformats.org/officeDocument/2006/relationships/notesSlide" Target="/ppt/notesSlides/notesSlide31.xml" Id="R708692cfda8343be"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df325469996b40ac" /><Relationship Type="http://schemas.openxmlformats.org/officeDocument/2006/relationships/notesSlide" Target="/ppt/notesSlides/notesSlide32.xml" Id="R640253cb327c45a6"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98e351f449b3445e" /><Relationship Type="http://schemas.openxmlformats.org/officeDocument/2006/relationships/notesSlide" Target="/ppt/notesSlides/notesSlide33.xml" Id="Rba7614019c714567"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c711c38cde6748f2" /><Relationship Type="http://schemas.openxmlformats.org/officeDocument/2006/relationships/notesSlide" Target="/ppt/notesSlides/notesSlide34.xml" Id="Ra903d39768644842"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09342297d49f4ea6" /><Relationship Type="http://schemas.openxmlformats.org/officeDocument/2006/relationships/notesSlide" Target="/ppt/notesSlides/notesSlide35.xml" Id="R0da72c5f4b5144b6"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e09f2ef6406f437a" /><Relationship Type="http://schemas.openxmlformats.org/officeDocument/2006/relationships/notesSlide" Target="/ppt/notesSlides/notesSlide36.xml" Id="R1d26ae9e7da94c10"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1a9d8f29f8624d55" /><Relationship Type="http://schemas.openxmlformats.org/officeDocument/2006/relationships/notesSlide" Target="/ppt/notesSlides/notesSlide37.xml" Id="Re3b1efb97bc647dc"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2b4f05e464cd4dc0" /><Relationship Type="http://schemas.openxmlformats.org/officeDocument/2006/relationships/notesSlide" Target="/ppt/notesSlides/notesSlide38.xml" Id="R2f37d41a356449c1"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ecb82400c2414be6" /><Relationship Type="http://schemas.openxmlformats.org/officeDocument/2006/relationships/notesSlide" Target="/ppt/notesSlides/notesSlide39.xml" Id="R7f8c880802374941"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e4b48b74bc814bcf" /><Relationship Type="http://schemas.openxmlformats.org/officeDocument/2006/relationships/notesSlide" Target="/ppt/notesSlides/notesSlide40.xml" Id="R9bd73ceb7dd24754"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4515f917c7394616" /><Relationship Type="http://schemas.openxmlformats.org/officeDocument/2006/relationships/notesSlide" Target="/ppt/notesSlides/notesSlide41.xml" Id="Redfc488387044dcb"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3e56233e62c44ab3" /><Relationship Type="http://schemas.openxmlformats.org/officeDocument/2006/relationships/notesSlide" Target="/ppt/notesSlides/notesSlide42.xml" Id="Rbb19b7e21dd4468f"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db89c7a873254666" /><Relationship Type="http://schemas.openxmlformats.org/officeDocument/2006/relationships/notesSlide" Target="/ppt/notesSlides/notesSlide43.xml" Id="Rc4c37759da374474"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5a0cdd2ca2d04fc3" /><Relationship Type="http://schemas.openxmlformats.org/officeDocument/2006/relationships/notesSlide" Target="/ppt/notesSlides/notesSlide44.xml" Id="Re26089fc8f214b0d"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b1e1994da1dd4e76" /><Relationship Type="http://schemas.openxmlformats.org/officeDocument/2006/relationships/notesSlide" Target="/ppt/notesSlides/notesSlide45.xml" Id="Rd26fb8a7138a48b8"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26fb2a0530a44860" /><Relationship Type="http://schemas.openxmlformats.org/officeDocument/2006/relationships/notesSlide" Target="/ppt/notesSlides/notesSlide46.xml" Id="R28dfc0e4be92446a"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073b0256e41145b1" /><Relationship Type="http://schemas.openxmlformats.org/officeDocument/2006/relationships/notesSlide" Target="/ppt/notesSlides/notesSlide47.xml" Id="R50fc57c0f7fc40af"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61dc03c346464469" /><Relationship Type="http://schemas.openxmlformats.org/officeDocument/2006/relationships/notesSlide" Target="/ppt/notesSlides/notesSlide48.xml" Id="R0f9fd29a1e37469a"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964d09341ed24196" /><Relationship Type="http://schemas.openxmlformats.org/officeDocument/2006/relationships/notesSlide" Target="/ppt/notesSlides/notesSlide49.xml" Id="R02ae100f21f844ae"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6e07be7aa3604477" /><Relationship Type="http://schemas.openxmlformats.org/officeDocument/2006/relationships/notesSlide" Target="/ppt/notesSlides/notesSlide50.xml" Id="R08351e7531f747a0"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08a510766728486b" /><Relationship Type="http://schemas.openxmlformats.org/officeDocument/2006/relationships/notesSlide" Target="/ppt/notesSlides/notesSlide51.xml" Id="R00f0f55b1b504d26"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6412cb7070ec414b" /><Relationship Type="http://schemas.openxmlformats.org/officeDocument/2006/relationships/notesSlide" Target="/ppt/notesSlides/notesSlide52.xml" Id="Rb116cc543f4a4c36"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4b10558c456c4d8f" /><Relationship Type="http://schemas.openxmlformats.org/officeDocument/2006/relationships/notesSlide" Target="/ppt/notesSlides/notesSlide53.xml" Id="Re7855513442a4378"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1131b4827c954718" /><Relationship Type="http://schemas.openxmlformats.org/officeDocument/2006/relationships/notesSlide" Target="/ppt/notesSlides/notesSlide54.xml" Id="Rde56e7bd52714f7d"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7c0b0b77e3934d45" /><Relationship Type="http://schemas.openxmlformats.org/officeDocument/2006/relationships/notesSlide" Target="/ppt/notesSlides/notesSlide55.xml" Id="R7a0e2c3b96e4449e"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9d9219e9b8d64e31" /><Relationship Type="http://schemas.openxmlformats.org/officeDocument/2006/relationships/notesSlide" Target="/ppt/notesSlides/notesSlide56.xml" Id="R6eac1b054fc64fca"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46c71eeff48b44b4" /><Relationship Type="http://schemas.openxmlformats.org/officeDocument/2006/relationships/notesSlide" Target="/ppt/notesSlides/notesSlide57.xml" Id="Ra66333df19f947b6"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307475f5a31042f7" /><Relationship Type="http://schemas.openxmlformats.org/officeDocument/2006/relationships/notesSlide" Target="/ppt/notesSlides/notesSlide58.xml" Id="Ra5c51df6d5184fa5"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005af2df7c4b4a21" /><Relationship Type="http://schemas.openxmlformats.org/officeDocument/2006/relationships/notesSlide" Target="/ppt/notesSlides/notesSlide59.xml" Id="R51e4adb9b26d461b"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5d0e4e9bb5f84eeb" /><Relationship Type="http://schemas.openxmlformats.org/officeDocument/2006/relationships/notesSlide" Target="/ppt/notesSlides/notesSlide60.xml" Id="Rb5f0fd3e6348406a"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83e41899e22d41a1" /><Relationship Type="http://schemas.openxmlformats.org/officeDocument/2006/relationships/notesSlide" Target="/ppt/notesSlides/notesSlide61.xml" Id="R93360a5e9bc44fb5"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9d76203a43b14622" /><Relationship Type="http://schemas.openxmlformats.org/officeDocument/2006/relationships/notesSlide" Target="/ppt/notesSlides/notesSlide62.xml" Id="R3610380143fd46dc"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9a3f14d1e5ad4338" /><Relationship Type="http://schemas.openxmlformats.org/officeDocument/2006/relationships/notesSlide" Target="/ppt/notesSlides/notesSlide63.xml" Id="R8f95c30bc0c1482e" /></Relationships>
</file>

<file path=ppt/slides/_rels/slide64.xml.rels><?xml version='1.0' encoding='UTF-8' standalone='yes'?>
<Relationships xmlns="http://schemas.openxmlformats.org/package/2006/relationships"><Relationship Type="http://schemas.openxmlformats.org/officeDocument/2006/relationships/slideLayout" Target="/ppt/slideLayouts/slideLayout6.xml" Id="Rdf5dbf376e974953"/><Relationship Type="http://schemas.openxmlformats.org/officeDocument/2006/relationships/image" Target="/ppt/media/image3.png" Id="Re503c4be27774629"/><Relationship Type="http://schemas.openxmlformats.org/officeDocument/2006/relationships/notesSlide" Target="/ppt/notesSlides/notesSlide64.xml" Id="R30925c6254bb4ac5"/><Relationship Id="rIdA3Video" Type="http://schemas.openxmlformats.org/officeDocument/2006/relationships/video" Target="../media/A3_walkthrough.mp4"/><Relationship Id="rIdA3Media" Type="http://schemas.microsoft.com/office/2007/relationships/media" Target="../media/A3_walkthrough.mp4"/></Relationships>
</file>

<file path=ppt/slides/slide1.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076C22DF-7E4E-4C41-A9E8-8BAD4326A9EA}"/>
              </a:ext>
            </a:extLst>
          </p:cNvPr>
          <p:cNvPicPr>
            <a:picLocks xmlns:a="http://schemas.openxmlformats.org/drawingml/2006/main" noChangeAspect="1"/>
          </p:cNvPicPr>
          <p:nvPr/>
        </p:nvPicPr>
        <p:blipFill>
          <a:blip xmlns:r="http://schemas.openxmlformats.org/officeDocument/2006/relationships" xmlns:a="http://schemas.openxmlformats.org/drawingml/2006/main" r:embed="R283575e476d9499d"/>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BB1B134-15B5-4A6A-8D5D-93E905E275F0}"/>
              </a:ext>
            </a:extLst>
          </p:cNvPr>
          <p:cNvSpPr>
            <a:spLocks xmlns:a="http://schemas.openxmlformats.org/drawingml/2006/main" noGrp="1"/>
          </p:cNvSpPr>
          <p:nvPr/>
        </p:nvSpPr>
        <p:spPr>
          <a:xfrm xmlns:a="http://schemas.openxmlformats.org/drawingml/2006/main">
            <a:off x="590550" y="1333500"/>
            <a:ext cx="504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ASSIGNMENT 3</a:t>
            </a:r>
          </a:p>
        </p:txBody>
      </p:sp>
      <p:sp>
        <p:nvSpPr>
          <p:cNvPr id="3" name="">
            <a:extLst xmlns:a="http://schemas.openxmlformats.org/drawingml/2006/main">
              <a:ext uri="{FF2B5EF4-FFF2-40B4-BE49-F238E27FC236}">
                <a16:creationId xmlns:a16="http://schemas.microsoft.com/office/drawing/2014/main" id="{27E8B8F9-4E1E-41DC-BAF5-A1DC566D7E25}"/>
              </a:ext>
            </a:extLst>
          </p:cNvPr>
          <p:cNvSpPr>
            <a:spLocks xmlns:a="http://schemas.openxmlformats.org/drawingml/2006/main" noGrp="1"/>
          </p:cNvSpPr>
          <p:nvPr/>
        </p:nvSpPr>
        <p:spPr>
          <a:xfrm xmlns:a="http://schemas.openxmlformats.org/drawingml/2006/main">
            <a:off x="590550" y="2047875"/>
            <a:ext cx="5810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5175" b="1">
                <a:solidFill>
                  <a:srgbClr val="192E43"/>
                </a:solidFill>
                <a:latin typeface="Arial"/>
                <a:ea typeface="Arial"/>
                <a:cs typeface="Arial"/>
              </a:defRPr>
            </a:defPPr>
          </a:lstStyle>
          <a:p xmlns:a="http://schemas.openxmlformats.org/drawingml/2006/main">
            <a:pPr>
              <a:defRPr sz="5175" b="1">
                <a:solidFill>
                  <a:srgbClr val="192E43"/>
                </a:solidFill>
                <a:latin typeface="Arial"/>
                <a:ea typeface="Arial"/>
                <a:cs typeface="Arial"/>
              </a:defRPr>
            </a:pPr>
            <a:r>
              <a:rPr sz="5175" b="1">
                <a:solidFill>
                  <a:srgbClr val="192E43"/>
                </a:solidFill>
                <a:latin typeface="Arial"/>
                <a:ea typeface="Arial"/>
                <a:cs typeface="Arial"/>
              </a:rPr>
              <a:t>Графы</a:t>
            </a:r>
          </a:p>
          <a:p xmlns:a="http://schemas.openxmlformats.org/drawingml/2006/main">
            <a:pPr>
              <a:defRPr sz="5175" b="1">
                <a:solidFill>
                  <a:srgbClr val="192E43"/>
                </a:solidFill>
                <a:latin typeface="Arial"/>
                <a:ea typeface="Arial"/>
                <a:cs typeface="Arial"/>
              </a:defRPr>
            </a:pPr>
            <a:r>
              <a:rPr sz="5175" b="1">
                <a:solidFill>
                  <a:srgbClr val="192E43"/>
                </a:solidFill>
                <a:latin typeface="Arial"/>
                <a:ea typeface="Arial"/>
                <a:cs typeface="Arial"/>
              </a:rPr>
              <a:t>по шагам</a:t>
            </a:r>
          </a:p>
        </p:txBody>
      </p:sp>
      <p:sp>
        <p:nvSpPr>
          <p:cNvPr id="4" name="">
            <a:extLst xmlns:a="http://schemas.openxmlformats.org/drawingml/2006/main">
              <a:ext uri="{FF2B5EF4-FFF2-40B4-BE49-F238E27FC236}">
                <a16:creationId xmlns:a16="http://schemas.microsoft.com/office/drawing/2014/main" id="{7F2700BD-74F0-4679-BEE4-CA7A5E7C6898}"/>
              </a:ext>
            </a:extLst>
          </p:cNvPr>
          <p:cNvSpPr>
            <a:spLocks xmlns:a="http://schemas.openxmlformats.org/drawingml/2006/main" noGrp="1"/>
          </p:cNvSpPr>
          <p:nvPr/>
        </p:nvSpPr>
        <p:spPr>
          <a:xfrm xmlns:a="http://schemas.openxmlformats.org/drawingml/2006/main">
            <a:off x="590550" y="4191000"/>
            <a:ext cx="5619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Простые объяснения.</a:t>
            </a:r>
          </a:p>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Один пример за раз.</a:t>
            </a:r>
          </a:p>
        </p:txBody>
      </p:sp>
      <p:sp>
        <p:nvSpPr>
          <p:cNvPr id="5" name="">
            <a:extLst xmlns:a="http://schemas.openxmlformats.org/drawingml/2006/main">
              <a:ext uri="{FF2B5EF4-FFF2-40B4-BE49-F238E27FC236}">
                <a16:creationId xmlns:a16="http://schemas.microsoft.com/office/drawing/2014/main" id="{74526CE5-DEB1-40B0-9256-65434399A616}"/>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6" name="">
            <a:extLst xmlns:a="http://schemas.openxmlformats.org/drawingml/2006/main">
              <a:ext uri="{FF2B5EF4-FFF2-40B4-BE49-F238E27FC236}">
                <a16:creationId xmlns:a16="http://schemas.microsoft.com/office/drawing/2014/main" id="{E362E994-E063-49B1-9166-FE2B1AFE9D62}"/>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1 / 64</a:t>
            </a:r>
          </a:p>
        </p:txBody>
      </p:sp>
    </p:spTree>
    <p:extLst>
      <p:ext uri="{BB962C8B-B14F-4D97-AF65-F5344CB8AC3E}">
        <p14:creationId xmlns:p14="http://schemas.microsoft.com/office/powerpoint/2010/main" val="171998473"/>
      </p:ext>
    </p:extLst>
  </p:cSld>
</p:sld>
</file>

<file path=ppt/slides/slide2.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D11EC40-A4A7-4AEA-B261-8744E7B4135E}"/>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Основы</a:t>
            </a:r>
          </a:p>
        </p:txBody>
      </p:sp>
      <p:sp>
        <p:nvSpPr>
          <p:cNvPr id="2" name="">
            <a:extLst xmlns:a="http://schemas.openxmlformats.org/drawingml/2006/main">
              <a:ext uri="{FF2B5EF4-FFF2-40B4-BE49-F238E27FC236}">
                <a16:creationId xmlns:a16="http://schemas.microsoft.com/office/drawing/2014/main" id="{345E7EAC-7C60-4363-BCF5-338FE6D8C453}"/>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Граф: точки и связи между ними</a:t>
            </a:r>
          </a:p>
        </p:txBody>
      </p:sp>
      <p:sp>
        <p:nvSpPr>
          <p:cNvPr id="3" name="">
            <a:extLst xmlns:a="http://schemas.openxmlformats.org/drawingml/2006/main">
              <a:ext uri="{FF2B5EF4-FFF2-40B4-BE49-F238E27FC236}">
                <a16:creationId xmlns:a16="http://schemas.microsoft.com/office/drawing/2014/main" id="{861B2180-6B6D-4242-A2D9-6E7A75EA15BE}"/>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Вершина — объект. Ребро — связь между двумя объектами.</a:t>
            </a:r>
          </a:p>
        </p:txBody>
      </p:sp>
      <p:sp>
        <p:nvSpPr>
          <p:cNvPr id="4" name="">
            <a:extLst xmlns:a="http://schemas.openxmlformats.org/drawingml/2006/main">
              <a:ext uri="{FF2B5EF4-FFF2-40B4-BE49-F238E27FC236}">
                <a16:creationId xmlns:a16="http://schemas.microsoft.com/office/drawing/2014/main" id="{569769E5-EACC-4C00-B7DB-B45D95BC6CF0}"/>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Три площадки: 0, 1, 2. Кабели соединяют 0 с 1 и 1 с 2.</a:t>
            </a:r>
          </a:p>
        </p:txBody>
      </p:sp>
      <p:graphicFrame>
        <p:nvGraphicFramePr>
          <p:cNvPr id="5" name="">
            <a:extLst xmlns:a="http://schemas.openxmlformats.org/drawingml/2006/main">
              <a:ext uri="{FF2B5EF4-FFF2-40B4-BE49-F238E27FC236}">
                <a16:creationId xmlns:a16="http://schemas.microsoft.com/office/drawing/2014/main" id="{25D0132A-8716-4497-B239-00C12E636C8C}"/>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4092718"/>
                <a:gridCol w="6956282"/>
              </a:tblGrid>
              <a:tr h="690563">
                <a:tc>
                  <a:txBody>
                    <a:bodyPr/>
                    <a:lstStyle/>
                    <a:p>
                      <a:r>
                        <a:rPr sz="1725" b="1">
                          <a:solidFill>
                            <a:srgbClr val="192E43"/>
                          </a:solidFill>
                          <a:latin typeface="Arial"/>
                          <a:ea typeface="Arial"/>
                          <a:cs typeface="Arial"/>
                        </a:rPr>
                        <a:t>Запись</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Смысл</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690563">
                <a:tc>
                  <a:txBody>
                    <a:bodyPr/>
                    <a:lstStyle/>
                    <a:p>
                      <a:r>
                        <a:rPr sz="1725" b="0">
                          <a:solidFill>
                            <a:srgbClr val="192E43"/>
                          </a:solidFill>
                          <a:latin typeface="Arial"/>
                          <a:ea typeface="Arial"/>
                          <a:cs typeface="Arial"/>
                        </a:rPr>
                        <a:t>n = 3</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Всего три вершины: 0, 1, 2</a:t>
                      </a:r>
                    </a:p>
                  </a:txBody>
                  <a:tcPr marL="91440" marR="91440" marT="45720" marB="45720">
                    <a:lnR w="9525">
                      <a:solidFill>
                        <a:srgbClr val="E2DCE0"/>
                      </a:solidFill>
                      <a:prstDash val="solid"/>
                    </a:lnR>
                    <a:lnB w="9525">
                      <a:solidFill>
                        <a:srgbClr val="E2DCE0"/>
                      </a:solidFill>
                      <a:prstDash val="solid"/>
                    </a:lnB>
                    <a:solidFill>
                      <a:srgbClr val="FFFEFC"/>
                    </a:solidFill>
                  </a:tcPr>
                </a:tc>
              </a:tr>
              <a:tr h="690563">
                <a:tc>
                  <a:txBody>
                    <a:bodyPr/>
                    <a:lstStyle/>
                    <a:p>
                      <a:r>
                        <a:rPr sz="1725" b="0">
                          <a:solidFill>
                            <a:srgbClr val="192E43"/>
                          </a:solidFill>
                          <a:latin typeface="Arial"/>
                          <a:ea typeface="Arial"/>
                          <a:cs typeface="Arial"/>
                        </a:rPr>
                        <a:t>[0, 1]</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Связь между 0 и 1</a:t>
                      </a:r>
                    </a:p>
                  </a:txBody>
                  <a:tcPr marL="91440" marR="91440" marT="45720" marB="45720">
                    <a:lnR w="9525">
                      <a:solidFill>
                        <a:srgbClr val="E2DCE0"/>
                      </a:solidFill>
                      <a:prstDash val="solid"/>
                    </a:lnR>
                    <a:lnB w="9525">
                      <a:solidFill>
                        <a:srgbClr val="E2DCE0"/>
                      </a:solidFill>
                      <a:prstDash val="solid"/>
                    </a:lnB>
                    <a:solidFill>
                      <a:srgbClr val="FAF8F8"/>
                    </a:solidFill>
                  </a:tcPr>
                </a:tc>
              </a:tr>
              <a:tr h="690563">
                <a:tc>
                  <a:txBody>
                    <a:bodyPr/>
                    <a:lstStyle/>
                    <a:p>
                      <a:r>
                        <a:rPr sz="1725" b="0">
                          <a:solidFill>
                            <a:srgbClr val="192E43"/>
                          </a:solidFill>
                          <a:latin typeface="Arial"/>
                          <a:ea typeface="Arial"/>
                          <a:cs typeface="Arial"/>
                        </a:rPr>
                        <a:t>[1, 2]</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Связь между 1 и 2</a:t>
                      </a:r>
                    </a:p>
                  </a:txBody>
                  <a:tcPr marL="91440" marR="91440" marT="45720" marB="45720">
                    <a:lnR w="9525">
                      <a:solidFill>
                        <a:srgbClr val="E2DCE0"/>
                      </a:solidFill>
                      <a:prstDash val="solid"/>
                    </a:lnR>
                    <a:lnB w="9525">
                      <a:solidFill>
                        <a:srgbClr val="E2DCE0"/>
                      </a:solidFill>
                      <a:prstDash val="solid"/>
                    </a:lnB>
                    <a:solidFill>
                      <a:srgbClr val="FFFEFC"/>
                    </a:solidFill>
                  </a:tcPr>
                </a:tc>
              </a:tr>
            </a:tbl>
          </a:graphicData>
        </a:graphic>
      </p:graphicFrame>
      <p:sp>
        <p:nvSpPr>
          <p:cNvPr id="6" name="">
            <a:extLst xmlns:a="http://schemas.openxmlformats.org/drawingml/2006/main">
              <a:ext uri="{FF2B5EF4-FFF2-40B4-BE49-F238E27FC236}">
                <a16:creationId xmlns:a16="http://schemas.microsoft.com/office/drawing/2014/main" id="{159B395A-8DA5-4C2F-BE58-5FE35A4B5A4C}"/>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Из 0 можно добраться до 2 через 1. Прямое ребро 0–2 для этого не нужно.</a:t>
            </a:r>
          </a:p>
        </p:txBody>
      </p:sp>
      <p:sp>
        <p:nvSpPr>
          <p:cNvPr id="7" name="">
            <a:extLst xmlns:a="http://schemas.openxmlformats.org/drawingml/2006/main">
              <a:ext uri="{FF2B5EF4-FFF2-40B4-BE49-F238E27FC236}">
                <a16:creationId xmlns:a16="http://schemas.microsoft.com/office/drawing/2014/main" id="{A0CC6FAF-D33D-409F-94B3-A5554DE3008F}"/>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625B7359-6DC2-44E4-AD3E-2CD098F47078}"/>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2 / 64</a:t>
            </a:r>
          </a:p>
        </p:txBody>
      </p:sp>
    </p:spTree>
    <p:extLst>
      <p:ext uri="{BB962C8B-B14F-4D97-AF65-F5344CB8AC3E}">
        <p14:creationId xmlns:p14="http://schemas.microsoft.com/office/powerpoint/2010/main" val="990150254"/>
      </p:ext>
    </p:extLst>
  </p:cSld>
</p:sld>
</file>

<file path=ppt/slides/slide3.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9F846A2-162E-46E8-9EB5-5315329D4C88}"/>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Основы</a:t>
            </a:r>
          </a:p>
        </p:txBody>
      </p:sp>
      <p:sp>
        <p:nvSpPr>
          <p:cNvPr id="2" name="">
            <a:extLst xmlns:a="http://schemas.openxmlformats.org/drawingml/2006/main">
              <a:ext uri="{FF2B5EF4-FFF2-40B4-BE49-F238E27FC236}">
                <a16:creationId xmlns:a16="http://schemas.microsoft.com/office/drawing/2014/main" id="{4C9A67E6-B8C6-4DC1-8A3B-333DFF1ACF1A}"/>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Направление и вес ребра</a:t>
            </a:r>
          </a:p>
        </p:txBody>
      </p:sp>
      <p:sp>
        <p:nvSpPr>
          <p:cNvPr id="3" name="">
            <a:extLst xmlns:a="http://schemas.openxmlformats.org/drawingml/2006/main">
              <a:ext uri="{FF2B5EF4-FFF2-40B4-BE49-F238E27FC236}">
                <a16:creationId xmlns:a16="http://schemas.microsoft.com/office/drawing/2014/main" id="{CBD9A34F-205A-4AE2-975F-D73455DEAFD8}"/>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Стрелка разрешает движение в одну сторону. Вес — число на ребре.</a:t>
            </a:r>
          </a:p>
        </p:txBody>
      </p:sp>
      <p:sp>
        <p:nvSpPr>
          <p:cNvPr id="4" name="">
            <a:extLst xmlns:a="http://schemas.openxmlformats.org/drawingml/2006/main">
              <a:ext uri="{FF2B5EF4-FFF2-40B4-BE49-F238E27FC236}">
                <a16:creationId xmlns:a16="http://schemas.microsoft.com/office/drawing/2014/main" id="{DB5BB382-10C9-461A-9815-107F3A6BFBAE}"/>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[0, 1, 4]: из 0 в 1, стоимость 4. Для MST связь двусторонняя.</a:t>
            </a:r>
          </a:p>
        </p:txBody>
      </p:sp>
      <p:sp>
        <p:nvSpPr>
          <p:cNvPr id="5" name="">
            <a:extLst xmlns:a="http://schemas.openxmlformats.org/drawingml/2006/main">
              <a:ext uri="{FF2B5EF4-FFF2-40B4-BE49-F238E27FC236}">
                <a16:creationId xmlns:a16="http://schemas.microsoft.com/office/drawing/2014/main" id="{EA059ED8-894F-4801-84B0-6B7D0F479216}"/>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Модель зависит от задачи: кабели, порядок работ и доставка используют разные графы.</a:t>
            </a:r>
          </a:p>
        </p:txBody>
      </p:sp>
      <p:sp>
        <p:nvSpPr>
          <p:cNvPr id="6" name="">
            <a:extLst xmlns:a="http://schemas.openxmlformats.org/drawingml/2006/main">
              <a:ext uri="{FF2B5EF4-FFF2-40B4-BE49-F238E27FC236}">
                <a16:creationId xmlns:a16="http://schemas.microsoft.com/office/drawing/2014/main" id="{5194E5E1-A2F7-4F31-87C5-5001E639F6D1}"/>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7" name="">
            <a:extLst xmlns:a="http://schemas.openxmlformats.org/drawingml/2006/main">
              <a:ext uri="{FF2B5EF4-FFF2-40B4-BE49-F238E27FC236}">
                <a16:creationId xmlns:a16="http://schemas.microsoft.com/office/drawing/2014/main" id="{D7212D4D-AC34-4335-967F-84732DC5CEE2}"/>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3 / 64</a:t>
            </a:r>
          </a:p>
        </p:txBody>
      </p:sp>
    </p:spTree>
    <p:extLst>
      <p:ext uri="{BB962C8B-B14F-4D97-AF65-F5344CB8AC3E}">
        <p14:creationId xmlns:p14="http://schemas.microsoft.com/office/powerpoint/2010/main" val="1977232264"/>
      </p:ext>
    </p:extLst>
  </p:cSld>
</p:sld>
</file>

<file path=ppt/slides/slide4.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C068187-291E-4838-B509-CD472F754862}"/>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Основы</a:t>
            </a:r>
          </a:p>
        </p:txBody>
      </p:sp>
      <p:sp>
        <p:nvSpPr>
          <p:cNvPr id="2" name="">
            <a:extLst xmlns:a="http://schemas.openxmlformats.org/drawingml/2006/main">
              <a:ext uri="{FF2B5EF4-FFF2-40B4-BE49-F238E27FC236}">
                <a16:creationId xmlns:a16="http://schemas.microsoft.com/office/drawing/2014/main" id="{8C5C0A7D-C204-4D56-9842-0CD14C59C530}"/>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Какой вопрос решает каждый метод</a:t>
            </a:r>
          </a:p>
        </p:txBody>
      </p:sp>
      <p:sp>
        <p:nvSpPr>
          <p:cNvPr id="3" name="">
            <a:extLst xmlns:a="http://schemas.openxmlformats.org/drawingml/2006/main">
              <a:ext uri="{FF2B5EF4-FFF2-40B4-BE49-F238E27FC236}">
                <a16:creationId xmlns:a16="http://schemas.microsoft.com/office/drawing/2014/main" id="{610B6253-5000-40F5-A113-4124E48CE0EA}"/>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Сначала определяем нужный результат. Потом выбираем требуемый метод.</a:t>
            </a:r>
          </a:p>
        </p:txBody>
      </p:sp>
      <p:sp>
        <p:nvSpPr>
          <p:cNvPr id="4" name="">
            <a:extLst xmlns:a="http://schemas.openxmlformats.org/drawingml/2006/main">
              <a:ext uri="{FF2B5EF4-FFF2-40B4-BE49-F238E27FC236}">
                <a16:creationId xmlns:a16="http://schemas.microsoft.com/office/drawing/2014/main" id="{42FEE2D1-8F5A-41F8-A009-EDEF926AB2D5}"/>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Один и тот же сюжет фестиваля даёт разные математические задачи.</a:t>
            </a:r>
          </a:p>
        </p:txBody>
      </p:sp>
      <p:graphicFrame>
        <p:nvGraphicFramePr>
          <p:cNvPr id="5" name="">
            <a:extLst xmlns:a="http://schemas.openxmlformats.org/drawingml/2006/main">
              <a:ext uri="{FF2B5EF4-FFF2-40B4-BE49-F238E27FC236}">
                <a16:creationId xmlns:a16="http://schemas.microsoft.com/office/drawing/2014/main" id="{AC584C4B-3345-4529-87BD-2CBBD8537401}"/>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4044215"/>
                <a:gridCol w="7004785"/>
              </a:tblGrid>
              <a:tr h="460375">
                <a:tc>
                  <a:txBody>
                    <a:bodyPr/>
                    <a:lstStyle/>
                    <a:p>
                      <a:r>
                        <a:rPr sz="1725" b="1">
                          <a:solidFill>
                            <a:srgbClr val="192E43"/>
                          </a:solidFill>
                          <a:latin typeface="Arial"/>
                          <a:ea typeface="Arial"/>
                          <a:cs typeface="Arial"/>
                        </a:rPr>
                        <a:t>Метод</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Вопрос простыми словами</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460375">
                <a:tc>
                  <a:txBody>
                    <a:bodyPr/>
                    <a:lstStyle/>
                    <a:p>
                      <a:r>
                        <a:rPr sz="1725" b="0">
                          <a:solidFill>
                            <a:srgbClr val="192E43"/>
                          </a:solidFill>
                          <a:latin typeface="Arial"/>
                          <a:ea typeface="Arial"/>
                          <a:cs typeface="Arial"/>
                        </a:rPr>
                        <a:t>DSU</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Какие вершины уже в одной группе?</a:t>
                      </a:r>
                    </a:p>
                  </a:txBody>
                  <a:tcPr marL="91440" marR="91440" marT="45720" marB="45720">
                    <a:lnR w="9525">
                      <a:solidFill>
                        <a:srgbClr val="E2DCE0"/>
                      </a:solidFill>
                      <a:prstDash val="solid"/>
                    </a:lnR>
                    <a:lnB w="9525">
                      <a:solidFill>
                        <a:srgbClr val="E2DCE0"/>
                      </a:solidFill>
                      <a:prstDash val="solid"/>
                    </a:lnB>
                    <a:solidFill>
                      <a:srgbClr val="FFFEFC"/>
                    </a:solidFill>
                  </a:tcPr>
                </a:tc>
              </a:tr>
              <a:tr h="460375">
                <a:tc>
                  <a:txBody>
                    <a:bodyPr/>
                    <a:lstStyle/>
                    <a:p>
                      <a:r>
                        <a:rPr sz="1725" b="0">
                          <a:solidFill>
                            <a:srgbClr val="192E43"/>
                          </a:solidFill>
                          <a:latin typeface="Arial"/>
                          <a:ea typeface="Arial"/>
                          <a:cs typeface="Arial"/>
                        </a:rPr>
                        <a:t>Краскал / Прим</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Как соединить каждую группу дешевле всего?</a:t>
                      </a:r>
                    </a:p>
                  </a:txBody>
                  <a:tcPr marL="91440" marR="91440" marT="45720" marB="45720">
                    <a:lnR w="9525">
                      <a:solidFill>
                        <a:srgbClr val="E2DCE0"/>
                      </a:solidFill>
                      <a:prstDash val="solid"/>
                    </a:lnR>
                    <a:lnB w="9525">
                      <a:solidFill>
                        <a:srgbClr val="E2DCE0"/>
                      </a:solidFill>
                      <a:prstDash val="solid"/>
                    </a:lnB>
                    <a:solidFill>
                      <a:srgbClr val="FAF8F8"/>
                    </a:solidFill>
                  </a:tcPr>
                </a:tc>
              </a:tr>
              <a:tr h="460375">
                <a:tc>
                  <a:txBody>
                    <a:bodyPr/>
                    <a:lstStyle/>
                    <a:p>
                      <a:r>
                        <a:rPr sz="1725" b="0">
                          <a:solidFill>
                            <a:srgbClr val="192E43"/>
                          </a:solidFill>
                          <a:latin typeface="Arial"/>
                          <a:ea typeface="Arial"/>
                          <a:cs typeface="Arial"/>
                        </a:rPr>
                        <a:t>Косарайю</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Где можно пройти туда и обратно?</a:t>
                      </a:r>
                    </a:p>
                  </a:txBody>
                  <a:tcPr marL="91440" marR="91440" marT="45720" marB="45720">
                    <a:lnR w="9525">
                      <a:solidFill>
                        <a:srgbClr val="E2DCE0"/>
                      </a:solidFill>
                      <a:prstDash val="solid"/>
                    </a:lnR>
                    <a:lnB w="9525">
                      <a:solidFill>
                        <a:srgbClr val="E2DCE0"/>
                      </a:solidFill>
                      <a:prstDash val="solid"/>
                    </a:lnB>
                    <a:solidFill>
                      <a:srgbClr val="FFFEFC"/>
                    </a:solidFill>
                  </a:tcPr>
                </a:tc>
              </a:tr>
              <a:tr h="460375">
                <a:tc>
                  <a:txBody>
                    <a:bodyPr/>
                    <a:lstStyle/>
                    <a:p>
                      <a:r>
                        <a:rPr sz="1725" b="0">
                          <a:solidFill>
                            <a:srgbClr val="192E43"/>
                          </a:solidFill>
                          <a:latin typeface="Arial"/>
                          <a:ea typeface="Arial"/>
                          <a:cs typeface="Arial"/>
                        </a:rPr>
                        <a:t>DFS topo</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В каком порядке выполнить работы?</a:t>
                      </a:r>
                    </a:p>
                  </a:txBody>
                  <a:tcPr marL="91440" marR="91440" marT="45720" marB="45720">
                    <a:lnR w="9525">
                      <a:solidFill>
                        <a:srgbClr val="E2DCE0"/>
                      </a:solidFill>
                      <a:prstDash val="solid"/>
                    </a:lnR>
                    <a:lnB w="9525">
                      <a:solidFill>
                        <a:srgbClr val="E2DCE0"/>
                      </a:solidFill>
                      <a:prstDash val="solid"/>
                    </a:lnB>
                    <a:solidFill>
                      <a:srgbClr val="FAF8F8"/>
                    </a:solidFill>
                  </a:tcPr>
                </a:tc>
              </a:tr>
              <a:tr h="460375">
                <a:tc>
                  <a:txBody>
                    <a:bodyPr/>
                    <a:lstStyle/>
                    <a:p>
                      <a:r>
                        <a:rPr sz="1725" b="0">
                          <a:solidFill>
                            <a:srgbClr val="192E43"/>
                          </a:solidFill>
                          <a:latin typeface="Arial"/>
                          <a:ea typeface="Arial"/>
                          <a:cs typeface="Arial"/>
                        </a:rPr>
                        <a:t>DAG paths</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Как дешевле дойти из заданного источника?</a:t>
                      </a:r>
                    </a:p>
                  </a:txBody>
                  <a:tcPr marL="91440" marR="91440" marT="45720" marB="45720">
                    <a:lnR w="9525">
                      <a:solidFill>
                        <a:srgbClr val="E2DCE0"/>
                      </a:solidFill>
                      <a:prstDash val="solid"/>
                    </a:lnR>
                    <a:lnB w="9525">
                      <a:solidFill>
                        <a:srgbClr val="E2DCE0"/>
                      </a:solidFill>
                      <a:prstDash val="solid"/>
                    </a:lnB>
                    <a:solidFill>
                      <a:srgbClr val="FFFEFC"/>
                    </a:solidFill>
                  </a:tcPr>
                </a:tc>
              </a:tr>
            </a:tbl>
          </a:graphicData>
        </a:graphic>
      </p:graphicFrame>
      <p:sp>
        <p:nvSpPr>
          <p:cNvPr id="6" name="">
            <a:extLst xmlns:a="http://schemas.openxmlformats.org/drawingml/2006/main">
              <a:ext uri="{FF2B5EF4-FFF2-40B4-BE49-F238E27FC236}">
                <a16:creationId xmlns:a16="http://schemas.microsoft.com/office/drawing/2014/main" id="{281F33A1-28BD-45E9-827A-264E3DC23F49}"/>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Краскал и Прим решают одну задачу, но в A3 нужны две отдельные реализации.</a:t>
            </a:r>
          </a:p>
        </p:txBody>
      </p:sp>
      <p:sp>
        <p:nvSpPr>
          <p:cNvPr id="7" name="">
            <a:extLst xmlns:a="http://schemas.openxmlformats.org/drawingml/2006/main">
              <a:ext uri="{FF2B5EF4-FFF2-40B4-BE49-F238E27FC236}">
                <a16:creationId xmlns:a16="http://schemas.microsoft.com/office/drawing/2014/main" id="{5D8373C6-61C7-4448-AF60-41235D267A6E}"/>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5C8A1823-C058-4B78-A9DE-C7FEF42F3E60}"/>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4 / 64</a:t>
            </a:r>
          </a:p>
        </p:txBody>
      </p:sp>
    </p:spTree>
    <p:extLst>
      <p:ext uri="{BB962C8B-B14F-4D97-AF65-F5344CB8AC3E}">
        <p14:creationId xmlns:p14="http://schemas.microsoft.com/office/powerpoint/2010/main" val="1461684274"/>
      </p:ext>
    </p:extLst>
  </p:cSld>
</p:sld>
</file>

<file path=ppt/slides/slide5.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7BE4E8B-6C39-4A4E-82B4-71423AAA44FE}"/>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Основы</a:t>
            </a:r>
          </a:p>
        </p:txBody>
      </p:sp>
      <p:sp>
        <p:nvSpPr>
          <p:cNvPr id="2" name="">
            <a:extLst xmlns:a="http://schemas.openxmlformats.org/drawingml/2006/main">
              <a:ext uri="{FF2B5EF4-FFF2-40B4-BE49-F238E27FC236}">
                <a16:creationId xmlns:a16="http://schemas.microsoft.com/office/drawing/2014/main" id="{EC9C9F39-AD55-43C2-BBE0-BA22D2C32D54}"/>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ID ребра: его место во входном списке</a:t>
            </a:r>
          </a:p>
        </p:txBody>
      </p:sp>
      <p:sp>
        <p:nvSpPr>
          <p:cNvPr id="3" name="">
            <a:extLst xmlns:a="http://schemas.openxmlformats.org/drawingml/2006/main">
              <a:ext uri="{FF2B5EF4-FFF2-40B4-BE49-F238E27FC236}">
                <a16:creationId xmlns:a16="http://schemas.microsoft.com/office/drawing/2014/main" id="{1DDC941C-C883-42F4-B2AB-030D6406EAF5}"/>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Нумерация начинается с нуля. ID сохраняется при сортировке.</a:t>
            </a:r>
          </a:p>
        </p:txBody>
      </p:sp>
      <p:sp>
        <p:nvSpPr>
          <p:cNvPr id="4" name="">
            <a:extLst xmlns:a="http://schemas.openxmlformats.org/drawingml/2006/main">
              <a:ext uri="{FF2B5EF4-FFF2-40B4-BE49-F238E27FC236}">
                <a16:creationId xmlns:a16="http://schemas.microsoft.com/office/drawing/2014/main" id="{214180F7-EABB-4430-9091-7D4485DDA87A}"/>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Два одинаковых ребра могут иметь разные ID.</a:t>
            </a:r>
          </a:p>
        </p:txBody>
      </p:sp>
      <p:graphicFrame>
        <p:nvGraphicFramePr>
          <p:cNvPr id="5" name="">
            <a:extLst xmlns:a="http://schemas.openxmlformats.org/drawingml/2006/main">
              <a:ext uri="{FF2B5EF4-FFF2-40B4-BE49-F238E27FC236}">
                <a16:creationId xmlns:a16="http://schemas.microsoft.com/office/drawing/2014/main" id="{29337FE4-A30D-4A54-85B7-98B432B4C4E7}"/>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5018052"/>
                <a:gridCol w="6030948"/>
              </a:tblGrid>
              <a:tr h="690563">
                <a:tc>
                  <a:txBody>
                    <a:bodyPr/>
                    <a:lstStyle/>
                    <a:p>
                      <a:r>
                        <a:rPr sz="1725" b="1">
                          <a:solidFill>
                            <a:srgbClr val="192E43"/>
                          </a:solidFill>
                          <a:latin typeface="Arial"/>
                          <a:ea typeface="Arial"/>
                          <a:cs typeface="Arial"/>
                        </a:rPr>
                        <a:t>ID</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Входное ребро</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690563">
                <a:tc>
                  <a:txBody>
                    <a:bodyPr/>
                    <a:lstStyle/>
                    <a:p>
                      <a:r>
                        <a:rPr sz="1725" b="0">
                          <a:solidFill>
                            <a:srgbClr val="192E43"/>
                          </a:solidFill>
                          <a:latin typeface="Arial"/>
                          <a:ea typeface="Arial"/>
                          <a:cs typeface="Arial"/>
                        </a:rPr>
                        <a:t>0</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 1, 4]</a:t>
                      </a:r>
                    </a:p>
                  </a:txBody>
                  <a:tcPr marL="91440" marR="91440" marT="45720" marB="45720">
                    <a:lnR w="9525">
                      <a:solidFill>
                        <a:srgbClr val="E2DCE0"/>
                      </a:solidFill>
                      <a:prstDash val="solid"/>
                    </a:lnR>
                    <a:lnB w="9525">
                      <a:solidFill>
                        <a:srgbClr val="E2DCE0"/>
                      </a:solidFill>
                      <a:prstDash val="solid"/>
                    </a:lnB>
                    <a:solidFill>
                      <a:srgbClr val="FFFEFC"/>
                    </a:solidFill>
                  </a:tcPr>
                </a:tc>
              </a:tr>
              <a:tr h="690563">
                <a:tc>
                  <a:txBody>
                    <a:bodyPr/>
                    <a:lstStyle/>
                    <a:p>
                      <a:r>
                        <a:rPr sz="1725" b="0">
                          <a:solidFill>
                            <a:srgbClr val="192E43"/>
                          </a:solidFill>
                          <a:latin typeface="Arial"/>
                          <a:ea typeface="Arial"/>
                          <a:cs typeface="Arial"/>
                        </a:rPr>
                        <a:t>1</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[1, 2, 1]</a:t>
                      </a:r>
                    </a:p>
                  </a:txBody>
                  <a:tcPr marL="91440" marR="91440" marT="45720" marB="45720">
                    <a:lnR w="9525">
                      <a:solidFill>
                        <a:srgbClr val="E2DCE0"/>
                      </a:solidFill>
                      <a:prstDash val="solid"/>
                    </a:lnR>
                    <a:lnB w="9525">
                      <a:solidFill>
                        <a:srgbClr val="E2DCE0"/>
                      </a:solidFill>
                      <a:prstDash val="solid"/>
                    </a:lnB>
                    <a:solidFill>
                      <a:srgbClr val="FAF8F8"/>
                    </a:solidFill>
                  </a:tcPr>
                </a:tc>
              </a:tr>
              <a:tr h="690563">
                <a:tc>
                  <a:txBody>
                    <a:bodyPr/>
                    <a:lstStyle/>
                    <a:p>
                      <a:r>
                        <a:rPr sz="1725" b="0">
                          <a:solidFill>
                            <a:srgbClr val="192E43"/>
                          </a:solidFill>
                          <a:latin typeface="Arial"/>
                          <a:ea typeface="Arial"/>
                          <a:cs typeface="Arial"/>
                        </a:rPr>
                        <a:t>2</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 1, 4]</a:t>
                      </a:r>
                    </a:p>
                  </a:txBody>
                  <a:tcPr marL="91440" marR="91440" marT="45720" marB="45720">
                    <a:lnR w="9525">
                      <a:solidFill>
                        <a:srgbClr val="E2DCE0"/>
                      </a:solidFill>
                      <a:prstDash val="solid"/>
                    </a:lnR>
                    <a:lnB w="9525">
                      <a:solidFill>
                        <a:srgbClr val="E2DCE0"/>
                      </a:solidFill>
                      <a:prstDash val="solid"/>
                    </a:lnB>
                    <a:solidFill>
                      <a:srgbClr val="FFFEFC"/>
                    </a:solidFill>
                  </a:tcPr>
                </a:tc>
              </a:tr>
            </a:tbl>
          </a:graphicData>
        </a:graphic>
      </p:graphicFrame>
      <p:sp>
        <p:nvSpPr>
          <p:cNvPr id="6" name="">
            <a:extLst xmlns:a="http://schemas.openxmlformats.org/drawingml/2006/main">
              <a:ext uri="{FF2B5EF4-FFF2-40B4-BE49-F238E27FC236}">
                <a16:creationId xmlns:a16="http://schemas.microsoft.com/office/drawing/2014/main" id="{F884B6AD-1B63-405C-AD44-67702E0B20B7}"/>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Когда ответ требует edge_ids или parent_edge, возвращаем исходный ID.</a:t>
            </a:r>
          </a:p>
        </p:txBody>
      </p:sp>
      <p:sp>
        <p:nvSpPr>
          <p:cNvPr id="7" name="">
            <a:extLst xmlns:a="http://schemas.openxmlformats.org/drawingml/2006/main">
              <a:ext uri="{FF2B5EF4-FFF2-40B4-BE49-F238E27FC236}">
                <a16:creationId xmlns:a16="http://schemas.microsoft.com/office/drawing/2014/main" id="{82168A4D-2D7B-45AB-A487-DADAD2B201D9}"/>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3EE0901D-5AAA-43E2-A0A6-8ECB4A439B2E}"/>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5 / 64</a:t>
            </a:r>
          </a:p>
        </p:txBody>
      </p:sp>
    </p:spTree>
    <p:extLst>
      <p:ext uri="{BB962C8B-B14F-4D97-AF65-F5344CB8AC3E}">
        <p14:creationId xmlns:p14="http://schemas.microsoft.com/office/powerpoint/2010/main" val="19208775"/>
      </p:ext>
    </p:extLst>
  </p:cSld>
</p:sld>
</file>

<file path=ppt/slides/slide6.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B259420-CF0D-4D8C-82B0-1C4A2AA57D9A}"/>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Основы</a:t>
            </a:r>
          </a:p>
        </p:txBody>
      </p:sp>
      <p:sp>
        <p:nvSpPr>
          <p:cNvPr id="2" name="">
            <a:extLst xmlns:a="http://schemas.openxmlformats.org/drawingml/2006/main">
              <a:ext uri="{FF2B5EF4-FFF2-40B4-BE49-F238E27FC236}">
                <a16:creationId xmlns:a16="http://schemas.microsoft.com/office/drawing/2014/main" id="{9B645820-BBA6-40D8-AAC8-18E0C58B994B}"/>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Ввод и вывод: одна строка на запрос</a:t>
            </a:r>
          </a:p>
        </p:txBody>
      </p:sp>
      <p:sp>
        <p:nvSpPr>
          <p:cNvPr id="3" name="">
            <a:extLst xmlns:a="http://schemas.openxmlformats.org/drawingml/2006/main">
              <a:ext uri="{FF2B5EF4-FFF2-40B4-BE49-F238E27FC236}">
                <a16:creationId xmlns:a16="http://schemas.microsoft.com/office/drawing/2014/main" id="{DDFF640A-17BF-4239-A8B1-C1732F40048C}"/>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Адаптер уже читает JSON и вызывает ваш метод.</a:t>
            </a:r>
          </a:p>
        </p:txBody>
      </p:sp>
      <p:sp>
        <p:nvSpPr>
          <p:cNvPr id="4" name="">
            <a:extLst xmlns:a="http://schemas.openxmlformats.org/drawingml/2006/main">
              <a:ext uri="{FF2B5EF4-FFF2-40B4-BE49-F238E27FC236}">
                <a16:creationId xmlns:a16="http://schemas.microsoft.com/office/drawing/2014/main" id="{08335545-BBE0-4D47-A502-F32689528CE0}"/>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Ввод: {"task":"dsu","n":3,"operations":[[0,1]]}</a:t>
            </a:r>
          </a:p>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Вывод: {"states":[[2,2]]}</a:t>
            </a:r>
          </a:p>
        </p:txBody>
      </p:sp>
      <p:sp>
        <p:nvSpPr>
          <p:cNvPr id="5" name="">
            <a:extLst xmlns:a="http://schemas.openxmlformats.org/drawingml/2006/main">
              <a:ext uri="{FF2B5EF4-FFF2-40B4-BE49-F238E27FC236}">
                <a16:creationId xmlns:a16="http://schemas.microsoft.com/office/drawing/2014/main" id="{729B4500-82D7-48BB-8F6E-2295B2D9B0B0}"/>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После связи 0–1 осталось две группы. Самая большая содержит две вершины.</a:t>
            </a:r>
          </a:p>
        </p:txBody>
      </p:sp>
      <p:sp>
        <p:nvSpPr>
          <p:cNvPr id="6" name="">
            <a:extLst xmlns:a="http://schemas.openxmlformats.org/drawingml/2006/main">
              <a:ext uri="{FF2B5EF4-FFF2-40B4-BE49-F238E27FC236}">
                <a16:creationId xmlns:a16="http://schemas.microsoft.com/office/drawing/2014/main" id="{BA169171-7556-4573-8735-923E18507EF8}"/>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7" name="">
            <a:extLst xmlns:a="http://schemas.openxmlformats.org/drawingml/2006/main">
              <a:ext uri="{FF2B5EF4-FFF2-40B4-BE49-F238E27FC236}">
                <a16:creationId xmlns:a16="http://schemas.microsoft.com/office/drawing/2014/main" id="{CAD8799A-7987-437D-A19D-90AF2F63B8E6}"/>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6 / 64</a:t>
            </a:r>
          </a:p>
        </p:txBody>
      </p:sp>
    </p:spTree>
    <p:extLst>
      <p:ext uri="{BB962C8B-B14F-4D97-AF65-F5344CB8AC3E}">
        <p14:creationId xmlns:p14="http://schemas.microsoft.com/office/powerpoint/2010/main" val="2049102423"/>
      </p:ext>
    </p:extLst>
  </p:cSld>
</p:sld>
</file>

<file path=ppt/slides/slide7.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F3EAB1B-5E71-4DAA-AC32-0831C57DE6F9}"/>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DSU</a:t>
            </a:r>
          </a:p>
        </p:txBody>
      </p:sp>
      <p:sp>
        <p:nvSpPr>
          <p:cNvPr id="2" name="">
            <a:extLst xmlns:a="http://schemas.openxmlformats.org/drawingml/2006/main">
              <a:ext uri="{FF2B5EF4-FFF2-40B4-BE49-F238E27FC236}">
                <a16:creationId xmlns:a16="http://schemas.microsoft.com/office/drawing/2014/main" id="{1901FC38-E8C2-44AA-8D5B-1B8C43AFA3BE}"/>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DSU: группы после каждого соединения</a:t>
            </a:r>
          </a:p>
        </p:txBody>
      </p:sp>
      <p:sp>
        <p:nvSpPr>
          <p:cNvPr id="3" name="">
            <a:extLst xmlns:a="http://schemas.openxmlformats.org/drawingml/2006/main">
              <a:ext uri="{FF2B5EF4-FFF2-40B4-BE49-F238E27FC236}">
                <a16:creationId xmlns:a16="http://schemas.microsoft.com/office/drawing/2014/main" id="{4660B037-58D1-476F-88A3-E237895EB4DD}"/>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DSU хранит, какие вершины уже соединены цепочкой связей.</a:t>
            </a:r>
          </a:p>
        </p:txBody>
      </p:sp>
      <p:sp>
        <p:nvSpPr>
          <p:cNvPr id="4" name="">
            <a:extLst xmlns:a="http://schemas.openxmlformats.org/drawingml/2006/main">
              <a:ext uri="{FF2B5EF4-FFF2-40B4-BE49-F238E27FC236}">
                <a16:creationId xmlns:a16="http://schemas.microsoft.com/office/drawing/2014/main" id="{E4842E3C-9341-4D97-B9BD-B848A2177261}"/>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Старт: {0}, {1}, {2}, {3}, {4}. Добавляем 0–1, затем 1–2.</a:t>
            </a:r>
          </a:p>
        </p:txBody>
      </p:sp>
      <p:graphicFrame>
        <p:nvGraphicFramePr>
          <p:cNvPr id="5" name="">
            <a:extLst xmlns:a="http://schemas.openxmlformats.org/drawingml/2006/main">
              <a:ext uri="{FF2B5EF4-FFF2-40B4-BE49-F238E27FC236}">
                <a16:creationId xmlns:a16="http://schemas.microsoft.com/office/drawing/2014/main" id="{A5EC03BC-ECCD-45BF-839A-7B4A10EB0909}"/>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2989484"/>
                <a:gridCol w="3928951"/>
                <a:gridCol w="4130565"/>
              </a:tblGrid>
              <a:tr h="690563">
                <a:tc>
                  <a:txBody>
                    <a:bodyPr/>
                    <a:lstStyle/>
                    <a:p>
                      <a:r>
                        <a:rPr sz="1725" b="1">
                          <a:solidFill>
                            <a:srgbClr val="192E43"/>
                          </a:solidFill>
                          <a:latin typeface="Arial"/>
                          <a:ea typeface="Arial"/>
                          <a:cs typeface="Arial"/>
                        </a:rPr>
                        <a:t>Момент</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Группы</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[components, largest]</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690563">
                <a:tc>
                  <a:txBody>
                    <a:bodyPr/>
                    <a:lstStyle/>
                    <a:p>
                      <a:r>
                        <a:rPr sz="1725" b="0">
                          <a:solidFill>
                            <a:srgbClr val="192E43"/>
                          </a:solidFill>
                          <a:latin typeface="Arial"/>
                          <a:ea typeface="Arial"/>
                          <a:cs typeface="Arial"/>
                        </a:rPr>
                        <a:t>До операций</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 {1} {2} {3} {4}</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[5, 1]</a:t>
                      </a:r>
                    </a:p>
                  </a:txBody>
                  <a:tcPr marL="91440" marR="91440" marT="45720" marB="45720">
                    <a:lnR w="9525">
                      <a:solidFill>
                        <a:srgbClr val="E2DCE0"/>
                      </a:solidFill>
                      <a:prstDash val="solid"/>
                    </a:lnR>
                    <a:lnB w="9525">
                      <a:solidFill>
                        <a:srgbClr val="E2DCE0"/>
                      </a:solidFill>
                      <a:prstDash val="solid"/>
                    </a:lnB>
                    <a:solidFill>
                      <a:srgbClr val="FFFEFC"/>
                    </a:solidFill>
                  </a:tcPr>
                </a:tc>
              </a:tr>
              <a:tr h="690563">
                <a:tc>
                  <a:txBody>
                    <a:bodyPr/>
                    <a:lstStyle/>
                    <a:p>
                      <a:r>
                        <a:rPr sz="1725" b="0">
                          <a:solidFill>
                            <a:srgbClr val="192E43"/>
                          </a:solidFill>
                          <a:latin typeface="Arial"/>
                          <a:ea typeface="Arial"/>
                          <a:cs typeface="Arial"/>
                        </a:rPr>
                        <a:t>После [0,1]</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{0,1} {2} {3} {4}</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[4, 2]</a:t>
                      </a:r>
                    </a:p>
                  </a:txBody>
                  <a:tcPr marL="91440" marR="91440" marT="45720" marB="45720">
                    <a:lnR w="9525">
                      <a:solidFill>
                        <a:srgbClr val="E2DCE0"/>
                      </a:solidFill>
                      <a:prstDash val="solid"/>
                    </a:lnR>
                    <a:lnB w="9525">
                      <a:solidFill>
                        <a:srgbClr val="E2DCE0"/>
                      </a:solidFill>
                      <a:prstDash val="solid"/>
                    </a:lnB>
                    <a:solidFill>
                      <a:srgbClr val="FAF8F8"/>
                    </a:solidFill>
                  </a:tcPr>
                </a:tc>
              </a:tr>
              <a:tr h="690563">
                <a:tc>
                  <a:txBody>
                    <a:bodyPr/>
                    <a:lstStyle/>
                    <a:p>
                      <a:r>
                        <a:rPr sz="1725" b="0">
                          <a:solidFill>
                            <a:srgbClr val="192E43"/>
                          </a:solidFill>
                          <a:latin typeface="Arial"/>
                          <a:ea typeface="Arial"/>
                          <a:cs typeface="Arial"/>
                        </a:rPr>
                        <a:t>После [1,2]</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{0,1,2} {3} {4}</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[3, 3]</a:t>
                      </a:r>
                    </a:p>
                  </a:txBody>
                  <a:tcPr marL="91440" marR="91440" marT="45720" marB="45720">
                    <a:lnR w="9525">
                      <a:solidFill>
                        <a:srgbClr val="E2DCE0"/>
                      </a:solidFill>
                      <a:prstDash val="solid"/>
                    </a:lnR>
                    <a:lnB w="9525">
                      <a:solidFill>
                        <a:srgbClr val="E2DCE0"/>
                      </a:solidFill>
                      <a:prstDash val="solid"/>
                    </a:lnB>
                    <a:solidFill>
                      <a:srgbClr val="FFFEFC"/>
                    </a:solidFill>
                  </a:tcPr>
                </a:tc>
              </a:tr>
            </a:tbl>
          </a:graphicData>
        </a:graphic>
      </p:graphicFrame>
      <p:sp>
        <p:nvSpPr>
          <p:cNvPr id="6" name="">
            <a:extLst xmlns:a="http://schemas.openxmlformats.org/drawingml/2006/main">
              <a:ext uri="{FF2B5EF4-FFF2-40B4-BE49-F238E27FC236}">
                <a16:creationId xmlns:a16="http://schemas.microsoft.com/office/drawing/2014/main" id="{96412FD6-5538-4221-BD3D-7AEFF6DDD8A7}"/>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Каждое соединение сливает две группы в одну: 5, затем 4, затем 3 группы. В {0,1,2} три вершины, поэтому largest=3.</a:t>
            </a:r>
          </a:p>
        </p:txBody>
      </p:sp>
      <p:sp>
        <p:nvSpPr>
          <p:cNvPr id="7" name="">
            <a:extLst xmlns:a="http://schemas.openxmlformats.org/drawingml/2006/main">
              <a:ext uri="{FF2B5EF4-FFF2-40B4-BE49-F238E27FC236}">
                <a16:creationId xmlns:a16="http://schemas.microsoft.com/office/drawing/2014/main" id="{0A6FC17E-D3D5-4A7B-95A6-D84ABEF6F477}"/>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E4808EBC-EE34-4914-9651-A0F56A521913}"/>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7 / 64</a:t>
            </a:r>
          </a:p>
        </p:txBody>
      </p:sp>
    </p:spTree>
    <p:extLst>
      <p:ext uri="{BB962C8B-B14F-4D97-AF65-F5344CB8AC3E}">
        <p14:creationId xmlns:p14="http://schemas.microsoft.com/office/powerpoint/2010/main" val="305704146"/>
      </p:ext>
    </p:extLst>
  </p:cSld>
</p:sld>
</file>

<file path=ppt/slides/slide8.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257DF4C-AD45-4F51-A87A-BAEB066064A6}"/>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DSU</a:t>
            </a:r>
          </a:p>
        </p:txBody>
      </p:sp>
      <p:sp>
        <p:nvSpPr>
          <p:cNvPr id="2" name="">
            <a:extLst xmlns:a="http://schemas.openxmlformats.org/drawingml/2006/main">
              <a:ext uri="{FF2B5EF4-FFF2-40B4-BE49-F238E27FC236}">
                <a16:creationId xmlns:a16="http://schemas.microsoft.com/office/drawing/2014/main" id="{AD68E030-DC33-4985-86B9-9AE8CB9EFDB9}"/>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parent: кому вершина указывает дорогу</a:t>
            </a:r>
          </a:p>
        </p:txBody>
      </p:sp>
      <p:sp>
        <p:nvSpPr>
          <p:cNvPr id="3" name="">
            <a:extLst xmlns:a="http://schemas.openxmlformats.org/drawingml/2006/main">
              <a:ext uri="{FF2B5EF4-FFF2-40B4-BE49-F238E27FC236}">
                <a16:creationId xmlns:a16="http://schemas.microsoft.com/office/drawing/2014/main" id="{D435AED1-5F26-40FA-A5EA-F19619E35D10}"/>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parent[x] хранит следующую вершину на пути к представителю группы.</a:t>
            </a:r>
          </a:p>
        </p:txBody>
      </p:sp>
      <p:sp>
        <p:nvSpPr>
          <p:cNvPr id="4" name="">
            <a:extLst xmlns:a="http://schemas.openxmlformats.org/drawingml/2006/main">
              <a:ext uri="{FF2B5EF4-FFF2-40B4-BE49-F238E27FC236}">
                <a16:creationId xmlns:a16="http://schemas.microsoft.com/office/drawing/2014/main" id="{77873B08-7343-4E38-A692-534933FFDA0F}"/>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parent = [0, 0, 1, 3, 4]. Для вершины 2 идём: 2 → 1 → 0.</a:t>
            </a:r>
          </a:p>
        </p:txBody>
      </p:sp>
      <p:graphicFrame>
        <p:nvGraphicFramePr>
          <p:cNvPr id="5" name="">
            <a:extLst xmlns:a="http://schemas.openxmlformats.org/drawingml/2006/main">
              <a:ext uri="{FF2B5EF4-FFF2-40B4-BE49-F238E27FC236}">
                <a16:creationId xmlns:a16="http://schemas.microsoft.com/office/drawing/2014/main" id="{BE506888-D19E-418F-9AF1-FBA929132D31}"/>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1841500"/>
                <a:gridCol w="1841500"/>
                <a:gridCol w="1841500"/>
                <a:gridCol w="1841500"/>
                <a:gridCol w="1841500"/>
                <a:gridCol w="1841500"/>
              </a:tblGrid>
              <a:tr h="1381125">
                <a:tc>
                  <a:txBody>
                    <a:bodyPr/>
                    <a:lstStyle/>
                    <a:p>
                      <a:r>
                        <a:rPr sz="1725" b="1">
                          <a:solidFill>
                            <a:srgbClr val="192E43"/>
                          </a:solidFill>
                          <a:latin typeface="Arial"/>
                          <a:ea typeface="Arial"/>
                          <a:cs typeface="Arial"/>
                        </a:rPr>
                        <a:t>x</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0</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1</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2</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3</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4</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1381125">
                <a:tc>
                  <a:txBody>
                    <a:bodyPr/>
                    <a:lstStyle/>
                    <a:p>
                      <a:r>
                        <a:rPr sz="1725" b="0">
                          <a:solidFill>
                            <a:srgbClr val="192E43"/>
                          </a:solidFill>
                          <a:latin typeface="Arial"/>
                          <a:ea typeface="Arial"/>
                          <a:cs typeface="Arial"/>
                        </a:rPr>
                        <a:t>parent[x]</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1</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3</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4</a:t>
                      </a:r>
                    </a:p>
                  </a:txBody>
                  <a:tcPr marL="91440" marR="91440" marT="45720" marB="45720">
                    <a:lnR w="9525">
                      <a:solidFill>
                        <a:srgbClr val="E2DCE0"/>
                      </a:solidFill>
                      <a:prstDash val="solid"/>
                    </a:lnR>
                    <a:lnB w="9525">
                      <a:solidFill>
                        <a:srgbClr val="E2DCE0"/>
                      </a:solidFill>
                      <a:prstDash val="solid"/>
                    </a:lnB>
                    <a:solidFill>
                      <a:srgbClr val="FFFEFC"/>
                    </a:solidFill>
                  </a:tcPr>
                </a:tc>
              </a:tr>
            </a:tbl>
          </a:graphicData>
        </a:graphic>
      </p:graphicFrame>
      <p:sp>
        <p:nvSpPr>
          <p:cNvPr id="6" name="">
            <a:extLst xmlns:a="http://schemas.openxmlformats.org/drawingml/2006/main">
              <a:ext uri="{FF2B5EF4-FFF2-40B4-BE49-F238E27FC236}">
                <a16:creationId xmlns:a16="http://schemas.microsoft.com/office/drawing/2014/main" id="{E0AF9CA9-A55B-4FE5-B4A7-FFA05F0614B5}"/>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Вершина 0 указывает на себя. Это корень, или представитель группы.</a:t>
            </a:r>
          </a:p>
        </p:txBody>
      </p:sp>
      <p:sp>
        <p:nvSpPr>
          <p:cNvPr id="7" name="">
            <a:extLst xmlns:a="http://schemas.openxmlformats.org/drawingml/2006/main">
              <a:ext uri="{FF2B5EF4-FFF2-40B4-BE49-F238E27FC236}">
                <a16:creationId xmlns:a16="http://schemas.microsoft.com/office/drawing/2014/main" id="{F7172A2E-BC73-4CAE-AA97-BDDF26C9D474}"/>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75814B34-795F-4DE4-81D6-F1D5CDA7849B}"/>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8 / 64</a:t>
            </a:r>
          </a:p>
        </p:txBody>
      </p:sp>
    </p:spTree>
    <p:extLst>
      <p:ext uri="{BB962C8B-B14F-4D97-AF65-F5344CB8AC3E}">
        <p14:creationId xmlns:p14="http://schemas.microsoft.com/office/powerpoint/2010/main" val="681807233"/>
      </p:ext>
    </p:extLst>
  </p:cSld>
</p:sld>
</file>

<file path=ppt/slides/slide9.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8A795CD-1571-4722-994F-9F7E4F2EEE5D}"/>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DSU</a:t>
            </a:r>
          </a:p>
        </p:txBody>
      </p:sp>
      <p:sp>
        <p:nvSpPr>
          <p:cNvPr id="2" name="">
            <a:extLst xmlns:a="http://schemas.openxmlformats.org/drawingml/2006/main">
              <a:ext uri="{FF2B5EF4-FFF2-40B4-BE49-F238E27FC236}">
                <a16:creationId xmlns:a16="http://schemas.microsoft.com/office/drawing/2014/main" id="{FDDD75AA-2B80-4FF7-8E80-42EC35D28B75}"/>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find(2): пройти до корня</a:t>
            </a:r>
          </a:p>
        </p:txBody>
      </p:sp>
      <p:sp>
        <p:nvSpPr>
          <p:cNvPr id="3" name="">
            <a:extLst xmlns:a="http://schemas.openxmlformats.org/drawingml/2006/main">
              <a:ext uri="{FF2B5EF4-FFF2-40B4-BE49-F238E27FC236}">
                <a16:creationId xmlns:a16="http://schemas.microsoft.com/office/drawing/2014/main" id="{EC4BEC7D-2F43-4645-98B3-ED94D7E0A74A}"/>
              </a:ext>
            </a:extLst>
          </p:cNvPr>
          <p:cNvSpPr>
            <a:spLocks xmlns:a="http://schemas.openxmlformats.org/drawingml/2006/main" noGrp="1"/>
          </p:cNvSpPr>
          <p:nvPr/>
        </p:nvSpPr>
        <p:spPr>
          <a:xfrm xmlns:a="http://schemas.openxmlformats.org/drawingml/2006/main">
            <a:off x="571500" y="1638300"/>
            <a:ext cx="1104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0">
                <a:solidFill>
                  <a:srgbClr val="192E43"/>
                </a:solidFill>
                <a:latin typeface="Arial"/>
                <a:ea typeface="Arial"/>
                <a:cs typeface="Arial"/>
              </a:defRPr>
            </a:defPPr>
          </a:lstStyle>
          <a:p xmlns:a="http://schemas.openxmlformats.org/drawingml/2006/main">
            <a:pPr>
              <a:defRPr sz="2175" b="0">
                <a:solidFill>
                  <a:srgbClr val="192E43"/>
                </a:solidFill>
                <a:latin typeface="Arial"/>
                <a:ea typeface="Arial"/>
                <a:cs typeface="Arial"/>
              </a:defRPr>
            </a:pPr>
            <a:r>
              <a:rPr sz="2175" b="0">
                <a:solidFill>
                  <a:srgbClr val="192E43"/>
                </a:solidFill>
                <a:latin typeface="Arial"/>
                <a:ea typeface="Arial"/>
                <a:cs typeface="Arial"/>
              </a:rPr>
              <a:t>find возвращает корень. Сравнение корней проверяет принадлежность группе.</a:t>
            </a:r>
          </a:p>
        </p:txBody>
      </p:sp>
      <p:sp>
        <p:nvSpPr>
          <p:cNvPr id="4" name="">
            <a:extLst xmlns:a="http://schemas.openxmlformats.org/drawingml/2006/main">
              <a:ext uri="{FF2B5EF4-FFF2-40B4-BE49-F238E27FC236}">
                <a16:creationId xmlns:a16="http://schemas.microsoft.com/office/drawing/2014/main" id="{7317BD38-3CD2-4BB4-BAA9-938DE04E8F02}"/>
              </a:ext>
            </a:extLst>
          </p:cNvPr>
          <p:cNvSpPr>
            <a:spLocks xmlns:a="http://schemas.openxmlformats.org/drawingml/2006/main" noGrp="1"/>
          </p:cNvSpPr>
          <p:nvPr/>
        </p:nvSpPr>
        <p:spPr>
          <a:xfrm xmlns:a="http://schemas.openxmlformats.org/drawingml/2006/main">
            <a:off x="571500" y="2505075"/>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2 → 1 → 0. Останавливаемся, потому что parent[0] = 0.</a:t>
            </a:r>
          </a:p>
        </p:txBody>
      </p:sp>
      <p:sp>
        <p:nvSpPr>
          <p:cNvPr id="5" name="">
            <a:extLst xmlns:a="http://schemas.openxmlformats.org/drawingml/2006/main">
              <a:ext uri="{FF2B5EF4-FFF2-40B4-BE49-F238E27FC236}">
                <a16:creationId xmlns:a16="http://schemas.microsoft.com/office/drawing/2014/main" id="{BFA7F38A-07B2-4430-82E8-3574DB654ED7}"/>
              </a:ext>
            </a:extLst>
          </p:cNvPr>
          <p:cNvSpPr>
            <a:spLocks xmlns:a="http://schemas.openxmlformats.org/drawingml/2006/main" noGrp="1"/>
          </p:cNvSpPr>
          <p:nvPr/>
        </p:nvSpPr>
        <p:spPr>
          <a:xfrm xmlns:a="http://schemas.openxmlformats.org/drawingml/2006/main">
            <a:off x="781050" y="3448050"/>
            <a:ext cx="106299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Courier New"/>
                <a:ea typeface="Courier New"/>
                <a:cs typeface="Courier New"/>
              </a:defRPr>
            </a:defPPr>
          </a:lstStyle>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int root = x;</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while (parent[root] != root) {</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    root = parent[root];</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293D7CAD-7994-4C85-8EFD-72B20A3CBCE4}"/>
              </a:ext>
            </a:extLst>
          </p:cNvPr>
          <p:cNvSpPr>
            <a:spLocks xmlns:a="http://schemas.openxmlformats.org/drawingml/2006/main" noGrp="1"/>
          </p:cNvSpPr>
          <p:nvPr/>
        </p:nvSpPr>
        <p:spPr>
          <a:xfrm xmlns:a="http://schemas.openxmlformats.org/drawingml/2006/main">
            <a:off x="571500" y="5648325"/>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1">
                <a:solidFill>
                  <a:srgbClr val="AC4D73"/>
                </a:solidFill>
                <a:latin typeface="Arial"/>
                <a:ea typeface="Arial"/>
                <a:cs typeface="Arial"/>
              </a:defRPr>
            </a:defPPr>
          </a:lstStyle>
          <a:p xmlns:a="http://schemas.openxmlformats.org/drawingml/2006/main">
            <a:pPr>
              <a:defRPr sz="2025" b="1">
                <a:solidFill>
                  <a:srgbClr val="AC4D73"/>
                </a:solidFill>
                <a:latin typeface="Arial"/>
                <a:ea typeface="Arial"/>
                <a:cs typeface="Arial"/>
              </a:defRPr>
            </a:pPr>
            <a:r>
              <a:rPr sz="2025" b="1">
                <a:solidFill>
                  <a:srgbClr val="AC4D73"/>
                </a:solidFill>
                <a:latin typeface="Arial"/>
                <a:ea typeface="Arial"/>
                <a:cs typeface="Arial"/>
              </a:rPr>
              <a:t>find(2) = 0 и find(1) = 0: вершины 2 и 1 уже в одной группе.</a:t>
            </a:r>
          </a:p>
        </p:txBody>
      </p:sp>
      <p:sp>
        <p:nvSpPr>
          <p:cNvPr id="7" name="">
            <a:extLst xmlns:a="http://schemas.openxmlformats.org/drawingml/2006/main">
              <a:ext uri="{FF2B5EF4-FFF2-40B4-BE49-F238E27FC236}">
                <a16:creationId xmlns:a16="http://schemas.microsoft.com/office/drawing/2014/main" id="{3442193B-D24B-4FA1-8343-6AF50FB87758}"/>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FBF7082A-3E72-4EF8-A978-B3A284DFC384}"/>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9 / 64</a:t>
            </a:r>
          </a:p>
        </p:txBody>
      </p:sp>
    </p:spTree>
    <p:extLst>
      <p:ext uri="{BB962C8B-B14F-4D97-AF65-F5344CB8AC3E}">
        <p14:creationId xmlns:p14="http://schemas.microsoft.com/office/powerpoint/2010/main" val="1453242071"/>
      </p:ext>
    </p:extLst>
  </p:cSld>
</p:sld>
</file>

<file path=ppt/slides/slide10.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30566F2-ECF9-4ADE-9F98-29F1AFE52434}"/>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DSU</a:t>
            </a:r>
          </a:p>
        </p:txBody>
      </p:sp>
      <p:sp>
        <p:nvSpPr>
          <p:cNvPr id="2" name="">
            <a:extLst xmlns:a="http://schemas.openxmlformats.org/drawingml/2006/main">
              <a:ext uri="{FF2B5EF4-FFF2-40B4-BE49-F238E27FC236}">
                <a16:creationId xmlns:a16="http://schemas.microsoft.com/office/drawing/2014/main" id="{88EBE150-1CA3-41B1-861D-86482DC289F7}"/>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Сжатие пути: сократить будущий поиск</a:t>
            </a:r>
          </a:p>
        </p:txBody>
      </p:sp>
      <p:sp>
        <p:nvSpPr>
          <p:cNvPr id="3" name="">
            <a:extLst xmlns:a="http://schemas.openxmlformats.org/drawingml/2006/main">
              <a:ext uri="{FF2B5EF4-FFF2-40B4-BE49-F238E27FC236}">
                <a16:creationId xmlns:a16="http://schemas.microsoft.com/office/drawing/2014/main" id="{FE1AD49B-A7C9-44EA-B0EA-A8D084D5A23B}"/>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После find направляем посещённые вершины сразу к найденному корню.</a:t>
            </a:r>
          </a:p>
        </p:txBody>
      </p:sp>
      <p:sp>
        <p:nvSpPr>
          <p:cNvPr id="4" name="">
            <a:extLst xmlns:a="http://schemas.openxmlformats.org/drawingml/2006/main">
              <a:ext uri="{FF2B5EF4-FFF2-40B4-BE49-F238E27FC236}">
                <a16:creationId xmlns:a16="http://schemas.microsoft.com/office/drawing/2014/main" id="{D35FD4A9-7B67-4A03-8C1E-459804473B76}"/>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До: 2 → 1 → 0. После: 2 → 0 и 1 → 0.</a:t>
            </a:r>
          </a:p>
        </p:txBody>
      </p:sp>
      <p:graphicFrame>
        <p:nvGraphicFramePr>
          <p:cNvPr id="5" name="">
            <a:extLst xmlns:a="http://schemas.openxmlformats.org/drawingml/2006/main">
              <a:ext uri="{FF2B5EF4-FFF2-40B4-BE49-F238E27FC236}">
                <a16:creationId xmlns:a16="http://schemas.microsoft.com/office/drawing/2014/main" id="{B46F2621-C89A-4996-B5C2-1E6F90C73849}"/>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2072934"/>
                <a:gridCol w="1795213"/>
                <a:gridCol w="1795213"/>
                <a:gridCol w="1795213"/>
                <a:gridCol w="1795213"/>
                <a:gridCol w="1795213"/>
              </a:tblGrid>
              <a:tr h="920750">
                <a:tc>
                  <a:txBody>
                    <a:bodyPr/>
                    <a:lstStyle/>
                    <a:p>
                      <a:r>
                        <a:rPr sz="1725" b="1">
                          <a:solidFill>
                            <a:srgbClr val="192E43"/>
                          </a:solidFill>
                          <a:latin typeface="Arial"/>
                          <a:ea typeface="Arial"/>
                          <a:cs typeface="Arial"/>
                        </a:rPr>
                        <a:t>Массив</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0</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1</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2</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3</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4</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920750">
                <a:tc>
                  <a:txBody>
                    <a:bodyPr/>
                    <a:lstStyle/>
                    <a:p>
                      <a:r>
                        <a:rPr sz="1725" b="0">
                          <a:solidFill>
                            <a:srgbClr val="192E43"/>
                          </a:solidFill>
                          <a:latin typeface="Arial"/>
                          <a:ea typeface="Arial"/>
                          <a:cs typeface="Arial"/>
                        </a:rPr>
                        <a:t>parent до</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1</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3</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4</a:t>
                      </a:r>
                    </a:p>
                  </a:txBody>
                  <a:tcPr marL="91440" marR="91440" marT="45720" marB="45720">
                    <a:lnR w="9525">
                      <a:solidFill>
                        <a:srgbClr val="E2DCE0"/>
                      </a:solidFill>
                      <a:prstDash val="solid"/>
                    </a:lnR>
                    <a:lnB w="9525">
                      <a:solidFill>
                        <a:srgbClr val="E2DCE0"/>
                      </a:solidFill>
                      <a:prstDash val="solid"/>
                    </a:lnB>
                    <a:solidFill>
                      <a:srgbClr val="FFFEFC"/>
                    </a:solidFill>
                  </a:tcPr>
                </a:tc>
              </a:tr>
              <a:tr h="920750">
                <a:tc>
                  <a:txBody>
                    <a:bodyPr/>
                    <a:lstStyle/>
                    <a:p>
                      <a:r>
                        <a:rPr sz="1725" b="0">
                          <a:solidFill>
                            <a:srgbClr val="192E43"/>
                          </a:solidFill>
                          <a:latin typeface="Arial"/>
                          <a:ea typeface="Arial"/>
                          <a:cs typeface="Arial"/>
                        </a:rPr>
                        <a:t>parent после</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0</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0</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0</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3</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4</a:t>
                      </a:r>
                    </a:p>
                  </a:txBody>
                  <a:tcPr marL="91440" marR="91440" marT="45720" marB="45720">
                    <a:lnR w="9525">
                      <a:solidFill>
                        <a:srgbClr val="E2DCE0"/>
                      </a:solidFill>
                      <a:prstDash val="solid"/>
                    </a:lnR>
                    <a:lnB w="9525">
                      <a:solidFill>
                        <a:srgbClr val="E2DCE0"/>
                      </a:solidFill>
                      <a:prstDash val="solid"/>
                    </a:lnB>
                    <a:solidFill>
                      <a:srgbClr val="FAF8F8"/>
                    </a:solidFill>
                  </a:tcPr>
                </a:tc>
              </a:tr>
            </a:tbl>
          </a:graphicData>
        </a:graphic>
      </p:graphicFrame>
      <p:sp>
        <p:nvSpPr>
          <p:cNvPr id="6" name="">
            <a:extLst xmlns:a="http://schemas.openxmlformats.org/drawingml/2006/main">
              <a:ext uri="{FF2B5EF4-FFF2-40B4-BE49-F238E27FC236}">
                <a16:creationId xmlns:a16="http://schemas.microsoft.com/office/drawing/2014/main" id="{161CA89E-72F8-42E5-8012-A84C797F0A91}"/>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Группа та же. Меняется только внутренняя форма дерева parent.</a:t>
            </a:r>
          </a:p>
        </p:txBody>
      </p:sp>
      <p:sp>
        <p:nvSpPr>
          <p:cNvPr id="7" name="">
            <a:extLst xmlns:a="http://schemas.openxmlformats.org/drawingml/2006/main">
              <a:ext uri="{FF2B5EF4-FFF2-40B4-BE49-F238E27FC236}">
                <a16:creationId xmlns:a16="http://schemas.microsoft.com/office/drawing/2014/main" id="{FBF3F370-829E-4A81-91CD-5D42EBA6F31E}"/>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64690DD6-1C66-4D1F-A6D2-2D5226C53A4C}"/>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10 / 64</a:t>
            </a:r>
          </a:p>
        </p:txBody>
      </p:sp>
    </p:spTree>
    <p:extLst>
      <p:ext uri="{BB962C8B-B14F-4D97-AF65-F5344CB8AC3E}">
        <p14:creationId xmlns:p14="http://schemas.microsoft.com/office/powerpoint/2010/main" val="371452880"/>
      </p:ext>
    </p:extLst>
  </p:cSld>
</p:sld>
</file>

<file path=ppt/slides/slide11.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84B6618-2D81-4D81-95ED-A3A54EC670C2}"/>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DSU</a:t>
            </a:r>
          </a:p>
        </p:txBody>
      </p:sp>
      <p:sp>
        <p:nvSpPr>
          <p:cNvPr id="2" name="">
            <a:extLst xmlns:a="http://schemas.openxmlformats.org/drawingml/2006/main">
              <a:ext uri="{FF2B5EF4-FFF2-40B4-BE49-F238E27FC236}">
                <a16:creationId xmlns:a16="http://schemas.microsoft.com/office/drawing/2014/main" id="{A5195423-DA0B-45C4-98ED-FB055F9C52BF}"/>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Зачем сохранять next при сжатии</a:t>
            </a:r>
          </a:p>
        </p:txBody>
      </p:sp>
      <p:sp>
        <p:nvSpPr>
          <p:cNvPr id="3" name="">
            <a:extLst xmlns:a="http://schemas.openxmlformats.org/drawingml/2006/main">
              <a:ext uri="{FF2B5EF4-FFF2-40B4-BE49-F238E27FC236}">
                <a16:creationId xmlns:a16="http://schemas.microsoft.com/office/drawing/2014/main" id="{89296E88-8DB6-4652-8755-AD174FA6DE79}"/>
              </a:ext>
            </a:extLst>
          </p:cNvPr>
          <p:cNvSpPr>
            <a:spLocks xmlns:a="http://schemas.openxmlformats.org/drawingml/2006/main" noGrp="1"/>
          </p:cNvSpPr>
          <p:nvPr/>
        </p:nvSpPr>
        <p:spPr>
          <a:xfrm xmlns:a="http://schemas.openxmlformats.org/drawingml/2006/main">
            <a:off x="571500" y="1638300"/>
            <a:ext cx="1104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0">
                <a:solidFill>
                  <a:srgbClr val="192E43"/>
                </a:solidFill>
                <a:latin typeface="Arial"/>
                <a:ea typeface="Arial"/>
                <a:cs typeface="Arial"/>
              </a:defRPr>
            </a:defPPr>
          </a:lstStyle>
          <a:p xmlns:a="http://schemas.openxmlformats.org/drawingml/2006/main">
            <a:pPr>
              <a:defRPr sz="2175" b="0">
                <a:solidFill>
                  <a:srgbClr val="192E43"/>
                </a:solidFill>
                <a:latin typeface="Arial"/>
                <a:ea typeface="Arial"/>
                <a:cs typeface="Arial"/>
              </a:defRPr>
            </a:pPr>
            <a:r>
              <a:rPr sz="2175" b="0">
                <a:solidFill>
                  <a:srgbClr val="192E43"/>
                </a:solidFill>
                <a:latin typeface="Arial"/>
                <a:ea typeface="Arial"/>
                <a:cs typeface="Arial"/>
              </a:rPr>
              <a:t>Перед изменением parent[x] запоминаем, куда он указывал раньше.</a:t>
            </a:r>
          </a:p>
        </p:txBody>
      </p:sp>
      <p:sp>
        <p:nvSpPr>
          <p:cNvPr id="4" name="">
            <a:extLst xmlns:a="http://schemas.openxmlformats.org/drawingml/2006/main">
              <a:ext uri="{FF2B5EF4-FFF2-40B4-BE49-F238E27FC236}">
                <a16:creationId xmlns:a16="http://schemas.microsoft.com/office/drawing/2014/main" id="{A85B2F7B-A342-4B7A-B3A2-F97B9AFE9933}"/>
              </a:ext>
            </a:extLst>
          </p:cNvPr>
          <p:cNvSpPr>
            <a:spLocks xmlns:a="http://schemas.openxmlformats.org/drawingml/2006/main" noGrp="1"/>
          </p:cNvSpPr>
          <p:nvPr/>
        </p:nvSpPr>
        <p:spPr>
          <a:xfrm xmlns:a="http://schemas.openxmlformats.org/drawingml/2006/main">
            <a:off x="571500" y="2505075"/>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Отдельный длинный путь: 3→2→1→0. Для x=3 сохраняем next=2 перед parent[3]=0.</a:t>
            </a:r>
          </a:p>
        </p:txBody>
      </p:sp>
      <p:sp>
        <p:nvSpPr>
          <p:cNvPr id="5" name="">
            <a:extLst xmlns:a="http://schemas.openxmlformats.org/drawingml/2006/main">
              <a:ext uri="{FF2B5EF4-FFF2-40B4-BE49-F238E27FC236}">
                <a16:creationId xmlns:a16="http://schemas.microsoft.com/office/drawing/2014/main" id="{080ADBCA-1EC8-4813-96B1-0F25C4575843}"/>
              </a:ext>
            </a:extLst>
          </p:cNvPr>
          <p:cNvSpPr>
            <a:spLocks xmlns:a="http://schemas.openxmlformats.org/drawingml/2006/main" noGrp="1"/>
          </p:cNvSpPr>
          <p:nvPr/>
        </p:nvSpPr>
        <p:spPr>
          <a:xfrm xmlns:a="http://schemas.openxmlformats.org/drawingml/2006/main">
            <a:off x="781050" y="3448050"/>
            <a:ext cx="106299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Courier New"/>
                <a:ea typeface="Courier New"/>
                <a:cs typeface="Courier New"/>
              </a:defRPr>
            </a:defPPr>
          </a:lstStyle>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while (x != root) {</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    int next = parent[x];</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    parent[x] = root;</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    x = next;</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4DC6A107-D653-4EB4-BA2C-9A5D5319288A}"/>
              </a:ext>
            </a:extLst>
          </p:cNvPr>
          <p:cNvSpPr>
            <a:spLocks xmlns:a="http://schemas.openxmlformats.org/drawingml/2006/main" noGrp="1"/>
          </p:cNvSpPr>
          <p:nvPr/>
        </p:nvSpPr>
        <p:spPr>
          <a:xfrm xmlns:a="http://schemas.openxmlformats.org/drawingml/2006/main">
            <a:off x="571500" y="5648325"/>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1">
                <a:solidFill>
                  <a:srgbClr val="AC4D73"/>
                </a:solidFill>
                <a:latin typeface="Arial"/>
                <a:ea typeface="Arial"/>
                <a:cs typeface="Arial"/>
              </a:defRPr>
            </a:defPPr>
          </a:lstStyle>
          <a:p xmlns:a="http://schemas.openxmlformats.org/drawingml/2006/main">
            <a:pPr>
              <a:defRPr sz="2025" b="1">
                <a:solidFill>
                  <a:srgbClr val="AC4D73"/>
                </a:solidFill>
                <a:latin typeface="Arial"/>
                <a:ea typeface="Arial"/>
                <a:cs typeface="Arial"/>
              </a:defRPr>
            </a:pPr>
            <a:r>
              <a:rPr sz="2025" b="1">
                <a:solidFill>
                  <a:srgbClr val="AC4D73"/>
                </a:solidFill>
                <a:latin typeface="Arial"/>
                <a:ea typeface="Arial"/>
                <a:cs typeface="Arial"/>
              </a:rPr>
              <a:t>next позволяет продолжить старый путь и сжать остальные вершины.</a:t>
            </a:r>
          </a:p>
        </p:txBody>
      </p:sp>
      <p:sp>
        <p:nvSpPr>
          <p:cNvPr id="7" name="">
            <a:extLst xmlns:a="http://schemas.openxmlformats.org/drawingml/2006/main">
              <a:ext uri="{FF2B5EF4-FFF2-40B4-BE49-F238E27FC236}">
                <a16:creationId xmlns:a16="http://schemas.microsoft.com/office/drawing/2014/main" id="{B3F92C46-19DE-4C1B-B1BD-F04F7E528167}"/>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550054B6-CC30-4EE0-9DE1-C29D67C60C64}"/>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11 / 64</a:t>
            </a:r>
          </a:p>
        </p:txBody>
      </p:sp>
    </p:spTree>
    <p:extLst>
      <p:ext uri="{BB962C8B-B14F-4D97-AF65-F5344CB8AC3E}">
        <p14:creationId xmlns:p14="http://schemas.microsoft.com/office/powerpoint/2010/main" val="323342759"/>
      </p:ext>
    </p:extLst>
  </p:cSld>
</p:sld>
</file>

<file path=ppt/slides/slide12.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8A5A1A0-42B6-4403-A4E5-5F2720A7DF9F}"/>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DSU</a:t>
            </a:r>
          </a:p>
        </p:txBody>
      </p:sp>
      <p:sp>
        <p:nvSpPr>
          <p:cNvPr id="2" name="">
            <a:extLst xmlns:a="http://schemas.openxmlformats.org/drawingml/2006/main">
              <a:ext uri="{FF2B5EF4-FFF2-40B4-BE49-F238E27FC236}">
                <a16:creationId xmlns:a16="http://schemas.microsoft.com/office/drawing/2014/main" id="{9D71F568-33A8-4846-8011-8FC2F4746FC8}"/>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union: присоединить меньшую группу</a:t>
            </a:r>
          </a:p>
        </p:txBody>
      </p:sp>
      <p:sp>
        <p:nvSpPr>
          <p:cNvPr id="3" name="">
            <a:extLst xmlns:a="http://schemas.openxmlformats.org/drawingml/2006/main">
              <a:ext uri="{FF2B5EF4-FFF2-40B4-BE49-F238E27FC236}">
                <a16:creationId xmlns:a16="http://schemas.microsoft.com/office/drawing/2014/main" id="{778C6FC1-5F02-42B8-8786-77F6FA0231E5}"/>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Сначала находим два корня. Если они разные, соединяем деревья.</a:t>
            </a:r>
          </a:p>
        </p:txBody>
      </p:sp>
      <p:sp>
        <p:nvSpPr>
          <p:cNvPr id="4" name="">
            <a:extLst xmlns:a="http://schemas.openxmlformats.org/drawingml/2006/main">
              <a:ext uri="{FF2B5EF4-FFF2-40B4-BE49-F238E27FC236}">
                <a16:creationId xmlns:a16="http://schemas.microsoft.com/office/drawing/2014/main" id="{76C6D9E4-6264-4CA4-9087-450923C8374C}"/>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Корень 0: size=3. Корень 3: size=1. Делаем parent[3]=0.</a:t>
            </a:r>
          </a:p>
        </p:txBody>
      </p:sp>
      <p:graphicFrame>
        <p:nvGraphicFramePr>
          <p:cNvPr id="5" name="">
            <a:extLst xmlns:a="http://schemas.openxmlformats.org/drawingml/2006/main">
              <a:ext uri="{FF2B5EF4-FFF2-40B4-BE49-F238E27FC236}">
                <a16:creationId xmlns:a16="http://schemas.microsoft.com/office/drawing/2014/main" id="{23F0F3F6-CFB4-449F-874C-D170D58DF6E0}"/>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3580038"/>
                <a:gridCol w="3466357"/>
                <a:gridCol w="4002605"/>
              </a:tblGrid>
              <a:tr h="920750">
                <a:tc>
                  <a:txBody>
                    <a:bodyPr/>
                    <a:lstStyle/>
                    <a:p>
                      <a:r>
                        <a:rPr sz="1725" b="1">
                          <a:solidFill>
                            <a:srgbClr val="192E43"/>
                          </a:solidFill>
                          <a:latin typeface="Arial"/>
                          <a:ea typeface="Arial"/>
                          <a:cs typeface="Arial"/>
                        </a:rPr>
                        <a:t>Состояние</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Группы</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components / largest</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920750">
                <a:tc>
                  <a:txBody>
                    <a:bodyPr/>
                    <a:lstStyle/>
                    <a:p>
                      <a:r>
                        <a:rPr sz="1725" b="0">
                          <a:solidFill>
                            <a:srgbClr val="192E43"/>
                          </a:solidFill>
                          <a:latin typeface="Arial"/>
                          <a:ea typeface="Arial"/>
                          <a:cs typeface="Arial"/>
                        </a:rPr>
                        <a:t>До union(2,3)</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{0,1,2} {3} {4}</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3 / 3</a:t>
                      </a:r>
                    </a:p>
                  </a:txBody>
                  <a:tcPr marL="91440" marR="91440" marT="45720" marB="45720">
                    <a:lnR w="9525">
                      <a:solidFill>
                        <a:srgbClr val="E2DCE0"/>
                      </a:solidFill>
                      <a:prstDash val="solid"/>
                    </a:lnR>
                    <a:lnB w="9525">
                      <a:solidFill>
                        <a:srgbClr val="E2DCE0"/>
                      </a:solidFill>
                      <a:prstDash val="solid"/>
                    </a:lnB>
                    <a:solidFill>
                      <a:srgbClr val="FFFEFC"/>
                    </a:solidFill>
                  </a:tcPr>
                </a:tc>
              </a:tr>
              <a:tr h="920750">
                <a:tc>
                  <a:txBody>
                    <a:bodyPr/>
                    <a:lstStyle/>
                    <a:p>
                      <a:r>
                        <a:rPr sz="1725" b="0">
                          <a:solidFill>
                            <a:srgbClr val="192E43"/>
                          </a:solidFill>
                          <a:latin typeface="Arial"/>
                          <a:ea typeface="Arial"/>
                          <a:cs typeface="Arial"/>
                        </a:rPr>
                        <a:t>После union(2,3)</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{0,1,2,3} {4}</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2 / 4</a:t>
                      </a:r>
                    </a:p>
                  </a:txBody>
                  <a:tcPr marL="91440" marR="91440" marT="45720" marB="45720">
                    <a:lnR w="9525">
                      <a:solidFill>
                        <a:srgbClr val="E2DCE0"/>
                      </a:solidFill>
                      <a:prstDash val="solid"/>
                    </a:lnR>
                    <a:lnB w="9525">
                      <a:solidFill>
                        <a:srgbClr val="E2DCE0"/>
                      </a:solidFill>
                      <a:prstDash val="solid"/>
                    </a:lnB>
                    <a:solidFill>
                      <a:srgbClr val="FAF8F8"/>
                    </a:solidFill>
                  </a:tcPr>
                </a:tc>
              </a:tr>
            </a:tbl>
          </a:graphicData>
        </a:graphic>
      </p:graphicFrame>
      <p:sp>
        <p:nvSpPr>
          <p:cNvPr id="6" name="">
            <a:extLst xmlns:a="http://schemas.openxmlformats.org/drawingml/2006/main">
              <a:ext uri="{FF2B5EF4-FFF2-40B4-BE49-F238E27FC236}">
                <a16:creationId xmlns:a16="http://schemas.microsoft.com/office/drawing/2014/main" id="{7CBD831C-AE38-496D-AE93-493383D9BDF8}"/>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Новый size[0] = 4. Число групп уменьшается на 1. largest становится 4.</a:t>
            </a:r>
          </a:p>
        </p:txBody>
      </p:sp>
      <p:sp>
        <p:nvSpPr>
          <p:cNvPr id="7" name="">
            <a:extLst xmlns:a="http://schemas.openxmlformats.org/drawingml/2006/main">
              <a:ext uri="{FF2B5EF4-FFF2-40B4-BE49-F238E27FC236}">
                <a16:creationId xmlns:a16="http://schemas.microsoft.com/office/drawing/2014/main" id="{F2110EED-9432-47F3-8044-D80A771456C1}"/>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880A3D61-2CD9-470D-8A93-F5FF28869C75}"/>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12 / 64</a:t>
            </a:r>
          </a:p>
        </p:txBody>
      </p:sp>
    </p:spTree>
    <p:extLst>
      <p:ext uri="{BB962C8B-B14F-4D97-AF65-F5344CB8AC3E}">
        <p14:creationId xmlns:p14="http://schemas.microsoft.com/office/powerpoint/2010/main" val="1147351425"/>
      </p:ext>
    </p:extLst>
  </p:cSld>
</p:sld>
</file>

<file path=ppt/slides/slide13.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BA8030B-7BC9-4B3B-8E07-81CC4FB66B0B}"/>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DSU</a:t>
            </a:r>
          </a:p>
        </p:txBody>
      </p:sp>
      <p:sp>
        <p:nvSpPr>
          <p:cNvPr id="2" name="">
            <a:extLst xmlns:a="http://schemas.openxmlformats.org/drawingml/2006/main">
              <a:ext uri="{FF2B5EF4-FFF2-40B4-BE49-F238E27FC236}">
                <a16:creationId xmlns:a16="http://schemas.microsoft.com/office/drawing/2014/main" id="{E808B393-C9CD-45E5-A5D2-907D950C7F1A}"/>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Повторное соединение ничего не увеличивает</a:t>
            </a:r>
          </a:p>
        </p:txBody>
      </p:sp>
      <p:sp>
        <p:nvSpPr>
          <p:cNvPr id="3" name="">
            <a:extLst xmlns:a="http://schemas.openxmlformats.org/drawingml/2006/main">
              <a:ext uri="{FF2B5EF4-FFF2-40B4-BE49-F238E27FC236}">
                <a16:creationId xmlns:a16="http://schemas.microsoft.com/office/drawing/2014/main" id="{415033D9-8027-4B8C-96EA-0BE6C30393C8}"/>
              </a:ext>
            </a:extLst>
          </p:cNvPr>
          <p:cNvSpPr>
            <a:spLocks xmlns:a="http://schemas.openxmlformats.org/drawingml/2006/main" noGrp="1"/>
          </p:cNvSpPr>
          <p:nvPr/>
        </p:nvSpPr>
        <p:spPr>
          <a:xfrm xmlns:a="http://schemas.openxmlformats.org/drawingml/2006/main">
            <a:off x="571500" y="1638300"/>
            <a:ext cx="1104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0">
                <a:solidFill>
                  <a:srgbClr val="192E43"/>
                </a:solidFill>
                <a:latin typeface="Arial"/>
                <a:ea typeface="Arial"/>
                <a:cs typeface="Arial"/>
              </a:defRPr>
            </a:defPPr>
          </a:lstStyle>
          <a:p xmlns:a="http://schemas.openxmlformats.org/drawingml/2006/main">
            <a:pPr>
              <a:defRPr sz="2175" b="0">
                <a:solidFill>
                  <a:srgbClr val="192E43"/>
                </a:solidFill>
                <a:latin typeface="Arial"/>
                <a:ea typeface="Arial"/>
                <a:cs typeface="Arial"/>
              </a:defRPr>
            </a:pPr>
            <a:r>
              <a:rPr sz="2175" b="0">
                <a:solidFill>
                  <a:srgbClr val="192E43"/>
                </a:solidFill>
                <a:latin typeface="Arial"/>
                <a:ea typeface="Arial"/>
                <a:cs typeface="Arial"/>
              </a:rPr>
              <a:t>Если корни одинаковы, возвращаем прежнюю статистику.</a:t>
            </a:r>
          </a:p>
        </p:txBody>
      </p:sp>
      <p:sp>
        <p:nvSpPr>
          <p:cNvPr id="4" name="">
            <a:extLst xmlns:a="http://schemas.openxmlformats.org/drawingml/2006/main">
              <a:ext uri="{FF2B5EF4-FFF2-40B4-BE49-F238E27FC236}">
                <a16:creationId xmlns:a16="http://schemas.microsoft.com/office/drawing/2014/main" id="{31ACD8B0-E720-4D08-AE6D-785F1E323F21}"/>
              </a:ext>
            </a:extLst>
          </p:cNvPr>
          <p:cNvSpPr>
            <a:spLocks xmlns:a="http://schemas.openxmlformats.org/drawingml/2006/main" noGrp="1"/>
          </p:cNvSpPr>
          <p:nvPr/>
        </p:nvSpPr>
        <p:spPr>
          <a:xfrm xmlns:a="http://schemas.openxmlformats.org/drawingml/2006/main">
            <a:off x="571500" y="2505075"/>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После {0,1,2,3} добавляем [0,2] и [4,4].</a:t>
            </a:r>
          </a:p>
        </p:txBody>
      </p:sp>
      <p:sp>
        <p:nvSpPr>
          <p:cNvPr id="5" name="">
            <a:extLst xmlns:a="http://schemas.openxmlformats.org/drawingml/2006/main">
              <a:ext uri="{FF2B5EF4-FFF2-40B4-BE49-F238E27FC236}">
                <a16:creationId xmlns:a16="http://schemas.microsoft.com/office/drawing/2014/main" id="{0DFD33E0-2E75-463B-A584-351FCB7DAC45}"/>
              </a:ext>
            </a:extLst>
          </p:cNvPr>
          <p:cNvSpPr>
            <a:spLocks xmlns:a="http://schemas.openxmlformats.org/drawingml/2006/main" noGrp="1"/>
          </p:cNvSpPr>
          <p:nvPr/>
        </p:nvSpPr>
        <p:spPr>
          <a:xfrm xmlns:a="http://schemas.openxmlformats.org/drawingml/2006/main">
            <a:off x="781050" y="3448050"/>
            <a:ext cx="106299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Courier New"/>
                <a:ea typeface="Courier New"/>
                <a:cs typeface="Courier New"/>
              </a:defRPr>
            </a:defPPr>
          </a:lstStyle>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if (a == b) {</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    // No merge: keep components and largest.</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 else {</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    // Join roots and update statistics.</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CE36B53A-A3F5-4293-B7EA-3F54D7A1DF05}"/>
              </a:ext>
            </a:extLst>
          </p:cNvPr>
          <p:cNvSpPr>
            <a:spLocks xmlns:a="http://schemas.openxmlformats.org/drawingml/2006/main" noGrp="1"/>
          </p:cNvSpPr>
          <p:nvPr/>
        </p:nvSpPr>
        <p:spPr>
          <a:xfrm xmlns:a="http://schemas.openxmlformats.org/drawingml/2006/main">
            <a:off x="571500" y="5648325"/>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1">
                <a:solidFill>
                  <a:srgbClr val="AC4D73"/>
                </a:solidFill>
                <a:latin typeface="Arial"/>
                <a:ea typeface="Arial"/>
                <a:cs typeface="Arial"/>
              </a:defRPr>
            </a:defPPr>
          </a:lstStyle>
          <a:p xmlns:a="http://schemas.openxmlformats.org/drawingml/2006/main">
            <a:pPr>
              <a:defRPr sz="2025" b="1">
                <a:solidFill>
                  <a:srgbClr val="AC4D73"/>
                </a:solidFill>
                <a:latin typeface="Arial"/>
                <a:ea typeface="Arial"/>
                <a:cs typeface="Arial"/>
              </a:defRPr>
            </a:pPr>
            <a:r>
              <a:rPr sz="2025" b="1">
                <a:solidFill>
                  <a:srgbClr val="AC4D73"/>
                </a:solidFill>
                <a:latin typeface="Arial"/>
                <a:ea typeface="Arial"/>
                <a:cs typeface="Arial"/>
              </a:rPr>
              <a:t>Обе операции сохраняют components=2 и largest=4.</a:t>
            </a:r>
          </a:p>
        </p:txBody>
      </p:sp>
      <p:sp>
        <p:nvSpPr>
          <p:cNvPr id="7" name="">
            <a:extLst xmlns:a="http://schemas.openxmlformats.org/drawingml/2006/main">
              <a:ext uri="{FF2B5EF4-FFF2-40B4-BE49-F238E27FC236}">
                <a16:creationId xmlns:a16="http://schemas.microsoft.com/office/drawing/2014/main" id="{72611B63-83AA-47F9-BE50-7106C3D1AC90}"/>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76F65A99-935F-4A1E-BA3E-2AF8169BBB2D}"/>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13 / 64</a:t>
            </a:r>
          </a:p>
        </p:txBody>
      </p:sp>
    </p:spTree>
    <p:extLst>
      <p:ext uri="{BB962C8B-B14F-4D97-AF65-F5344CB8AC3E}">
        <p14:creationId xmlns:p14="http://schemas.microsoft.com/office/powerpoint/2010/main" val="930275776"/>
      </p:ext>
    </p:extLst>
  </p:cSld>
</p:sld>
</file>

<file path=ppt/slides/slide14.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56A388C-C92B-4035-9A21-9561C757C3E4}"/>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DSU</a:t>
            </a:r>
          </a:p>
        </p:txBody>
      </p:sp>
      <p:sp>
        <p:nvSpPr>
          <p:cNvPr id="2" name="">
            <a:extLst xmlns:a="http://schemas.openxmlformats.org/drawingml/2006/main">
              <a:ext uri="{FF2B5EF4-FFF2-40B4-BE49-F238E27FC236}">
                <a16:creationId xmlns:a16="http://schemas.microsoft.com/office/drawing/2014/main" id="{C589BB78-1D98-42F0-978D-B0C5F174EE63}"/>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rank и size отвечают на разные вопросы</a:t>
            </a:r>
          </a:p>
        </p:txBody>
      </p:sp>
      <p:sp>
        <p:nvSpPr>
          <p:cNvPr id="3" name="">
            <a:extLst xmlns:a="http://schemas.openxmlformats.org/drawingml/2006/main">
              <a:ext uri="{FF2B5EF4-FFF2-40B4-BE49-F238E27FC236}">
                <a16:creationId xmlns:a16="http://schemas.microsoft.com/office/drawing/2014/main" id="{566612C0-AE99-4512-AABD-1BD3F2C5621E}"/>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size считает вершины. rank помогает выбирать корень при объединении.</a:t>
            </a:r>
          </a:p>
        </p:txBody>
      </p:sp>
      <p:sp>
        <p:nvSpPr>
          <p:cNvPr id="4" name="">
            <a:extLst xmlns:a="http://schemas.openxmlformats.org/drawingml/2006/main">
              <a:ext uri="{FF2B5EF4-FFF2-40B4-BE49-F238E27FC236}">
                <a16:creationId xmlns:a16="http://schemas.microsoft.com/office/drawing/2014/main" id="{98FB8D3D-5179-4A25-A075-5B9BA96B5FB8}"/>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Две одиночные вершины: rank 0 и 0. После соединения rank корня = 1.</a:t>
            </a:r>
          </a:p>
        </p:txBody>
      </p:sp>
      <p:graphicFrame>
        <p:nvGraphicFramePr>
          <p:cNvPr id="5" name="">
            <a:extLst xmlns:a="http://schemas.openxmlformats.org/drawingml/2006/main">
              <a:ext uri="{FF2B5EF4-FFF2-40B4-BE49-F238E27FC236}">
                <a16:creationId xmlns:a16="http://schemas.microsoft.com/office/drawing/2014/main" id="{B194B38B-4EAA-4E6F-BF00-6F99B77CD0BF}"/>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3617769"/>
                <a:gridCol w="3617769"/>
                <a:gridCol w="3813463"/>
              </a:tblGrid>
              <a:tr h="690563">
                <a:tc>
                  <a:txBody>
                    <a:bodyPr/>
                    <a:lstStyle/>
                    <a:p>
                      <a:r>
                        <a:rPr sz="1725" b="1">
                          <a:solidFill>
                            <a:srgbClr val="192E43"/>
                          </a:solidFill>
                          <a:latin typeface="Arial"/>
                          <a:ea typeface="Arial"/>
                          <a:cs typeface="Arial"/>
                        </a:rPr>
                        <a:t>Группа</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size</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rank корня</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690563">
                <a:tc>
                  <a:txBody>
                    <a:bodyPr/>
                    <a:lstStyle/>
                    <a:p>
                      <a:r>
                        <a:rPr sz="1725" b="0">
                          <a:solidFill>
                            <a:srgbClr val="192E43"/>
                          </a:solidFill>
                          <a:latin typeface="Arial"/>
                          <a:ea typeface="Arial"/>
                          <a:cs typeface="Arial"/>
                        </a:rPr>
                        <a:t>{0}</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1</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a:t>
                      </a:r>
                    </a:p>
                  </a:txBody>
                  <a:tcPr marL="91440" marR="91440" marT="45720" marB="45720">
                    <a:lnR w="9525">
                      <a:solidFill>
                        <a:srgbClr val="E2DCE0"/>
                      </a:solidFill>
                      <a:prstDash val="solid"/>
                    </a:lnR>
                    <a:lnB w="9525">
                      <a:solidFill>
                        <a:srgbClr val="E2DCE0"/>
                      </a:solidFill>
                      <a:prstDash val="solid"/>
                    </a:lnB>
                    <a:solidFill>
                      <a:srgbClr val="FFFEFC"/>
                    </a:solidFill>
                  </a:tcPr>
                </a:tc>
              </a:tr>
              <a:tr h="690563">
                <a:tc>
                  <a:txBody>
                    <a:bodyPr/>
                    <a:lstStyle/>
                    <a:p>
                      <a:r>
                        <a:rPr sz="1725" b="0">
                          <a:solidFill>
                            <a:srgbClr val="192E43"/>
                          </a:solidFill>
                          <a:latin typeface="Arial"/>
                          <a:ea typeface="Arial"/>
                          <a:cs typeface="Arial"/>
                        </a:rPr>
                        <a:t>{0,1}</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2</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1</a:t>
                      </a:r>
                    </a:p>
                  </a:txBody>
                  <a:tcPr marL="91440" marR="91440" marT="45720" marB="45720">
                    <a:lnR w="9525">
                      <a:solidFill>
                        <a:srgbClr val="E2DCE0"/>
                      </a:solidFill>
                      <a:prstDash val="solid"/>
                    </a:lnR>
                    <a:lnB w="9525">
                      <a:solidFill>
                        <a:srgbClr val="E2DCE0"/>
                      </a:solidFill>
                      <a:prstDash val="solid"/>
                    </a:lnB>
                    <a:solidFill>
                      <a:srgbClr val="FAF8F8"/>
                    </a:solidFill>
                  </a:tcPr>
                </a:tc>
              </a:tr>
              <a:tr h="690563">
                <a:tc>
                  <a:txBody>
                    <a:bodyPr/>
                    <a:lstStyle/>
                    <a:p>
                      <a:r>
                        <a:rPr sz="1725" b="0">
                          <a:solidFill>
                            <a:srgbClr val="192E43"/>
                          </a:solidFill>
                          <a:latin typeface="Arial"/>
                          <a:ea typeface="Arial"/>
                          <a:cs typeface="Arial"/>
                        </a:rPr>
                        <a:t>{0,1,2}</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3</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1</a:t>
                      </a:r>
                    </a:p>
                  </a:txBody>
                  <a:tcPr marL="91440" marR="91440" marT="45720" marB="45720">
                    <a:lnR w="9525">
                      <a:solidFill>
                        <a:srgbClr val="E2DCE0"/>
                      </a:solidFill>
                      <a:prstDash val="solid"/>
                    </a:lnR>
                    <a:lnB w="9525">
                      <a:solidFill>
                        <a:srgbClr val="E2DCE0"/>
                      </a:solidFill>
                      <a:prstDash val="solid"/>
                    </a:lnB>
                    <a:solidFill>
                      <a:srgbClr val="FFFEFC"/>
                    </a:solidFill>
                  </a:tcPr>
                </a:tc>
              </a:tr>
            </a:tbl>
          </a:graphicData>
        </a:graphic>
      </p:graphicFrame>
      <p:sp>
        <p:nvSpPr>
          <p:cNvPr id="6" name="">
            <a:extLst xmlns:a="http://schemas.openxmlformats.org/drawingml/2006/main">
              <a:ext uri="{FF2B5EF4-FFF2-40B4-BE49-F238E27FC236}">
                <a16:creationId xmlns:a16="http://schemas.microsoft.com/office/drawing/2014/main" id="{90E756D5-69D6-4E31-BB00-CE6FE8BCF45F}"/>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Добавили третью вершину: size=3, но rank остаётся 1.</a:t>
            </a:r>
          </a:p>
        </p:txBody>
      </p:sp>
      <p:sp>
        <p:nvSpPr>
          <p:cNvPr id="7" name="">
            <a:extLst xmlns:a="http://schemas.openxmlformats.org/drawingml/2006/main">
              <a:ext uri="{FF2B5EF4-FFF2-40B4-BE49-F238E27FC236}">
                <a16:creationId xmlns:a16="http://schemas.microsoft.com/office/drawing/2014/main" id="{2464859D-D287-456A-8CE6-D4377B5EED99}"/>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D0118765-10B0-46A9-8C6E-78F625D5A9CD}"/>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14 / 64</a:t>
            </a:r>
          </a:p>
        </p:txBody>
      </p:sp>
    </p:spTree>
    <p:extLst>
      <p:ext uri="{BB962C8B-B14F-4D97-AF65-F5344CB8AC3E}">
        <p14:creationId xmlns:p14="http://schemas.microsoft.com/office/powerpoint/2010/main" val="1863255863"/>
      </p:ext>
    </p:extLst>
  </p:cSld>
</p:sld>
</file>

<file path=ppt/slides/slide15.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EA00E62-EC9B-40D5-AF6E-04777BF1CFB8}"/>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DSU</a:t>
            </a:r>
          </a:p>
        </p:txBody>
      </p:sp>
      <p:sp>
        <p:nvSpPr>
          <p:cNvPr id="2" name="">
            <a:extLst xmlns:a="http://schemas.openxmlformats.org/drawingml/2006/main">
              <a:ext uri="{FF2B5EF4-FFF2-40B4-BE49-F238E27FC236}">
                <a16:creationId xmlns:a16="http://schemas.microsoft.com/office/drawing/2014/main" id="{45765675-C6A2-4CC7-ACBD-226487BB1C13}"/>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DSU: полный вход и ответ</a:t>
            </a:r>
          </a:p>
        </p:txBody>
      </p:sp>
      <p:sp>
        <p:nvSpPr>
          <p:cNvPr id="3" name="">
            <a:extLst xmlns:a="http://schemas.openxmlformats.org/drawingml/2006/main">
              <a:ext uri="{FF2B5EF4-FFF2-40B4-BE49-F238E27FC236}">
                <a16:creationId xmlns:a16="http://schemas.microsoft.com/office/drawing/2014/main" id="{BFEB3C46-FD98-4344-9C4F-79E667C825FD}"/>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Возвращаем состояние после каждой операции, включая повтор и соединение с собой.</a:t>
            </a:r>
          </a:p>
        </p:txBody>
      </p:sp>
      <p:sp>
        <p:nvSpPr>
          <p:cNvPr id="4" name="">
            <a:extLst xmlns:a="http://schemas.openxmlformats.org/drawingml/2006/main">
              <a:ext uri="{FF2B5EF4-FFF2-40B4-BE49-F238E27FC236}">
                <a16:creationId xmlns:a16="http://schemas.microsoft.com/office/drawing/2014/main" id="{14A46A49-E85D-4BA0-998E-A40D5712BFEA}"/>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Те же пять вершин. После [2,3] группа {0,1,2,3} содержит четыре вершины.</a:t>
            </a:r>
          </a:p>
        </p:txBody>
      </p:sp>
      <p:graphicFrame>
        <p:nvGraphicFramePr>
          <p:cNvPr id="5" name="">
            <a:extLst xmlns:a="http://schemas.openxmlformats.org/drawingml/2006/main">
              <a:ext uri="{FF2B5EF4-FFF2-40B4-BE49-F238E27FC236}">
                <a16:creationId xmlns:a16="http://schemas.microsoft.com/office/drawing/2014/main" id="{CEAAACB5-BDA3-4CAF-B21D-BDBB20BA5EEF}"/>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2996405"/>
                <a:gridCol w="8052595"/>
              </a:tblGrid>
              <a:tr h="920750">
                <a:tc>
                  <a:txBody>
                    <a:bodyPr/>
                    <a:lstStyle/>
                    <a:p>
                      <a:r>
                        <a:rPr sz="1725" b="1">
                          <a:solidFill>
                            <a:srgbClr val="192E43"/>
                          </a:solidFill>
                          <a:latin typeface="Arial"/>
                          <a:ea typeface="Arial"/>
                          <a:cs typeface="Arial"/>
                        </a:rPr>
                        <a:t>Что</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JSON</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920750">
                <a:tc>
                  <a:txBody>
                    <a:bodyPr/>
                    <a:lstStyle/>
                    <a:p>
                      <a:r>
                        <a:rPr sz="1725" b="0">
                          <a:solidFill>
                            <a:srgbClr val="192E43"/>
                          </a:solidFill>
                          <a:latin typeface="Arial"/>
                          <a:ea typeface="Arial"/>
                          <a:cs typeface="Arial"/>
                        </a:rPr>
                        <a:t>Вход</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{"task":"dsu","n":5,"operations":[[0,1],[1,2],[2,3],[0,2],[4,4]]}</a:t>
                      </a:r>
                    </a:p>
                  </a:txBody>
                  <a:tcPr marL="91440" marR="91440" marT="45720" marB="45720">
                    <a:lnR w="9525">
                      <a:solidFill>
                        <a:srgbClr val="E2DCE0"/>
                      </a:solidFill>
                      <a:prstDash val="solid"/>
                    </a:lnR>
                    <a:lnB w="9525">
                      <a:solidFill>
                        <a:srgbClr val="E2DCE0"/>
                      </a:solidFill>
                      <a:prstDash val="solid"/>
                    </a:lnB>
                    <a:solidFill>
                      <a:srgbClr val="FFFEFC"/>
                    </a:solidFill>
                  </a:tcPr>
                </a:tc>
              </a:tr>
              <a:tr h="920750">
                <a:tc>
                  <a:txBody>
                    <a:bodyPr/>
                    <a:lstStyle/>
                    <a:p>
                      <a:r>
                        <a:rPr sz="1725" b="0">
                          <a:solidFill>
                            <a:srgbClr val="192E43"/>
                          </a:solidFill>
                          <a:latin typeface="Arial"/>
                          <a:ea typeface="Arial"/>
                          <a:cs typeface="Arial"/>
                        </a:rPr>
                        <a:t>Выход</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{"states":[[4,2],[3,3],[2,4],[2,4],[2,4]]}</a:t>
                      </a:r>
                    </a:p>
                  </a:txBody>
                  <a:tcPr marL="91440" marR="91440" marT="45720" marB="45720">
                    <a:lnR w="9525">
                      <a:solidFill>
                        <a:srgbClr val="E2DCE0"/>
                      </a:solidFill>
                      <a:prstDash val="solid"/>
                    </a:lnR>
                    <a:lnB w="9525">
                      <a:solidFill>
                        <a:srgbClr val="E2DCE0"/>
                      </a:solidFill>
                      <a:prstDash val="solid"/>
                    </a:lnB>
                    <a:solidFill>
                      <a:srgbClr val="FAF8F8"/>
                    </a:solidFill>
                  </a:tcPr>
                </a:tc>
              </a:tr>
            </a:tbl>
          </a:graphicData>
        </a:graphic>
      </p:graphicFrame>
      <p:sp>
        <p:nvSpPr>
          <p:cNvPr id="6" name="">
            <a:extLst xmlns:a="http://schemas.openxmlformats.org/drawingml/2006/main">
              <a:ext uri="{FF2B5EF4-FFF2-40B4-BE49-F238E27FC236}">
                <a16:creationId xmlns:a16="http://schemas.microsoft.com/office/drawing/2014/main" id="{D03205D5-D22C-48EF-A90C-D2B1B58D4536}"/>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Пять операций дают ровно пять пар в states. Начальное состояние отдельно не добавляем.</a:t>
            </a:r>
          </a:p>
        </p:txBody>
      </p:sp>
      <p:sp>
        <p:nvSpPr>
          <p:cNvPr id="7" name="">
            <a:extLst xmlns:a="http://schemas.openxmlformats.org/drawingml/2006/main">
              <a:ext uri="{FF2B5EF4-FFF2-40B4-BE49-F238E27FC236}">
                <a16:creationId xmlns:a16="http://schemas.microsoft.com/office/drawing/2014/main" id="{781CCDFF-91F4-4AA3-B794-AF3E2B76485B}"/>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70C8401F-1A16-4A60-8A12-FAE1E0A30FC0}"/>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15 / 64</a:t>
            </a:r>
          </a:p>
        </p:txBody>
      </p:sp>
    </p:spTree>
    <p:extLst>
      <p:ext uri="{BB962C8B-B14F-4D97-AF65-F5344CB8AC3E}">
        <p14:creationId xmlns:p14="http://schemas.microsoft.com/office/powerpoint/2010/main" val="1057995214"/>
      </p:ext>
    </p:extLst>
  </p:cSld>
</p:sld>
</file>

<file path=ppt/slides/slide16.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D09AAAE-F54D-43A0-9358-E1CF0256B85F}"/>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Краскал и Прим</a:t>
            </a:r>
          </a:p>
        </p:txBody>
      </p:sp>
      <p:sp>
        <p:nvSpPr>
          <p:cNvPr id="2" name="">
            <a:extLst xmlns:a="http://schemas.openxmlformats.org/drawingml/2006/main">
              <a:ext uri="{FF2B5EF4-FFF2-40B4-BE49-F238E27FC236}">
                <a16:creationId xmlns:a16="http://schemas.microsoft.com/office/drawing/2014/main" id="{945B8C5A-29CF-4668-B50E-345A87F3867F}"/>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Остов: соединить площадки без лишних рёбер</a:t>
            </a:r>
          </a:p>
        </p:txBody>
      </p:sp>
      <p:sp>
        <p:nvSpPr>
          <p:cNvPr id="3" name="">
            <a:extLst xmlns:a="http://schemas.openxmlformats.org/drawingml/2006/main">
              <a:ext uri="{FF2B5EF4-FFF2-40B4-BE49-F238E27FC236}">
                <a16:creationId xmlns:a16="http://schemas.microsoft.com/office/drawing/2014/main" id="{44483136-C383-4DA6-908D-B00ADEA2E115}"/>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Нужно соединить доступные площадки с минимальной общей стоимостью кабелей.</a:t>
            </a:r>
          </a:p>
        </p:txBody>
      </p:sp>
      <p:sp>
        <p:nvSpPr>
          <p:cNvPr id="4" name="">
            <a:extLst xmlns:a="http://schemas.openxmlformats.org/drawingml/2006/main">
              <a:ext uri="{FF2B5EF4-FFF2-40B4-BE49-F238E27FC236}">
                <a16:creationId xmlns:a16="http://schemas.microsoft.com/office/drawing/2014/main" id="{FEC27E1B-A4F9-4B18-AE80-D4A232EA9C4B}"/>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У нас 0, 1, 2, 3 и отдельная площадка 4 без кабелей.</a:t>
            </a:r>
          </a:p>
        </p:txBody>
      </p:sp>
      <p:sp>
        <p:nvSpPr>
          <p:cNvPr id="5" name="">
            <a:extLst xmlns:a="http://schemas.openxmlformats.org/drawingml/2006/main">
              <a:ext uri="{FF2B5EF4-FFF2-40B4-BE49-F238E27FC236}">
                <a16:creationId xmlns:a16="http://schemas.microsoft.com/office/drawing/2014/main" id="{FB3711EF-35E4-468F-AD99-CED0AEEB6720}"/>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Площадку 4 соединить нельзя. Ответ — лес: дерево группы и отдельная вершина.</a:t>
            </a:r>
          </a:p>
        </p:txBody>
      </p:sp>
      <p:sp>
        <p:nvSpPr>
          <p:cNvPr id="6" name="">
            <a:extLst xmlns:a="http://schemas.openxmlformats.org/drawingml/2006/main">
              <a:ext uri="{FF2B5EF4-FFF2-40B4-BE49-F238E27FC236}">
                <a16:creationId xmlns:a16="http://schemas.microsoft.com/office/drawing/2014/main" id="{23EA287E-2586-4E16-96B9-413AE43BFE37}"/>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7" name="">
            <a:extLst xmlns:a="http://schemas.openxmlformats.org/drawingml/2006/main">
              <a:ext uri="{FF2B5EF4-FFF2-40B4-BE49-F238E27FC236}">
                <a16:creationId xmlns:a16="http://schemas.microsoft.com/office/drawing/2014/main" id="{4704A25E-6C03-4730-8519-DBC0353E4C3B}"/>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16 / 64</a:t>
            </a:r>
          </a:p>
        </p:txBody>
      </p:sp>
    </p:spTree>
    <p:extLst>
      <p:ext uri="{BB962C8B-B14F-4D97-AF65-F5344CB8AC3E}">
        <p14:creationId xmlns:p14="http://schemas.microsoft.com/office/powerpoint/2010/main" val="662267081"/>
      </p:ext>
    </p:extLst>
  </p:cSld>
</p:sld>
</file>

<file path=ppt/slides/slide17.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9146E61-DDE3-41BD-9DB0-87A0E8C10123}"/>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Краскал и Прим</a:t>
            </a:r>
          </a:p>
        </p:txBody>
      </p:sp>
      <p:sp>
        <p:nvSpPr>
          <p:cNvPr id="2" name="">
            <a:extLst xmlns:a="http://schemas.openxmlformats.org/drawingml/2006/main">
              <a:ext uri="{FF2B5EF4-FFF2-40B4-BE49-F238E27FC236}">
                <a16:creationId xmlns:a16="http://schemas.microsoft.com/office/drawing/2014/main" id="{D3145ACC-09BD-4A3A-9017-79E334EF0D0E}"/>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Один пример для Краскала и Прима</a:t>
            </a:r>
          </a:p>
        </p:txBody>
      </p:sp>
      <p:sp>
        <p:nvSpPr>
          <p:cNvPr id="3" name="">
            <a:extLst xmlns:a="http://schemas.openxmlformats.org/drawingml/2006/main">
              <a:ext uri="{FF2B5EF4-FFF2-40B4-BE49-F238E27FC236}">
                <a16:creationId xmlns:a16="http://schemas.microsoft.com/office/drawing/2014/main" id="{945E8F39-25C1-4BD7-9949-45BCEC7B314E}"/>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Пять доступных кабелей. Все связи двусторонние.</a:t>
            </a:r>
          </a:p>
        </p:txBody>
      </p:sp>
      <p:sp>
        <p:nvSpPr>
          <p:cNvPr id="4" name="">
            <a:extLst xmlns:a="http://schemas.openxmlformats.org/drawingml/2006/main">
              <a:ext uri="{FF2B5EF4-FFF2-40B4-BE49-F238E27FC236}">
                <a16:creationId xmlns:a16="http://schemas.microsoft.com/office/drawing/2014/main" id="{CAE19C86-4085-4E45-A68B-B51844F27B7A}"/>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n=5. Вершина 4 изолирована, поэтому c=2 и нужно 5−2=3 ребра.</a:t>
            </a:r>
          </a:p>
        </p:txBody>
      </p:sp>
      <p:pic>
        <p:nvPicPr>
          <p:cNvPr id="5" name="">
            <a:extLst xmlns:a="http://schemas.openxmlformats.org/drawingml/2006/main">
              <a:ext uri="{FF2B5EF4-FFF2-40B4-BE49-F238E27FC236}">
                <a16:creationId xmlns:a16="http://schemas.microsoft.com/office/drawing/2014/main" id="{B310F001-36E3-43ED-BBEB-7EE594342C43}"/>
              </a:ext>
            </a:extLst>
          </p:cNvPr>
          <p:cNvPicPr>
            <a:picLocks xmlns:a="http://schemas.openxmlformats.org/drawingml/2006/main" noChangeAspect="1"/>
          </p:cNvPicPr>
          <p:nvPr/>
        </p:nvPicPr>
        <p:blipFill>
          <a:blip xmlns:r="http://schemas.openxmlformats.org/officeDocument/2006/relationships" xmlns:a="http://schemas.openxmlformats.org/drawingml/2006/main" r:embed="Rd11014677cce4b3c"/>
          <a:stretch xmlns:a="http://schemas.openxmlformats.org/drawingml/2006/main"/>
        </p:blipFill>
        <p:spPr>
          <a:xfrm xmlns:a="http://schemas.openxmlformats.org/drawingml/2006/main">
            <a:off x="6451846" y="3048000"/>
            <a:ext cx="4908057" cy="2762250"/>
          </a:xfrm>
          <a:prstGeom xmlns:a="http://schemas.openxmlformats.org/drawingml/2006/main" prst="rect">
            <a:avLst/>
          </a:prstGeom>
        </p:spPr>
      </p:pic>
      <p:graphicFrame>
        <p:nvGraphicFramePr>
          <p:cNvPr id="6" name="">
            <a:extLst xmlns:a="http://schemas.openxmlformats.org/drawingml/2006/main">
              <a:ext uri="{FF2B5EF4-FFF2-40B4-BE49-F238E27FC236}">
                <a16:creationId xmlns:a16="http://schemas.microsoft.com/office/drawing/2014/main" id="{C594F5FB-D7F7-441F-AF1F-C3B47612F548}"/>
              </a:ext>
            </a:extLst>
          </p:cNvPr>
          <p:cNvGraphicFramePr/>
          <p:nvPr/>
        </p:nvGraphicFramePr>
        <p:xfrm>
          <a:off xmlns:a="http://schemas.openxmlformats.org/drawingml/2006/main" x="571500" y="3048000"/>
          <a:ext xmlns:a="http://schemas.openxmlformats.org/drawingml/2006/main" cx="5334000" cy="2762250"/>
        </p:xfrm>
        <a:graphic xmlns:a="http://schemas.openxmlformats.org/drawingml/2006/main">
          <a:graphicData uri="http://schemas.openxmlformats.org/drawingml/2006/table">
            <a:tbl>
              <a:tblPr/>
              <a:tblGrid>
                <a:gridCol w="1238250"/>
                <a:gridCol w="2476500"/>
                <a:gridCol w="1619250"/>
              </a:tblGrid>
              <a:tr h="460375">
                <a:tc>
                  <a:txBody>
                    <a:bodyPr/>
                    <a:lstStyle/>
                    <a:p>
                      <a:r>
                        <a:rPr sz="1725" b="1">
                          <a:solidFill>
                            <a:srgbClr val="192E43"/>
                          </a:solidFill>
                          <a:latin typeface="Arial"/>
                          <a:ea typeface="Arial"/>
                          <a:cs typeface="Arial"/>
                        </a:rPr>
                        <a:t>ID</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Ребро</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Вес</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460375">
                <a:tc>
                  <a:txBody>
                    <a:bodyPr/>
                    <a:lstStyle/>
                    <a:p>
                      <a:r>
                        <a:rPr sz="1725" b="0">
                          <a:solidFill>
                            <a:srgbClr val="192E43"/>
                          </a:solidFill>
                          <a:latin typeface="Arial"/>
                          <a:ea typeface="Arial"/>
                          <a:cs typeface="Arial"/>
                        </a:rPr>
                        <a:t>0</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 – 1</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4</a:t>
                      </a:r>
                    </a:p>
                  </a:txBody>
                  <a:tcPr marL="91440" marR="91440" marT="45720" marB="45720">
                    <a:lnR w="9525">
                      <a:solidFill>
                        <a:srgbClr val="E2DCE0"/>
                      </a:solidFill>
                      <a:prstDash val="solid"/>
                    </a:lnR>
                    <a:lnB w="9525">
                      <a:solidFill>
                        <a:srgbClr val="E2DCE0"/>
                      </a:solidFill>
                      <a:prstDash val="solid"/>
                    </a:lnB>
                    <a:solidFill>
                      <a:srgbClr val="FFFEFC"/>
                    </a:solidFill>
                  </a:tcPr>
                </a:tc>
              </a:tr>
              <a:tr h="460375">
                <a:tc>
                  <a:txBody>
                    <a:bodyPr/>
                    <a:lstStyle/>
                    <a:p>
                      <a:r>
                        <a:rPr sz="1725" b="0">
                          <a:solidFill>
                            <a:srgbClr val="192E43"/>
                          </a:solidFill>
                          <a:latin typeface="Arial"/>
                          <a:ea typeface="Arial"/>
                          <a:cs typeface="Arial"/>
                        </a:rPr>
                        <a:t>1</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1 – 2</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1</a:t>
                      </a:r>
                    </a:p>
                  </a:txBody>
                  <a:tcPr marL="91440" marR="91440" marT="45720" marB="45720">
                    <a:lnR w="9525">
                      <a:solidFill>
                        <a:srgbClr val="E2DCE0"/>
                      </a:solidFill>
                      <a:prstDash val="solid"/>
                    </a:lnR>
                    <a:lnB w="9525">
                      <a:solidFill>
                        <a:srgbClr val="E2DCE0"/>
                      </a:solidFill>
                      <a:prstDash val="solid"/>
                    </a:lnB>
                    <a:solidFill>
                      <a:srgbClr val="FAF8F8"/>
                    </a:solidFill>
                  </a:tcPr>
                </a:tc>
              </a:tr>
              <a:tr h="460375">
                <a:tc>
                  <a:txBody>
                    <a:bodyPr/>
                    <a:lstStyle/>
                    <a:p>
                      <a:r>
                        <a:rPr sz="1725" b="0">
                          <a:solidFill>
                            <a:srgbClr val="192E43"/>
                          </a:solidFill>
                          <a:latin typeface="Arial"/>
                          <a:ea typeface="Arial"/>
                          <a:cs typeface="Arial"/>
                        </a:rPr>
                        <a:t>2</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 – 2</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6</a:t>
                      </a:r>
                    </a:p>
                  </a:txBody>
                  <a:tcPr marL="91440" marR="91440" marT="45720" marB="45720">
                    <a:lnR w="9525">
                      <a:solidFill>
                        <a:srgbClr val="E2DCE0"/>
                      </a:solidFill>
                      <a:prstDash val="solid"/>
                    </a:lnR>
                    <a:lnB w="9525">
                      <a:solidFill>
                        <a:srgbClr val="E2DCE0"/>
                      </a:solidFill>
                      <a:prstDash val="solid"/>
                    </a:lnB>
                    <a:solidFill>
                      <a:srgbClr val="FFFEFC"/>
                    </a:solidFill>
                  </a:tcPr>
                </a:tc>
              </a:tr>
              <a:tr h="460375">
                <a:tc>
                  <a:txBody>
                    <a:bodyPr/>
                    <a:lstStyle/>
                    <a:p>
                      <a:r>
                        <a:rPr sz="1725" b="0">
                          <a:solidFill>
                            <a:srgbClr val="192E43"/>
                          </a:solidFill>
                          <a:latin typeface="Arial"/>
                          <a:ea typeface="Arial"/>
                          <a:cs typeface="Arial"/>
                        </a:rPr>
                        <a:t>3</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2 – 3</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2</a:t>
                      </a:r>
                    </a:p>
                  </a:txBody>
                  <a:tcPr marL="91440" marR="91440" marT="45720" marB="45720">
                    <a:lnR w="9525">
                      <a:solidFill>
                        <a:srgbClr val="E2DCE0"/>
                      </a:solidFill>
                      <a:prstDash val="solid"/>
                    </a:lnR>
                    <a:lnB w="9525">
                      <a:solidFill>
                        <a:srgbClr val="E2DCE0"/>
                      </a:solidFill>
                      <a:prstDash val="solid"/>
                    </a:lnB>
                    <a:solidFill>
                      <a:srgbClr val="FAF8F8"/>
                    </a:solidFill>
                  </a:tcPr>
                </a:tc>
              </a:tr>
              <a:tr h="460375">
                <a:tc>
                  <a:txBody>
                    <a:bodyPr/>
                    <a:lstStyle/>
                    <a:p>
                      <a:r>
                        <a:rPr sz="1725" b="0">
                          <a:solidFill>
                            <a:srgbClr val="192E43"/>
                          </a:solidFill>
                          <a:latin typeface="Arial"/>
                          <a:ea typeface="Arial"/>
                          <a:cs typeface="Arial"/>
                        </a:rPr>
                        <a:t>4</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1 – 3</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5</a:t>
                      </a:r>
                    </a:p>
                  </a:txBody>
                  <a:tcPr marL="91440" marR="91440" marT="45720" marB="45720">
                    <a:lnR w="9525">
                      <a:solidFill>
                        <a:srgbClr val="E2DCE0"/>
                      </a:solidFill>
                      <a:prstDash val="solid"/>
                    </a:lnR>
                    <a:lnB w="9525">
                      <a:solidFill>
                        <a:srgbClr val="E2DCE0"/>
                      </a:solidFill>
                      <a:prstDash val="solid"/>
                    </a:lnB>
                    <a:solidFill>
                      <a:srgbClr val="FFFEFC"/>
                    </a:solidFill>
                  </a:tcPr>
                </a:tc>
              </a:tr>
            </a:tbl>
          </a:graphicData>
        </a:graphic>
      </p:graphicFrame>
      <p:sp>
        <p:nvSpPr>
          <p:cNvPr id="7" name="">
            <a:extLst xmlns:a="http://schemas.openxmlformats.org/drawingml/2006/main">
              <a:ext uri="{FF2B5EF4-FFF2-40B4-BE49-F238E27FC236}">
                <a16:creationId xmlns:a16="http://schemas.microsoft.com/office/drawing/2014/main" id="{05ECC52F-3CF7-4FE1-BDF2-70ACD61EA9B7}"/>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Цель: минимальная сумма весов, а не кратчайший путь из одной вершины.</a:t>
            </a:r>
          </a:p>
        </p:txBody>
      </p:sp>
      <p:sp>
        <p:nvSpPr>
          <p:cNvPr id="8" name="">
            <a:extLst xmlns:a="http://schemas.openxmlformats.org/drawingml/2006/main">
              <a:ext uri="{FF2B5EF4-FFF2-40B4-BE49-F238E27FC236}">
                <a16:creationId xmlns:a16="http://schemas.microsoft.com/office/drawing/2014/main" id="{D9266EAE-1F8E-4318-9CDB-8AFC9D2C0DA1}"/>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9" name="">
            <a:extLst xmlns:a="http://schemas.openxmlformats.org/drawingml/2006/main">
              <a:ext uri="{FF2B5EF4-FFF2-40B4-BE49-F238E27FC236}">
                <a16:creationId xmlns:a16="http://schemas.microsoft.com/office/drawing/2014/main" id="{23714823-08EF-41CF-B861-5E4287E53760}"/>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17 / 64</a:t>
            </a:r>
          </a:p>
        </p:txBody>
      </p:sp>
    </p:spTree>
    <p:extLst>
      <p:ext uri="{BB962C8B-B14F-4D97-AF65-F5344CB8AC3E}">
        <p14:creationId xmlns:p14="http://schemas.microsoft.com/office/powerpoint/2010/main" val="1057127313"/>
      </p:ext>
    </p:extLst>
  </p:cSld>
</p:sld>
</file>

<file path=ppt/slides/slide18.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F546460-9497-4E6F-998D-CDA41285ABF1}"/>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Краскал и Прим</a:t>
            </a:r>
          </a:p>
        </p:txBody>
      </p:sp>
      <p:sp>
        <p:nvSpPr>
          <p:cNvPr id="2" name="">
            <a:extLst xmlns:a="http://schemas.openxmlformats.org/drawingml/2006/main">
              <a:ext uri="{FF2B5EF4-FFF2-40B4-BE49-F238E27FC236}">
                <a16:creationId xmlns:a16="http://schemas.microsoft.com/office/drawing/2014/main" id="{A89588B3-6FD6-43A0-B459-F5C11B053BED}"/>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Краскал: рассмотреть дешёвые рёбра первыми</a:t>
            </a:r>
          </a:p>
        </p:txBody>
      </p:sp>
      <p:sp>
        <p:nvSpPr>
          <p:cNvPr id="3" name="">
            <a:extLst xmlns:a="http://schemas.openxmlformats.org/drawingml/2006/main">
              <a:ext uri="{FF2B5EF4-FFF2-40B4-BE49-F238E27FC236}">
                <a16:creationId xmlns:a16="http://schemas.microsoft.com/office/drawing/2014/main" id="{FC62BAFC-AE40-4976-B43C-EC1AE6280865}"/>
              </a:ext>
            </a:extLst>
          </p:cNvPr>
          <p:cNvSpPr>
            <a:spLocks xmlns:a="http://schemas.openxmlformats.org/drawingml/2006/main" noGrp="1"/>
          </p:cNvSpPr>
          <p:nvPr/>
        </p:nvSpPr>
        <p:spPr>
          <a:xfrm xmlns:a="http://schemas.openxmlformats.org/drawingml/2006/main">
            <a:off x="571500" y="1638300"/>
            <a:ext cx="1104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0">
                <a:solidFill>
                  <a:srgbClr val="192E43"/>
                </a:solidFill>
                <a:latin typeface="Arial"/>
                <a:ea typeface="Arial"/>
                <a:cs typeface="Arial"/>
              </a:defRPr>
            </a:defPPr>
          </a:lstStyle>
          <a:p xmlns:a="http://schemas.openxmlformats.org/drawingml/2006/main">
            <a:pPr>
              <a:defRPr sz="2175" b="0">
                <a:solidFill>
                  <a:srgbClr val="192E43"/>
                </a:solidFill>
                <a:latin typeface="Arial"/>
                <a:ea typeface="Arial"/>
                <a:cs typeface="Arial"/>
              </a:defRPr>
            </a:pPr>
            <a:r>
              <a:rPr sz="2175" b="0">
                <a:solidFill>
                  <a:srgbClr val="192E43"/>
                </a:solidFill>
                <a:latin typeface="Arial"/>
                <a:ea typeface="Arial"/>
                <a:cs typeface="Arial"/>
              </a:rPr>
              <a:t>Сортируем все рёбра по весу. Для групп используем DSU.</a:t>
            </a:r>
          </a:p>
        </p:txBody>
      </p:sp>
      <p:sp>
        <p:nvSpPr>
          <p:cNvPr id="4" name="">
            <a:extLst xmlns:a="http://schemas.openxmlformats.org/drawingml/2006/main">
              <a:ext uri="{FF2B5EF4-FFF2-40B4-BE49-F238E27FC236}">
                <a16:creationId xmlns:a16="http://schemas.microsoft.com/office/drawing/2014/main" id="{928E6751-6CD5-4147-97F4-97C577BA6C8E}"/>
              </a:ext>
            </a:extLst>
          </p:cNvPr>
          <p:cNvSpPr>
            <a:spLocks xmlns:a="http://schemas.openxmlformats.org/drawingml/2006/main" noGrp="1"/>
          </p:cNvSpPr>
          <p:nvPr/>
        </p:nvSpPr>
        <p:spPr>
          <a:xfrm xmlns:a="http://schemas.openxmlformats.org/drawingml/2006/main">
            <a:off x="571500" y="2505075"/>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Порядок ID: 1, 3, 0, 4, 2. Веса: 1, 2, 4, 5, 6.</a:t>
            </a:r>
          </a:p>
        </p:txBody>
      </p:sp>
      <p:sp>
        <p:nvSpPr>
          <p:cNvPr id="5" name="">
            <a:extLst xmlns:a="http://schemas.openxmlformats.org/drawingml/2006/main">
              <a:ext uri="{FF2B5EF4-FFF2-40B4-BE49-F238E27FC236}">
                <a16:creationId xmlns:a16="http://schemas.microsoft.com/office/drawing/2014/main" id="{A4B7AE5D-26B8-4644-A3D5-B3679228F7E9}"/>
              </a:ext>
            </a:extLst>
          </p:cNvPr>
          <p:cNvSpPr>
            <a:spLocks xmlns:a="http://schemas.openxmlformats.org/drawingml/2006/main" noGrp="1"/>
          </p:cNvSpPr>
          <p:nvPr/>
        </p:nvSpPr>
        <p:spPr>
          <a:xfrm xmlns:a="http://schemas.openxmlformats.org/drawingml/2006/main">
            <a:off x="781050" y="3448050"/>
            <a:ext cx="106299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Courier New"/>
                <a:ea typeface="Courier New"/>
                <a:cs typeface="Courier New"/>
              </a:defRPr>
            </a:defPPr>
          </a:lstStyle>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if (find(u) != find(v)) {</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    // Select the edge with its original ID.</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    // Merge the two groups.</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B47E0BF0-96CD-4FF7-A057-72510FCF93FB}"/>
              </a:ext>
            </a:extLst>
          </p:cNvPr>
          <p:cNvSpPr>
            <a:spLocks xmlns:a="http://schemas.openxmlformats.org/drawingml/2006/main" noGrp="1"/>
          </p:cNvSpPr>
          <p:nvPr/>
        </p:nvSpPr>
        <p:spPr>
          <a:xfrm xmlns:a="http://schemas.openxmlformats.org/drawingml/2006/main">
            <a:off x="571500" y="5648325"/>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1">
                <a:solidFill>
                  <a:srgbClr val="AC4D73"/>
                </a:solidFill>
                <a:latin typeface="Arial"/>
                <a:ea typeface="Arial"/>
                <a:cs typeface="Arial"/>
              </a:defRPr>
            </a:defPPr>
          </a:lstStyle>
          <a:p xmlns:a="http://schemas.openxmlformats.org/drawingml/2006/main">
            <a:pPr>
              <a:defRPr sz="2025" b="1">
                <a:solidFill>
                  <a:srgbClr val="AC4D73"/>
                </a:solidFill>
                <a:latin typeface="Arial"/>
                <a:ea typeface="Arial"/>
                <a:cs typeface="Arial"/>
              </a:defRPr>
            </a:pPr>
            <a:r>
              <a:rPr sz="2025" b="1">
                <a:solidFill>
                  <a:srgbClr val="AC4D73"/>
                </a:solidFill>
                <a:latin typeface="Arial"/>
                <a:ea typeface="Arial"/>
                <a:cs typeface="Arial"/>
              </a:rPr>
              <a:t>Ребро берём, когда оно соединяет две разные группы.</a:t>
            </a:r>
          </a:p>
        </p:txBody>
      </p:sp>
      <p:sp>
        <p:nvSpPr>
          <p:cNvPr id="7" name="">
            <a:extLst xmlns:a="http://schemas.openxmlformats.org/drawingml/2006/main">
              <a:ext uri="{FF2B5EF4-FFF2-40B4-BE49-F238E27FC236}">
                <a16:creationId xmlns:a16="http://schemas.microsoft.com/office/drawing/2014/main" id="{55316F45-D80A-4E6A-80C9-6DE88261DFDD}"/>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2FD0C23E-8985-4B57-86AB-CA6C57901A05}"/>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18 / 64</a:t>
            </a:r>
          </a:p>
        </p:txBody>
      </p:sp>
    </p:spTree>
    <p:extLst>
      <p:ext uri="{BB962C8B-B14F-4D97-AF65-F5344CB8AC3E}">
        <p14:creationId xmlns:p14="http://schemas.microsoft.com/office/powerpoint/2010/main" val="268772112"/>
      </p:ext>
    </p:extLst>
  </p:cSld>
</p:sld>
</file>

<file path=ppt/slides/slide19.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C69F117-EE6C-4D29-AC8C-FC7657D495DE}"/>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Краскал и Прим</a:t>
            </a:r>
          </a:p>
        </p:txBody>
      </p:sp>
      <p:sp>
        <p:nvSpPr>
          <p:cNvPr id="2" name="">
            <a:extLst xmlns:a="http://schemas.openxmlformats.org/drawingml/2006/main">
              <a:ext uri="{FF2B5EF4-FFF2-40B4-BE49-F238E27FC236}">
                <a16:creationId xmlns:a16="http://schemas.microsoft.com/office/drawing/2014/main" id="{B7181CA1-71B7-4957-B49C-89A12408A595}"/>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Краскал: первые два принятых ребра</a:t>
            </a:r>
          </a:p>
        </p:txBody>
      </p:sp>
      <p:sp>
        <p:nvSpPr>
          <p:cNvPr id="3" name="">
            <a:extLst xmlns:a="http://schemas.openxmlformats.org/drawingml/2006/main">
              <a:ext uri="{FF2B5EF4-FFF2-40B4-BE49-F238E27FC236}">
                <a16:creationId xmlns:a16="http://schemas.microsoft.com/office/drawing/2014/main" id="{03B1D87C-638C-49E8-B78D-4848BB3BC235}"/>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Оба ребра соединяют разные группы, поэтому принимаем их.</a:t>
            </a:r>
          </a:p>
        </p:txBody>
      </p:sp>
      <p:sp>
        <p:nvSpPr>
          <p:cNvPr id="4" name="">
            <a:extLst xmlns:a="http://schemas.openxmlformats.org/drawingml/2006/main">
              <a:ext uri="{FF2B5EF4-FFF2-40B4-BE49-F238E27FC236}">
                <a16:creationId xmlns:a16="http://schemas.microsoft.com/office/drawing/2014/main" id="{B96376EC-D506-4A83-905D-CD945945C04E}"/>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ID 1 соединяет 1–2 за 1. Затем ID 3 соединяет 2–3 за 2.</a:t>
            </a:r>
          </a:p>
        </p:txBody>
      </p:sp>
      <p:graphicFrame>
        <p:nvGraphicFramePr>
          <p:cNvPr id="5" name="">
            <a:extLst xmlns:a="http://schemas.openxmlformats.org/drawingml/2006/main">
              <a:ext uri="{FF2B5EF4-FFF2-40B4-BE49-F238E27FC236}">
                <a16:creationId xmlns:a16="http://schemas.microsoft.com/office/drawing/2014/main" id="{C9983F5A-7A79-47D0-AE53-B0A7524EEC63}"/>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3432655"/>
                <a:gridCol w="4511392"/>
                <a:gridCol w="3104953"/>
              </a:tblGrid>
              <a:tr h="690563">
                <a:tc>
                  <a:txBody>
                    <a:bodyPr/>
                    <a:lstStyle/>
                    <a:p>
                      <a:r>
                        <a:rPr sz="1725" b="1">
                          <a:solidFill>
                            <a:srgbClr val="192E43"/>
                          </a:solidFill>
                          <a:latin typeface="Arial"/>
                          <a:ea typeface="Arial"/>
                          <a:cs typeface="Arial"/>
                        </a:rPr>
                        <a:t>Шаг</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Группы после шага</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Стоимость</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690563">
                <a:tc>
                  <a:txBody>
                    <a:bodyPr/>
                    <a:lstStyle/>
                    <a:p>
                      <a:r>
                        <a:rPr sz="1725" b="0">
                          <a:solidFill>
                            <a:srgbClr val="192E43"/>
                          </a:solidFill>
                          <a:latin typeface="Arial"/>
                          <a:ea typeface="Arial"/>
                          <a:cs typeface="Arial"/>
                        </a:rPr>
                        <a:t>Старт</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 {1} {2} {3} {4}</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a:t>
                      </a:r>
                    </a:p>
                  </a:txBody>
                  <a:tcPr marL="91440" marR="91440" marT="45720" marB="45720">
                    <a:lnR w="9525">
                      <a:solidFill>
                        <a:srgbClr val="E2DCE0"/>
                      </a:solidFill>
                      <a:prstDash val="solid"/>
                    </a:lnR>
                    <a:lnB w="9525">
                      <a:solidFill>
                        <a:srgbClr val="E2DCE0"/>
                      </a:solidFill>
                      <a:prstDash val="solid"/>
                    </a:lnB>
                    <a:solidFill>
                      <a:srgbClr val="FFFEFC"/>
                    </a:solidFill>
                  </a:tcPr>
                </a:tc>
              </a:tr>
              <a:tr h="690563">
                <a:tc>
                  <a:txBody>
                    <a:bodyPr/>
                    <a:lstStyle/>
                    <a:p>
                      <a:r>
                        <a:rPr sz="1725" b="0">
                          <a:solidFill>
                            <a:srgbClr val="192E43"/>
                          </a:solidFill>
                          <a:latin typeface="Arial"/>
                          <a:ea typeface="Arial"/>
                          <a:cs typeface="Arial"/>
                        </a:rPr>
                        <a:t>ID 1, вес 1</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{0} {1,2} {3} {4}</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1</a:t>
                      </a:r>
                    </a:p>
                  </a:txBody>
                  <a:tcPr marL="91440" marR="91440" marT="45720" marB="45720">
                    <a:lnR w="9525">
                      <a:solidFill>
                        <a:srgbClr val="E2DCE0"/>
                      </a:solidFill>
                      <a:prstDash val="solid"/>
                    </a:lnR>
                    <a:lnB w="9525">
                      <a:solidFill>
                        <a:srgbClr val="E2DCE0"/>
                      </a:solidFill>
                      <a:prstDash val="solid"/>
                    </a:lnB>
                    <a:solidFill>
                      <a:srgbClr val="FAF8F8"/>
                    </a:solidFill>
                  </a:tcPr>
                </a:tc>
              </a:tr>
              <a:tr h="690563">
                <a:tc>
                  <a:txBody>
                    <a:bodyPr/>
                    <a:lstStyle/>
                    <a:p>
                      <a:r>
                        <a:rPr sz="1725" b="0">
                          <a:solidFill>
                            <a:srgbClr val="192E43"/>
                          </a:solidFill>
                          <a:latin typeface="Arial"/>
                          <a:ea typeface="Arial"/>
                          <a:cs typeface="Arial"/>
                        </a:rPr>
                        <a:t>ID 3, вес 2</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 {1,2,3} {4}</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3</a:t>
                      </a:r>
                    </a:p>
                  </a:txBody>
                  <a:tcPr marL="91440" marR="91440" marT="45720" marB="45720">
                    <a:lnR w="9525">
                      <a:solidFill>
                        <a:srgbClr val="E2DCE0"/>
                      </a:solidFill>
                      <a:prstDash val="solid"/>
                    </a:lnR>
                    <a:lnB w="9525">
                      <a:solidFill>
                        <a:srgbClr val="E2DCE0"/>
                      </a:solidFill>
                      <a:prstDash val="solid"/>
                    </a:lnB>
                    <a:solidFill>
                      <a:srgbClr val="FFFEFC"/>
                    </a:solidFill>
                  </a:tcPr>
                </a:tc>
              </a:tr>
            </a:tbl>
          </a:graphicData>
        </a:graphic>
      </p:graphicFrame>
      <p:sp>
        <p:nvSpPr>
          <p:cNvPr id="6" name="">
            <a:extLst xmlns:a="http://schemas.openxmlformats.org/drawingml/2006/main">
              <a:ext uri="{FF2B5EF4-FFF2-40B4-BE49-F238E27FC236}">
                <a16:creationId xmlns:a16="http://schemas.microsoft.com/office/drawing/2014/main" id="{4553939E-1545-47E7-A43F-D54C2D2A79A3}"/>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Теперь группа {1,2,3}, стоимость 3. Вершины 0 и 4 пока отдельно.</a:t>
            </a:r>
          </a:p>
        </p:txBody>
      </p:sp>
      <p:sp>
        <p:nvSpPr>
          <p:cNvPr id="7" name="">
            <a:extLst xmlns:a="http://schemas.openxmlformats.org/drawingml/2006/main">
              <a:ext uri="{FF2B5EF4-FFF2-40B4-BE49-F238E27FC236}">
                <a16:creationId xmlns:a16="http://schemas.microsoft.com/office/drawing/2014/main" id="{AAE009B7-ED7E-4A71-9108-094E5A8A9101}"/>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E9776123-3799-4B8F-BA2D-EBAA73DCE51F}"/>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19 / 64</a:t>
            </a:r>
          </a:p>
        </p:txBody>
      </p:sp>
    </p:spTree>
    <p:extLst>
      <p:ext uri="{BB962C8B-B14F-4D97-AF65-F5344CB8AC3E}">
        <p14:creationId xmlns:p14="http://schemas.microsoft.com/office/powerpoint/2010/main" val="152998220"/>
      </p:ext>
    </p:extLst>
  </p:cSld>
</p:sld>
</file>

<file path=ppt/slides/slide20.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F90217E-36A4-46B1-B190-C90D1102FB0F}"/>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Краскал и Прим</a:t>
            </a:r>
          </a:p>
        </p:txBody>
      </p:sp>
      <p:sp>
        <p:nvSpPr>
          <p:cNvPr id="2" name="">
            <a:extLst xmlns:a="http://schemas.openxmlformats.org/drawingml/2006/main">
              <a:ext uri="{FF2B5EF4-FFF2-40B4-BE49-F238E27FC236}">
                <a16:creationId xmlns:a16="http://schemas.microsoft.com/office/drawing/2014/main" id="{152BEA25-C0FF-46D8-AAE1-D532E4C33560}"/>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Краскал: закончить пример</a:t>
            </a:r>
          </a:p>
        </p:txBody>
      </p:sp>
      <p:sp>
        <p:nvSpPr>
          <p:cNvPr id="3" name="">
            <a:extLst xmlns:a="http://schemas.openxmlformats.org/drawingml/2006/main">
              <a:ext uri="{FF2B5EF4-FFF2-40B4-BE49-F238E27FC236}">
                <a16:creationId xmlns:a16="http://schemas.microsoft.com/office/drawing/2014/main" id="{CA8215E4-8D4A-4F11-9C95-6E67ED08EFC8}"/>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ID 0 присоединяет 0 к группе. Остальные рёбра создают цикл.</a:t>
            </a:r>
          </a:p>
        </p:txBody>
      </p:sp>
      <p:sp>
        <p:nvSpPr>
          <p:cNvPr id="4" name="">
            <a:extLst xmlns:a="http://schemas.openxmlformats.org/drawingml/2006/main">
              <a:ext uri="{FF2B5EF4-FFF2-40B4-BE49-F238E27FC236}">
                <a16:creationId xmlns:a16="http://schemas.microsoft.com/office/drawing/2014/main" id="{006E3294-5987-44B3-9E81-84D5B2968DBF}"/>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Берём ID 0 за 4: всего 1+2+4=7. ID 4 и ID 2 пропускаем.</a:t>
            </a:r>
          </a:p>
        </p:txBody>
      </p:sp>
      <p:graphicFrame>
        <p:nvGraphicFramePr>
          <p:cNvPr id="5" name="">
            <a:extLst xmlns:a="http://schemas.openxmlformats.org/drawingml/2006/main">
              <a:ext uri="{FF2B5EF4-FFF2-40B4-BE49-F238E27FC236}">
                <a16:creationId xmlns:a16="http://schemas.microsoft.com/office/drawing/2014/main" id="{0D160009-5F86-40A3-90B5-B607C26D49F0}"/>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3728773"/>
                <a:gridCol w="2947854"/>
                <a:gridCol w="4372374"/>
              </a:tblGrid>
              <a:tr h="690563">
                <a:tc>
                  <a:txBody>
                    <a:bodyPr/>
                    <a:lstStyle/>
                    <a:p>
                      <a:r>
                        <a:rPr sz="1725" b="1">
                          <a:solidFill>
                            <a:srgbClr val="192E43"/>
                          </a:solidFill>
                          <a:latin typeface="Arial"/>
                          <a:ea typeface="Arial"/>
                          <a:cs typeface="Arial"/>
                        </a:rPr>
                        <a:t>Ребро</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Решение</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Причина</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690563">
                <a:tc>
                  <a:txBody>
                    <a:bodyPr/>
                    <a:lstStyle/>
                    <a:p>
                      <a:r>
                        <a:rPr sz="1725" b="0">
                          <a:solidFill>
                            <a:srgbClr val="192E43"/>
                          </a:solidFill>
                          <a:latin typeface="Arial"/>
                          <a:ea typeface="Arial"/>
                          <a:cs typeface="Arial"/>
                        </a:rPr>
                        <a:t>ID 0: 0–1, вес 4</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Взять</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 и {1,2,3} различны</a:t>
                      </a:r>
                    </a:p>
                  </a:txBody>
                  <a:tcPr marL="91440" marR="91440" marT="45720" marB="45720">
                    <a:lnR w="9525">
                      <a:solidFill>
                        <a:srgbClr val="E2DCE0"/>
                      </a:solidFill>
                      <a:prstDash val="solid"/>
                    </a:lnR>
                    <a:lnB w="9525">
                      <a:solidFill>
                        <a:srgbClr val="E2DCE0"/>
                      </a:solidFill>
                      <a:prstDash val="solid"/>
                    </a:lnB>
                    <a:solidFill>
                      <a:srgbClr val="FFFEFC"/>
                    </a:solidFill>
                  </a:tcPr>
                </a:tc>
              </a:tr>
              <a:tr h="690563">
                <a:tc>
                  <a:txBody>
                    <a:bodyPr/>
                    <a:lstStyle/>
                    <a:p>
                      <a:r>
                        <a:rPr sz="1725" b="0">
                          <a:solidFill>
                            <a:srgbClr val="192E43"/>
                          </a:solidFill>
                          <a:latin typeface="Arial"/>
                          <a:ea typeface="Arial"/>
                          <a:cs typeface="Arial"/>
                        </a:rPr>
                        <a:t>ID 4: 1–3, вес 5</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Пропустить</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1 и 3 уже связаны</a:t>
                      </a:r>
                    </a:p>
                  </a:txBody>
                  <a:tcPr marL="91440" marR="91440" marT="45720" marB="45720">
                    <a:lnR w="9525">
                      <a:solidFill>
                        <a:srgbClr val="E2DCE0"/>
                      </a:solidFill>
                      <a:prstDash val="solid"/>
                    </a:lnR>
                    <a:lnB w="9525">
                      <a:solidFill>
                        <a:srgbClr val="E2DCE0"/>
                      </a:solidFill>
                      <a:prstDash val="solid"/>
                    </a:lnB>
                    <a:solidFill>
                      <a:srgbClr val="FAF8F8"/>
                    </a:solidFill>
                  </a:tcPr>
                </a:tc>
              </a:tr>
              <a:tr h="690563">
                <a:tc>
                  <a:txBody>
                    <a:bodyPr/>
                    <a:lstStyle/>
                    <a:p>
                      <a:r>
                        <a:rPr sz="1725" b="0">
                          <a:solidFill>
                            <a:srgbClr val="192E43"/>
                          </a:solidFill>
                          <a:latin typeface="Arial"/>
                          <a:ea typeface="Arial"/>
                          <a:cs typeface="Arial"/>
                        </a:rPr>
                        <a:t>ID 2: 0–2, вес 6</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Пропустить</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 и 2 уже связаны</a:t>
                      </a:r>
                    </a:p>
                  </a:txBody>
                  <a:tcPr marL="91440" marR="91440" marT="45720" marB="45720">
                    <a:lnR w="9525">
                      <a:solidFill>
                        <a:srgbClr val="E2DCE0"/>
                      </a:solidFill>
                      <a:prstDash val="solid"/>
                    </a:lnR>
                    <a:lnB w="9525">
                      <a:solidFill>
                        <a:srgbClr val="E2DCE0"/>
                      </a:solidFill>
                      <a:prstDash val="solid"/>
                    </a:lnB>
                    <a:solidFill>
                      <a:srgbClr val="FFFEFC"/>
                    </a:solidFill>
                  </a:tcPr>
                </a:tc>
              </a:tr>
            </a:tbl>
          </a:graphicData>
        </a:graphic>
      </p:graphicFrame>
      <p:sp>
        <p:nvSpPr>
          <p:cNvPr id="6" name="">
            <a:extLst xmlns:a="http://schemas.openxmlformats.org/drawingml/2006/main">
              <a:ext uri="{FF2B5EF4-FFF2-40B4-BE49-F238E27FC236}">
                <a16:creationId xmlns:a16="http://schemas.microsoft.com/office/drawing/2014/main" id="{AF3FFB1E-3C6A-414E-9D69-5D3D6475AF96}"/>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Ответ: cost=7, edge_ids=[1,3,0], components=2.</a:t>
            </a:r>
          </a:p>
        </p:txBody>
      </p:sp>
      <p:sp>
        <p:nvSpPr>
          <p:cNvPr id="7" name="">
            <a:extLst xmlns:a="http://schemas.openxmlformats.org/drawingml/2006/main">
              <a:ext uri="{FF2B5EF4-FFF2-40B4-BE49-F238E27FC236}">
                <a16:creationId xmlns:a16="http://schemas.microsoft.com/office/drawing/2014/main" id="{B26BC26E-A20B-4C1F-950E-89430FB73342}"/>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8C7F9229-4F57-4D72-BB3E-E7CAB92870D6}"/>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20 / 64</a:t>
            </a:r>
          </a:p>
        </p:txBody>
      </p:sp>
    </p:spTree>
    <p:extLst>
      <p:ext uri="{BB962C8B-B14F-4D97-AF65-F5344CB8AC3E}">
        <p14:creationId xmlns:p14="http://schemas.microsoft.com/office/powerpoint/2010/main" val="393434652"/>
      </p:ext>
    </p:extLst>
  </p:cSld>
</p:sld>
</file>

<file path=ppt/slides/slide21.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9F2E47B-7034-49EF-B575-AFD8E690E67B}"/>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Краскал и Прим</a:t>
            </a:r>
          </a:p>
        </p:txBody>
      </p:sp>
      <p:sp>
        <p:nvSpPr>
          <p:cNvPr id="2" name="">
            <a:extLst xmlns:a="http://schemas.openxmlformats.org/drawingml/2006/main">
              <a:ext uri="{FF2B5EF4-FFF2-40B4-BE49-F238E27FC236}">
                <a16:creationId xmlns:a16="http://schemas.microsoft.com/office/drawing/2014/main" id="{F02556A8-99C3-402F-A698-531DB14240DD}"/>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Почему самое дешёвое соединение безопасно</a:t>
            </a:r>
          </a:p>
        </p:txBody>
      </p:sp>
      <p:sp>
        <p:nvSpPr>
          <p:cNvPr id="3" name="">
            <a:extLst xmlns:a="http://schemas.openxmlformats.org/drawingml/2006/main">
              <a:ext uri="{FF2B5EF4-FFF2-40B4-BE49-F238E27FC236}">
                <a16:creationId xmlns:a16="http://schemas.microsoft.com/office/drawing/2014/main" id="{25BAFD30-D093-4CD9-9AD8-A94E1B90DA72}"/>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Разделим вершины на две стороны. Чтобы соединить стороны, нужно пересечь границу.</a:t>
            </a:r>
          </a:p>
        </p:txBody>
      </p:sp>
      <p:sp>
        <p:nvSpPr>
          <p:cNvPr id="4" name="">
            <a:extLst xmlns:a="http://schemas.openxmlformats.org/drawingml/2006/main">
              <a:ext uri="{FF2B5EF4-FFF2-40B4-BE49-F238E27FC236}">
                <a16:creationId xmlns:a16="http://schemas.microsoft.com/office/drawing/2014/main" id="{B56FE49E-7D31-4D01-A476-465325DD7FCD}"/>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Для стороны {0}: кабель 0–1 стоит 4, а 0–2 стоит 6.</a:t>
            </a:r>
          </a:p>
        </p:txBody>
      </p:sp>
      <p:sp>
        <p:nvSpPr>
          <p:cNvPr id="5" name="">
            <a:extLst xmlns:a="http://schemas.openxmlformats.org/drawingml/2006/main">
              <a:ext uri="{FF2B5EF4-FFF2-40B4-BE49-F238E27FC236}">
                <a16:creationId xmlns:a16="http://schemas.microsoft.com/office/drawing/2014/main" id="{15371261-3E0D-44FA-8AA8-98E6206936D5}"/>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Более дорогой переход можно заменить дешёвым, сохранив связность дерева.</a:t>
            </a:r>
          </a:p>
        </p:txBody>
      </p:sp>
      <p:sp>
        <p:nvSpPr>
          <p:cNvPr id="6" name="">
            <a:extLst xmlns:a="http://schemas.openxmlformats.org/drawingml/2006/main">
              <a:ext uri="{FF2B5EF4-FFF2-40B4-BE49-F238E27FC236}">
                <a16:creationId xmlns:a16="http://schemas.microsoft.com/office/drawing/2014/main" id="{1B3CF315-B015-43DD-BFF9-E73A1D975BC7}"/>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7" name="">
            <a:extLst xmlns:a="http://schemas.openxmlformats.org/drawingml/2006/main">
              <a:ext uri="{FF2B5EF4-FFF2-40B4-BE49-F238E27FC236}">
                <a16:creationId xmlns:a16="http://schemas.microsoft.com/office/drawing/2014/main" id="{AEB6F5B7-ED8F-44F0-BFBE-8DDEFE2E3363}"/>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21 / 64</a:t>
            </a:r>
          </a:p>
        </p:txBody>
      </p:sp>
    </p:spTree>
    <p:extLst>
      <p:ext uri="{BB962C8B-B14F-4D97-AF65-F5344CB8AC3E}">
        <p14:creationId xmlns:p14="http://schemas.microsoft.com/office/powerpoint/2010/main" val="1986587855"/>
      </p:ext>
    </p:extLst>
  </p:cSld>
</p:sld>
</file>

<file path=ppt/slides/slide22.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7F78B6B-D26F-489E-94A2-7DD86B559A2E}"/>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Краскал и Прим</a:t>
            </a:r>
          </a:p>
        </p:txBody>
      </p:sp>
      <p:sp>
        <p:nvSpPr>
          <p:cNvPr id="2" name="">
            <a:extLst xmlns:a="http://schemas.openxmlformats.org/drawingml/2006/main">
              <a:ext uri="{FF2B5EF4-FFF2-40B4-BE49-F238E27FC236}">
                <a16:creationId xmlns:a16="http://schemas.microsoft.com/office/drawing/2014/main" id="{3C95D22C-2194-4E87-93B7-5201E05D24A7}"/>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Прим: растить одну подключённую группу</a:t>
            </a:r>
          </a:p>
        </p:txBody>
      </p:sp>
      <p:sp>
        <p:nvSpPr>
          <p:cNvPr id="3" name="">
            <a:extLst xmlns:a="http://schemas.openxmlformats.org/drawingml/2006/main">
              <a:ext uri="{FF2B5EF4-FFF2-40B4-BE49-F238E27FC236}">
                <a16:creationId xmlns:a16="http://schemas.microsoft.com/office/drawing/2014/main" id="{240EDC18-204E-4D1E-A3C1-BF5F8C2ECECA}"/>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Начинаем с вершины. Каждый раз выбираем самый дешёвый выход наружу.</a:t>
            </a:r>
          </a:p>
        </p:txBody>
      </p:sp>
      <p:sp>
        <p:nvSpPr>
          <p:cNvPr id="4" name="">
            <a:extLst xmlns:a="http://schemas.openxmlformats.org/drawingml/2006/main">
              <a:ext uri="{FF2B5EF4-FFF2-40B4-BE49-F238E27FC236}">
                <a16:creationId xmlns:a16="http://schemas.microsoft.com/office/drawing/2014/main" id="{5818D34D-45F3-44E6-802E-55281B905667}"/>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Стартуем в 0. Кандидаты: ID 0 за 4 и ID 2 за 6.</a:t>
            </a:r>
          </a:p>
        </p:txBody>
      </p:sp>
      <p:sp>
        <p:nvSpPr>
          <p:cNvPr id="5" name="">
            <a:extLst xmlns:a="http://schemas.openxmlformats.org/drawingml/2006/main">
              <a:ext uri="{FF2B5EF4-FFF2-40B4-BE49-F238E27FC236}">
                <a16:creationId xmlns:a16="http://schemas.microsoft.com/office/drawing/2014/main" id="{2F6A8150-481C-46E2-A50B-4DCFA3E6FCA5}"/>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Берём ID 0: подключены {0,1}, стоимость 4.</a:t>
            </a:r>
          </a:p>
        </p:txBody>
      </p:sp>
      <p:sp>
        <p:nvSpPr>
          <p:cNvPr id="6" name="">
            <a:extLst xmlns:a="http://schemas.openxmlformats.org/drawingml/2006/main">
              <a:ext uri="{FF2B5EF4-FFF2-40B4-BE49-F238E27FC236}">
                <a16:creationId xmlns:a16="http://schemas.microsoft.com/office/drawing/2014/main" id="{0AEA2862-CFE4-46C6-BF46-E7D4E81743EE}"/>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7" name="">
            <a:extLst xmlns:a="http://schemas.openxmlformats.org/drawingml/2006/main">
              <a:ext uri="{FF2B5EF4-FFF2-40B4-BE49-F238E27FC236}">
                <a16:creationId xmlns:a16="http://schemas.microsoft.com/office/drawing/2014/main" id="{04757F4E-0326-4F7A-B1BF-F3677C4CB3E3}"/>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22 / 64</a:t>
            </a:r>
          </a:p>
        </p:txBody>
      </p:sp>
    </p:spTree>
    <p:extLst>
      <p:ext uri="{BB962C8B-B14F-4D97-AF65-F5344CB8AC3E}">
        <p14:creationId xmlns:p14="http://schemas.microsoft.com/office/powerpoint/2010/main" val="753126555"/>
      </p:ext>
    </p:extLst>
  </p:cSld>
</p:sld>
</file>

<file path=ppt/slides/slide23.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F018986-C769-4D24-BE8E-56A0D044671A}"/>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Краскал и Прим</a:t>
            </a:r>
          </a:p>
        </p:txBody>
      </p:sp>
      <p:sp>
        <p:nvSpPr>
          <p:cNvPr id="2" name="">
            <a:extLst xmlns:a="http://schemas.openxmlformats.org/drawingml/2006/main">
              <a:ext uri="{FF2B5EF4-FFF2-40B4-BE49-F238E27FC236}">
                <a16:creationId xmlns:a16="http://schemas.microsoft.com/office/drawing/2014/main" id="{2E3EB857-25B3-4450-B937-38735804712D}"/>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Прим: как меняются кандидаты</a:t>
            </a:r>
          </a:p>
        </p:txBody>
      </p:sp>
      <p:sp>
        <p:nvSpPr>
          <p:cNvPr id="3" name="">
            <a:extLst xmlns:a="http://schemas.openxmlformats.org/drawingml/2006/main">
              <a:ext uri="{FF2B5EF4-FFF2-40B4-BE49-F238E27FC236}">
                <a16:creationId xmlns:a16="http://schemas.microsoft.com/office/drawing/2014/main" id="{B44E1071-D7AC-469D-84C4-5E5CC88EA6A3}"/>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После новой вершины добавляем её рёбра к ещё не подключённым вершинам.</a:t>
            </a:r>
          </a:p>
        </p:txBody>
      </p:sp>
      <p:sp>
        <p:nvSpPr>
          <p:cNvPr id="4" name="">
            <a:extLst xmlns:a="http://schemas.openxmlformats.org/drawingml/2006/main">
              <a:ext uri="{FF2B5EF4-FFF2-40B4-BE49-F238E27FC236}">
                <a16:creationId xmlns:a16="http://schemas.microsoft.com/office/drawing/2014/main" id="{31814E8B-A248-435E-AF92-561ABD03B09A}"/>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После 1 есть 1–2 за 1 и 1–3 за 5. Старое 0–2 за 6 тоже осталось.</a:t>
            </a:r>
          </a:p>
        </p:txBody>
      </p:sp>
      <p:graphicFrame>
        <p:nvGraphicFramePr>
          <p:cNvPr id="5" name="">
            <a:extLst xmlns:a="http://schemas.openxmlformats.org/drawingml/2006/main">
              <a:ext uri="{FF2B5EF4-FFF2-40B4-BE49-F238E27FC236}">
                <a16:creationId xmlns:a16="http://schemas.microsoft.com/office/drawing/2014/main" id="{B0348491-972A-420C-BA32-DC7D24842050}"/>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3320922"/>
                <a:gridCol w="4577575"/>
                <a:gridCol w="3150503"/>
              </a:tblGrid>
              <a:tr h="690563">
                <a:tc>
                  <a:txBody>
                    <a:bodyPr/>
                    <a:lstStyle/>
                    <a:p>
                      <a:r>
                        <a:rPr sz="1725" b="1">
                          <a:solidFill>
                            <a:srgbClr val="192E43"/>
                          </a:solidFill>
                          <a:latin typeface="Arial"/>
                          <a:ea typeface="Arial"/>
                          <a:cs typeface="Arial"/>
                        </a:rPr>
                        <a:t>Подключены</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Кандидаты по весу</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Выбор</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690563">
                <a:tc>
                  <a:txBody>
                    <a:bodyPr/>
                    <a:lstStyle/>
                    <a:p>
                      <a:r>
                        <a:rPr sz="1725" b="0">
                          <a:solidFill>
                            <a:srgbClr val="192E43"/>
                          </a:solidFill>
                          <a:latin typeface="Arial"/>
                          <a:ea typeface="Arial"/>
                          <a:cs typeface="Arial"/>
                        </a:rPr>
                        <a:t>{0}</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0–1:4, 0–2:6</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ID 0</a:t>
                      </a:r>
                    </a:p>
                  </a:txBody>
                  <a:tcPr marL="91440" marR="91440" marT="45720" marB="45720">
                    <a:lnR w="9525">
                      <a:solidFill>
                        <a:srgbClr val="E2DCE0"/>
                      </a:solidFill>
                      <a:prstDash val="solid"/>
                    </a:lnR>
                    <a:lnB w="9525">
                      <a:solidFill>
                        <a:srgbClr val="E2DCE0"/>
                      </a:solidFill>
                      <a:prstDash val="solid"/>
                    </a:lnB>
                    <a:solidFill>
                      <a:srgbClr val="FFFEFC"/>
                    </a:solidFill>
                  </a:tcPr>
                </a:tc>
              </a:tr>
              <a:tr h="690563">
                <a:tc>
                  <a:txBody>
                    <a:bodyPr/>
                    <a:lstStyle/>
                    <a:p>
                      <a:r>
                        <a:rPr sz="1725" b="0">
                          <a:solidFill>
                            <a:srgbClr val="192E43"/>
                          </a:solidFill>
                          <a:latin typeface="Arial"/>
                          <a:ea typeface="Arial"/>
                          <a:cs typeface="Arial"/>
                        </a:rPr>
                        <a:t>{0,1}</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1–2:1, 1–3:5, 0–2:6</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ID 1</a:t>
                      </a:r>
                    </a:p>
                  </a:txBody>
                  <a:tcPr marL="91440" marR="91440" marT="45720" marB="45720">
                    <a:lnR w="9525">
                      <a:solidFill>
                        <a:srgbClr val="E2DCE0"/>
                      </a:solidFill>
                      <a:prstDash val="solid"/>
                    </a:lnR>
                    <a:lnB w="9525">
                      <a:solidFill>
                        <a:srgbClr val="E2DCE0"/>
                      </a:solidFill>
                      <a:prstDash val="solid"/>
                    </a:lnB>
                    <a:solidFill>
                      <a:srgbClr val="FAF8F8"/>
                    </a:solidFill>
                  </a:tcPr>
                </a:tc>
              </a:tr>
              <a:tr h="690563">
                <a:tc>
                  <a:txBody>
                    <a:bodyPr/>
                    <a:lstStyle/>
                    <a:p>
                      <a:r>
                        <a:rPr sz="1725" b="0">
                          <a:solidFill>
                            <a:srgbClr val="192E43"/>
                          </a:solidFill>
                          <a:latin typeface="Arial"/>
                          <a:ea typeface="Arial"/>
                          <a:cs typeface="Arial"/>
                        </a:rPr>
                        <a:t>{0,1,2}</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2–3:2, 1–3:5, 0–2:6</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ID 3</a:t>
                      </a:r>
                    </a:p>
                  </a:txBody>
                  <a:tcPr marL="91440" marR="91440" marT="45720" marB="45720">
                    <a:lnR w="9525">
                      <a:solidFill>
                        <a:srgbClr val="E2DCE0"/>
                      </a:solidFill>
                      <a:prstDash val="solid"/>
                    </a:lnR>
                    <a:lnB w="9525">
                      <a:solidFill>
                        <a:srgbClr val="E2DCE0"/>
                      </a:solidFill>
                      <a:prstDash val="solid"/>
                    </a:lnB>
                    <a:solidFill>
                      <a:srgbClr val="FFFEFC"/>
                    </a:solidFill>
                  </a:tcPr>
                </a:tc>
              </a:tr>
            </a:tbl>
          </a:graphicData>
        </a:graphic>
      </p:graphicFrame>
      <p:sp>
        <p:nvSpPr>
          <p:cNvPr id="6" name="">
            <a:extLst xmlns:a="http://schemas.openxmlformats.org/drawingml/2006/main">
              <a:ext uri="{FF2B5EF4-FFF2-40B4-BE49-F238E27FC236}">
                <a16:creationId xmlns:a16="http://schemas.microsoft.com/office/drawing/2014/main" id="{F25572FB-098F-4C18-A62B-4AB0DC3419F8}"/>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Берём вес 1, затем вес 2. Итог снова 4+1+2=7.</a:t>
            </a:r>
          </a:p>
        </p:txBody>
      </p:sp>
      <p:sp>
        <p:nvSpPr>
          <p:cNvPr id="7" name="">
            <a:extLst xmlns:a="http://schemas.openxmlformats.org/drawingml/2006/main">
              <a:ext uri="{FF2B5EF4-FFF2-40B4-BE49-F238E27FC236}">
                <a16:creationId xmlns:a16="http://schemas.microsoft.com/office/drawing/2014/main" id="{2112724B-FB1C-47DE-9E8B-AC46648CD14E}"/>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AD3E8D83-FA1D-4A4F-93F3-2B8750501F39}"/>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23 / 64</a:t>
            </a:r>
          </a:p>
        </p:txBody>
      </p:sp>
    </p:spTree>
    <p:extLst>
      <p:ext uri="{BB962C8B-B14F-4D97-AF65-F5344CB8AC3E}">
        <p14:creationId xmlns:p14="http://schemas.microsoft.com/office/powerpoint/2010/main" val="55744435"/>
      </p:ext>
    </p:extLst>
  </p:cSld>
</p:sld>
</file>

<file path=ppt/slides/slide24.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22569B7-B333-489F-8252-8B3E3E174F4F}"/>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Краскал и Прим</a:t>
            </a:r>
          </a:p>
        </p:txBody>
      </p:sp>
      <p:sp>
        <p:nvSpPr>
          <p:cNvPr id="2" name="">
            <a:extLst xmlns:a="http://schemas.openxmlformats.org/drawingml/2006/main">
              <a:ext uri="{FF2B5EF4-FFF2-40B4-BE49-F238E27FC236}">
                <a16:creationId xmlns:a16="http://schemas.microsoft.com/office/drawing/2014/main" id="{559032DD-5169-44BF-849D-841365F1E23B}"/>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Прим: устаревшее ребро пропускаем</a:t>
            </a:r>
          </a:p>
        </p:txBody>
      </p:sp>
      <p:sp>
        <p:nvSpPr>
          <p:cNvPr id="3" name="">
            <a:extLst xmlns:a="http://schemas.openxmlformats.org/drawingml/2006/main">
              <a:ext uri="{FF2B5EF4-FFF2-40B4-BE49-F238E27FC236}">
                <a16:creationId xmlns:a16="http://schemas.microsoft.com/office/drawing/2014/main" id="{D48D8775-ADBC-437C-B713-0B13C7916876}"/>
              </a:ext>
            </a:extLst>
          </p:cNvPr>
          <p:cNvSpPr>
            <a:spLocks xmlns:a="http://schemas.openxmlformats.org/drawingml/2006/main" noGrp="1"/>
          </p:cNvSpPr>
          <p:nvPr/>
        </p:nvSpPr>
        <p:spPr>
          <a:xfrm xmlns:a="http://schemas.openxmlformats.org/drawingml/2006/main">
            <a:off x="571500" y="1638300"/>
            <a:ext cx="1104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0">
                <a:solidFill>
                  <a:srgbClr val="192E43"/>
                </a:solidFill>
                <a:latin typeface="Arial"/>
                <a:ea typeface="Arial"/>
                <a:cs typeface="Arial"/>
              </a:defRPr>
            </a:defPPr>
          </a:lstStyle>
          <a:p xmlns:a="http://schemas.openxmlformats.org/drawingml/2006/main">
            <a:pPr>
              <a:defRPr sz="2175" b="0">
                <a:solidFill>
                  <a:srgbClr val="192E43"/>
                </a:solidFill>
                <a:latin typeface="Arial"/>
                <a:ea typeface="Arial"/>
                <a:cs typeface="Arial"/>
              </a:defRPr>
            </a:pPr>
            <a:r>
              <a:rPr sz="2175" b="0">
                <a:solidFill>
                  <a:srgbClr val="192E43"/>
                </a:solidFill>
                <a:latin typeface="Arial"/>
                <a:ea typeface="Arial"/>
                <a:cs typeface="Arial"/>
              </a:rPr>
              <a:t>Когда запись извлекается, её конечная вершина уже может быть подключена.</a:t>
            </a:r>
          </a:p>
        </p:txBody>
      </p:sp>
      <p:sp>
        <p:nvSpPr>
          <p:cNvPr id="4" name="">
            <a:extLst xmlns:a="http://schemas.openxmlformats.org/drawingml/2006/main">
              <a:ext uri="{FF2B5EF4-FFF2-40B4-BE49-F238E27FC236}">
                <a16:creationId xmlns:a16="http://schemas.microsoft.com/office/drawing/2014/main" id="{F7040E0F-413D-48AE-AEA4-5C8629D30CB8}"/>
              </a:ext>
            </a:extLst>
          </p:cNvPr>
          <p:cNvSpPr>
            <a:spLocks xmlns:a="http://schemas.openxmlformats.org/drawingml/2006/main" noGrp="1"/>
          </p:cNvSpPr>
          <p:nvPr/>
        </p:nvSpPr>
        <p:spPr>
          <a:xfrm xmlns:a="http://schemas.openxmlformats.org/drawingml/2006/main">
            <a:off x="571500" y="2505075"/>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После {0,1,2,3} запись 1–3 за 5 всё ещё лежит в очереди.</a:t>
            </a:r>
          </a:p>
        </p:txBody>
      </p:sp>
      <p:sp>
        <p:nvSpPr>
          <p:cNvPr id="5" name="">
            <a:extLst xmlns:a="http://schemas.openxmlformats.org/drawingml/2006/main">
              <a:ext uri="{FF2B5EF4-FFF2-40B4-BE49-F238E27FC236}">
                <a16:creationId xmlns:a16="http://schemas.microsoft.com/office/drawing/2014/main" id="{2142ECFD-0D21-4487-B292-52FA8D48895F}"/>
              </a:ext>
            </a:extLst>
          </p:cNvPr>
          <p:cNvSpPr>
            <a:spLocks xmlns:a="http://schemas.openxmlformats.org/drawingml/2006/main" noGrp="1"/>
          </p:cNvSpPr>
          <p:nvPr/>
        </p:nvSpPr>
        <p:spPr>
          <a:xfrm xmlns:a="http://schemas.openxmlformats.org/drawingml/2006/main">
            <a:off x="781050" y="3448050"/>
            <a:ext cx="106299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Courier New"/>
                <a:ea typeface="Courier New"/>
                <a:cs typeface="Courier New"/>
              </a:defRPr>
            </a:defPPr>
          </a:lstStyle>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Candidate e = queue.remove();</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if (visited[e.to]) {</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    continue;</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 Add this new vertex and its input edge ID.</a:t>
            </a:r>
          </a:p>
        </p:txBody>
      </p:sp>
      <p:sp>
        <p:nvSpPr>
          <p:cNvPr id="6" name="">
            <a:extLst xmlns:a="http://schemas.openxmlformats.org/drawingml/2006/main">
              <a:ext uri="{FF2B5EF4-FFF2-40B4-BE49-F238E27FC236}">
                <a16:creationId xmlns:a16="http://schemas.microsoft.com/office/drawing/2014/main" id="{E9422780-E821-4D61-A664-4C68775C19AB}"/>
              </a:ext>
            </a:extLst>
          </p:cNvPr>
          <p:cNvSpPr>
            <a:spLocks xmlns:a="http://schemas.openxmlformats.org/drawingml/2006/main" noGrp="1"/>
          </p:cNvSpPr>
          <p:nvPr/>
        </p:nvSpPr>
        <p:spPr>
          <a:xfrm xmlns:a="http://schemas.openxmlformats.org/drawingml/2006/main">
            <a:off x="571500" y="5648325"/>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1">
                <a:solidFill>
                  <a:srgbClr val="AC4D73"/>
                </a:solidFill>
                <a:latin typeface="Arial"/>
                <a:ea typeface="Arial"/>
                <a:cs typeface="Arial"/>
              </a:defRPr>
            </a:defPPr>
          </a:lstStyle>
          <a:p xmlns:a="http://schemas.openxmlformats.org/drawingml/2006/main">
            <a:pPr>
              <a:defRPr sz="2025" b="1">
                <a:solidFill>
                  <a:srgbClr val="AC4D73"/>
                </a:solidFill>
                <a:latin typeface="Arial"/>
                <a:ea typeface="Arial"/>
                <a:cs typeface="Arial"/>
              </a:defRPr>
            </a:pPr>
            <a:r>
              <a:rPr sz="2025" b="1">
                <a:solidFill>
                  <a:srgbClr val="AC4D73"/>
                </a:solidFill>
                <a:latin typeface="Arial"/>
                <a:ea typeface="Arial"/>
                <a:cs typeface="Arial"/>
              </a:rPr>
              <a:t>Вершина 3 уже посещена: не добавляем ребро и не увеличиваем стоимость.</a:t>
            </a:r>
          </a:p>
        </p:txBody>
      </p:sp>
      <p:sp>
        <p:nvSpPr>
          <p:cNvPr id="7" name="">
            <a:extLst xmlns:a="http://schemas.openxmlformats.org/drawingml/2006/main">
              <a:ext uri="{FF2B5EF4-FFF2-40B4-BE49-F238E27FC236}">
                <a16:creationId xmlns:a16="http://schemas.microsoft.com/office/drawing/2014/main" id="{6E23DFC5-9184-429B-B12E-E1C14F3ABC84}"/>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55FDA453-CFF7-434A-9F4A-73961A2E228B}"/>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24 / 64</a:t>
            </a:r>
          </a:p>
        </p:txBody>
      </p:sp>
    </p:spTree>
    <p:extLst>
      <p:ext uri="{BB962C8B-B14F-4D97-AF65-F5344CB8AC3E}">
        <p14:creationId xmlns:p14="http://schemas.microsoft.com/office/powerpoint/2010/main" val="310361723"/>
      </p:ext>
    </p:extLst>
  </p:cSld>
</p:sld>
</file>

<file path=ppt/slides/slide25.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3F044F3-A421-4682-A9B5-64EDAC64F024}"/>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Краскал и Прим</a:t>
            </a:r>
          </a:p>
        </p:txBody>
      </p:sp>
      <p:sp>
        <p:nvSpPr>
          <p:cNvPr id="2" name="">
            <a:extLst xmlns:a="http://schemas.openxmlformats.org/drawingml/2006/main">
              <a:ext uri="{FF2B5EF4-FFF2-40B4-BE49-F238E27FC236}">
                <a16:creationId xmlns:a16="http://schemas.microsoft.com/office/drawing/2014/main" id="{3CC2824C-6F63-4A32-BB35-536AE03D180F}"/>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Прим: очередь пуста, но работа ещё есть</a:t>
            </a:r>
          </a:p>
        </p:txBody>
      </p:sp>
      <p:sp>
        <p:nvSpPr>
          <p:cNvPr id="3" name="">
            <a:extLst xmlns:a="http://schemas.openxmlformats.org/drawingml/2006/main">
              <a:ext uri="{FF2B5EF4-FFF2-40B4-BE49-F238E27FC236}">
                <a16:creationId xmlns:a16="http://schemas.microsoft.com/office/drawing/2014/main" id="{66B2FDAD-10C5-41DD-8998-89AC869CE16A}"/>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Внешний цикл ищет каждую ещё не посещённую вершину.</a:t>
            </a:r>
          </a:p>
        </p:txBody>
      </p:sp>
      <p:sp>
        <p:nvSpPr>
          <p:cNvPr id="4" name="">
            <a:extLst xmlns:a="http://schemas.openxmlformats.org/drawingml/2006/main">
              <a:ext uri="{FF2B5EF4-FFF2-40B4-BE49-F238E27FC236}">
                <a16:creationId xmlns:a16="http://schemas.microsoft.com/office/drawing/2014/main" id="{11734A5A-D695-44EE-9F5B-101856FCA3A4}"/>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Группа {0,1,2,3} готова. Начинаем отдельную компоненту с 4.</a:t>
            </a:r>
          </a:p>
        </p:txBody>
      </p:sp>
      <p:sp>
        <p:nvSpPr>
          <p:cNvPr id="5" name="">
            <a:extLst xmlns:a="http://schemas.openxmlformats.org/drawingml/2006/main">
              <a:ext uri="{FF2B5EF4-FFF2-40B4-BE49-F238E27FC236}">
                <a16:creationId xmlns:a16="http://schemas.microsoft.com/office/drawing/2014/main" id="{1D13275C-DC7F-49A0-9BCE-E32F45B1CB63}"/>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У 4 нет рёбер. components=2, cost=7, выбрано 3 ребра.</a:t>
            </a:r>
          </a:p>
        </p:txBody>
      </p:sp>
      <p:sp>
        <p:nvSpPr>
          <p:cNvPr id="6" name="">
            <a:extLst xmlns:a="http://schemas.openxmlformats.org/drawingml/2006/main">
              <a:ext uri="{FF2B5EF4-FFF2-40B4-BE49-F238E27FC236}">
                <a16:creationId xmlns:a16="http://schemas.microsoft.com/office/drawing/2014/main" id="{AB7356FF-23BA-45E5-94B4-A63D136C6586}"/>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7" name="">
            <a:extLst xmlns:a="http://schemas.openxmlformats.org/drawingml/2006/main">
              <a:ext uri="{FF2B5EF4-FFF2-40B4-BE49-F238E27FC236}">
                <a16:creationId xmlns:a16="http://schemas.microsoft.com/office/drawing/2014/main" id="{4E4520D8-8ABE-437B-9636-38A08171C212}"/>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25 / 64</a:t>
            </a:r>
          </a:p>
        </p:txBody>
      </p:sp>
    </p:spTree>
    <p:extLst>
      <p:ext uri="{BB962C8B-B14F-4D97-AF65-F5344CB8AC3E}">
        <p14:creationId xmlns:p14="http://schemas.microsoft.com/office/powerpoint/2010/main" val="18606112"/>
      </p:ext>
    </p:extLst>
  </p:cSld>
</p:sld>
</file>

<file path=ppt/slides/slide26.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DAD997F-3F94-43BD-A81A-7CB4C3885C9B}"/>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Краскал и Прим</a:t>
            </a:r>
          </a:p>
        </p:txBody>
      </p:sp>
      <p:sp>
        <p:nvSpPr>
          <p:cNvPr id="2" name="">
            <a:extLst xmlns:a="http://schemas.openxmlformats.org/drawingml/2006/main">
              <a:ext uri="{FF2B5EF4-FFF2-40B4-BE49-F238E27FC236}">
                <a16:creationId xmlns:a16="http://schemas.microsoft.com/office/drawing/2014/main" id="{E4BE2C41-747C-49FC-BBBD-439435CFA367}"/>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Проверка двух решений MST</a:t>
            </a:r>
          </a:p>
        </p:txBody>
      </p:sp>
      <p:sp>
        <p:nvSpPr>
          <p:cNvPr id="3" name="">
            <a:extLst xmlns:a="http://schemas.openxmlformats.org/drawingml/2006/main">
              <a:ext uri="{FF2B5EF4-FFF2-40B4-BE49-F238E27FC236}">
                <a16:creationId xmlns:a16="http://schemas.microsoft.com/office/drawing/2014/main" id="{EBF1B046-15F8-4D40-917F-C8C26DE58FE9}"/>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Сравниваем стоимость и корректность леса. Список ID может отличаться.</a:t>
            </a:r>
          </a:p>
        </p:txBody>
      </p:sp>
      <p:sp>
        <p:nvSpPr>
          <p:cNvPr id="4" name="">
            <a:extLst xmlns:a="http://schemas.openxmlformats.org/drawingml/2006/main">
              <a:ext uri="{FF2B5EF4-FFF2-40B4-BE49-F238E27FC236}">
                <a16:creationId xmlns:a16="http://schemas.microsoft.com/office/drawing/2014/main" id="{8896AE7E-0899-4DEF-851F-66F34BD56878}"/>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Треугольник: все три ребра стоят 1. Можно выбрать любые два.</a:t>
            </a:r>
          </a:p>
        </p:txBody>
      </p:sp>
      <p:sp>
        <p:nvSpPr>
          <p:cNvPr id="5" name="">
            <a:extLst xmlns:a="http://schemas.openxmlformats.org/drawingml/2006/main">
              <a:ext uri="{FF2B5EF4-FFF2-40B4-BE49-F238E27FC236}">
                <a16:creationId xmlns:a16="http://schemas.microsoft.com/office/drawing/2014/main" id="{73F0F911-FFE1-4F31-85DD-B6C51606CA78}"/>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У всех правильных ответов стоимость 2 и нет цикла.</a:t>
            </a:r>
          </a:p>
        </p:txBody>
      </p:sp>
      <p:sp>
        <p:nvSpPr>
          <p:cNvPr id="6" name="">
            <a:extLst xmlns:a="http://schemas.openxmlformats.org/drawingml/2006/main">
              <a:ext uri="{FF2B5EF4-FFF2-40B4-BE49-F238E27FC236}">
                <a16:creationId xmlns:a16="http://schemas.microsoft.com/office/drawing/2014/main" id="{AFF2F9D0-CFFE-48F3-9C84-880985823C17}"/>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7" name="">
            <a:extLst xmlns:a="http://schemas.openxmlformats.org/drawingml/2006/main">
              <a:ext uri="{FF2B5EF4-FFF2-40B4-BE49-F238E27FC236}">
                <a16:creationId xmlns:a16="http://schemas.microsoft.com/office/drawing/2014/main" id="{51783C1A-4566-4FFB-AB94-B80B0FD7AC27}"/>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26 / 64</a:t>
            </a:r>
          </a:p>
        </p:txBody>
      </p:sp>
    </p:spTree>
    <p:extLst>
      <p:ext uri="{BB962C8B-B14F-4D97-AF65-F5344CB8AC3E}">
        <p14:creationId xmlns:p14="http://schemas.microsoft.com/office/powerpoint/2010/main" val="779174777"/>
      </p:ext>
    </p:extLst>
  </p:cSld>
</p:sld>
</file>

<file path=ppt/slides/slide27.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0B9AB8E-F231-49CF-885C-ACD996B50DCB}"/>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Косарайю</a:t>
            </a:r>
          </a:p>
        </p:txBody>
      </p:sp>
      <p:sp>
        <p:nvSpPr>
          <p:cNvPr id="2" name="">
            <a:extLst xmlns:a="http://schemas.openxmlformats.org/drawingml/2006/main">
              <a:ext uri="{FF2B5EF4-FFF2-40B4-BE49-F238E27FC236}">
                <a16:creationId xmlns:a16="http://schemas.microsoft.com/office/drawing/2014/main" id="{B612E148-F914-4BF7-B17B-65D0A27F7EB6}"/>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SCC: можно пройти туда и обратно</a:t>
            </a:r>
          </a:p>
        </p:txBody>
      </p:sp>
      <p:sp>
        <p:nvSpPr>
          <p:cNvPr id="3" name="">
            <a:extLst xmlns:a="http://schemas.openxmlformats.org/drawingml/2006/main">
              <a:ext uri="{FF2B5EF4-FFF2-40B4-BE49-F238E27FC236}">
                <a16:creationId xmlns:a16="http://schemas.microsoft.com/office/drawing/2014/main" id="{597261F6-2081-418E-BAF9-D217CCF9BCD8}"/>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Две вершины в одной SCC, если каждая достижима из другой по стрелкам.</a:t>
            </a:r>
          </a:p>
        </p:txBody>
      </p:sp>
      <p:sp>
        <p:nvSpPr>
          <p:cNvPr id="4" name="">
            <a:extLst xmlns:a="http://schemas.openxmlformats.org/drawingml/2006/main">
              <a:ext uri="{FF2B5EF4-FFF2-40B4-BE49-F238E27FC236}">
                <a16:creationId xmlns:a16="http://schemas.microsoft.com/office/drawing/2014/main" id="{B2ACC0AC-B03B-4D0F-87F4-E7ED16E0B75A}"/>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0 → 1 и 1 → 0. Значит, {0,1} — одна группа.</a:t>
            </a:r>
          </a:p>
        </p:txBody>
      </p:sp>
      <p:sp>
        <p:nvSpPr>
          <p:cNvPr id="5" name="">
            <a:extLst xmlns:a="http://schemas.openxmlformats.org/drawingml/2006/main">
              <a:ext uri="{FF2B5EF4-FFF2-40B4-BE49-F238E27FC236}">
                <a16:creationId xmlns:a16="http://schemas.microsoft.com/office/drawing/2014/main" id="{3372447B-5CE0-443F-9266-5AD61F85B756}"/>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Одного пути 0 → 2 недостаточно: нужен также путь из 2 в 0.</a:t>
            </a:r>
          </a:p>
        </p:txBody>
      </p:sp>
      <p:sp>
        <p:nvSpPr>
          <p:cNvPr id="6" name="">
            <a:extLst xmlns:a="http://schemas.openxmlformats.org/drawingml/2006/main">
              <a:ext uri="{FF2B5EF4-FFF2-40B4-BE49-F238E27FC236}">
                <a16:creationId xmlns:a16="http://schemas.microsoft.com/office/drawing/2014/main" id="{8FC9D01A-CD67-4747-A1AC-7BA867A42197}"/>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7" name="">
            <a:extLst xmlns:a="http://schemas.openxmlformats.org/drawingml/2006/main">
              <a:ext uri="{FF2B5EF4-FFF2-40B4-BE49-F238E27FC236}">
                <a16:creationId xmlns:a16="http://schemas.microsoft.com/office/drawing/2014/main" id="{A20FCA9F-7974-4941-9EF2-92A340C1DD52}"/>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27 / 64</a:t>
            </a:r>
          </a:p>
        </p:txBody>
      </p:sp>
    </p:spTree>
    <p:extLst>
      <p:ext uri="{BB962C8B-B14F-4D97-AF65-F5344CB8AC3E}">
        <p14:creationId xmlns:p14="http://schemas.microsoft.com/office/powerpoint/2010/main" val="247748675"/>
      </p:ext>
    </p:extLst>
  </p:cSld>
</p:sld>
</file>

<file path=ppt/slides/slide28.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A318AF9-D85F-47DB-81CC-AAA61CFA018F}"/>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Косарайю</a:t>
            </a:r>
          </a:p>
        </p:txBody>
      </p:sp>
      <p:sp>
        <p:nvSpPr>
          <p:cNvPr id="2" name="">
            <a:extLst xmlns:a="http://schemas.openxmlformats.org/drawingml/2006/main">
              <a:ext uri="{FF2B5EF4-FFF2-40B4-BE49-F238E27FC236}">
                <a16:creationId xmlns:a16="http://schemas.microsoft.com/office/drawing/2014/main" id="{C7A2F842-37CF-4A4D-A52C-0AB686C8AA37}"/>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Пример SCC: две пары и изолят</a:t>
            </a:r>
          </a:p>
        </p:txBody>
      </p:sp>
      <p:sp>
        <p:nvSpPr>
          <p:cNvPr id="3" name="">
            <a:extLst xmlns:a="http://schemas.openxmlformats.org/drawingml/2006/main">
              <a:ext uri="{FF2B5EF4-FFF2-40B4-BE49-F238E27FC236}">
                <a16:creationId xmlns:a16="http://schemas.microsoft.com/office/drawing/2014/main" id="{740ECBAF-941F-4719-99ED-6DBDE794CD45}"/>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Связи внутри пар двусторонние. Между парами есть только путь вправо.</a:t>
            </a:r>
          </a:p>
        </p:txBody>
      </p:sp>
      <p:sp>
        <p:nvSpPr>
          <p:cNvPr id="4" name="">
            <a:extLst xmlns:a="http://schemas.openxmlformats.org/drawingml/2006/main">
              <a:ext uri="{FF2B5EF4-FFF2-40B4-BE49-F238E27FC236}">
                <a16:creationId xmlns:a16="http://schemas.microsoft.com/office/drawing/2014/main" id="{EE79B840-2CE0-4BD6-B56C-1285C132CA15}"/>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Рёбра: 0→1, 1→0, 1→2, 1→2, 2→3, 3→2. Вершина 4 отдельно.</a:t>
            </a:r>
          </a:p>
        </p:txBody>
      </p:sp>
      <p:graphicFrame>
        <p:nvGraphicFramePr>
          <p:cNvPr id="5" name="">
            <a:extLst xmlns:a="http://schemas.openxmlformats.org/drawingml/2006/main">
              <a:ext uri="{FF2B5EF4-FFF2-40B4-BE49-F238E27FC236}">
                <a16:creationId xmlns:a16="http://schemas.microsoft.com/office/drawing/2014/main" id="{A8F2A7DF-0127-478F-BABD-3874D2C62C2E}"/>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2644537"/>
                <a:gridCol w="3739939"/>
                <a:gridCol w="4664524"/>
              </a:tblGrid>
              <a:tr h="552450">
                <a:tc>
                  <a:txBody>
                    <a:bodyPr/>
                    <a:lstStyle/>
                    <a:p>
                      <a:r>
                        <a:rPr sz="1725" b="1">
                          <a:solidFill>
                            <a:srgbClr val="192E43"/>
                          </a:solidFill>
                          <a:latin typeface="Arial"/>
                          <a:ea typeface="Arial"/>
                          <a:cs typeface="Arial"/>
                        </a:rPr>
                        <a:t>Откуда</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Куда можно попасть</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Есть путь обратно?</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552450">
                <a:tc>
                  <a:txBody>
                    <a:bodyPr/>
                    <a:lstStyle/>
                    <a:p>
                      <a:r>
                        <a:rPr sz="1725" b="0">
                          <a:solidFill>
                            <a:srgbClr val="192E43"/>
                          </a:solidFill>
                          <a:latin typeface="Arial"/>
                          <a:ea typeface="Arial"/>
                          <a:cs typeface="Arial"/>
                        </a:rPr>
                        <a:t>0</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1</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Да</a:t>
                      </a:r>
                    </a:p>
                  </a:txBody>
                  <a:tcPr marL="91440" marR="91440" marT="45720" marB="45720">
                    <a:lnR w="9525">
                      <a:solidFill>
                        <a:srgbClr val="E2DCE0"/>
                      </a:solidFill>
                      <a:prstDash val="solid"/>
                    </a:lnR>
                    <a:lnB w="9525">
                      <a:solidFill>
                        <a:srgbClr val="E2DCE0"/>
                      </a:solidFill>
                      <a:prstDash val="solid"/>
                    </a:lnB>
                    <a:solidFill>
                      <a:srgbClr val="FFFEFC"/>
                    </a:solidFill>
                  </a:tcPr>
                </a:tc>
              </a:tr>
              <a:tr h="552450">
                <a:tc>
                  <a:txBody>
                    <a:bodyPr/>
                    <a:lstStyle/>
                    <a:p>
                      <a:r>
                        <a:rPr sz="1725" b="0">
                          <a:solidFill>
                            <a:srgbClr val="192E43"/>
                          </a:solidFill>
                          <a:latin typeface="Arial"/>
                          <a:ea typeface="Arial"/>
                          <a:cs typeface="Arial"/>
                        </a:rPr>
                        <a:t>1</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2</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Нет: из {2,3} не выйти назад</a:t>
                      </a:r>
                    </a:p>
                  </a:txBody>
                  <a:tcPr marL="91440" marR="91440" marT="45720" marB="45720">
                    <a:lnR w="9525">
                      <a:solidFill>
                        <a:srgbClr val="E2DCE0"/>
                      </a:solidFill>
                      <a:prstDash val="solid"/>
                    </a:lnR>
                    <a:lnB w="9525">
                      <a:solidFill>
                        <a:srgbClr val="E2DCE0"/>
                      </a:solidFill>
                      <a:prstDash val="solid"/>
                    </a:lnB>
                    <a:solidFill>
                      <a:srgbClr val="FAF8F8"/>
                    </a:solidFill>
                  </a:tcPr>
                </a:tc>
              </a:tr>
              <a:tr h="552450">
                <a:tc>
                  <a:txBody>
                    <a:bodyPr/>
                    <a:lstStyle/>
                    <a:p>
                      <a:r>
                        <a:rPr sz="1725" b="0">
                          <a:solidFill>
                            <a:srgbClr val="192E43"/>
                          </a:solidFill>
                          <a:latin typeface="Arial"/>
                          <a:ea typeface="Arial"/>
                          <a:cs typeface="Arial"/>
                        </a:rPr>
                        <a:t>2</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3</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Да</a:t>
                      </a:r>
                    </a:p>
                  </a:txBody>
                  <a:tcPr marL="91440" marR="91440" marT="45720" marB="45720">
                    <a:lnR w="9525">
                      <a:solidFill>
                        <a:srgbClr val="E2DCE0"/>
                      </a:solidFill>
                      <a:prstDash val="solid"/>
                    </a:lnR>
                    <a:lnB w="9525">
                      <a:solidFill>
                        <a:srgbClr val="E2DCE0"/>
                      </a:solidFill>
                      <a:prstDash val="solid"/>
                    </a:lnB>
                    <a:solidFill>
                      <a:srgbClr val="FFFEFC"/>
                    </a:solidFill>
                  </a:tcPr>
                </a:tc>
              </a:tr>
              <a:tr h="552450">
                <a:tc>
                  <a:txBody>
                    <a:bodyPr/>
                    <a:lstStyle/>
                    <a:p>
                      <a:r>
                        <a:rPr sz="1725" b="0">
                          <a:solidFill>
                            <a:srgbClr val="192E43"/>
                          </a:solidFill>
                          <a:latin typeface="Arial"/>
                          <a:ea typeface="Arial"/>
                          <a:cs typeface="Arial"/>
                        </a:rPr>
                        <a:t>4</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Только в 4</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Отдельная SCC</a:t>
                      </a:r>
                    </a:p>
                  </a:txBody>
                  <a:tcPr marL="91440" marR="91440" marT="45720" marB="45720">
                    <a:lnR w="9525">
                      <a:solidFill>
                        <a:srgbClr val="E2DCE0"/>
                      </a:solidFill>
                      <a:prstDash val="solid"/>
                    </a:lnR>
                    <a:lnB w="9525">
                      <a:solidFill>
                        <a:srgbClr val="E2DCE0"/>
                      </a:solidFill>
                      <a:prstDash val="solid"/>
                    </a:lnB>
                    <a:solidFill>
                      <a:srgbClr val="FAF8F8"/>
                    </a:solidFill>
                  </a:tcPr>
                </a:tc>
              </a:tr>
            </a:tbl>
          </a:graphicData>
        </a:graphic>
      </p:graphicFrame>
      <p:sp>
        <p:nvSpPr>
          <p:cNvPr id="6" name="">
            <a:extLst xmlns:a="http://schemas.openxmlformats.org/drawingml/2006/main">
              <a:ext uri="{FF2B5EF4-FFF2-40B4-BE49-F238E27FC236}">
                <a16:creationId xmlns:a16="http://schemas.microsoft.com/office/drawing/2014/main" id="{93136B92-7E8A-434F-A3C4-BC4158C1BF04}"/>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Правильные группы: {0,1}, {2,3}, {4}. Два ребра 1→2 не меняют группы.</a:t>
            </a:r>
          </a:p>
        </p:txBody>
      </p:sp>
      <p:sp>
        <p:nvSpPr>
          <p:cNvPr id="7" name="">
            <a:extLst xmlns:a="http://schemas.openxmlformats.org/drawingml/2006/main">
              <a:ext uri="{FF2B5EF4-FFF2-40B4-BE49-F238E27FC236}">
                <a16:creationId xmlns:a16="http://schemas.microsoft.com/office/drawing/2014/main" id="{F1879E0C-1E5D-4493-9ACC-5F62C72F2E0D}"/>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7842EDC0-C99A-4A80-AA0E-8F207B0B53E7}"/>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28 / 64</a:t>
            </a:r>
          </a:p>
        </p:txBody>
      </p:sp>
    </p:spTree>
    <p:extLst>
      <p:ext uri="{BB962C8B-B14F-4D97-AF65-F5344CB8AC3E}">
        <p14:creationId xmlns:p14="http://schemas.microsoft.com/office/powerpoint/2010/main" val="117317708"/>
      </p:ext>
    </p:extLst>
  </p:cSld>
</p:sld>
</file>

<file path=ppt/slides/slide29.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B565D78-B6A8-415D-B33A-AFC9D7A1A20E}"/>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Косарайю</a:t>
            </a:r>
          </a:p>
        </p:txBody>
      </p:sp>
      <p:sp>
        <p:nvSpPr>
          <p:cNvPr id="2" name="">
            <a:extLst xmlns:a="http://schemas.openxmlformats.org/drawingml/2006/main">
              <a:ext uri="{FF2B5EF4-FFF2-40B4-BE49-F238E27FC236}">
                <a16:creationId xmlns:a16="http://schemas.microsoft.com/office/drawing/2014/main" id="{B14B9AE0-CCFC-485E-9A02-832B9D69340E}"/>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DFS: завершение позже входа</a:t>
            </a:r>
          </a:p>
        </p:txBody>
      </p:sp>
      <p:sp>
        <p:nvSpPr>
          <p:cNvPr id="3" name="">
            <a:extLst xmlns:a="http://schemas.openxmlformats.org/drawingml/2006/main">
              <a:ext uri="{FF2B5EF4-FFF2-40B4-BE49-F238E27FC236}">
                <a16:creationId xmlns:a16="http://schemas.microsoft.com/office/drawing/2014/main" id="{2156A3DB-8A2C-4F46-B72A-6EBE81D3E7AE}"/>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DFS идёт в ещё не посещённого соседа и сначала заканчивает его работу.</a:t>
            </a:r>
          </a:p>
        </p:txBody>
      </p:sp>
      <p:sp>
        <p:nvSpPr>
          <p:cNvPr id="4" name="">
            <a:extLst xmlns:a="http://schemas.openxmlformats.org/drawingml/2006/main">
              <a:ext uri="{FF2B5EF4-FFF2-40B4-BE49-F238E27FC236}">
                <a16:creationId xmlns:a16="http://schemas.microsoft.com/office/drawing/2014/main" id="{AAAD0789-FC10-4437-A0AB-7F399E43FC40}"/>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Из 0 идём в 1, затем в 2, затем в 3.</a:t>
            </a:r>
          </a:p>
        </p:txBody>
      </p:sp>
      <p:graphicFrame>
        <p:nvGraphicFramePr>
          <p:cNvPr id="5" name="">
            <a:extLst xmlns:a="http://schemas.openxmlformats.org/drawingml/2006/main">
              <a:ext uri="{FF2B5EF4-FFF2-40B4-BE49-F238E27FC236}">
                <a16:creationId xmlns:a16="http://schemas.microsoft.com/office/drawing/2014/main" id="{17412013-6BF5-4146-8343-D17C60C8F928}"/>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6106352"/>
                <a:gridCol w="4942648"/>
              </a:tblGrid>
              <a:tr h="690563">
                <a:tc>
                  <a:txBody>
                    <a:bodyPr/>
                    <a:lstStyle/>
                    <a:p>
                      <a:r>
                        <a:rPr sz="1725" b="1">
                          <a:solidFill>
                            <a:srgbClr val="192E43"/>
                          </a:solidFill>
                          <a:latin typeface="Arial"/>
                          <a:ea typeface="Arial"/>
                          <a:cs typeface="Arial"/>
                        </a:rPr>
                        <a:t>Порядок</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Вершины</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690563">
                <a:tc>
                  <a:txBody>
                    <a:bodyPr/>
                    <a:lstStyle/>
                    <a:p>
                      <a:r>
                        <a:rPr sz="1725" b="0">
                          <a:solidFill>
                            <a:srgbClr val="192E43"/>
                          </a:solidFill>
                          <a:latin typeface="Arial"/>
                          <a:ea typeface="Arial"/>
                          <a:cs typeface="Arial"/>
                        </a:rPr>
                        <a:t>Входы DFS</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 1, 2, 3, затем 4</a:t>
                      </a:r>
                    </a:p>
                  </a:txBody>
                  <a:tcPr marL="91440" marR="91440" marT="45720" marB="45720">
                    <a:lnR w="9525">
                      <a:solidFill>
                        <a:srgbClr val="E2DCE0"/>
                      </a:solidFill>
                      <a:prstDash val="solid"/>
                    </a:lnR>
                    <a:lnB w="9525">
                      <a:solidFill>
                        <a:srgbClr val="E2DCE0"/>
                      </a:solidFill>
                      <a:prstDash val="solid"/>
                    </a:lnB>
                    <a:solidFill>
                      <a:srgbClr val="FFFEFC"/>
                    </a:solidFill>
                  </a:tcPr>
                </a:tc>
              </a:tr>
              <a:tr h="690563">
                <a:tc>
                  <a:txBody>
                    <a:bodyPr/>
                    <a:lstStyle/>
                    <a:p>
                      <a:r>
                        <a:rPr sz="1725" b="0">
                          <a:solidFill>
                            <a:srgbClr val="192E43"/>
                          </a:solidFill>
                          <a:latin typeface="Arial"/>
                          <a:ea typeface="Arial"/>
                          <a:cs typeface="Arial"/>
                        </a:rPr>
                        <a:t>Завершения</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3, 2, 1, 0, 4</a:t>
                      </a:r>
                    </a:p>
                  </a:txBody>
                  <a:tcPr marL="91440" marR="91440" marT="45720" marB="45720">
                    <a:lnR w="9525">
                      <a:solidFill>
                        <a:srgbClr val="E2DCE0"/>
                      </a:solidFill>
                      <a:prstDash val="solid"/>
                    </a:lnR>
                    <a:lnB w="9525">
                      <a:solidFill>
                        <a:srgbClr val="E2DCE0"/>
                      </a:solidFill>
                      <a:prstDash val="solid"/>
                    </a:lnB>
                    <a:solidFill>
                      <a:srgbClr val="FAF8F8"/>
                    </a:solidFill>
                  </a:tcPr>
                </a:tc>
              </a:tr>
              <a:tr h="690563">
                <a:tc>
                  <a:txBody>
                    <a:bodyPr/>
                    <a:lstStyle/>
                    <a:p>
                      <a:r>
                        <a:rPr sz="1725" b="0">
                          <a:solidFill>
                            <a:srgbClr val="192E43"/>
                          </a:solidFill>
                          <a:latin typeface="Arial"/>
                          <a:ea typeface="Arial"/>
                          <a:cs typeface="Arial"/>
                        </a:rPr>
                        <a:t>В обратном порядке завершения</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4, 0, 1, 2, 3</a:t>
                      </a:r>
                    </a:p>
                  </a:txBody>
                  <a:tcPr marL="91440" marR="91440" marT="45720" marB="45720">
                    <a:lnR w="9525">
                      <a:solidFill>
                        <a:srgbClr val="E2DCE0"/>
                      </a:solidFill>
                      <a:prstDash val="solid"/>
                    </a:lnR>
                    <a:lnB w="9525">
                      <a:solidFill>
                        <a:srgbClr val="E2DCE0"/>
                      </a:solidFill>
                      <a:prstDash val="solid"/>
                    </a:lnB>
                    <a:solidFill>
                      <a:srgbClr val="FFFEFC"/>
                    </a:solidFill>
                  </a:tcPr>
                </a:tc>
              </a:tr>
            </a:tbl>
          </a:graphicData>
        </a:graphic>
      </p:graphicFrame>
      <p:sp>
        <p:nvSpPr>
          <p:cNvPr id="6" name="">
            <a:extLst xmlns:a="http://schemas.openxmlformats.org/drawingml/2006/main">
              <a:ext uri="{FF2B5EF4-FFF2-40B4-BE49-F238E27FC236}">
                <a16:creationId xmlns:a16="http://schemas.microsoft.com/office/drawing/2014/main" id="{46941C75-D1D5-4D9A-BF0A-660F6362DCF0}"/>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Записываем вершину при выходе, когда все её исходящие рёбра просмотрены.</a:t>
            </a:r>
          </a:p>
        </p:txBody>
      </p:sp>
      <p:sp>
        <p:nvSpPr>
          <p:cNvPr id="7" name="">
            <a:extLst xmlns:a="http://schemas.openxmlformats.org/drawingml/2006/main">
              <a:ext uri="{FF2B5EF4-FFF2-40B4-BE49-F238E27FC236}">
                <a16:creationId xmlns:a16="http://schemas.microsoft.com/office/drawing/2014/main" id="{23B07D99-2E2C-4696-9421-1D9B214686A6}"/>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8D909874-7359-467C-A0DC-0D7187776EA4}"/>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29 / 64</a:t>
            </a:r>
          </a:p>
        </p:txBody>
      </p:sp>
    </p:spTree>
    <p:extLst>
      <p:ext uri="{BB962C8B-B14F-4D97-AF65-F5344CB8AC3E}">
        <p14:creationId xmlns:p14="http://schemas.microsoft.com/office/powerpoint/2010/main" val="697529154"/>
      </p:ext>
    </p:extLst>
  </p:cSld>
</p:sld>
</file>

<file path=ppt/slides/slide30.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2343DD4-71CA-4FEC-8CCF-159E8EE31F8B}"/>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Косарайю</a:t>
            </a:r>
          </a:p>
        </p:txBody>
      </p:sp>
      <p:sp>
        <p:nvSpPr>
          <p:cNvPr id="2" name="">
            <a:extLst xmlns:a="http://schemas.openxmlformats.org/drawingml/2006/main">
              <a:ext uri="{FF2B5EF4-FFF2-40B4-BE49-F238E27FC236}">
                <a16:creationId xmlns:a16="http://schemas.microsoft.com/office/drawing/2014/main" id="{6D6EB48D-D9EC-404F-94FB-28B0BAC092EB}"/>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Косарайю: развернуть каждую стрелку</a:t>
            </a:r>
          </a:p>
        </p:txBody>
      </p:sp>
      <p:sp>
        <p:nvSpPr>
          <p:cNvPr id="3" name="">
            <a:extLst xmlns:a="http://schemas.openxmlformats.org/drawingml/2006/main">
              <a:ext uri="{FF2B5EF4-FFF2-40B4-BE49-F238E27FC236}">
                <a16:creationId xmlns:a16="http://schemas.microsoft.com/office/drawing/2014/main" id="{DB06411E-D266-4C7A-9797-0FBC94D82EC2}"/>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Транспонированный граф — тот же набор вершин со всеми обратными рёбрами.</a:t>
            </a:r>
          </a:p>
        </p:txBody>
      </p:sp>
      <p:sp>
        <p:nvSpPr>
          <p:cNvPr id="4" name="">
            <a:extLst xmlns:a="http://schemas.openxmlformats.org/drawingml/2006/main">
              <a:ext uri="{FF2B5EF4-FFF2-40B4-BE49-F238E27FC236}">
                <a16:creationId xmlns:a16="http://schemas.microsoft.com/office/drawing/2014/main" id="{E68386B4-67BB-48B4-BC8F-9623EB26BF85}"/>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Было 1→2. Станет 2→1. Пары 0↔1 и 2↔3 останутся двусторонними.</a:t>
            </a:r>
          </a:p>
        </p:txBody>
      </p:sp>
      <p:sp>
        <p:nvSpPr>
          <p:cNvPr id="5" name="">
            <a:extLst xmlns:a="http://schemas.openxmlformats.org/drawingml/2006/main">
              <a:ext uri="{FF2B5EF4-FFF2-40B4-BE49-F238E27FC236}">
                <a16:creationId xmlns:a16="http://schemas.microsoft.com/office/drawing/2014/main" id="{8DE7743D-EAF2-445B-B5E7-16791A0A2389}"/>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Перед вторым обходом очищаем visited. Иначе все вершины уже помечены.</a:t>
            </a:r>
          </a:p>
        </p:txBody>
      </p:sp>
      <p:sp>
        <p:nvSpPr>
          <p:cNvPr id="6" name="">
            <a:extLst xmlns:a="http://schemas.openxmlformats.org/drawingml/2006/main">
              <a:ext uri="{FF2B5EF4-FFF2-40B4-BE49-F238E27FC236}">
                <a16:creationId xmlns:a16="http://schemas.microsoft.com/office/drawing/2014/main" id="{7C11B156-F275-475C-AC63-1AD2F5AFA23A}"/>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7" name="">
            <a:extLst xmlns:a="http://schemas.openxmlformats.org/drawingml/2006/main">
              <a:ext uri="{FF2B5EF4-FFF2-40B4-BE49-F238E27FC236}">
                <a16:creationId xmlns:a16="http://schemas.microsoft.com/office/drawing/2014/main" id="{AC1A5A39-AB37-456E-B363-7EA57F7A98E9}"/>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30 / 64</a:t>
            </a:r>
          </a:p>
        </p:txBody>
      </p:sp>
    </p:spTree>
    <p:extLst>
      <p:ext uri="{BB962C8B-B14F-4D97-AF65-F5344CB8AC3E}">
        <p14:creationId xmlns:p14="http://schemas.microsoft.com/office/powerpoint/2010/main" val="484844134"/>
      </p:ext>
    </p:extLst>
  </p:cSld>
</p:sld>
</file>

<file path=ppt/slides/slide31.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6162329-8380-48A2-802F-ECE4CF49E439}"/>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Косарайю</a:t>
            </a:r>
          </a:p>
        </p:txBody>
      </p:sp>
      <p:sp>
        <p:nvSpPr>
          <p:cNvPr id="2" name="">
            <a:extLst xmlns:a="http://schemas.openxmlformats.org/drawingml/2006/main">
              <a:ext uri="{FF2B5EF4-FFF2-40B4-BE49-F238E27FC236}">
                <a16:creationId xmlns:a16="http://schemas.microsoft.com/office/drawing/2014/main" id="{B37B1C9B-9058-429A-93B7-90403E6A07F3}"/>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Косарайю: второй обход выделяет группы</a:t>
            </a:r>
          </a:p>
        </p:txBody>
      </p:sp>
      <p:sp>
        <p:nvSpPr>
          <p:cNvPr id="3" name="">
            <a:extLst xmlns:a="http://schemas.openxmlformats.org/drawingml/2006/main">
              <a:ext uri="{FF2B5EF4-FFF2-40B4-BE49-F238E27FC236}">
                <a16:creationId xmlns:a16="http://schemas.microsoft.com/office/drawing/2014/main" id="{D8888A5F-F391-4775-B71A-81B91A294E8F}"/>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Второй обход начинает новую группу с каждой ещё не помеченной вершины.</a:t>
            </a:r>
          </a:p>
        </p:txBody>
      </p:sp>
      <p:sp>
        <p:nvSpPr>
          <p:cNvPr id="4" name="">
            <a:extLst xmlns:a="http://schemas.openxmlformats.org/drawingml/2006/main">
              <a:ext uri="{FF2B5EF4-FFF2-40B4-BE49-F238E27FC236}">
                <a16:creationId xmlns:a16="http://schemas.microsoft.com/office/drawing/2014/main" id="{FA07332F-1B60-4BB8-A85C-DDF858F534E2}"/>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Порядок старта 4,0,1,2,3. Уже найденную группу повторно не обходим.</a:t>
            </a:r>
          </a:p>
        </p:txBody>
      </p:sp>
      <p:graphicFrame>
        <p:nvGraphicFramePr>
          <p:cNvPr id="5" name="">
            <a:extLst xmlns:a="http://schemas.openxmlformats.org/drawingml/2006/main">
              <a:ext uri="{FF2B5EF4-FFF2-40B4-BE49-F238E27FC236}">
                <a16:creationId xmlns:a16="http://schemas.microsoft.com/office/drawing/2014/main" id="{A9D0573E-60FD-4B40-8DC0-AD59E8D16131}"/>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3393487"/>
                <a:gridCol w="4078464"/>
                <a:gridCol w="3577049"/>
              </a:tblGrid>
              <a:tr h="460375">
                <a:tc>
                  <a:txBody>
                    <a:bodyPr/>
                    <a:lstStyle/>
                    <a:p>
                      <a:r>
                        <a:rPr sz="1725" b="1">
                          <a:solidFill>
                            <a:srgbClr val="192E43"/>
                          </a:solidFill>
                          <a:latin typeface="Arial"/>
                          <a:ea typeface="Arial"/>
                          <a:cs typeface="Arial"/>
                        </a:rPr>
                        <a:t>Старт</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Новые вершины</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Группа</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460375">
                <a:tc>
                  <a:txBody>
                    <a:bodyPr/>
                    <a:lstStyle/>
                    <a:p>
                      <a:r>
                        <a:rPr sz="1725" b="0">
                          <a:solidFill>
                            <a:srgbClr val="192E43"/>
                          </a:solidFill>
                          <a:latin typeface="Arial"/>
                          <a:ea typeface="Arial"/>
                          <a:cs typeface="Arial"/>
                        </a:rPr>
                        <a:t>4</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4</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{4}</a:t>
                      </a:r>
                    </a:p>
                  </a:txBody>
                  <a:tcPr marL="91440" marR="91440" marT="45720" marB="45720">
                    <a:lnR w="9525">
                      <a:solidFill>
                        <a:srgbClr val="E2DCE0"/>
                      </a:solidFill>
                      <a:prstDash val="solid"/>
                    </a:lnR>
                    <a:lnB w="9525">
                      <a:solidFill>
                        <a:srgbClr val="E2DCE0"/>
                      </a:solidFill>
                      <a:prstDash val="solid"/>
                    </a:lnB>
                    <a:solidFill>
                      <a:srgbClr val="FFFEFC"/>
                    </a:solidFill>
                  </a:tcPr>
                </a:tc>
              </a:tr>
              <a:tr h="460375">
                <a:tc>
                  <a:txBody>
                    <a:bodyPr/>
                    <a:lstStyle/>
                    <a:p>
                      <a:r>
                        <a:rPr sz="1725" b="0">
                          <a:solidFill>
                            <a:srgbClr val="192E43"/>
                          </a:solidFill>
                          <a:latin typeface="Arial"/>
                          <a:ea typeface="Arial"/>
                          <a:cs typeface="Arial"/>
                        </a:rPr>
                        <a:t>0</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0, 1</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{0,1}</a:t>
                      </a:r>
                    </a:p>
                  </a:txBody>
                  <a:tcPr marL="91440" marR="91440" marT="45720" marB="45720">
                    <a:lnR w="9525">
                      <a:solidFill>
                        <a:srgbClr val="E2DCE0"/>
                      </a:solidFill>
                      <a:prstDash val="solid"/>
                    </a:lnR>
                    <a:lnB w="9525">
                      <a:solidFill>
                        <a:srgbClr val="E2DCE0"/>
                      </a:solidFill>
                      <a:prstDash val="solid"/>
                    </a:lnB>
                    <a:solidFill>
                      <a:srgbClr val="FAF8F8"/>
                    </a:solidFill>
                  </a:tcPr>
                </a:tc>
              </a:tr>
              <a:tr h="460375">
                <a:tc>
                  <a:txBody>
                    <a:bodyPr/>
                    <a:lstStyle/>
                    <a:p>
                      <a:r>
                        <a:rPr sz="1725" b="0">
                          <a:solidFill>
                            <a:srgbClr val="192E43"/>
                          </a:solidFill>
                          <a:latin typeface="Arial"/>
                          <a:ea typeface="Arial"/>
                          <a:cs typeface="Arial"/>
                        </a:rPr>
                        <a:t>1</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Уже помечена</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Пропустить</a:t>
                      </a:r>
                    </a:p>
                  </a:txBody>
                  <a:tcPr marL="91440" marR="91440" marT="45720" marB="45720">
                    <a:lnR w="9525">
                      <a:solidFill>
                        <a:srgbClr val="E2DCE0"/>
                      </a:solidFill>
                      <a:prstDash val="solid"/>
                    </a:lnR>
                    <a:lnB w="9525">
                      <a:solidFill>
                        <a:srgbClr val="E2DCE0"/>
                      </a:solidFill>
                      <a:prstDash val="solid"/>
                    </a:lnB>
                    <a:solidFill>
                      <a:srgbClr val="FFFEFC"/>
                    </a:solidFill>
                  </a:tcPr>
                </a:tc>
              </a:tr>
              <a:tr h="460375">
                <a:tc>
                  <a:txBody>
                    <a:bodyPr/>
                    <a:lstStyle/>
                    <a:p>
                      <a:r>
                        <a:rPr sz="1725" b="0">
                          <a:solidFill>
                            <a:srgbClr val="192E43"/>
                          </a:solidFill>
                          <a:latin typeface="Arial"/>
                          <a:ea typeface="Arial"/>
                          <a:cs typeface="Arial"/>
                        </a:rPr>
                        <a:t>2</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2, 3</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{2,3}</a:t>
                      </a:r>
                    </a:p>
                  </a:txBody>
                  <a:tcPr marL="91440" marR="91440" marT="45720" marB="45720">
                    <a:lnR w="9525">
                      <a:solidFill>
                        <a:srgbClr val="E2DCE0"/>
                      </a:solidFill>
                      <a:prstDash val="solid"/>
                    </a:lnR>
                    <a:lnB w="9525">
                      <a:solidFill>
                        <a:srgbClr val="E2DCE0"/>
                      </a:solidFill>
                      <a:prstDash val="solid"/>
                    </a:lnB>
                    <a:solidFill>
                      <a:srgbClr val="FAF8F8"/>
                    </a:solidFill>
                  </a:tcPr>
                </a:tc>
              </a:tr>
              <a:tr h="460375">
                <a:tc>
                  <a:txBody>
                    <a:bodyPr/>
                    <a:lstStyle/>
                    <a:p>
                      <a:r>
                        <a:rPr sz="1725" b="0">
                          <a:solidFill>
                            <a:srgbClr val="192E43"/>
                          </a:solidFill>
                          <a:latin typeface="Arial"/>
                          <a:ea typeface="Arial"/>
                          <a:cs typeface="Arial"/>
                        </a:rPr>
                        <a:t>3</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Уже помечена</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Пропустить</a:t>
                      </a:r>
                    </a:p>
                  </a:txBody>
                  <a:tcPr marL="91440" marR="91440" marT="45720" marB="45720">
                    <a:lnR w="9525">
                      <a:solidFill>
                        <a:srgbClr val="E2DCE0"/>
                      </a:solidFill>
                      <a:prstDash val="solid"/>
                    </a:lnR>
                    <a:lnB w="9525">
                      <a:solidFill>
                        <a:srgbClr val="E2DCE0"/>
                      </a:solidFill>
                      <a:prstDash val="solid"/>
                    </a:lnB>
                    <a:solidFill>
                      <a:srgbClr val="FFFEFC"/>
                    </a:solidFill>
                  </a:tcPr>
                </a:tc>
              </a:tr>
            </a:tbl>
          </a:graphicData>
        </a:graphic>
      </p:graphicFrame>
      <p:sp>
        <p:nvSpPr>
          <p:cNvPr id="6" name="">
            <a:extLst xmlns:a="http://schemas.openxmlformats.org/drawingml/2006/main">
              <a:ext uri="{FF2B5EF4-FFF2-40B4-BE49-F238E27FC236}">
                <a16:creationId xmlns:a16="http://schemas.microsoft.com/office/drawing/2014/main" id="{B83C3C65-63AE-4FE4-830D-C1DD96694838}"/>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Из 2 в обратном графе есть путь к 1, но 1 уже помечена. Через неё не идём.</a:t>
            </a:r>
          </a:p>
        </p:txBody>
      </p:sp>
      <p:sp>
        <p:nvSpPr>
          <p:cNvPr id="7" name="">
            <a:extLst xmlns:a="http://schemas.openxmlformats.org/drawingml/2006/main">
              <a:ext uri="{FF2B5EF4-FFF2-40B4-BE49-F238E27FC236}">
                <a16:creationId xmlns:a16="http://schemas.microsoft.com/office/drawing/2014/main" id="{71439ED0-0364-4076-A262-A9E97FCEC95B}"/>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51E81442-40A4-4ECA-8B70-359BA8AC209F}"/>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31 / 64</a:t>
            </a:r>
          </a:p>
        </p:txBody>
      </p:sp>
    </p:spTree>
    <p:extLst>
      <p:ext uri="{BB962C8B-B14F-4D97-AF65-F5344CB8AC3E}">
        <p14:creationId xmlns:p14="http://schemas.microsoft.com/office/powerpoint/2010/main" val="654082086"/>
      </p:ext>
    </p:extLst>
  </p:cSld>
</p:sld>
</file>

<file path=ppt/slides/slide32.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9017B80-AAED-47A1-9780-5E27E72081EF}"/>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Косарайю</a:t>
            </a:r>
          </a:p>
        </p:txBody>
      </p:sp>
      <p:sp>
        <p:nvSpPr>
          <p:cNvPr id="2" name="">
            <a:extLst xmlns:a="http://schemas.openxmlformats.org/drawingml/2006/main">
              <a:ext uri="{FF2B5EF4-FFF2-40B4-BE49-F238E27FC236}">
                <a16:creationId xmlns:a16="http://schemas.microsoft.com/office/drawing/2014/main" id="{CE763A70-711C-4BC1-8847-C7EFF24AF177}"/>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component: метка для каждой вершины</a:t>
            </a:r>
          </a:p>
        </p:txBody>
      </p:sp>
      <p:sp>
        <p:nvSpPr>
          <p:cNvPr id="3" name="">
            <a:extLst xmlns:a="http://schemas.openxmlformats.org/drawingml/2006/main">
              <a:ext uri="{FF2B5EF4-FFF2-40B4-BE49-F238E27FC236}">
                <a16:creationId xmlns:a16="http://schemas.microsoft.com/office/drawing/2014/main" id="{871D3032-7236-4B69-88EA-68EFF47D6615}"/>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Одинаковая метка означает одну SCC. Само число метки не важно.</a:t>
            </a:r>
          </a:p>
        </p:txBody>
      </p:sp>
      <p:sp>
        <p:nvSpPr>
          <p:cNvPr id="4" name="">
            <a:extLst xmlns:a="http://schemas.openxmlformats.org/drawingml/2006/main">
              <a:ext uri="{FF2B5EF4-FFF2-40B4-BE49-F238E27FC236}">
                <a16:creationId xmlns:a16="http://schemas.microsoft.com/office/drawing/2014/main" id="{B14B2976-47B5-424D-BC53-036A694B6C7E}"/>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Можно вернуть [7,7,9,9,12] или [1,1,2,2,0].</a:t>
            </a:r>
          </a:p>
        </p:txBody>
      </p:sp>
      <p:sp>
        <p:nvSpPr>
          <p:cNvPr id="5" name="">
            <a:extLst xmlns:a="http://schemas.openxmlformats.org/drawingml/2006/main">
              <a:ext uri="{FF2B5EF4-FFF2-40B4-BE49-F238E27FC236}">
                <a16:creationId xmlns:a16="http://schemas.microsoft.com/office/drawing/2014/main" id="{360C15B7-49DA-4181-9DAA-82D4DECFEB21}"/>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Оба ответа задают те же группы: {0,1}, {2,3}, {4}.</a:t>
            </a:r>
          </a:p>
        </p:txBody>
      </p:sp>
      <p:sp>
        <p:nvSpPr>
          <p:cNvPr id="6" name="">
            <a:extLst xmlns:a="http://schemas.openxmlformats.org/drawingml/2006/main">
              <a:ext uri="{FF2B5EF4-FFF2-40B4-BE49-F238E27FC236}">
                <a16:creationId xmlns:a16="http://schemas.microsoft.com/office/drawing/2014/main" id="{AC8C30DC-FA46-43BE-8F99-B383FADD8BC5}"/>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7" name="">
            <a:extLst xmlns:a="http://schemas.openxmlformats.org/drawingml/2006/main">
              <a:ext uri="{FF2B5EF4-FFF2-40B4-BE49-F238E27FC236}">
                <a16:creationId xmlns:a16="http://schemas.microsoft.com/office/drawing/2014/main" id="{4B886C48-2E3A-4C32-ABB7-190F3DA6E4B5}"/>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32 / 64</a:t>
            </a:r>
          </a:p>
        </p:txBody>
      </p:sp>
    </p:spTree>
    <p:extLst>
      <p:ext uri="{BB962C8B-B14F-4D97-AF65-F5344CB8AC3E}">
        <p14:creationId xmlns:p14="http://schemas.microsoft.com/office/powerpoint/2010/main" val="869135123"/>
      </p:ext>
    </p:extLst>
  </p:cSld>
</p:sld>
</file>

<file path=ppt/slides/slide33.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1081DB9-2EBB-4E67-8905-B89A58E49533}"/>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Косарайю</a:t>
            </a:r>
          </a:p>
        </p:txBody>
      </p:sp>
      <p:sp>
        <p:nvSpPr>
          <p:cNvPr id="2" name="">
            <a:extLst xmlns:a="http://schemas.openxmlformats.org/drawingml/2006/main">
              <a:ext uri="{FF2B5EF4-FFF2-40B4-BE49-F238E27FC236}">
                <a16:creationId xmlns:a16="http://schemas.microsoft.com/office/drawing/2014/main" id="{A1F0619C-065F-4038-A625-005B874D5DF0}"/>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Конденсация: заменить группу одной вершиной</a:t>
            </a:r>
          </a:p>
        </p:txBody>
      </p:sp>
      <p:sp>
        <p:nvSpPr>
          <p:cNvPr id="3" name="">
            <a:extLst xmlns:a="http://schemas.openxmlformats.org/drawingml/2006/main">
              <a:ext uri="{FF2B5EF4-FFF2-40B4-BE49-F238E27FC236}">
                <a16:creationId xmlns:a16="http://schemas.microsoft.com/office/drawing/2014/main" id="{7C9F8078-AE51-42CF-B0C0-A697E3CD2E83}"/>
              </a:ext>
            </a:extLst>
          </p:cNvPr>
          <p:cNvSpPr>
            <a:spLocks xmlns:a="http://schemas.openxmlformats.org/drawingml/2006/main" noGrp="1"/>
          </p:cNvSpPr>
          <p:nvPr/>
        </p:nvSpPr>
        <p:spPr>
          <a:xfrm xmlns:a="http://schemas.openxmlformats.org/drawingml/2006/main">
            <a:off x="571500" y="1638300"/>
            <a:ext cx="1104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0">
                <a:solidFill>
                  <a:srgbClr val="192E43"/>
                </a:solidFill>
                <a:latin typeface="Arial"/>
                <a:ea typeface="Arial"/>
                <a:cs typeface="Arial"/>
              </a:defRPr>
            </a:defPPr>
          </a:lstStyle>
          <a:p xmlns:a="http://schemas.openxmlformats.org/drawingml/2006/main">
            <a:pPr>
              <a:defRPr sz="2175" b="0">
                <a:solidFill>
                  <a:srgbClr val="192E43"/>
                </a:solidFill>
                <a:latin typeface="Arial"/>
                <a:ea typeface="Arial"/>
                <a:cs typeface="Arial"/>
              </a:defRPr>
            </a:pPr>
            <a:r>
              <a:rPr sz="2175" b="0">
                <a:solidFill>
                  <a:srgbClr val="192E43"/>
                </a:solidFill>
                <a:latin typeface="Arial"/>
                <a:ea typeface="Arial"/>
                <a:cs typeface="Arial"/>
              </a:rPr>
              <a:t>Оставляем только переходы между разными SCC, без повторений.</a:t>
            </a:r>
          </a:p>
        </p:txBody>
      </p:sp>
      <p:sp>
        <p:nvSpPr>
          <p:cNvPr id="4" name="">
            <a:extLst xmlns:a="http://schemas.openxmlformats.org/drawingml/2006/main">
              <a:ext uri="{FF2B5EF4-FFF2-40B4-BE49-F238E27FC236}">
                <a16:creationId xmlns:a16="http://schemas.microsoft.com/office/drawing/2014/main" id="{639A7402-F797-43B7-B980-637DA7C418DF}"/>
              </a:ext>
            </a:extLst>
          </p:cNvPr>
          <p:cNvSpPr>
            <a:spLocks xmlns:a="http://schemas.openxmlformats.org/drawingml/2006/main" noGrp="1"/>
          </p:cNvSpPr>
          <p:nvPr/>
        </p:nvSpPr>
        <p:spPr>
          <a:xfrm xmlns:a="http://schemas.openxmlformats.org/drawingml/2006/main">
            <a:off x="571500" y="2505075"/>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При метках [7,7,9,9,12] два ребра 1→2 дают один переход [7,9].</a:t>
            </a:r>
          </a:p>
        </p:txBody>
      </p:sp>
      <p:sp>
        <p:nvSpPr>
          <p:cNvPr id="5" name="">
            <a:extLst xmlns:a="http://schemas.openxmlformats.org/drawingml/2006/main">
              <a:ext uri="{FF2B5EF4-FFF2-40B4-BE49-F238E27FC236}">
                <a16:creationId xmlns:a16="http://schemas.microsoft.com/office/drawing/2014/main" id="{9307F438-1312-4B17-AE02-9894B3300223}"/>
              </a:ext>
            </a:extLst>
          </p:cNvPr>
          <p:cNvSpPr>
            <a:spLocks xmlns:a="http://schemas.openxmlformats.org/drawingml/2006/main" noGrp="1"/>
          </p:cNvSpPr>
          <p:nvPr/>
        </p:nvSpPr>
        <p:spPr>
          <a:xfrm xmlns:a="http://schemas.openxmlformats.org/drawingml/2006/main">
            <a:off x="781050" y="3448050"/>
            <a:ext cx="106299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Courier New"/>
                <a:ea typeface="Courier New"/>
                <a:cs typeface="Courier New"/>
              </a:defRPr>
            </a:defPPr>
          </a:lstStyle>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int a = component[u];</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int b = component[v];</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if (a != b) {</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    pairs.add(new Pair(a, b));</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3BAA3A58-8E0F-46CA-A7EB-5183B9992604}"/>
              </a:ext>
            </a:extLst>
          </p:cNvPr>
          <p:cNvSpPr>
            <a:spLocks xmlns:a="http://schemas.openxmlformats.org/drawingml/2006/main" noGrp="1"/>
          </p:cNvSpPr>
          <p:nvPr/>
        </p:nvSpPr>
        <p:spPr>
          <a:xfrm xmlns:a="http://schemas.openxmlformats.org/drawingml/2006/main">
            <a:off x="571500" y="5648325"/>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1">
                <a:solidFill>
                  <a:srgbClr val="AC4D73"/>
                </a:solidFill>
                <a:latin typeface="Arial"/>
                <a:ea typeface="Arial"/>
                <a:cs typeface="Arial"/>
              </a:defRPr>
            </a:defPPr>
          </a:lstStyle>
          <a:p xmlns:a="http://schemas.openxmlformats.org/drawingml/2006/main">
            <a:pPr>
              <a:defRPr sz="2025" b="1">
                <a:solidFill>
                  <a:srgbClr val="AC4D73"/>
                </a:solidFill>
                <a:latin typeface="Arial"/>
                <a:ea typeface="Arial"/>
                <a:cs typeface="Arial"/>
              </a:defRPr>
            </a:pPr>
            <a:r>
              <a:rPr sz="2025" b="1">
                <a:solidFill>
                  <a:srgbClr val="AC4D73"/>
                </a:solidFill>
                <a:latin typeface="Arial"/>
                <a:ea typeface="Arial"/>
                <a:cs typeface="Arial"/>
              </a:rPr>
              <a:t>Внутренние рёбра группы в ответ не входят. condensation=[[7,9]].</a:t>
            </a:r>
          </a:p>
        </p:txBody>
      </p:sp>
      <p:sp>
        <p:nvSpPr>
          <p:cNvPr id="7" name="">
            <a:extLst xmlns:a="http://schemas.openxmlformats.org/drawingml/2006/main">
              <a:ext uri="{FF2B5EF4-FFF2-40B4-BE49-F238E27FC236}">
                <a16:creationId xmlns:a16="http://schemas.microsoft.com/office/drawing/2014/main" id="{E5D9E807-F1C1-4DD4-9885-FA87EBF003DA}"/>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904F8733-4D6A-4083-861A-98A604F22787}"/>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33 / 64</a:t>
            </a:r>
          </a:p>
        </p:txBody>
      </p:sp>
    </p:spTree>
    <p:extLst>
      <p:ext uri="{BB962C8B-B14F-4D97-AF65-F5344CB8AC3E}">
        <p14:creationId xmlns:p14="http://schemas.microsoft.com/office/powerpoint/2010/main" val="518424599"/>
      </p:ext>
    </p:extLst>
  </p:cSld>
</p:sld>
</file>

<file path=ppt/slides/slide34.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76D4AD0-C2B8-4228-BC87-2DDBFDED7A64}"/>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Косарайю</a:t>
            </a:r>
          </a:p>
        </p:txBody>
      </p:sp>
      <p:sp>
        <p:nvSpPr>
          <p:cNvPr id="2" name="">
            <a:extLst xmlns:a="http://schemas.openxmlformats.org/drawingml/2006/main">
              <a:ext uri="{FF2B5EF4-FFF2-40B4-BE49-F238E27FC236}">
                <a16:creationId xmlns:a16="http://schemas.microsoft.com/office/drawing/2014/main" id="{325A0EB7-9F33-468A-AE76-B74E27CF7560}"/>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SCC: полный вход и один правильный ответ</a:t>
            </a:r>
          </a:p>
        </p:txBody>
      </p:sp>
      <p:sp>
        <p:nvSpPr>
          <p:cNvPr id="3" name="">
            <a:extLst xmlns:a="http://schemas.openxmlformats.org/drawingml/2006/main">
              <a:ext uri="{FF2B5EF4-FFF2-40B4-BE49-F238E27FC236}">
                <a16:creationId xmlns:a16="http://schemas.microsoft.com/office/drawing/2014/main" id="{9604325E-0DBD-4ABB-BABB-428975EBDB22}"/>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component содержит метку каждой из пяти вершин. condensation перечисляет связи меток.</a:t>
            </a:r>
          </a:p>
        </p:txBody>
      </p:sp>
      <p:sp>
        <p:nvSpPr>
          <p:cNvPr id="4" name="">
            <a:extLst xmlns:a="http://schemas.openxmlformats.org/drawingml/2006/main">
              <a:ext uri="{FF2B5EF4-FFF2-40B4-BE49-F238E27FC236}">
                <a16:creationId xmlns:a16="http://schemas.microsoft.com/office/drawing/2014/main" id="{13E9C0E5-AF3D-468C-82DD-5B035AA27BED}"/>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Два ребра 1→2 дают только одну пару [7,9]. Вершина 4 имеет отдельную метку 12.</a:t>
            </a:r>
          </a:p>
        </p:txBody>
      </p:sp>
      <p:graphicFrame>
        <p:nvGraphicFramePr>
          <p:cNvPr id="5" name="">
            <a:extLst xmlns:a="http://schemas.openxmlformats.org/drawingml/2006/main">
              <a:ext uri="{FF2B5EF4-FFF2-40B4-BE49-F238E27FC236}">
                <a16:creationId xmlns:a16="http://schemas.microsoft.com/office/drawing/2014/main" id="{DFD31572-1E08-43F8-BD02-1F1BA43D3C60}"/>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2979763"/>
                <a:gridCol w="8069237"/>
              </a:tblGrid>
              <a:tr h="920750">
                <a:tc>
                  <a:txBody>
                    <a:bodyPr/>
                    <a:lstStyle/>
                    <a:p>
                      <a:r>
                        <a:rPr sz="1725" b="1">
                          <a:solidFill>
                            <a:srgbClr val="192E43"/>
                          </a:solidFill>
                          <a:latin typeface="Arial"/>
                          <a:ea typeface="Arial"/>
                          <a:cs typeface="Arial"/>
                        </a:rPr>
                        <a:t>Что</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JSON</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920750">
                <a:tc>
                  <a:txBody>
                    <a:bodyPr/>
                    <a:lstStyle/>
                    <a:p>
                      <a:r>
                        <a:rPr sz="1725" b="0">
                          <a:solidFill>
                            <a:srgbClr val="192E43"/>
                          </a:solidFill>
                          <a:latin typeface="Arial"/>
                          <a:ea typeface="Arial"/>
                          <a:cs typeface="Arial"/>
                        </a:rPr>
                        <a:t>Вход</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{"task":"scc","n":5,"edges":[[0,1],[1,0],[1,2],[1,2],[2,3],[3,2]]}</a:t>
                      </a:r>
                    </a:p>
                  </a:txBody>
                  <a:tcPr marL="91440" marR="91440" marT="45720" marB="45720">
                    <a:lnR w="9525">
                      <a:solidFill>
                        <a:srgbClr val="E2DCE0"/>
                      </a:solidFill>
                      <a:prstDash val="solid"/>
                    </a:lnR>
                    <a:lnB w="9525">
                      <a:solidFill>
                        <a:srgbClr val="E2DCE0"/>
                      </a:solidFill>
                      <a:prstDash val="solid"/>
                    </a:lnB>
                    <a:solidFill>
                      <a:srgbClr val="FFFEFC"/>
                    </a:solidFill>
                  </a:tcPr>
                </a:tc>
              </a:tr>
              <a:tr h="920750">
                <a:tc>
                  <a:txBody>
                    <a:bodyPr/>
                    <a:lstStyle/>
                    <a:p>
                      <a:r>
                        <a:rPr sz="1725" b="0">
                          <a:solidFill>
                            <a:srgbClr val="192E43"/>
                          </a:solidFill>
                          <a:latin typeface="Arial"/>
                          <a:ea typeface="Arial"/>
                          <a:cs typeface="Arial"/>
                        </a:rPr>
                        <a:t>Выход</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{"component":[7,7,9,9,12],"condensation":[[7,9]]}</a:t>
                      </a:r>
                    </a:p>
                  </a:txBody>
                  <a:tcPr marL="91440" marR="91440" marT="45720" marB="45720">
                    <a:lnR w="9525">
                      <a:solidFill>
                        <a:srgbClr val="E2DCE0"/>
                      </a:solidFill>
                      <a:prstDash val="solid"/>
                    </a:lnR>
                    <a:lnB w="9525">
                      <a:solidFill>
                        <a:srgbClr val="E2DCE0"/>
                      </a:solidFill>
                      <a:prstDash val="solid"/>
                    </a:lnB>
                    <a:solidFill>
                      <a:srgbClr val="FAF8F8"/>
                    </a:solidFill>
                  </a:tcPr>
                </a:tc>
              </a:tr>
            </a:tbl>
          </a:graphicData>
        </a:graphic>
      </p:graphicFrame>
      <p:sp>
        <p:nvSpPr>
          <p:cNvPr id="6" name="">
            <a:extLst xmlns:a="http://schemas.openxmlformats.org/drawingml/2006/main">
              <a:ext uri="{FF2B5EF4-FFF2-40B4-BE49-F238E27FC236}">
                <a16:creationId xmlns:a16="http://schemas.microsoft.com/office/drawing/2014/main" id="{DA00C1E3-F19A-45B6-AD32-2D2CF49F1FD2}"/>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Другие неотрицательные метки допустимы, если группы и связи остаются теми же.</a:t>
            </a:r>
          </a:p>
        </p:txBody>
      </p:sp>
      <p:sp>
        <p:nvSpPr>
          <p:cNvPr id="7" name="">
            <a:extLst xmlns:a="http://schemas.openxmlformats.org/drawingml/2006/main">
              <a:ext uri="{FF2B5EF4-FFF2-40B4-BE49-F238E27FC236}">
                <a16:creationId xmlns:a16="http://schemas.microsoft.com/office/drawing/2014/main" id="{9939F57A-E6B1-4FD7-88A9-B7BC2988829D}"/>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62C4B0D2-6A44-4D3C-B6DD-F72A0B7E11E4}"/>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34 / 64</a:t>
            </a:r>
          </a:p>
        </p:txBody>
      </p:sp>
    </p:spTree>
    <p:extLst>
      <p:ext uri="{BB962C8B-B14F-4D97-AF65-F5344CB8AC3E}">
        <p14:creationId xmlns:p14="http://schemas.microsoft.com/office/powerpoint/2010/main" val="1453311222"/>
      </p:ext>
    </p:extLst>
  </p:cSld>
</p:sld>
</file>

<file path=ppt/slides/slide35.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A1F0915-6D1F-4786-BF84-77360E62FF70}"/>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Порядок работ</a:t>
            </a:r>
          </a:p>
        </p:txBody>
      </p:sp>
      <p:sp>
        <p:nvSpPr>
          <p:cNvPr id="2" name="">
            <a:extLst xmlns:a="http://schemas.openxmlformats.org/drawingml/2006/main">
              <a:ext uri="{FF2B5EF4-FFF2-40B4-BE49-F238E27FC236}">
                <a16:creationId xmlns:a16="http://schemas.microsoft.com/office/drawing/2014/main" id="{6AF77D59-7EB8-4E1A-8D0B-48B2549C33C6}"/>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Topo: порядок работ без нарушения зависимостей</a:t>
            </a:r>
          </a:p>
        </p:txBody>
      </p:sp>
      <p:sp>
        <p:nvSpPr>
          <p:cNvPr id="3" name="">
            <a:extLst xmlns:a="http://schemas.openxmlformats.org/drawingml/2006/main">
              <a:ext uri="{FF2B5EF4-FFF2-40B4-BE49-F238E27FC236}">
                <a16:creationId xmlns:a16="http://schemas.microsoft.com/office/drawing/2014/main" id="{D2BD94A7-2A82-46D3-8196-BC9AA94E0608}"/>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Ребро u→v означает: работа u должна закончиться раньше v.</a:t>
            </a:r>
          </a:p>
        </p:txBody>
      </p:sp>
      <p:sp>
        <p:nvSpPr>
          <p:cNvPr id="4" name="">
            <a:extLst xmlns:a="http://schemas.openxmlformats.org/drawingml/2006/main">
              <a:ext uri="{FF2B5EF4-FFF2-40B4-BE49-F238E27FC236}">
                <a16:creationId xmlns:a16="http://schemas.microsoft.com/office/drawing/2014/main" id="{4964D9FD-1079-408F-A18A-228AF7E8D731}"/>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0: подготовить площадку. 1: установить сцену. 2: провести питание. 3: начать концерт.</a:t>
            </a:r>
          </a:p>
        </p:txBody>
      </p:sp>
      <p:sp>
        <p:nvSpPr>
          <p:cNvPr id="5" name="">
            <a:extLst xmlns:a="http://schemas.openxmlformats.org/drawingml/2006/main">
              <a:ext uri="{FF2B5EF4-FFF2-40B4-BE49-F238E27FC236}">
                <a16:creationId xmlns:a16="http://schemas.microsoft.com/office/drawing/2014/main" id="{D0001D31-5333-4689-A3C8-2F997F3D356B}"/>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Зависимости: 0→1, 0→2, 1→3, 2→3. Концерт идёт после обеих подготовок.</a:t>
            </a:r>
          </a:p>
        </p:txBody>
      </p:sp>
      <p:sp>
        <p:nvSpPr>
          <p:cNvPr id="6" name="">
            <a:extLst xmlns:a="http://schemas.openxmlformats.org/drawingml/2006/main">
              <a:ext uri="{FF2B5EF4-FFF2-40B4-BE49-F238E27FC236}">
                <a16:creationId xmlns:a16="http://schemas.microsoft.com/office/drawing/2014/main" id="{92FC135A-CD38-4DB2-B43F-F5600EB5B29C}"/>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7" name="">
            <a:extLst xmlns:a="http://schemas.openxmlformats.org/drawingml/2006/main">
              <a:ext uri="{FF2B5EF4-FFF2-40B4-BE49-F238E27FC236}">
                <a16:creationId xmlns:a16="http://schemas.microsoft.com/office/drawing/2014/main" id="{6F1A8502-5C2A-424D-8A11-508122E9D2D4}"/>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35 / 64</a:t>
            </a:r>
          </a:p>
        </p:txBody>
      </p:sp>
    </p:spTree>
    <p:extLst>
      <p:ext uri="{BB962C8B-B14F-4D97-AF65-F5344CB8AC3E}">
        <p14:creationId xmlns:p14="http://schemas.microsoft.com/office/powerpoint/2010/main" val="844954355"/>
      </p:ext>
    </p:extLst>
  </p:cSld>
</p:sld>
</file>

<file path=ppt/slides/slide36.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046EFDB-5EB2-4AAE-9DF0-CCB23554F9AD}"/>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Порядок работ</a:t>
            </a:r>
          </a:p>
        </p:txBody>
      </p:sp>
      <p:sp>
        <p:nvSpPr>
          <p:cNvPr id="2" name="">
            <a:extLst xmlns:a="http://schemas.openxmlformats.org/drawingml/2006/main">
              <a:ext uri="{FF2B5EF4-FFF2-40B4-BE49-F238E27FC236}">
                <a16:creationId xmlns:a16="http://schemas.microsoft.com/office/drawing/2014/main" id="{474B4486-410C-4EE4-B24A-2BBDC8442555}"/>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Три состояния DFS</a:t>
            </a:r>
          </a:p>
        </p:txBody>
      </p:sp>
      <p:sp>
        <p:nvSpPr>
          <p:cNvPr id="3" name="">
            <a:extLst xmlns:a="http://schemas.openxmlformats.org/drawingml/2006/main">
              <a:ext uri="{FF2B5EF4-FFF2-40B4-BE49-F238E27FC236}">
                <a16:creationId xmlns:a16="http://schemas.microsoft.com/office/drawing/2014/main" id="{AC0E1AE1-9C88-42BA-BDD0-E992D3837DA5}"/>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Нужно отличать текущую незавершённую цепочку от уже обработанной вершины.</a:t>
            </a:r>
          </a:p>
        </p:txBody>
      </p:sp>
      <p:sp>
        <p:nvSpPr>
          <p:cNvPr id="4" name="">
            <a:extLst xmlns:a="http://schemas.openxmlformats.org/drawingml/2006/main">
              <a:ext uri="{FF2B5EF4-FFF2-40B4-BE49-F238E27FC236}">
                <a16:creationId xmlns:a16="http://schemas.microsoft.com/office/drawing/2014/main" id="{8FF3A8BA-5DB7-47F1-917E-EB250850881B}"/>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WHITE: не начинали. GRAY: начали, ещё не вышли. BLACK: закончили.</a:t>
            </a:r>
          </a:p>
        </p:txBody>
      </p:sp>
      <p:graphicFrame>
        <p:nvGraphicFramePr>
          <p:cNvPr id="5" name="">
            <a:extLst xmlns:a="http://schemas.openxmlformats.org/drawingml/2006/main">
              <a:ext uri="{FF2B5EF4-FFF2-40B4-BE49-F238E27FC236}">
                <a16:creationId xmlns:a16="http://schemas.microsoft.com/office/drawing/2014/main" id="{CCC853B5-B5B4-4A24-A701-291699B5717A}"/>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2803078"/>
                <a:gridCol w="4281772"/>
                <a:gridCol w="3964150"/>
              </a:tblGrid>
              <a:tr h="690563">
                <a:tc>
                  <a:txBody>
                    <a:bodyPr/>
                    <a:lstStyle/>
                    <a:p>
                      <a:r>
                        <a:rPr sz="1725" b="1">
                          <a:solidFill>
                            <a:srgbClr val="192E43"/>
                          </a:solidFill>
                          <a:latin typeface="Arial"/>
                          <a:ea typeface="Arial"/>
                          <a:cs typeface="Arial"/>
                        </a:rPr>
                        <a:t>Состояние</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Простой смысл</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Когда меняем</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690563">
                <a:tc>
                  <a:txBody>
                    <a:bodyPr/>
                    <a:lstStyle/>
                    <a:p>
                      <a:r>
                        <a:rPr sz="1725" b="0">
                          <a:solidFill>
                            <a:srgbClr val="192E43"/>
                          </a:solidFill>
                          <a:latin typeface="Arial"/>
                          <a:ea typeface="Arial"/>
                          <a:cs typeface="Arial"/>
                        </a:rPr>
                        <a:t>WHITE / 0</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Ещё не разбирали</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Начальное значение</a:t>
                      </a:r>
                    </a:p>
                  </a:txBody>
                  <a:tcPr marL="91440" marR="91440" marT="45720" marB="45720">
                    <a:lnR w="9525">
                      <a:solidFill>
                        <a:srgbClr val="E2DCE0"/>
                      </a:solidFill>
                      <a:prstDash val="solid"/>
                    </a:lnR>
                    <a:lnB w="9525">
                      <a:solidFill>
                        <a:srgbClr val="E2DCE0"/>
                      </a:solidFill>
                      <a:prstDash val="solid"/>
                    </a:lnB>
                    <a:solidFill>
                      <a:srgbClr val="FFFEFC"/>
                    </a:solidFill>
                  </a:tcPr>
                </a:tc>
              </a:tr>
              <a:tr h="690563">
                <a:tc>
                  <a:txBody>
                    <a:bodyPr/>
                    <a:lstStyle/>
                    <a:p>
                      <a:r>
                        <a:rPr sz="1725" b="0">
                          <a:solidFill>
                            <a:srgbClr val="192E43"/>
                          </a:solidFill>
                          <a:latin typeface="Arial"/>
                          <a:ea typeface="Arial"/>
                          <a:cs typeface="Arial"/>
                        </a:rPr>
                        <a:t>GRAY / 1</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Сейчас в цепочке DFS</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При входе</a:t>
                      </a:r>
                    </a:p>
                  </a:txBody>
                  <a:tcPr marL="91440" marR="91440" marT="45720" marB="45720">
                    <a:lnR w="9525">
                      <a:solidFill>
                        <a:srgbClr val="E2DCE0"/>
                      </a:solidFill>
                      <a:prstDash val="solid"/>
                    </a:lnR>
                    <a:lnB w="9525">
                      <a:solidFill>
                        <a:srgbClr val="E2DCE0"/>
                      </a:solidFill>
                      <a:prstDash val="solid"/>
                    </a:lnB>
                    <a:solidFill>
                      <a:srgbClr val="FAF8F8"/>
                    </a:solidFill>
                  </a:tcPr>
                </a:tc>
              </a:tr>
              <a:tr h="690563">
                <a:tc>
                  <a:txBody>
                    <a:bodyPr/>
                    <a:lstStyle/>
                    <a:p>
                      <a:r>
                        <a:rPr sz="1725" b="0">
                          <a:solidFill>
                            <a:srgbClr val="192E43"/>
                          </a:solidFill>
                          <a:latin typeface="Arial"/>
                          <a:ea typeface="Arial"/>
                          <a:cs typeface="Arial"/>
                        </a:rPr>
                        <a:t>BLACK / 2</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Все соседи обработаны</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При выходе</a:t>
                      </a:r>
                    </a:p>
                  </a:txBody>
                  <a:tcPr marL="91440" marR="91440" marT="45720" marB="45720">
                    <a:lnR w="9525">
                      <a:solidFill>
                        <a:srgbClr val="E2DCE0"/>
                      </a:solidFill>
                      <a:prstDash val="solid"/>
                    </a:lnR>
                    <a:lnB w="9525">
                      <a:solidFill>
                        <a:srgbClr val="E2DCE0"/>
                      </a:solidFill>
                      <a:prstDash val="solid"/>
                    </a:lnB>
                    <a:solidFill>
                      <a:srgbClr val="FFFEFC"/>
                    </a:solidFill>
                  </a:tcPr>
                </a:tc>
              </a:tr>
            </a:tbl>
          </a:graphicData>
        </a:graphic>
      </p:graphicFrame>
      <p:sp>
        <p:nvSpPr>
          <p:cNvPr id="6" name="">
            <a:extLst xmlns:a="http://schemas.openxmlformats.org/drawingml/2006/main">
              <a:ext uri="{FF2B5EF4-FFF2-40B4-BE49-F238E27FC236}">
                <a16:creationId xmlns:a16="http://schemas.microsoft.com/office/drawing/2014/main" id="{84A12022-A6AE-43D4-AC02-5E95433EE590}"/>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Ребро к GRAY обнаруживает цикл. Ребро к BLACK само по себе цикла не доказывает.</a:t>
            </a:r>
          </a:p>
        </p:txBody>
      </p:sp>
      <p:sp>
        <p:nvSpPr>
          <p:cNvPr id="7" name="">
            <a:extLst xmlns:a="http://schemas.openxmlformats.org/drawingml/2006/main">
              <a:ext uri="{FF2B5EF4-FFF2-40B4-BE49-F238E27FC236}">
                <a16:creationId xmlns:a16="http://schemas.microsoft.com/office/drawing/2014/main" id="{CCF15DFA-9933-45BC-BFB6-7F4C87D03404}"/>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A38724DD-297C-4D19-A19D-B67DC31BDC4B}"/>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36 / 64</a:t>
            </a:r>
          </a:p>
        </p:txBody>
      </p:sp>
    </p:spTree>
    <p:extLst>
      <p:ext uri="{BB962C8B-B14F-4D97-AF65-F5344CB8AC3E}">
        <p14:creationId xmlns:p14="http://schemas.microsoft.com/office/powerpoint/2010/main" val="344806368"/>
      </p:ext>
    </p:extLst>
  </p:cSld>
</p:sld>
</file>

<file path=ppt/slides/slide37.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9AC8CE8-9130-4DDF-92A7-D9F4F63F707C}"/>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Порядок работ</a:t>
            </a:r>
          </a:p>
        </p:txBody>
      </p:sp>
      <p:sp>
        <p:nvSpPr>
          <p:cNvPr id="2" name="">
            <a:extLst xmlns:a="http://schemas.openxmlformats.org/drawingml/2006/main">
              <a:ext uri="{FF2B5EF4-FFF2-40B4-BE49-F238E27FC236}">
                <a16:creationId xmlns:a16="http://schemas.microsoft.com/office/drawing/2014/main" id="{6E3DA055-13A1-4E4A-BEE6-16E7448EBE02}"/>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DFS по примеру: сначала 0, затем 1 и 3</a:t>
            </a:r>
          </a:p>
        </p:txBody>
      </p:sp>
      <p:sp>
        <p:nvSpPr>
          <p:cNvPr id="3" name="">
            <a:extLst xmlns:a="http://schemas.openxmlformats.org/drawingml/2006/main">
              <a:ext uri="{FF2B5EF4-FFF2-40B4-BE49-F238E27FC236}">
                <a16:creationId xmlns:a16="http://schemas.microsoft.com/office/drawing/2014/main" id="{5B488E05-D8B1-4A78-9A98-07FB2607180F}"/>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Соседей 0 смотрим в порядке 1, затем 2.</a:t>
            </a:r>
          </a:p>
        </p:txBody>
      </p:sp>
      <p:sp>
        <p:nvSpPr>
          <p:cNvPr id="4" name="">
            <a:extLst xmlns:a="http://schemas.openxmlformats.org/drawingml/2006/main">
              <a:ext uri="{FF2B5EF4-FFF2-40B4-BE49-F238E27FC236}">
                <a16:creationId xmlns:a16="http://schemas.microsoft.com/office/drawing/2014/main" id="{579785B3-04B6-4F0B-B635-27D10B6C325F}"/>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Входим в 0, затем в 1, затем в 3. У 3 соседей нет.</a:t>
            </a:r>
          </a:p>
        </p:txBody>
      </p:sp>
      <p:graphicFrame>
        <p:nvGraphicFramePr>
          <p:cNvPr id="5" name="">
            <a:extLst xmlns:a="http://schemas.openxmlformats.org/drawingml/2006/main">
              <a:ext uri="{FF2B5EF4-FFF2-40B4-BE49-F238E27FC236}">
                <a16:creationId xmlns:a16="http://schemas.microsoft.com/office/drawing/2014/main" id="{EFB81969-51DA-4E65-A05F-FC43A3C1214C}"/>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3285560"/>
                <a:gridCol w="4646484"/>
                <a:gridCol w="3116956"/>
              </a:tblGrid>
              <a:tr h="460375">
                <a:tc>
                  <a:txBody>
                    <a:bodyPr/>
                    <a:lstStyle/>
                    <a:p>
                      <a:r>
                        <a:rPr sz="1725" b="1">
                          <a:solidFill>
                            <a:srgbClr val="192E43"/>
                          </a:solidFill>
                          <a:latin typeface="Arial"/>
                          <a:ea typeface="Arial"/>
                          <a:cs typeface="Arial"/>
                        </a:rPr>
                        <a:t>Момент</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Текущая цепочка GRAY</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Завершены</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460375">
                <a:tc>
                  <a:txBody>
                    <a:bodyPr/>
                    <a:lstStyle/>
                    <a:p>
                      <a:r>
                        <a:rPr sz="1725" b="0">
                          <a:solidFill>
                            <a:srgbClr val="192E43"/>
                          </a:solidFill>
                          <a:latin typeface="Arial"/>
                          <a:ea typeface="Arial"/>
                          <a:cs typeface="Arial"/>
                        </a:rPr>
                        <a:t>Вход в 0</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a:t>
                      </a:r>
                    </a:p>
                  </a:txBody>
                  <a:tcPr marL="91440" marR="91440" marT="45720" marB="45720">
                    <a:lnR w="9525">
                      <a:solidFill>
                        <a:srgbClr val="E2DCE0"/>
                      </a:solidFill>
                      <a:prstDash val="solid"/>
                    </a:lnR>
                    <a:lnB w="9525">
                      <a:solidFill>
                        <a:srgbClr val="E2DCE0"/>
                      </a:solidFill>
                      <a:prstDash val="solid"/>
                    </a:lnB>
                    <a:solidFill>
                      <a:srgbClr val="FFFEFC"/>
                    </a:solidFill>
                  </a:tcPr>
                </a:tc>
              </a:tr>
              <a:tr h="460375">
                <a:tc>
                  <a:txBody>
                    <a:bodyPr/>
                    <a:lstStyle/>
                    <a:p>
                      <a:r>
                        <a:rPr sz="1725" b="0">
                          <a:solidFill>
                            <a:srgbClr val="192E43"/>
                          </a:solidFill>
                          <a:latin typeface="Arial"/>
                          <a:ea typeface="Arial"/>
                          <a:cs typeface="Arial"/>
                        </a:rPr>
                        <a:t>Вход в 1</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0, 1</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a:t>
                      </a:r>
                    </a:p>
                  </a:txBody>
                  <a:tcPr marL="91440" marR="91440" marT="45720" marB="45720">
                    <a:lnR w="9525">
                      <a:solidFill>
                        <a:srgbClr val="E2DCE0"/>
                      </a:solidFill>
                      <a:prstDash val="solid"/>
                    </a:lnR>
                    <a:lnB w="9525">
                      <a:solidFill>
                        <a:srgbClr val="E2DCE0"/>
                      </a:solidFill>
                      <a:prstDash val="solid"/>
                    </a:lnB>
                    <a:solidFill>
                      <a:srgbClr val="FAF8F8"/>
                    </a:solidFill>
                  </a:tcPr>
                </a:tc>
              </a:tr>
              <a:tr h="460375">
                <a:tc>
                  <a:txBody>
                    <a:bodyPr/>
                    <a:lstStyle/>
                    <a:p>
                      <a:r>
                        <a:rPr sz="1725" b="0">
                          <a:solidFill>
                            <a:srgbClr val="192E43"/>
                          </a:solidFill>
                          <a:latin typeface="Arial"/>
                          <a:ea typeface="Arial"/>
                          <a:cs typeface="Arial"/>
                        </a:rPr>
                        <a:t>Вход в 3</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0, 1, 3</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a:t>
                      </a:r>
                    </a:p>
                  </a:txBody>
                  <a:tcPr marL="91440" marR="91440" marT="45720" marB="45720">
                    <a:lnR w="9525">
                      <a:solidFill>
                        <a:srgbClr val="E2DCE0"/>
                      </a:solidFill>
                      <a:prstDash val="solid"/>
                    </a:lnR>
                    <a:lnB w="9525">
                      <a:solidFill>
                        <a:srgbClr val="E2DCE0"/>
                      </a:solidFill>
                      <a:prstDash val="solid"/>
                    </a:lnB>
                    <a:solidFill>
                      <a:srgbClr val="FFFEFC"/>
                    </a:solidFill>
                  </a:tcPr>
                </a:tc>
              </a:tr>
              <a:tr h="460375">
                <a:tc>
                  <a:txBody>
                    <a:bodyPr/>
                    <a:lstStyle/>
                    <a:p>
                      <a:r>
                        <a:rPr sz="1725" b="0">
                          <a:solidFill>
                            <a:srgbClr val="192E43"/>
                          </a:solidFill>
                          <a:latin typeface="Arial"/>
                          <a:ea typeface="Arial"/>
                          <a:cs typeface="Arial"/>
                        </a:rPr>
                        <a:t>Выход из 3</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0, 1</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[3]</a:t>
                      </a:r>
                    </a:p>
                  </a:txBody>
                  <a:tcPr marL="91440" marR="91440" marT="45720" marB="45720">
                    <a:lnR w="9525">
                      <a:solidFill>
                        <a:srgbClr val="E2DCE0"/>
                      </a:solidFill>
                      <a:prstDash val="solid"/>
                    </a:lnR>
                    <a:lnB w="9525">
                      <a:solidFill>
                        <a:srgbClr val="E2DCE0"/>
                      </a:solidFill>
                      <a:prstDash val="solid"/>
                    </a:lnB>
                    <a:solidFill>
                      <a:srgbClr val="FAF8F8"/>
                    </a:solidFill>
                  </a:tcPr>
                </a:tc>
              </a:tr>
              <a:tr h="460375">
                <a:tc>
                  <a:txBody>
                    <a:bodyPr/>
                    <a:lstStyle/>
                    <a:p>
                      <a:r>
                        <a:rPr sz="1725" b="0">
                          <a:solidFill>
                            <a:srgbClr val="192E43"/>
                          </a:solidFill>
                          <a:latin typeface="Arial"/>
                          <a:ea typeface="Arial"/>
                          <a:cs typeface="Arial"/>
                        </a:rPr>
                        <a:t>Выход из 1</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[3,1]</a:t>
                      </a:r>
                    </a:p>
                  </a:txBody>
                  <a:tcPr marL="91440" marR="91440" marT="45720" marB="45720">
                    <a:lnR w="9525">
                      <a:solidFill>
                        <a:srgbClr val="E2DCE0"/>
                      </a:solidFill>
                      <a:prstDash val="solid"/>
                    </a:lnR>
                    <a:lnB w="9525">
                      <a:solidFill>
                        <a:srgbClr val="E2DCE0"/>
                      </a:solidFill>
                      <a:prstDash val="solid"/>
                    </a:lnB>
                    <a:solidFill>
                      <a:srgbClr val="FFFEFC"/>
                    </a:solidFill>
                  </a:tcPr>
                </a:tc>
              </a:tr>
            </a:tbl>
          </a:graphicData>
        </a:graphic>
      </p:graphicFrame>
      <p:sp>
        <p:nvSpPr>
          <p:cNvPr id="6" name="">
            <a:extLst xmlns:a="http://schemas.openxmlformats.org/drawingml/2006/main">
              <a:ext uri="{FF2B5EF4-FFF2-40B4-BE49-F238E27FC236}">
                <a16:creationId xmlns:a16="http://schemas.microsoft.com/office/drawing/2014/main" id="{035BB28A-30B2-4071-923C-9C414AD0D9D1}"/>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Завершаем 3 и записываем [3]. Возвращаемся в 1, завершаем: [3,1].</a:t>
            </a:r>
          </a:p>
        </p:txBody>
      </p:sp>
      <p:sp>
        <p:nvSpPr>
          <p:cNvPr id="7" name="">
            <a:extLst xmlns:a="http://schemas.openxmlformats.org/drawingml/2006/main">
              <a:ext uri="{FF2B5EF4-FFF2-40B4-BE49-F238E27FC236}">
                <a16:creationId xmlns:a16="http://schemas.microsoft.com/office/drawing/2014/main" id="{370CAB24-E906-4468-BBBD-579547F508E6}"/>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915C0398-7D8C-4D4E-A782-F0DB8B30413C}"/>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37 / 64</a:t>
            </a:r>
          </a:p>
        </p:txBody>
      </p:sp>
    </p:spTree>
    <p:extLst>
      <p:ext uri="{BB962C8B-B14F-4D97-AF65-F5344CB8AC3E}">
        <p14:creationId xmlns:p14="http://schemas.microsoft.com/office/powerpoint/2010/main" val="1491731451"/>
      </p:ext>
    </p:extLst>
  </p:cSld>
</p:sld>
</file>

<file path=ppt/slides/slide38.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C25445E-E9D4-4C6C-B942-29389B28340E}"/>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Порядок работ</a:t>
            </a:r>
          </a:p>
        </p:txBody>
      </p:sp>
      <p:sp>
        <p:nvSpPr>
          <p:cNvPr id="2" name="">
            <a:extLst xmlns:a="http://schemas.openxmlformats.org/drawingml/2006/main">
              <a:ext uri="{FF2B5EF4-FFF2-40B4-BE49-F238E27FC236}">
                <a16:creationId xmlns:a16="http://schemas.microsoft.com/office/drawing/2014/main" id="{670BB53C-7A84-4161-88AF-A44B3E72DFCE}"/>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DFS по примеру: ветка 2 и разворот</a:t>
            </a:r>
          </a:p>
        </p:txBody>
      </p:sp>
      <p:sp>
        <p:nvSpPr>
          <p:cNvPr id="3" name="">
            <a:extLst xmlns:a="http://schemas.openxmlformats.org/drawingml/2006/main">
              <a:ext uri="{FF2B5EF4-FFF2-40B4-BE49-F238E27FC236}">
                <a16:creationId xmlns:a16="http://schemas.microsoft.com/office/drawing/2014/main" id="{EDCEB4B6-B594-4B75-939C-C9E0F0A2C19D}"/>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Из 0 переходим в 2. Её сосед 3 уже BLACK.</a:t>
            </a:r>
          </a:p>
        </p:txBody>
      </p:sp>
      <p:sp>
        <p:nvSpPr>
          <p:cNvPr id="4" name="">
            <a:extLst xmlns:a="http://schemas.openxmlformats.org/drawingml/2006/main">
              <a:ext uri="{FF2B5EF4-FFF2-40B4-BE49-F238E27FC236}">
                <a16:creationId xmlns:a16="http://schemas.microsoft.com/office/drawing/2014/main" id="{A1D4894C-3476-4E8E-A502-54778D0A19E5}"/>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Цикла нет. Завершаем 2, затем 0: [3,1,2,0].</a:t>
            </a:r>
          </a:p>
        </p:txBody>
      </p:sp>
      <p:graphicFrame>
        <p:nvGraphicFramePr>
          <p:cNvPr id="5" name="">
            <a:extLst xmlns:a="http://schemas.openxmlformats.org/drawingml/2006/main">
              <a:ext uri="{FF2B5EF4-FFF2-40B4-BE49-F238E27FC236}">
                <a16:creationId xmlns:a16="http://schemas.microsoft.com/office/drawing/2014/main" id="{1D39445F-7B04-4F3C-9B3B-4D8688B14EF9}"/>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2951153"/>
                <a:gridCol w="4287925"/>
                <a:gridCol w="3809922"/>
              </a:tblGrid>
              <a:tr h="552450">
                <a:tc>
                  <a:txBody>
                    <a:bodyPr/>
                    <a:lstStyle/>
                    <a:p>
                      <a:r>
                        <a:rPr sz="1725" b="1">
                          <a:solidFill>
                            <a:srgbClr val="192E43"/>
                          </a:solidFill>
                          <a:latin typeface="Arial"/>
                          <a:ea typeface="Arial"/>
                          <a:cs typeface="Arial"/>
                        </a:rPr>
                        <a:t>Ребро</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Позиции в [0,2,1,3]</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Порядок верный?</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552450">
                <a:tc>
                  <a:txBody>
                    <a:bodyPr/>
                    <a:lstStyle/>
                    <a:p>
                      <a:r>
                        <a:rPr sz="1725" b="0">
                          <a:solidFill>
                            <a:srgbClr val="192E43"/>
                          </a:solidFill>
                          <a:latin typeface="Arial"/>
                          <a:ea typeface="Arial"/>
                          <a:cs typeface="Arial"/>
                        </a:rPr>
                        <a:t>0→1</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 &lt; 2</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Да</a:t>
                      </a:r>
                    </a:p>
                  </a:txBody>
                  <a:tcPr marL="91440" marR="91440" marT="45720" marB="45720">
                    <a:lnR w="9525">
                      <a:solidFill>
                        <a:srgbClr val="E2DCE0"/>
                      </a:solidFill>
                      <a:prstDash val="solid"/>
                    </a:lnR>
                    <a:lnB w="9525">
                      <a:solidFill>
                        <a:srgbClr val="E2DCE0"/>
                      </a:solidFill>
                      <a:prstDash val="solid"/>
                    </a:lnB>
                    <a:solidFill>
                      <a:srgbClr val="FFFEFC"/>
                    </a:solidFill>
                  </a:tcPr>
                </a:tc>
              </a:tr>
              <a:tr h="552450">
                <a:tc>
                  <a:txBody>
                    <a:bodyPr/>
                    <a:lstStyle/>
                    <a:p>
                      <a:r>
                        <a:rPr sz="1725" b="0">
                          <a:solidFill>
                            <a:srgbClr val="192E43"/>
                          </a:solidFill>
                          <a:latin typeface="Arial"/>
                          <a:ea typeface="Arial"/>
                          <a:cs typeface="Arial"/>
                        </a:rPr>
                        <a:t>0→2</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0 &lt; 1</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Да</a:t>
                      </a:r>
                    </a:p>
                  </a:txBody>
                  <a:tcPr marL="91440" marR="91440" marT="45720" marB="45720">
                    <a:lnR w="9525">
                      <a:solidFill>
                        <a:srgbClr val="E2DCE0"/>
                      </a:solidFill>
                      <a:prstDash val="solid"/>
                    </a:lnR>
                    <a:lnB w="9525">
                      <a:solidFill>
                        <a:srgbClr val="E2DCE0"/>
                      </a:solidFill>
                      <a:prstDash val="solid"/>
                    </a:lnB>
                    <a:solidFill>
                      <a:srgbClr val="FAF8F8"/>
                    </a:solidFill>
                  </a:tcPr>
                </a:tc>
              </a:tr>
              <a:tr h="552450">
                <a:tc>
                  <a:txBody>
                    <a:bodyPr/>
                    <a:lstStyle/>
                    <a:p>
                      <a:r>
                        <a:rPr sz="1725" b="0">
                          <a:solidFill>
                            <a:srgbClr val="192E43"/>
                          </a:solidFill>
                          <a:latin typeface="Arial"/>
                          <a:ea typeface="Arial"/>
                          <a:cs typeface="Arial"/>
                        </a:rPr>
                        <a:t>1→3</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2 &lt; 3</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Да</a:t>
                      </a:r>
                    </a:p>
                  </a:txBody>
                  <a:tcPr marL="91440" marR="91440" marT="45720" marB="45720">
                    <a:lnR w="9525">
                      <a:solidFill>
                        <a:srgbClr val="E2DCE0"/>
                      </a:solidFill>
                      <a:prstDash val="solid"/>
                    </a:lnR>
                    <a:lnB w="9525">
                      <a:solidFill>
                        <a:srgbClr val="E2DCE0"/>
                      </a:solidFill>
                      <a:prstDash val="solid"/>
                    </a:lnB>
                    <a:solidFill>
                      <a:srgbClr val="FFFEFC"/>
                    </a:solidFill>
                  </a:tcPr>
                </a:tc>
              </a:tr>
              <a:tr h="552450">
                <a:tc>
                  <a:txBody>
                    <a:bodyPr/>
                    <a:lstStyle/>
                    <a:p>
                      <a:r>
                        <a:rPr sz="1725" b="0">
                          <a:solidFill>
                            <a:srgbClr val="192E43"/>
                          </a:solidFill>
                          <a:latin typeface="Arial"/>
                          <a:ea typeface="Arial"/>
                          <a:cs typeface="Arial"/>
                        </a:rPr>
                        <a:t>2→3</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1 &lt; 3</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Да</a:t>
                      </a:r>
                    </a:p>
                  </a:txBody>
                  <a:tcPr marL="91440" marR="91440" marT="45720" marB="45720">
                    <a:lnR w="9525">
                      <a:solidFill>
                        <a:srgbClr val="E2DCE0"/>
                      </a:solidFill>
                      <a:prstDash val="solid"/>
                    </a:lnR>
                    <a:lnB w="9525">
                      <a:solidFill>
                        <a:srgbClr val="E2DCE0"/>
                      </a:solidFill>
                      <a:prstDash val="solid"/>
                    </a:lnB>
                    <a:solidFill>
                      <a:srgbClr val="FAF8F8"/>
                    </a:solidFill>
                  </a:tcPr>
                </a:tc>
              </a:tr>
            </a:tbl>
          </a:graphicData>
        </a:graphic>
      </p:graphicFrame>
      <p:sp>
        <p:nvSpPr>
          <p:cNvPr id="6" name="">
            <a:extLst xmlns:a="http://schemas.openxmlformats.org/drawingml/2006/main">
              <a:ext uri="{FF2B5EF4-FFF2-40B4-BE49-F238E27FC236}">
                <a16:creationId xmlns:a16="http://schemas.microsoft.com/office/drawing/2014/main" id="{3EF22E21-9BF8-4246-9173-A342BEFD9445}"/>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Разворачиваем список: [0,2,1,3]. Это один правильный topo order.</a:t>
            </a:r>
          </a:p>
        </p:txBody>
      </p:sp>
      <p:sp>
        <p:nvSpPr>
          <p:cNvPr id="7" name="">
            <a:extLst xmlns:a="http://schemas.openxmlformats.org/drawingml/2006/main">
              <a:ext uri="{FF2B5EF4-FFF2-40B4-BE49-F238E27FC236}">
                <a16:creationId xmlns:a16="http://schemas.microsoft.com/office/drawing/2014/main" id="{B1B830BE-75A6-4CBB-8BEE-13DB396F4107}"/>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76790E0D-B407-4CED-A1BA-5248FA11D6A6}"/>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38 / 64</a:t>
            </a:r>
          </a:p>
        </p:txBody>
      </p:sp>
    </p:spTree>
    <p:extLst>
      <p:ext uri="{BB962C8B-B14F-4D97-AF65-F5344CB8AC3E}">
        <p14:creationId xmlns:p14="http://schemas.microsoft.com/office/powerpoint/2010/main" val="1202167318"/>
      </p:ext>
    </p:extLst>
  </p:cSld>
</p:sld>
</file>

<file path=ppt/slides/slide39.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7298C1D-58DC-4A4C-A915-686D78088E1F}"/>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Порядок работ</a:t>
            </a:r>
          </a:p>
        </p:txBody>
      </p:sp>
      <p:sp>
        <p:nvSpPr>
          <p:cNvPr id="2" name="">
            <a:extLst xmlns:a="http://schemas.openxmlformats.org/drawingml/2006/main">
              <a:ext uri="{FF2B5EF4-FFF2-40B4-BE49-F238E27FC236}">
                <a16:creationId xmlns:a16="http://schemas.microsoft.com/office/drawing/2014/main" id="{79C1F710-7E4B-48DB-A4EF-E248362EF995}"/>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Цикл: работа зависит от самой себя через цепочку</a:t>
            </a:r>
          </a:p>
        </p:txBody>
      </p:sp>
      <p:sp>
        <p:nvSpPr>
          <p:cNvPr id="3" name="">
            <a:extLst xmlns:a="http://schemas.openxmlformats.org/drawingml/2006/main">
              <a:ext uri="{FF2B5EF4-FFF2-40B4-BE49-F238E27FC236}">
                <a16:creationId xmlns:a16="http://schemas.microsoft.com/office/drawing/2014/main" id="{D6A7F26A-5B22-4BAE-8C6B-3B87E3E8B1B6}"/>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Добавим 3→0. Теперь 0 должна предшествовать 3, а 3 — 0.</a:t>
            </a:r>
          </a:p>
        </p:txBody>
      </p:sp>
      <p:sp>
        <p:nvSpPr>
          <p:cNvPr id="4" name="">
            <a:extLst xmlns:a="http://schemas.openxmlformats.org/drawingml/2006/main">
              <a:ext uri="{FF2B5EF4-FFF2-40B4-BE49-F238E27FC236}">
                <a16:creationId xmlns:a16="http://schemas.microsoft.com/office/drawing/2014/main" id="{EFA4CC12-F8FB-4DA5-81E7-1A6D2A1DC7B4}"/>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В цепочке 0→1→3 видим ребро к GRAY-вершине 0.</a:t>
            </a:r>
          </a:p>
        </p:txBody>
      </p:sp>
      <p:sp>
        <p:nvSpPr>
          <p:cNvPr id="5" name="">
            <a:extLst xmlns:a="http://schemas.openxmlformats.org/drawingml/2006/main">
              <a:ext uri="{FF2B5EF4-FFF2-40B4-BE49-F238E27FC236}">
                <a16:creationId xmlns:a16="http://schemas.microsoft.com/office/drawing/2014/main" id="{B4435C9D-A651-4F61-B55A-72BCA0137D90}"/>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Ответ: {"acyclic":false,"order":[]}. Частичный порядок возвращать нельзя.</a:t>
            </a:r>
          </a:p>
        </p:txBody>
      </p:sp>
      <p:sp>
        <p:nvSpPr>
          <p:cNvPr id="6" name="">
            <a:extLst xmlns:a="http://schemas.openxmlformats.org/drawingml/2006/main">
              <a:ext uri="{FF2B5EF4-FFF2-40B4-BE49-F238E27FC236}">
                <a16:creationId xmlns:a16="http://schemas.microsoft.com/office/drawing/2014/main" id="{6E9361D7-4B69-46FF-9229-82D3DFB671DC}"/>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7" name="">
            <a:extLst xmlns:a="http://schemas.openxmlformats.org/drawingml/2006/main">
              <a:ext uri="{FF2B5EF4-FFF2-40B4-BE49-F238E27FC236}">
                <a16:creationId xmlns:a16="http://schemas.microsoft.com/office/drawing/2014/main" id="{D9ACB6A1-35F8-4B0F-BC6B-FD96FAF94E4D}"/>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39 / 64</a:t>
            </a:r>
          </a:p>
        </p:txBody>
      </p:sp>
    </p:spTree>
    <p:extLst>
      <p:ext uri="{BB962C8B-B14F-4D97-AF65-F5344CB8AC3E}">
        <p14:creationId xmlns:p14="http://schemas.microsoft.com/office/powerpoint/2010/main" val="524904191"/>
      </p:ext>
    </p:extLst>
  </p:cSld>
</p:sld>
</file>

<file path=ppt/slides/slide40.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6283366-52C7-49D2-9BC1-AC0BF1FE9B02}"/>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Порядок работ</a:t>
            </a:r>
          </a:p>
        </p:txBody>
      </p:sp>
      <p:sp>
        <p:nvSpPr>
          <p:cNvPr id="2" name="">
            <a:extLst xmlns:a="http://schemas.openxmlformats.org/drawingml/2006/main">
              <a:ext uri="{FF2B5EF4-FFF2-40B4-BE49-F238E27FC236}">
                <a16:creationId xmlns:a16="http://schemas.microsoft.com/office/drawing/2014/main" id="{C0DB5501-E68F-47FA-BC2E-048EC5B66C51}"/>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Глубокий DFS: запомнить место возврата</a:t>
            </a:r>
          </a:p>
        </p:txBody>
      </p:sp>
      <p:sp>
        <p:nvSpPr>
          <p:cNvPr id="3" name="">
            <a:extLst xmlns:a="http://schemas.openxmlformats.org/drawingml/2006/main">
              <a:ext uri="{FF2B5EF4-FFF2-40B4-BE49-F238E27FC236}">
                <a16:creationId xmlns:a16="http://schemas.microsoft.com/office/drawing/2014/main" id="{3B1FB848-BBD8-4474-A81E-DFE920AD5300}"/>
              </a:ext>
            </a:extLst>
          </p:cNvPr>
          <p:cNvSpPr>
            <a:spLocks xmlns:a="http://schemas.openxmlformats.org/drawingml/2006/main" noGrp="1"/>
          </p:cNvSpPr>
          <p:nvPr/>
        </p:nvSpPr>
        <p:spPr>
          <a:xfrm xmlns:a="http://schemas.openxmlformats.org/drawingml/2006/main">
            <a:off x="571500" y="1638300"/>
            <a:ext cx="1104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0">
                <a:solidFill>
                  <a:srgbClr val="192E43"/>
                </a:solidFill>
                <a:latin typeface="Arial"/>
                <a:ea typeface="Arial"/>
                <a:cs typeface="Arial"/>
              </a:defRPr>
            </a:defPPr>
          </a:lstStyle>
          <a:p xmlns:a="http://schemas.openxmlformats.org/drawingml/2006/main">
            <a:pPr>
              <a:defRPr sz="2175" b="0">
                <a:solidFill>
                  <a:srgbClr val="192E43"/>
                </a:solidFill>
                <a:latin typeface="Arial"/>
                <a:ea typeface="Arial"/>
                <a:cs typeface="Arial"/>
              </a:defRPr>
            </a:pPr>
            <a:r>
              <a:rPr sz="2175" b="0">
                <a:solidFill>
                  <a:srgbClr val="192E43"/>
                </a:solidFill>
                <a:latin typeface="Arial"/>
                <a:ea typeface="Arial"/>
                <a:cs typeface="Arial"/>
              </a:rPr>
              <a:t>Для длинной цепочки рекурсивный стек может закончиться. Используем явный стек.</a:t>
            </a:r>
          </a:p>
        </p:txBody>
      </p:sp>
      <p:sp>
        <p:nvSpPr>
          <p:cNvPr id="4" name="">
            <a:extLst xmlns:a="http://schemas.openxmlformats.org/drawingml/2006/main">
              <a:ext uri="{FF2B5EF4-FFF2-40B4-BE49-F238E27FC236}">
                <a16:creationId xmlns:a16="http://schemas.microsoft.com/office/drawing/2014/main" id="{2FA5B348-2779-4D70-A139-174BB2E060CB}"/>
              </a:ext>
            </a:extLst>
          </p:cNvPr>
          <p:cNvSpPr>
            <a:spLocks xmlns:a="http://schemas.openxmlformats.org/drawingml/2006/main" noGrp="1"/>
          </p:cNvSpPr>
          <p:nvPr/>
        </p:nvSpPr>
        <p:spPr>
          <a:xfrm xmlns:a="http://schemas.openxmlformats.org/drawingml/2006/main">
            <a:off x="571500" y="2505075"/>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Кадр хранит вершину v и номер следующего соседа next.</a:t>
            </a:r>
          </a:p>
        </p:txBody>
      </p:sp>
      <p:sp>
        <p:nvSpPr>
          <p:cNvPr id="5" name="">
            <a:extLst xmlns:a="http://schemas.openxmlformats.org/drawingml/2006/main">
              <a:ext uri="{FF2B5EF4-FFF2-40B4-BE49-F238E27FC236}">
                <a16:creationId xmlns:a16="http://schemas.microsoft.com/office/drawing/2014/main" id="{5C96F43E-AED8-42EB-8A8A-E3905D524D43}"/>
              </a:ext>
            </a:extLst>
          </p:cNvPr>
          <p:cNvSpPr>
            <a:spLocks xmlns:a="http://schemas.openxmlformats.org/drawingml/2006/main" noGrp="1"/>
          </p:cNvSpPr>
          <p:nvPr/>
        </p:nvSpPr>
        <p:spPr>
          <a:xfrm xmlns:a="http://schemas.openxmlformats.org/drawingml/2006/main">
            <a:off x="781050" y="3448050"/>
            <a:ext cx="106299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Courier New"/>
                <a:ea typeface="Courier New"/>
                <a:cs typeface="Courier New"/>
              </a:defRPr>
            </a:defPPr>
          </a:lstStyle>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 Frame: v = current vertex, next = next neighbor</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if (frame.next == adj[v].size()) {</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    color[v] = BLACK;</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    finish.add(v);</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    stack.pop();</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A8AA7C31-73D4-4BB7-86D3-D3C7D4EEF49A}"/>
              </a:ext>
            </a:extLst>
          </p:cNvPr>
          <p:cNvSpPr>
            <a:spLocks xmlns:a="http://schemas.openxmlformats.org/drawingml/2006/main" noGrp="1"/>
          </p:cNvSpPr>
          <p:nvPr/>
        </p:nvSpPr>
        <p:spPr>
          <a:xfrm xmlns:a="http://schemas.openxmlformats.org/drawingml/2006/main">
            <a:off x="571500" y="5648325"/>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1">
                <a:solidFill>
                  <a:srgbClr val="AC4D73"/>
                </a:solidFill>
                <a:latin typeface="Arial"/>
                <a:ea typeface="Arial"/>
                <a:cs typeface="Arial"/>
              </a:defRPr>
            </a:defPPr>
          </a:lstStyle>
          <a:p xmlns:a="http://schemas.openxmlformats.org/drawingml/2006/main">
            <a:pPr>
              <a:defRPr sz="2025" b="1">
                <a:solidFill>
                  <a:srgbClr val="AC4D73"/>
                </a:solidFill>
                <a:latin typeface="Arial"/>
                <a:ea typeface="Arial"/>
                <a:cs typeface="Arial"/>
              </a:defRPr>
            </a:pPr>
            <a:r>
              <a:rPr sz="2025" b="1">
                <a:solidFill>
                  <a:srgbClr val="AC4D73"/>
                </a:solidFill>
                <a:latin typeface="Arial"/>
                <a:ea typeface="Arial"/>
                <a:cs typeface="Arial"/>
              </a:rPr>
              <a:t>Пока у вершины есть необработанный сосед, она ещё не завершена.</a:t>
            </a:r>
          </a:p>
        </p:txBody>
      </p:sp>
      <p:sp>
        <p:nvSpPr>
          <p:cNvPr id="7" name="">
            <a:extLst xmlns:a="http://schemas.openxmlformats.org/drawingml/2006/main">
              <a:ext uri="{FF2B5EF4-FFF2-40B4-BE49-F238E27FC236}">
                <a16:creationId xmlns:a16="http://schemas.microsoft.com/office/drawing/2014/main" id="{AED52377-79C6-48D0-AF04-35DAAF0BE74D}"/>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59ABA43B-2E4C-42E0-B40C-596640AC5E0B}"/>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40 / 64</a:t>
            </a:r>
          </a:p>
        </p:txBody>
      </p:sp>
    </p:spTree>
    <p:extLst>
      <p:ext uri="{BB962C8B-B14F-4D97-AF65-F5344CB8AC3E}">
        <p14:creationId xmlns:p14="http://schemas.microsoft.com/office/powerpoint/2010/main" val="1148599608"/>
      </p:ext>
    </p:extLst>
  </p:cSld>
</p:sld>
</file>

<file path=ppt/slides/slide41.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4668FA7-92F0-446F-B025-0C0975C50834}"/>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Порядок работ</a:t>
            </a:r>
          </a:p>
        </p:txBody>
      </p:sp>
      <p:sp>
        <p:nvSpPr>
          <p:cNvPr id="2" name="">
            <a:extLst xmlns:a="http://schemas.openxmlformats.org/drawingml/2006/main">
              <a:ext uri="{FF2B5EF4-FFF2-40B4-BE49-F238E27FC236}">
                <a16:creationId xmlns:a16="http://schemas.microsoft.com/office/drawing/2014/main" id="{41D79B49-2368-47B2-8A3E-4D63373179F3}"/>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Topo: полный вход и ответ</a:t>
            </a:r>
          </a:p>
        </p:txBody>
      </p:sp>
      <p:sp>
        <p:nvSpPr>
          <p:cNvPr id="3" name="">
            <a:extLst xmlns:a="http://schemas.openxmlformats.org/drawingml/2006/main">
              <a:ext uri="{FF2B5EF4-FFF2-40B4-BE49-F238E27FC236}">
                <a16:creationId xmlns:a16="http://schemas.microsoft.com/office/drawing/2014/main" id="{455BEAA1-DD7B-45B0-AF3D-6E2C9B994F4A}"/>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В order все вершины встречаются один раз. Каждая зависимость направлена вперёд.</a:t>
            </a:r>
          </a:p>
        </p:txBody>
      </p:sp>
      <p:sp>
        <p:nvSpPr>
          <p:cNvPr id="4" name="">
            <a:extLst xmlns:a="http://schemas.openxmlformats.org/drawingml/2006/main">
              <a:ext uri="{FF2B5EF4-FFF2-40B4-BE49-F238E27FC236}">
                <a16:creationId xmlns:a16="http://schemas.microsoft.com/office/drawing/2014/main" id="{75BA6DFC-627A-406B-B9D1-338A3736AF79}"/>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Для нашего примера подходят и [0,2,1,3], и [0,1,2,3].</a:t>
            </a:r>
          </a:p>
        </p:txBody>
      </p:sp>
      <p:graphicFrame>
        <p:nvGraphicFramePr>
          <p:cNvPr id="5" name="">
            <a:extLst xmlns:a="http://schemas.openxmlformats.org/drawingml/2006/main">
              <a:ext uri="{FF2B5EF4-FFF2-40B4-BE49-F238E27FC236}">
                <a16:creationId xmlns:a16="http://schemas.microsoft.com/office/drawing/2014/main" id="{0082F62A-6C2D-46A3-9C71-A0ADA3571379}"/>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3182255"/>
                <a:gridCol w="7866745"/>
              </a:tblGrid>
              <a:tr h="920750">
                <a:tc>
                  <a:txBody>
                    <a:bodyPr/>
                    <a:lstStyle/>
                    <a:p>
                      <a:r>
                        <a:rPr sz="1725" b="1">
                          <a:solidFill>
                            <a:srgbClr val="192E43"/>
                          </a:solidFill>
                          <a:latin typeface="Arial"/>
                          <a:ea typeface="Arial"/>
                          <a:cs typeface="Arial"/>
                        </a:rPr>
                        <a:t>Что</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JSON</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920750">
                <a:tc>
                  <a:txBody>
                    <a:bodyPr/>
                    <a:lstStyle/>
                    <a:p>
                      <a:r>
                        <a:rPr sz="1725" b="0">
                          <a:solidFill>
                            <a:srgbClr val="192E43"/>
                          </a:solidFill>
                          <a:latin typeface="Arial"/>
                          <a:ea typeface="Arial"/>
                          <a:cs typeface="Arial"/>
                        </a:rPr>
                        <a:t>Вход</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{"task":"topo","n":4,"edges":[[0,1],[0,2],[1,3],[2,3]]}</a:t>
                      </a:r>
                    </a:p>
                  </a:txBody>
                  <a:tcPr marL="91440" marR="91440" marT="45720" marB="45720">
                    <a:lnR w="9525">
                      <a:solidFill>
                        <a:srgbClr val="E2DCE0"/>
                      </a:solidFill>
                      <a:prstDash val="solid"/>
                    </a:lnR>
                    <a:lnB w="9525">
                      <a:solidFill>
                        <a:srgbClr val="E2DCE0"/>
                      </a:solidFill>
                      <a:prstDash val="solid"/>
                    </a:lnB>
                    <a:solidFill>
                      <a:srgbClr val="FFFEFC"/>
                    </a:solidFill>
                  </a:tcPr>
                </a:tc>
              </a:tr>
              <a:tr h="920750">
                <a:tc>
                  <a:txBody>
                    <a:bodyPr/>
                    <a:lstStyle/>
                    <a:p>
                      <a:r>
                        <a:rPr sz="1725" b="0">
                          <a:solidFill>
                            <a:srgbClr val="192E43"/>
                          </a:solidFill>
                          <a:latin typeface="Arial"/>
                          <a:ea typeface="Arial"/>
                          <a:cs typeface="Arial"/>
                        </a:rPr>
                        <a:t>Выход</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{"acyclic":true,"order":[0,2,1,3]}</a:t>
                      </a:r>
                    </a:p>
                  </a:txBody>
                  <a:tcPr marL="91440" marR="91440" marT="45720" marB="45720">
                    <a:lnR w="9525">
                      <a:solidFill>
                        <a:srgbClr val="E2DCE0"/>
                      </a:solidFill>
                      <a:prstDash val="solid"/>
                    </a:lnR>
                    <a:lnB w="9525">
                      <a:solidFill>
                        <a:srgbClr val="E2DCE0"/>
                      </a:solidFill>
                      <a:prstDash val="solid"/>
                    </a:lnB>
                    <a:solidFill>
                      <a:srgbClr val="FAF8F8"/>
                    </a:solidFill>
                  </a:tcPr>
                </a:tc>
              </a:tr>
            </a:tbl>
          </a:graphicData>
        </a:graphic>
      </p:graphicFrame>
      <p:sp>
        <p:nvSpPr>
          <p:cNvPr id="6" name="">
            <a:extLst xmlns:a="http://schemas.openxmlformats.org/drawingml/2006/main">
              <a:ext uri="{FF2B5EF4-FFF2-40B4-BE49-F238E27FC236}">
                <a16:creationId xmlns:a16="http://schemas.microsoft.com/office/drawing/2014/main" id="{080C73F8-04DD-467B-8B19-935ABDBBB406}"/>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Если добавить цикл, acyclic=false и order=[] независимо от частичного обхода.</a:t>
            </a:r>
          </a:p>
        </p:txBody>
      </p:sp>
      <p:sp>
        <p:nvSpPr>
          <p:cNvPr id="7" name="">
            <a:extLst xmlns:a="http://schemas.openxmlformats.org/drawingml/2006/main">
              <a:ext uri="{FF2B5EF4-FFF2-40B4-BE49-F238E27FC236}">
                <a16:creationId xmlns:a16="http://schemas.microsoft.com/office/drawing/2014/main" id="{7EB29CEE-A1F6-4C84-AEA7-A6CB22D492E4}"/>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524C142E-A5F9-4B44-9AA6-352412E18EF0}"/>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41 / 64</a:t>
            </a:r>
          </a:p>
        </p:txBody>
      </p:sp>
    </p:spTree>
    <p:extLst>
      <p:ext uri="{BB962C8B-B14F-4D97-AF65-F5344CB8AC3E}">
        <p14:creationId xmlns:p14="http://schemas.microsoft.com/office/powerpoint/2010/main" val="566345973"/>
      </p:ext>
    </p:extLst>
  </p:cSld>
</p:sld>
</file>

<file path=ppt/slides/slide42.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B2F00FE-6555-4E32-BAC9-A6AEBCAC4950}"/>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Кратчайшие пути</a:t>
            </a:r>
          </a:p>
        </p:txBody>
      </p:sp>
      <p:sp>
        <p:nvSpPr>
          <p:cNvPr id="2" name="">
            <a:extLst xmlns:a="http://schemas.openxmlformats.org/drawingml/2006/main">
              <a:ext uri="{FF2B5EF4-FFF2-40B4-BE49-F238E27FC236}">
                <a16:creationId xmlns:a16="http://schemas.microsoft.com/office/drawing/2014/main" id="{80FA0987-6232-46D0-81B1-FA6F2E45DCF0}"/>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DAG: направленный граф без цикла</a:t>
            </a:r>
          </a:p>
        </p:txBody>
      </p:sp>
      <p:sp>
        <p:nvSpPr>
          <p:cNvPr id="3" name="">
            <a:extLst xmlns:a="http://schemas.openxmlformats.org/drawingml/2006/main">
              <a:ext uri="{FF2B5EF4-FFF2-40B4-BE49-F238E27FC236}">
                <a16:creationId xmlns:a16="http://schemas.microsoft.com/office/drawing/2014/main" id="{70753B58-34BD-4E6C-8BC4-F23426C695A4}"/>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Теперь ищем самый дешёвый маршрут из заданной вершины source.</a:t>
            </a:r>
          </a:p>
        </p:txBody>
      </p:sp>
      <p:sp>
        <p:nvSpPr>
          <p:cNvPr id="4" name="">
            <a:extLst xmlns:a="http://schemas.openxmlformats.org/drawingml/2006/main">
              <a:ext uri="{FF2B5EF4-FFF2-40B4-BE49-F238E27FC236}">
                <a16:creationId xmlns:a16="http://schemas.microsoft.com/office/drawing/2014/main" id="{8419C886-5A10-4D61-99BA-99FC0E1FE400}"/>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source=0. В таблице перечислены входные рёбра с исходными ID.</a:t>
            </a:r>
          </a:p>
        </p:txBody>
      </p:sp>
      <p:graphicFrame>
        <p:nvGraphicFramePr>
          <p:cNvPr id="5" name="">
            <a:extLst xmlns:a="http://schemas.openxmlformats.org/drawingml/2006/main">
              <a:ext uri="{FF2B5EF4-FFF2-40B4-BE49-F238E27FC236}">
                <a16:creationId xmlns:a16="http://schemas.microsoft.com/office/drawing/2014/main" id="{C3E722F7-EB74-4AB5-8531-4728BFDDEB95}"/>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3132224"/>
                <a:gridCol w="4784552"/>
                <a:gridCol w="3132224"/>
              </a:tblGrid>
              <a:tr h="460375">
                <a:tc>
                  <a:txBody>
                    <a:bodyPr/>
                    <a:lstStyle/>
                    <a:p>
                      <a:r>
                        <a:rPr sz="1725" b="1">
                          <a:solidFill>
                            <a:srgbClr val="192E43"/>
                          </a:solidFill>
                          <a:latin typeface="Arial"/>
                          <a:ea typeface="Arial"/>
                          <a:cs typeface="Arial"/>
                        </a:rPr>
                        <a:t>ID</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Ребро</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Вес</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460375">
                <a:tc>
                  <a:txBody>
                    <a:bodyPr/>
                    <a:lstStyle/>
                    <a:p>
                      <a:r>
                        <a:rPr sz="1725" b="0">
                          <a:solidFill>
                            <a:srgbClr val="192E43"/>
                          </a:solidFill>
                          <a:latin typeface="Arial"/>
                          <a:ea typeface="Arial"/>
                          <a:cs typeface="Arial"/>
                        </a:rPr>
                        <a:t>0</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0→1</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3</a:t>
                      </a:r>
                    </a:p>
                  </a:txBody>
                  <a:tcPr marL="91440" marR="91440" marT="45720" marB="45720">
                    <a:lnR w="9525">
                      <a:solidFill>
                        <a:srgbClr val="E2DCE0"/>
                      </a:solidFill>
                      <a:prstDash val="solid"/>
                    </a:lnR>
                    <a:lnB w="9525">
                      <a:solidFill>
                        <a:srgbClr val="E2DCE0"/>
                      </a:solidFill>
                      <a:prstDash val="solid"/>
                    </a:lnB>
                    <a:solidFill>
                      <a:srgbClr val="FFFEFC"/>
                    </a:solidFill>
                  </a:tcPr>
                </a:tc>
              </a:tr>
              <a:tr h="460375">
                <a:tc>
                  <a:txBody>
                    <a:bodyPr/>
                    <a:lstStyle/>
                    <a:p>
                      <a:r>
                        <a:rPr sz="1725" b="0">
                          <a:solidFill>
                            <a:srgbClr val="192E43"/>
                          </a:solidFill>
                          <a:latin typeface="Arial"/>
                          <a:ea typeface="Arial"/>
                          <a:cs typeface="Arial"/>
                        </a:rPr>
                        <a:t>1</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0→2</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8</a:t>
                      </a:r>
                    </a:p>
                  </a:txBody>
                  <a:tcPr marL="91440" marR="91440" marT="45720" marB="45720">
                    <a:lnR w="9525">
                      <a:solidFill>
                        <a:srgbClr val="E2DCE0"/>
                      </a:solidFill>
                      <a:prstDash val="solid"/>
                    </a:lnR>
                    <a:lnB w="9525">
                      <a:solidFill>
                        <a:srgbClr val="E2DCE0"/>
                      </a:solidFill>
                      <a:prstDash val="solid"/>
                    </a:lnB>
                    <a:solidFill>
                      <a:srgbClr val="FAF8F8"/>
                    </a:solidFill>
                  </a:tcPr>
                </a:tc>
              </a:tr>
              <a:tr h="460375">
                <a:tc>
                  <a:txBody>
                    <a:bodyPr/>
                    <a:lstStyle/>
                    <a:p>
                      <a:r>
                        <a:rPr sz="1725" b="0">
                          <a:solidFill>
                            <a:srgbClr val="192E43"/>
                          </a:solidFill>
                          <a:latin typeface="Arial"/>
                          <a:ea typeface="Arial"/>
                          <a:cs typeface="Arial"/>
                        </a:rPr>
                        <a:t>2</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1→2</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−5</a:t>
                      </a:r>
                    </a:p>
                  </a:txBody>
                  <a:tcPr marL="91440" marR="91440" marT="45720" marB="45720">
                    <a:lnR w="9525">
                      <a:solidFill>
                        <a:srgbClr val="E2DCE0"/>
                      </a:solidFill>
                      <a:prstDash val="solid"/>
                    </a:lnR>
                    <a:lnB w="9525">
                      <a:solidFill>
                        <a:srgbClr val="E2DCE0"/>
                      </a:solidFill>
                      <a:prstDash val="solid"/>
                    </a:lnB>
                    <a:solidFill>
                      <a:srgbClr val="FFFEFC"/>
                    </a:solidFill>
                  </a:tcPr>
                </a:tc>
              </a:tr>
              <a:tr h="460375">
                <a:tc>
                  <a:txBody>
                    <a:bodyPr/>
                    <a:lstStyle/>
                    <a:p>
                      <a:r>
                        <a:rPr sz="1725" b="0">
                          <a:solidFill>
                            <a:srgbClr val="192E43"/>
                          </a:solidFill>
                          <a:latin typeface="Arial"/>
                          <a:ea typeface="Arial"/>
                          <a:cs typeface="Arial"/>
                        </a:rPr>
                        <a:t>3</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2→3</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4</a:t>
                      </a:r>
                    </a:p>
                  </a:txBody>
                  <a:tcPr marL="91440" marR="91440" marT="45720" marB="45720">
                    <a:lnR w="9525">
                      <a:solidFill>
                        <a:srgbClr val="E2DCE0"/>
                      </a:solidFill>
                      <a:prstDash val="solid"/>
                    </a:lnR>
                    <a:lnB w="9525">
                      <a:solidFill>
                        <a:srgbClr val="E2DCE0"/>
                      </a:solidFill>
                      <a:prstDash val="solid"/>
                    </a:lnB>
                    <a:solidFill>
                      <a:srgbClr val="FAF8F8"/>
                    </a:solidFill>
                  </a:tcPr>
                </a:tc>
              </a:tr>
              <a:tr h="460375">
                <a:tc>
                  <a:txBody>
                    <a:bodyPr/>
                    <a:lstStyle/>
                    <a:p>
                      <a:r>
                        <a:rPr sz="1725" b="0">
                          <a:solidFill>
                            <a:srgbClr val="192E43"/>
                          </a:solidFill>
                          <a:latin typeface="Arial"/>
                          <a:ea typeface="Arial"/>
                          <a:cs typeface="Arial"/>
                        </a:rPr>
                        <a:t>—</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Вершина 4 изолирована</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a:t>
                      </a:r>
                    </a:p>
                  </a:txBody>
                  <a:tcPr marL="91440" marR="91440" marT="45720" marB="45720">
                    <a:lnR w="9525">
                      <a:solidFill>
                        <a:srgbClr val="E2DCE0"/>
                      </a:solidFill>
                      <a:prstDash val="solid"/>
                    </a:lnR>
                    <a:lnB w="9525">
                      <a:solidFill>
                        <a:srgbClr val="E2DCE0"/>
                      </a:solidFill>
                      <a:prstDash val="solid"/>
                    </a:lnB>
                    <a:solidFill>
                      <a:srgbClr val="FFFEFC"/>
                    </a:solidFill>
                  </a:tcPr>
                </a:tc>
              </a:tr>
            </a:tbl>
          </a:graphicData>
        </a:graphic>
      </p:graphicFrame>
      <p:sp>
        <p:nvSpPr>
          <p:cNvPr id="6" name="">
            <a:extLst xmlns:a="http://schemas.openxmlformats.org/drawingml/2006/main">
              <a:ext uri="{FF2B5EF4-FFF2-40B4-BE49-F238E27FC236}">
                <a16:creationId xmlns:a16="http://schemas.microsoft.com/office/drawing/2014/main" id="{63D0A9D4-DC51-44C2-AF69-030FCCDCCE36}"/>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Вес −5 допустим: это скидка. В DAG нет возможности обходить цикл бесконечно.</a:t>
            </a:r>
          </a:p>
        </p:txBody>
      </p:sp>
      <p:sp>
        <p:nvSpPr>
          <p:cNvPr id="7" name="">
            <a:extLst xmlns:a="http://schemas.openxmlformats.org/drawingml/2006/main">
              <a:ext uri="{FF2B5EF4-FFF2-40B4-BE49-F238E27FC236}">
                <a16:creationId xmlns:a16="http://schemas.microsoft.com/office/drawing/2014/main" id="{A1004CD3-C915-4BD3-993E-09D71AD50CE6}"/>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1C4565C9-1C6B-4D0A-B31B-4D73B3EE035B}"/>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42 / 64</a:t>
            </a:r>
          </a:p>
        </p:txBody>
      </p:sp>
    </p:spTree>
    <p:extLst>
      <p:ext uri="{BB962C8B-B14F-4D97-AF65-F5344CB8AC3E}">
        <p14:creationId xmlns:p14="http://schemas.microsoft.com/office/powerpoint/2010/main" val="1871819"/>
      </p:ext>
    </p:extLst>
  </p:cSld>
</p:sld>
</file>

<file path=ppt/slides/slide43.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007AA31-63C0-4726-8897-454ACDA22815}"/>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Кратчайшие пути</a:t>
            </a:r>
          </a:p>
        </p:txBody>
      </p:sp>
      <p:sp>
        <p:nvSpPr>
          <p:cNvPr id="2" name="">
            <a:extLst xmlns:a="http://schemas.openxmlformats.org/drawingml/2006/main">
              <a:ext uri="{FF2B5EF4-FFF2-40B4-BE49-F238E27FC236}">
                <a16:creationId xmlns:a16="http://schemas.microsoft.com/office/drawing/2014/main" id="{7796F6F0-3BF6-4640-964D-DB4B92349960}"/>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distance: лучшая известная стоимость</a:t>
            </a:r>
          </a:p>
        </p:txBody>
      </p:sp>
      <p:sp>
        <p:nvSpPr>
          <p:cNvPr id="3" name="">
            <a:extLst xmlns:a="http://schemas.openxmlformats.org/drawingml/2006/main">
              <a:ext uri="{FF2B5EF4-FFF2-40B4-BE49-F238E27FC236}">
                <a16:creationId xmlns:a16="http://schemas.microsoft.com/office/drawing/2014/main" id="{58974A7A-B7E7-4D6B-8A9F-13D15F9EACA2}"/>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В источнике стоимость 0. Для остальных маршрута пока нет: null.</a:t>
            </a:r>
          </a:p>
        </p:txBody>
      </p:sp>
      <p:sp>
        <p:nvSpPr>
          <p:cNvPr id="4" name="">
            <a:extLst xmlns:a="http://schemas.openxmlformats.org/drawingml/2006/main">
              <a:ext uri="{FF2B5EF4-FFF2-40B4-BE49-F238E27FC236}">
                <a16:creationId xmlns:a16="http://schemas.microsoft.com/office/drawing/2014/main" id="{6477D644-2532-4DB8-8DCA-D1B7EA882AE6}"/>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distance = [0, null, null, null, null]. parent_edge = [−1,−1,−1,−1,−1].</a:t>
            </a:r>
          </a:p>
        </p:txBody>
      </p:sp>
      <p:sp>
        <p:nvSpPr>
          <p:cNvPr id="5" name="">
            <a:extLst xmlns:a="http://schemas.openxmlformats.org/drawingml/2006/main">
              <a:ext uri="{FF2B5EF4-FFF2-40B4-BE49-F238E27FC236}">
                <a16:creationId xmlns:a16="http://schemas.microsoft.com/office/drawing/2014/main" id="{00E65ABE-873F-4741-B242-21D2E6AF2FF1}"/>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null означает «маршрут не найден». Число −1 может быть настоящей стоимостью.</a:t>
            </a:r>
          </a:p>
        </p:txBody>
      </p:sp>
      <p:sp>
        <p:nvSpPr>
          <p:cNvPr id="6" name="">
            <a:extLst xmlns:a="http://schemas.openxmlformats.org/drawingml/2006/main">
              <a:ext uri="{FF2B5EF4-FFF2-40B4-BE49-F238E27FC236}">
                <a16:creationId xmlns:a16="http://schemas.microsoft.com/office/drawing/2014/main" id="{0D044945-6CFD-4486-A6DE-49475F4C8C50}"/>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7" name="">
            <a:extLst xmlns:a="http://schemas.openxmlformats.org/drawingml/2006/main">
              <a:ext uri="{FF2B5EF4-FFF2-40B4-BE49-F238E27FC236}">
                <a16:creationId xmlns:a16="http://schemas.microsoft.com/office/drawing/2014/main" id="{274F9392-89B9-4FA3-B348-1E486E2054E6}"/>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43 / 64</a:t>
            </a:r>
          </a:p>
        </p:txBody>
      </p:sp>
    </p:spTree>
    <p:extLst>
      <p:ext uri="{BB962C8B-B14F-4D97-AF65-F5344CB8AC3E}">
        <p14:creationId xmlns:p14="http://schemas.microsoft.com/office/powerpoint/2010/main" val="2117750206"/>
      </p:ext>
    </p:extLst>
  </p:cSld>
</p:sld>
</file>

<file path=ppt/slides/slide44.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4ECB777-D64B-4B83-9460-DBF6375EC8A1}"/>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Кратчайшие пути</a:t>
            </a:r>
          </a:p>
        </p:txBody>
      </p:sp>
      <p:sp>
        <p:nvSpPr>
          <p:cNvPr id="2" name="">
            <a:extLst xmlns:a="http://schemas.openxmlformats.org/drawingml/2006/main">
              <a:ext uri="{FF2B5EF4-FFF2-40B4-BE49-F238E27FC236}">
                <a16:creationId xmlns:a16="http://schemas.microsoft.com/office/drawing/2014/main" id="{0A51FD46-549F-4D70-8F84-B87A0A35EF7F}"/>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Релаксация: проверить более дешёвый путь</a:t>
            </a:r>
          </a:p>
        </p:txBody>
      </p:sp>
      <p:sp>
        <p:nvSpPr>
          <p:cNvPr id="3" name="">
            <a:extLst xmlns:a="http://schemas.openxmlformats.org/drawingml/2006/main">
              <a:ext uri="{FF2B5EF4-FFF2-40B4-BE49-F238E27FC236}">
                <a16:creationId xmlns:a16="http://schemas.microsoft.com/office/drawing/2014/main" id="{ACBA5D0A-D2B3-4D4C-B977-D96B2CEA5B60}"/>
              </a:ext>
            </a:extLst>
          </p:cNvPr>
          <p:cNvSpPr>
            <a:spLocks xmlns:a="http://schemas.openxmlformats.org/drawingml/2006/main" noGrp="1"/>
          </p:cNvSpPr>
          <p:nvPr/>
        </p:nvSpPr>
        <p:spPr>
          <a:xfrm xmlns:a="http://schemas.openxmlformats.org/drawingml/2006/main">
            <a:off x="571500" y="1638300"/>
            <a:ext cx="1104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0">
                <a:solidFill>
                  <a:srgbClr val="192E43"/>
                </a:solidFill>
                <a:latin typeface="Arial"/>
                <a:ea typeface="Arial"/>
                <a:cs typeface="Arial"/>
              </a:defRPr>
            </a:defPPr>
          </a:lstStyle>
          <a:p xmlns:a="http://schemas.openxmlformats.org/drawingml/2006/main">
            <a:pPr>
              <a:defRPr sz="2175" b="0">
                <a:solidFill>
                  <a:srgbClr val="192E43"/>
                </a:solidFill>
                <a:latin typeface="Arial"/>
                <a:ea typeface="Arial"/>
                <a:cs typeface="Arial"/>
              </a:defRPr>
            </a:pPr>
            <a:r>
              <a:rPr sz="2175" b="0">
                <a:solidFill>
                  <a:srgbClr val="192E43"/>
                </a:solidFill>
                <a:latin typeface="Arial"/>
                <a:ea typeface="Arial"/>
                <a:cs typeface="Arial"/>
              </a:rPr>
              <a:t>Для ребра u→v считаем: стоимость до u плюс вес ребра.</a:t>
            </a:r>
          </a:p>
        </p:txBody>
      </p:sp>
      <p:sp>
        <p:nvSpPr>
          <p:cNvPr id="4" name="">
            <a:extLst xmlns:a="http://schemas.openxmlformats.org/drawingml/2006/main">
              <a:ext uri="{FF2B5EF4-FFF2-40B4-BE49-F238E27FC236}">
                <a16:creationId xmlns:a16="http://schemas.microsoft.com/office/drawing/2014/main" id="{72B70C5C-C7D7-4F10-9915-1A6558CA829F}"/>
              </a:ext>
            </a:extLst>
          </p:cNvPr>
          <p:cNvSpPr>
            <a:spLocks xmlns:a="http://schemas.openxmlformats.org/drawingml/2006/main" noGrp="1"/>
          </p:cNvSpPr>
          <p:nvPr/>
        </p:nvSpPr>
        <p:spPr>
          <a:xfrm xmlns:a="http://schemas.openxmlformats.org/drawingml/2006/main">
            <a:off x="571500" y="2505075"/>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До 1 стоит 3. Ребро 1→2 весит −5. Кандидат до 2: 3−5=−2.</a:t>
            </a:r>
          </a:p>
        </p:txBody>
      </p:sp>
      <p:sp>
        <p:nvSpPr>
          <p:cNvPr id="5" name="">
            <a:extLst xmlns:a="http://schemas.openxmlformats.org/drawingml/2006/main">
              <a:ext uri="{FF2B5EF4-FFF2-40B4-BE49-F238E27FC236}">
                <a16:creationId xmlns:a16="http://schemas.microsoft.com/office/drawing/2014/main" id="{37511B28-7A4B-4884-A36E-DB1D178D9B2E}"/>
              </a:ext>
            </a:extLst>
          </p:cNvPr>
          <p:cNvSpPr>
            <a:spLocks xmlns:a="http://schemas.openxmlformats.org/drawingml/2006/main" noGrp="1"/>
          </p:cNvSpPr>
          <p:nvPr/>
        </p:nvSpPr>
        <p:spPr>
          <a:xfrm xmlns:a="http://schemas.openxmlformats.org/drawingml/2006/main">
            <a:off x="781050" y="3448050"/>
            <a:ext cx="106299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Courier New"/>
                <a:ea typeface="Courier New"/>
                <a:cs typeface="Courier New"/>
              </a:defRPr>
            </a:defPPr>
          </a:lstStyle>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if (distance[u] == null) continue;</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long candidate = distance[u] + weight;</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if (distance[v] == null || candidate &lt; distance[v]) {</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    distance[v] = candidate;</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    parentEdge[v] = id;</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D04280A2-0B0C-4808-8A39-CD91792962A2}"/>
              </a:ext>
            </a:extLst>
          </p:cNvPr>
          <p:cNvSpPr>
            <a:spLocks xmlns:a="http://schemas.openxmlformats.org/drawingml/2006/main" noGrp="1"/>
          </p:cNvSpPr>
          <p:nvPr/>
        </p:nvSpPr>
        <p:spPr>
          <a:xfrm xmlns:a="http://schemas.openxmlformats.org/drawingml/2006/main">
            <a:off x="571500" y="5648325"/>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1">
                <a:solidFill>
                  <a:srgbClr val="AC4D73"/>
                </a:solidFill>
                <a:latin typeface="Arial"/>
                <a:ea typeface="Arial"/>
                <a:cs typeface="Arial"/>
              </a:defRPr>
            </a:defPPr>
          </a:lstStyle>
          <a:p xmlns:a="http://schemas.openxmlformats.org/drawingml/2006/main">
            <a:pPr>
              <a:defRPr sz="2025" b="1">
                <a:solidFill>
                  <a:srgbClr val="AC4D73"/>
                </a:solidFill>
                <a:latin typeface="Arial"/>
                <a:ea typeface="Arial"/>
                <a:cs typeface="Arial"/>
              </a:defRPr>
            </a:pPr>
            <a:r>
              <a:rPr sz="2025" b="1">
                <a:solidFill>
                  <a:srgbClr val="AC4D73"/>
                </a:solidFill>
                <a:latin typeface="Arial"/>
                <a:ea typeface="Arial"/>
                <a:cs typeface="Arial"/>
              </a:rPr>
              <a:t>Если до v пути ещё нет или новый путь дешевле, обновляем distance и parent_edge.</a:t>
            </a:r>
          </a:p>
        </p:txBody>
      </p:sp>
      <p:sp>
        <p:nvSpPr>
          <p:cNvPr id="7" name="">
            <a:extLst xmlns:a="http://schemas.openxmlformats.org/drawingml/2006/main">
              <a:ext uri="{FF2B5EF4-FFF2-40B4-BE49-F238E27FC236}">
                <a16:creationId xmlns:a16="http://schemas.microsoft.com/office/drawing/2014/main" id="{2B88D158-AD3C-4644-B451-8612139CE30E}"/>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B9B8D745-E662-426A-BF84-42AB61AA48C2}"/>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44 / 64</a:t>
            </a:r>
          </a:p>
        </p:txBody>
      </p:sp>
    </p:spTree>
    <p:extLst>
      <p:ext uri="{BB962C8B-B14F-4D97-AF65-F5344CB8AC3E}">
        <p14:creationId xmlns:p14="http://schemas.microsoft.com/office/powerpoint/2010/main" val="1226799213"/>
      </p:ext>
    </p:extLst>
  </p:cSld>
</p:sld>
</file>

<file path=ppt/slides/slide45.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4D81115-EDF7-43C4-8BFF-4F5929F03E9A}"/>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Кратчайшие пути</a:t>
            </a:r>
          </a:p>
        </p:txBody>
      </p:sp>
      <p:sp>
        <p:nvSpPr>
          <p:cNvPr id="2" name="">
            <a:extLst xmlns:a="http://schemas.openxmlformats.org/drawingml/2006/main">
              <a:ext uri="{FF2B5EF4-FFF2-40B4-BE49-F238E27FC236}">
                <a16:creationId xmlns:a16="http://schemas.microsoft.com/office/drawing/2014/main" id="{495A1AA7-0BD7-4D22-9C7F-F2184956DF57}"/>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Шаг 1: обработать source = 0</a:t>
            </a:r>
          </a:p>
        </p:txBody>
      </p:sp>
      <p:sp>
        <p:nvSpPr>
          <p:cNvPr id="3" name="">
            <a:extLst xmlns:a="http://schemas.openxmlformats.org/drawingml/2006/main">
              <a:ext uri="{FF2B5EF4-FFF2-40B4-BE49-F238E27FC236}">
                <a16:creationId xmlns:a16="http://schemas.microsoft.com/office/drawing/2014/main" id="{3C6D9AC5-02A4-48FF-BEFB-F987A3109255}"/>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Порядок [0,1,2,3,4] подходит: каждое ребро идёт вперёд.</a:t>
            </a:r>
          </a:p>
        </p:txBody>
      </p:sp>
      <p:sp>
        <p:nvSpPr>
          <p:cNvPr id="4" name="">
            <a:extLst xmlns:a="http://schemas.openxmlformats.org/drawingml/2006/main">
              <a:ext uri="{FF2B5EF4-FFF2-40B4-BE49-F238E27FC236}">
                <a16:creationId xmlns:a16="http://schemas.microsoft.com/office/drawing/2014/main" id="{04916175-3C12-4C90-97FF-4B487D55EDDF}"/>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Ребро ID 0: до 1 получаем 0+3=3. ID 1: до 2 получаем 0+8=8.</a:t>
            </a:r>
          </a:p>
        </p:txBody>
      </p:sp>
      <p:graphicFrame>
        <p:nvGraphicFramePr>
          <p:cNvPr id="5" name="">
            <a:extLst xmlns:a="http://schemas.openxmlformats.org/drawingml/2006/main">
              <a:ext uri="{FF2B5EF4-FFF2-40B4-BE49-F238E27FC236}">
                <a16:creationId xmlns:a16="http://schemas.microsoft.com/office/drawing/2014/main" id="{66A4B05F-CEAF-49BB-9859-EAC4C012FD10}"/>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3357344"/>
                <a:gridCol w="3357344"/>
                <a:gridCol w="4334312"/>
              </a:tblGrid>
              <a:tr h="460375">
                <a:tc>
                  <a:txBody>
                    <a:bodyPr/>
                    <a:lstStyle/>
                    <a:p>
                      <a:r>
                        <a:rPr sz="1725" b="1">
                          <a:solidFill>
                            <a:srgbClr val="192E43"/>
                          </a:solidFill>
                          <a:latin typeface="Arial"/>
                          <a:ea typeface="Arial"/>
                          <a:cs typeface="Arial"/>
                        </a:rPr>
                        <a:t>Вершина</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distance</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Последнее ребро</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460375">
                <a:tc>
                  <a:txBody>
                    <a:bodyPr/>
                    <a:lstStyle/>
                    <a:p>
                      <a:r>
                        <a:rPr sz="1725" b="0">
                          <a:solidFill>
                            <a:srgbClr val="192E43"/>
                          </a:solidFill>
                          <a:latin typeface="Arial"/>
                          <a:ea typeface="Arial"/>
                          <a:cs typeface="Arial"/>
                        </a:rPr>
                        <a:t>0</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−1: источник</a:t>
                      </a:r>
                    </a:p>
                  </a:txBody>
                  <a:tcPr marL="91440" marR="91440" marT="45720" marB="45720">
                    <a:lnR w="9525">
                      <a:solidFill>
                        <a:srgbClr val="E2DCE0"/>
                      </a:solidFill>
                      <a:prstDash val="solid"/>
                    </a:lnR>
                    <a:lnB w="9525">
                      <a:solidFill>
                        <a:srgbClr val="E2DCE0"/>
                      </a:solidFill>
                      <a:prstDash val="solid"/>
                    </a:lnB>
                    <a:solidFill>
                      <a:srgbClr val="FFFEFC"/>
                    </a:solidFill>
                  </a:tcPr>
                </a:tc>
              </a:tr>
              <a:tr h="460375">
                <a:tc>
                  <a:txBody>
                    <a:bodyPr/>
                    <a:lstStyle/>
                    <a:p>
                      <a:r>
                        <a:rPr sz="1725" b="0">
                          <a:solidFill>
                            <a:srgbClr val="192E43"/>
                          </a:solidFill>
                          <a:latin typeface="Arial"/>
                          <a:ea typeface="Arial"/>
                          <a:cs typeface="Arial"/>
                        </a:rPr>
                        <a:t>1</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3</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ID 0</a:t>
                      </a:r>
                    </a:p>
                  </a:txBody>
                  <a:tcPr marL="91440" marR="91440" marT="45720" marB="45720">
                    <a:lnR w="9525">
                      <a:solidFill>
                        <a:srgbClr val="E2DCE0"/>
                      </a:solidFill>
                      <a:prstDash val="solid"/>
                    </a:lnR>
                    <a:lnB w="9525">
                      <a:solidFill>
                        <a:srgbClr val="E2DCE0"/>
                      </a:solidFill>
                      <a:prstDash val="solid"/>
                    </a:lnB>
                    <a:solidFill>
                      <a:srgbClr val="FAF8F8"/>
                    </a:solidFill>
                  </a:tcPr>
                </a:tc>
              </a:tr>
              <a:tr h="460375">
                <a:tc>
                  <a:txBody>
                    <a:bodyPr/>
                    <a:lstStyle/>
                    <a:p>
                      <a:r>
                        <a:rPr sz="1725" b="0">
                          <a:solidFill>
                            <a:srgbClr val="192E43"/>
                          </a:solidFill>
                          <a:latin typeface="Arial"/>
                          <a:ea typeface="Arial"/>
                          <a:cs typeface="Arial"/>
                        </a:rPr>
                        <a:t>2</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8</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ID 1</a:t>
                      </a:r>
                    </a:p>
                  </a:txBody>
                  <a:tcPr marL="91440" marR="91440" marT="45720" marB="45720">
                    <a:lnR w="9525">
                      <a:solidFill>
                        <a:srgbClr val="E2DCE0"/>
                      </a:solidFill>
                      <a:prstDash val="solid"/>
                    </a:lnR>
                    <a:lnB w="9525">
                      <a:solidFill>
                        <a:srgbClr val="E2DCE0"/>
                      </a:solidFill>
                      <a:prstDash val="solid"/>
                    </a:lnB>
                    <a:solidFill>
                      <a:srgbClr val="FFFEFC"/>
                    </a:solidFill>
                  </a:tcPr>
                </a:tc>
              </a:tr>
              <a:tr h="460375">
                <a:tc>
                  <a:txBody>
                    <a:bodyPr/>
                    <a:lstStyle/>
                    <a:p>
                      <a:r>
                        <a:rPr sz="1725" b="0">
                          <a:solidFill>
                            <a:srgbClr val="192E43"/>
                          </a:solidFill>
                          <a:latin typeface="Arial"/>
                          <a:ea typeface="Arial"/>
                          <a:cs typeface="Arial"/>
                        </a:rPr>
                        <a:t>3</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null</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−1</a:t>
                      </a:r>
                    </a:p>
                  </a:txBody>
                  <a:tcPr marL="91440" marR="91440" marT="45720" marB="45720">
                    <a:lnR w="9525">
                      <a:solidFill>
                        <a:srgbClr val="E2DCE0"/>
                      </a:solidFill>
                      <a:prstDash val="solid"/>
                    </a:lnR>
                    <a:lnB w="9525">
                      <a:solidFill>
                        <a:srgbClr val="E2DCE0"/>
                      </a:solidFill>
                      <a:prstDash val="solid"/>
                    </a:lnB>
                    <a:solidFill>
                      <a:srgbClr val="FAF8F8"/>
                    </a:solidFill>
                  </a:tcPr>
                </a:tc>
              </a:tr>
              <a:tr h="460375">
                <a:tc>
                  <a:txBody>
                    <a:bodyPr/>
                    <a:lstStyle/>
                    <a:p>
                      <a:r>
                        <a:rPr sz="1725" b="0">
                          <a:solidFill>
                            <a:srgbClr val="192E43"/>
                          </a:solidFill>
                          <a:latin typeface="Arial"/>
                          <a:ea typeface="Arial"/>
                          <a:cs typeface="Arial"/>
                        </a:rPr>
                        <a:t>4</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null</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−1</a:t>
                      </a:r>
                    </a:p>
                  </a:txBody>
                  <a:tcPr marL="91440" marR="91440" marT="45720" marB="45720">
                    <a:lnR w="9525">
                      <a:solidFill>
                        <a:srgbClr val="E2DCE0"/>
                      </a:solidFill>
                      <a:prstDash val="solid"/>
                    </a:lnR>
                    <a:lnB w="9525">
                      <a:solidFill>
                        <a:srgbClr val="E2DCE0"/>
                      </a:solidFill>
                      <a:prstDash val="solid"/>
                    </a:lnB>
                    <a:solidFill>
                      <a:srgbClr val="FFFEFC"/>
                    </a:solidFill>
                  </a:tcPr>
                </a:tc>
              </a:tr>
            </a:tbl>
          </a:graphicData>
        </a:graphic>
      </p:graphicFrame>
      <p:sp>
        <p:nvSpPr>
          <p:cNvPr id="6" name="">
            <a:extLst xmlns:a="http://schemas.openxmlformats.org/drawingml/2006/main">
              <a:ext uri="{FF2B5EF4-FFF2-40B4-BE49-F238E27FC236}">
                <a16:creationId xmlns:a16="http://schemas.microsoft.com/office/drawing/2014/main" id="{BA0C0C90-E0FF-48C4-9D00-098387E90650}"/>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После 0: distance=[0,3,8,null,null], parent_edge=[−1,0,1,−1,−1].</a:t>
            </a:r>
          </a:p>
        </p:txBody>
      </p:sp>
      <p:sp>
        <p:nvSpPr>
          <p:cNvPr id="7" name="">
            <a:extLst xmlns:a="http://schemas.openxmlformats.org/drawingml/2006/main">
              <a:ext uri="{FF2B5EF4-FFF2-40B4-BE49-F238E27FC236}">
                <a16:creationId xmlns:a16="http://schemas.microsoft.com/office/drawing/2014/main" id="{94ECE05E-6E11-4958-B462-E3DCA8EFB799}"/>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DBD1D251-A956-4677-9A70-60C22641902F}"/>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45 / 64</a:t>
            </a:r>
          </a:p>
        </p:txBody>
      </p:sp>
    </p:spTree>
    <p:extLst>
      <p:ext uri="{BB962C8B-B14F-4D97-AF65-F5344CB8AC3E}">
        <p14:creationId xmlns:p14="http://schemas.microsoft.com/office/powerpoint/2010/main" val="136618621"/>
      </p:ext>
    </p:extLst>
  </p:cSld>
</p:sld>
</file>

<file path=ppt/slides/slide46.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0805FE0-F16D-4F92-AF6C-3CD53699F91E}"/>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Кратчайшие пути</a:t>
            </a:r>
          </a:p>
        </p:txBody>
      </p:sp>
      <p:sp>
        <p:nvSpPr>
          <p:cNvPr id="2" name="">
            <a:extLst xmlns:a="http://schemas.openxmlformats.org/drawingml/2006/main">
              <a:ext uri="{FF2B5EF4-FFF2-40B4-BE49-F238E27FC236}">
                <a16:creationId xmlns:a16="http://schemas.microsoft.com/office/drawing/2014/main" id="{60DD3D25-1EDE-4266-80D0-7092A711EB54}"/>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Шаг 2: более дешёвый путь через 1</a:t>
            </a:r>
          </a:p>
        </p:txBody>
      </p:sp>
      <p:sp>
        <p:nvSpPr>
          <p:cNvPr id="3" name="">
            <a:extLst xmlns:a="http://schemas.openxmlformats.org/drawingml/2006/main">
              <a:ext uri="{FF2B5EF4-FFF2-40B4-BE49-F238E27FC236}">
                <a16:creationId xmlns:a16="http://schemas.microsoft.com/office/drawing/2014/main" id="{6A02B4F4-5821-4EE5-BFCD-C00B39CAFD73}"/>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У 1 уже известна стоимость 3. Проверяем ребро ID 2: 1→2, вес −5.</a:t>
            </a:r>
          </a:p>
        </p:txBody>
      </p:sp>
      <p:sp>
        <p:nvSpPr>
          <p:cNvPr id="4" name="">
            <a:extLst xmlns:a="http://schemas.openxmlformats.org/drawingml/2006/main">
              <a:ext uri="{FF2B5EF4-FFF2-40B4-BE49-F238E27FC236}">
                <a16:creationId xmlns:a16="http://schemas.microsoft.com/office/drawing/2014/main" id="{1F45E5E2-8F72-4321-AAF4-7B46F0E56F20}"/>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Кандидат −2 дешевле старого 8. Меняем обе записи для вершины 2.</a:t>
            </a:r>
          </a:p>
        </p:txBody>
      </p:sp>
      <p:graphicFrame>
        <p:nvGraphicFramePr>
          <p:cNvPr id="5" name="">
            <a:extLst xmlns:a="http://schemas.openxmlformats.org/drawingml/2006/main">
              <a:ext uri="{FF2B5EF4-FFF2-40B4-BE49-F238E27FC236}">
                <a16:creationId xmlns:a16="http://schemas.microsoft.com/office/drawing/2014/main" id="{DE2AAF6F-EE13-44FD-A311-DC7F0E84973E}"/>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5580878"/>
                <a:gridCol w="5468122"/>
              </a:tblGrid>
              <a:tr h="552450">
                <a:tc>
                  <a:txBody>
                    <a:bodyPr/>
                    <a:lstStyle/>
                    <a:p>
                      <a:r>
                        <a:rPr sz="1725" b="1">
                          <a:solidFill>
                            <a:srgbClr val="192E43"/>
                          </a:solidFill>
                          <a:latin typeface="Arial"/>
                          <a:ea typeface="Arial"/>
                          <a:cs typeface="Arial"/>
                        </a:rPr>
                        <a:t>Что сравниваем</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Значение</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552450">
                <a:tc>
                  <a:txBody>
                    <a:bodyPr/>
                    <a:lstStyle/>
                    <a:p>
                      <a:r>
                        <a:rPr sz="1725" b="0">
                          <a:solidFill>
                            <a:srgbClr val="192E43"/>
                          </a:solidFill>
                          <a:latin typeface="Arial"/>
                          <a:ea typeface="Arial"/>
                          <a:cs typeface="Arial"/>
                        </a:rPr>
                        <a:t>Старый путь 0→2</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8</a:t>
                      </a:r>
                    </a:p>
                  </a:txBody>
                  <a:tcPr marL="91440" marR="91440" marT="45720" marB="45720">
                    <a:lnR w="9525">
                      <a:solidFill>
                        <a:srgbClr val="E2DCE0"/>
                      </a:solidFill>
                      <a:prstDash val="solid"/>
                    </a:lnR>
                    <a:lnB w="9525">
                      <a:solidFill>
                        <a:srgbClr val="E2DCE0"/>
                      </a:solidFill>
                      <a:prstDash val="solid"/>
                    </a:lnB>
                    <a:solidFill>
                      <a:srgbClr val="FFFEFC"/>
                    </a:solidFill>
                  </a:tcPr>
                </a:tc>
              </a:tr>
              <a:tr h="552450">
                <a:tc>
                  <a:txBody>
                    <a:bodyPr/>
                    <a:lstStyle/>
                    <a:p>
                      <a:r>
                        <a:rPr sz="1725" b="0">
                          <a:solidFill>
                            <a:srgbClr val="192E43"/>
                          </a:solidFill>
                          <a:latin typeface="Arial"/>
                          <a:ea typeface="Arial"/>
                          <a:cs typeface="Arial"/>
                        </a:rPr>
                        <a:t>Новый путь 0→1→2</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3 + (−5) = −2</a:t>
                      </a:r>
                    </a:p>
                  </a:txBody>
                  <a:tcPr marL="91440" marR="91440" marT="45720" marB="45720">
                    <a:lnR w="9525">
                      <a:solidFill>
                        <a:srgbClr val="E2DCE0"/>
                      </a:solidFill>
                      <a:prstDash val="solid"/>
                    </a:lnR>
                    <a:lnB w="9525">
                      <a:solidFill>
                        <a:srgbClr val="E2DCE0"/>
                      </a:solidFill>
                      <a:prstDash val="solid"/>
                    </a:lnB>
                    <a:solidFill>
                      <a:srgbClr val="FAF8F8"/>
                    </a:solidFill>
                  </a:tcPr>
                </a:tc>
              </a:tr>
              <a:tr h="552450">
                <a:tc>
                  <a:txBody>
                    <a:bodyPr/>
                    <a:lstStyle/>
                    <a:p>
                      <a:r>
                        <a:rPr sz="1725" b="0">
                          <a:solidFill>
                            <a:srgbClr val="192E43"/>
                          </a:solidFill>
                          <a:latin typeface="Arial"/>
                          <a:ea typeface="Arial"/>
                          <a:cs typeface="Arial"/>
                        </a:rPr>
                        <a:t>distance[2] после шага</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−2</a:t>
                      </a:r>
                    </a:p>
                  </a:txBody>
                  <a:tcPr marL="91440" marR="91440" marT="45720" marB="45720">
                    <a:lnR w="9525">
                      <a:solidFill>
                        <a:srgbClr val="E2DCE0"/>
                      </a:solidFill>
                      <a:prstDash val="solid"/>
                    </a:lnR>
                    <a:lnB w="9525">
                      <a:solidFill>
                        <a:srgbClr val="E2DCE0"/>
                      </a:solidFill>
                      <a:prstDash val="solid"/>
                    </a:lnB>
                    <a:solidFill>
                      <a:srgbClr val="FFFEFC"/>
                    </a:solidFill>
                  </a:tcPr>
                </a:tc>
              </a:tr>
              <a:tr h="552450">
                <a:tc>
                  <a:txBody>
                    <a:bodyPr/>
                    <a:lstStyle/>
                    <a:p>
                      <a:r>
                        <a:rPr sz="1725" b="0">
                          <a:solidFill>
                            <a:srgbClr val="192E43"/>
                          </a:solidFill>
                          <a:latin typeface="Arial"/>
                          <a:ea typeface="Arial"/>
                          <a:cs typeface="Arial"/>
                        </a:rPr>
                        <a:t>parent_edge[2] после шага</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2: исходный ID ребра 1→2</a:t>
                      </a:r>
                    </a:p>
                  </a:txBody>
                  <a:tcPr marL="91440" marR="91440" marT="45720" marB="45720">
                    <a:lnR w="9525">
                      <a:solidFill>
                        <a:srgbClr val="E2DCE0"/>
                      </a:solidFill>
                      <a:prstDash val="solid"/>
                    </a:lnR>
                    <a:lnB w="9525">
                      <a:solidFill>
                        <a:srgbClr val="E2DCE0"/>
                      </a:solidFill>
                      <a:prstDash val="solid"/>
                    </a:lnB>
                    <a:solidFill>
                      <a:srgbClr val="FAF8F8"/>
                    </a:solidFill>
                  </a:tcPr>
                </a:tc>
              </a:tr>
            </a:tbl>
          </a:graphicData>
        </a:graphic>
      </p:graphicFrame>
      <p:sp>
        <p:nvSpPr>
          <p:cNvPr id="6" name="">
            <a:extLst xmlns:a="http://schemas.openxmlformats.org/drawingml/2006/main">
              <a:ext uri="{FF2B5EF4-FFF2-40B4-BE49-F238E27FC236}">
                <a16:creationId xmlns:a16="http://schemas.microsoft.com/office/drawing/2014/main" id="{155E3A8F-E17C-4FDD-A639-D08C0DBE672D}"/>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Новый путь до 2: 0→1→2. parent_edge[2]=2, а не номер вершины 1.</a:t>
            </a:r>
          </a:p>
        </p:txBody>
      </p:sp>
      <p:sp>
        <p:nvSpPr>
          <p:cNvPr id="7" name="">
            <a:extLst xmlns:a="http://schemas.openxmlformats.org/drawingml/2006/main">
              <a:ext uri="{FF2B5EF4-FFF2-40B4-BE49-F238E27FC236}">
                <a16:creationId xmlns:a16="http://schemas.microsoft.com/office/drawing/2014/main" id="{25DD75B5-8EB9-42F3-A79E-0F1E0D567AEB}"/>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CDB5C4A6-CFF5-44EA-8406-7E164DF8AB0E}"/>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46 / 64</a:t>
            </a:r>
          </a:p>
        </p:txBody>
      </p:sp>
    </p:spTree>
    <p:extLst>
      <p:ext uri="{BB962C8B-B14F-4D97-AF65-F5344CB8AC3E}">
        <p14:creationId xmlns:p14="http://schemas.microsoft.com/office/powerpoint/2010/main" val="1294787607"/>
      </p:ext>
    </p:extLst>
  </p:cSld>
</p:sld>
</file>

<file path=ppt/slides/slide47.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30EAC43-1F22-405C-9DD6-3465AEBE4F08}"/>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Кратчайшие пути</a:t>
            </a:r>
          </a:p>
        </p:txBody>
      </p:sp>
      <p:sp>
        <p:nvSpPr>
          <p:cNvPr id="2" name="">
            <a:extLst xmlns:a="http://schemas.openxmlformats.org/drawingml/2006/main">
              <a:ext uri="{FF2B5EF4-FFF2-40B4-BE49-F238E27FC236}">
                <a16:creationId xmlns:a16="http://schemas.microsoft.com/office/drawing/2014/main" id="{732B3738-F3F3-439A-B735-33BA3FD957BB}"/>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Шаг 3: закончить расстояния</a:t>
            </a:r>
          </a:p>
        </p:txBody>
      </p:sp>
      <p:sp>
        <p:nvSpPr>
          <p:cNvPr id="3" name="">
            <a:extLst xmlns:a="http://schemas.openxmlformats.org/drawingml/2006/main">
              <a:ext uri="{FF2B5EF4-FFF2-40B4-BE49-F238E27FC236}">
                <a16:creationId xmlns:a16="http://schemas.microsoft.com/office/drawing/2014/main" id="{FBF1F378-118A-4AEE-B5BB-345470D7C003}"/>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Из 2 идём в 3: −2+4=2. Изолированная 4 остаётся недостижимой.</a:t>
            </a:r>
          </a:p>
        </p:txBody>
      </p:sp>
      <p:sp>
        <p:nvSpPr>
          <p:cNvPr id="4" name="">
            <a:extLst xmlns:a="http://schemas.openxmlformats.org/drawingml/2006/main">
              <a:ext uri="{FF2B5EF4-FFF2-40B4-BE49-F238E27FC236}">
                <a16:creationId xmlns:a16="http://schemas.microsoft.com/office/drawing/2014/main" id="{9F3F2AF1-48A5-4EF7-B538-B5DCED52F083}"/>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distance=[0,3,−2,2,null]. parent_edge=[−1,0,2,3,−1].</a:t>
            </a:r>
          </a:p>
        </p:txBody>
      </p:sp>
      <p:sp>
        <p:nvSpPr>
          <p:cNvPr id="5" name="">
            <a:extLst xmlns:a="http://schemas.openxmlformats.org/drawingml/2006/main">
              <a:ext uri="{FF2B5EF4-FFF2-40B4-BE49-F238E27FC236}">
                <a16:creationId xmlns:a16="http://schemas.microsoft.com/office/drawing/2014/main" id="{553C2168-0031-4473-9CB6-D7FEBA6946B3}"/>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Ответ включает acyclic=true и оба массива по одному элементу на вершину.</a:t>
            </a:r>
          </a:p>
        </p:txBody>
      </p:sp>
      <p:sp>
        <p:nvSpPr>
          <p:cNvPr id="6" name="">
            <a:extLst xmlns:a="http://schemas.openxmlformats.org/drawingml/2006/main">
              <a:ext uri="{FF2B5EF4-FFF2-40B4-BE49-F238E27FC236}">
                <a16:creationId xmlns:a16="http://schemas.microsoft.com/office/drawing/2014/main" id="{AED595F2-ED65-47F2-93F8-83D7BF94E497}"/>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7" name="">
            <a:extLst xmlns:a="http://schemas.openxmlformats.org/drawingml/2006/main">
              <a:ext uri="{FF2B5EF4-FFF2-40B4-BE49-F238E27FC236}">
                <a16:creationId xmlns:a16="http://schemas.microsoft.com/office/drawing/2014/main" id="{80A3BC2A-0F22-485C-A2DA-C1EFF911FF6D}"/>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47 / 64</a:t>
            </a:r>
          </a:p>
        </p:txBody>
      </p:sp>
    </p:spTree>
    <p:extLst>
      <p:ext uri="{BB962C8B-B14F-4D97-AF65-F5344CB8AC3E}">
        <p14:creationId xmlns:p14="http://schemas.microsoft.com/office/powerpoint/2010/main" val="181302943"/>
      </p:ext>
    </p:extLst>
  </p:cSld>
</p:sld>
</file>

<file path=ppt/slides/slide48.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FA3550D-6232-4288-914B-A9E3F1F9A8D6}"/>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Кратчайшие пути</a:t>
            </a:r>
          </a:p>
        </p:txBody>
      </p:sp>
      <p:sp>
        <p:nvSpPr>
          <p:cNvPr id="2" name="">
            <a:extLst xmlns:a="http://schemas.openxmlformats.org/drawingml/2006/main">
              <a:ext uri="{FF2B5EF4-FFF2-40B4-BE49-F238E27FC236}">
                <a16:creationId xmlns:a16="http://schemas.microsoft.com/office/drawing/2014/main" id="{56B4A35A-2E16-47CB-8A61-5B0D7423ACDF}"/>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Почему достаточно одного прохода</a:t>
            </a:r>
          </a:p>
        </p:txBody>
      </p:sp>
      <p:sp>
        <p:nvSpPr>
          <p:cNvPr id="3" name="">
            <a:extLst xmlns:a="http://schemas.openxmlformats.org/drawingml/2006/main">
              <a:ext uri="{FF2B5EF4-FFF2-40B4-BE49-F238E27FC236}">
                <a16:creationId xmlns:a16="http://schemas.microsoft.com/office/drawing/2014/main" id="{C84D8853-CD17-45EA-842F-3257EDD8DB8F}"/>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В topo order все возможные предшественники вершины обработаны раньше неё.</a:t>
            </a:r>
          </a:p>
        </p:txBody>
      </p:sp>
      <p:sp>
        <p:nvSpPr>
          <p:cNvPr id="4" name="">
            <a:extLst xmlns:a="http://schemas.openxmlformats.org/drawingml/2006/main">
              <a:ext uri="{FF2B5EF4-FFF2-40B4-BE49-F238E27FC236}">
                <a16:creationId xmlns:a16="http://schemas.microsoft.com/office/drawing/2014/main" id="{79C9B51F-6CB2-4EF0-B33F-18F4BC9C0E0A}"/>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Перед обработкой 2 мы уже проверили 0→2 и 1→2.</a:t>
            </a:r>
          </a:p>
        </p:txBody>
      </p:sp>
      <p:sp>
        <p:nvSpPr>
          <p:cNvPr id="5" name="">
            <a:extLst xmlns:a="http://schemas.openxmlformats.org/drawingml/2006/main">
              <a:ext uri="{FF2B5EF4-FFF2-40B4-BE49-F238E27FC236}">
                <a16:creationId xmlns:a16="http://schemas.microsoft.com/office/drawing/2014/main" id="{10AECEA0-C5DA-4319-9A60-315383DCAC8D}"/>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Вернуться из более поздней вершины в 2 нельзя: это нарушило бы topo order.</a:t>
            </a:r>
          </a:p>
        </p:txBody>
      </p:sp>
      <p:sp>
        <p:nvSpPr>
          <p:cNvPr id="6" name="">
            <a:extLst xmlns:a="http://schemas.openxmlformats.org/drawingml/2006/main">
              <a:ext uri="{FF2B5EF4-FFF2-40B4-BE49-F238E27FC236}">
                <a16:creationId xmlns:a16="http://schemas.microsoft.com/office/drawing/2014/main" id="{A9391210-F029-4C47-9040-807A69356B74}"/>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7" name="">
            <a:extLst xmlns:a="http://schemas.openxmlformats.org/drawingml/2006/main">
              <a:ext uri="{FF2B5EF4-FFF2-40B4-BE49-F238E27FC236}">
                <a16:creationId xmlns:a16="http://schemas.microsoft.com/office/drawing/2014/main" id="{D3B1C21A-E7FD-4926-A201-4FE7E67316C2}"/>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48 / 64</a:t>
            </a:r>
          </a:p>
        </p:txBody>
      </p:sp>
    </p:spTree>
    <p:extLst>
      <p:ext uri="{BB962C8B-B14F-4D97-AF65-F5344CB8AC3E}">
        <p14:creationId xmlns:p14="http://schemas.microsoft.com/office/powerpoint/2010/main" val="1637887563"/>
      </p:ext>
    </p:extLst>
  </p:cSld>
</p:sld>
</file>

<file path=ppt/slides/slide49.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DDABD96-67C5-46C7-8EE4-B0B1A7DE5C2C}"/>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Кратчайшие пути</a:t>
            </a:r>
          </a:p>
        </p:txBody>
      </p:sp>
      <p:sp>
        <p:nvSpPr>
          <p:cNvPr id="2" name="">
            <a:extLst xmlns:a="http://schemas.openxmlformats.org/drawingml/2006/main">
              <a:ext uri="{FF2B5EF4-FFF2-40B4-BE49-F238E27FC236}">
                <a16:creationId xmlns:a16="http://schemas.microsoft.com/office/drawing/2014/main" id="{15ED733C-ACDA-4F5E-85AE-8D7A2DE34F5B}"/>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Восстановление: идти по последним рёбрам назад</a:t>
            </a:r>
          </a:p>
        </p:txBody>
      </p:sp>
      <p:sp>
        <p:nvSpPr>
          <p:cNvPr id="3" name="">
            <a:extLst xmlns:a="http://schemas.openxmlformats.org/drawingml/2006/main">
              <a:ext uri="{FF2B5EF4-FFF2-40B4-BE49-F238E27FC236}">
                <a16:creationId xmlns:a16="http://schemas.microsoft.com/office/drawing/2014/main" id="{380021C7-7855-47AF-A15D-50F051303188}"/>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parent_edge хранит последнюю часть маршрута. Начинаем с цели 3.</a:t>
            </a:r>
          </a:p>
        </p:txBody>
      </p:sp>
      <p:sp>
        <p:nvSpPr>
          <p:cNvPr id="4" name="">
            <a:extLst xmlns:a="http://schemas.openxmlformats.org/drawingml/2006/main">
              <a:ext uri="{FF2B5EF4-FFF2-40B4-BE49-F238E27FC236}">
                <a16:creationId xmlns:a16="http://schemas.microsoft.com/office/drawing/2014/main" id="{99D140D1-0939-4A9A-9596-E211346DF212}"/>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3: ID 3 ведёт из 2. Затем 2: ID 2 ведёт из 1. Затем 1: ID 0 ведёт из 0.</a:t>
            </a:r>
          </a:p>
        </p:txBody>
      </p:sp>
      <p:graphicFrame>
        <p:nvGraphicFramePr>
          <p:cNvPr id="5" name="">
            <a:extLst xmlns:a="http://schemas.openxmlformats.org/drawingml/2006/main">
              <a:ext uri="{FF2B5EF4-FFF2-40B4-BE49-F238E27FC236}">
                <a16:creationId xmlns:a16="http://schemas.microsoft.com/office/drawing/2014/main" id="{BF939636-128C-4193-AB15-683D312D36C4}"/>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3602063"/>
                <a:gridCol w="3084622"/>
                <a:gridCol w="4362315"/>
              </a:tblGrid>
              <a:tr h="552450">
                <a:tc>
                  <a:txBody>
                    <a:bodyPr/>
                    <a:lstStyle/>
                    <a:p>
                      <a:r>
                        <a:rPr sz="1725" b="1">
                          <a:solidFill>
                            <a:srgbClr val="192E43"/>
                          </a:solidFill>
                          <a:latin typeface="Arial"/>
                          <a:ea typeface="Arial"/>
                          <a:cs typeface="Arial"/>
                        </a:rPr>
                        <a:t>Текущая вершина</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parent_edge</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Предыдущая вершина</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552450">
                <a:tc>
                  <a:txBody>
                    <a:bodyPr/>
                    <a:lstStyle/>
                    <a:p>
                      <a:r>
                        <a:rPr sz="1725" b="0">
                          <a:solidFill>
                            <a:srgbClr val="192E43"/>
                          </a:solidFill>
                          <a:latin typeface="Arial"/>
                          <a:ea typeface="Arial"/>
                          <a:cs typeface="Arial"/>
                        </a:rPr>
                        <a:t>3</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3</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2</a:t>
                      </a:r>
                    </a:p>
                  </a:txBody>
                  <a:tcPr marL="91440" marR="91440" marT="45720" marB="45720">
                    <a:lnR w="9525">
                      <a:solidFill>
                        <a:srgbClr val="E2DCE0"/>
                      </a:solidFill>
                      <a:prstDash val="solid"/>
                    </a:lnR>
                    <a:lnB w="9525">
                      <a:solidFill>
                        <a:srgbClr val="E2DCE0"/>
                      </a:solidFill>
                      <a:prstDash val="solid"/>
                    </a:lnB>
                    <a:solidFill>
                      <a:srgbClr val="FFFEFC"/>
                    </a:solidFill>
                  </a:tcPr>
                </a:tc>
              </a:tr>
              <a:tr h="552450">
                <a:tc>
                  <a:txBody>
                    <a:bodyPr/>
                    <a:lstStyle/>
                    <a:p>
                      <a:r>
                        <a:rPr sz="1725" b="0">
                          <a:solidFill>
                            <a:srgbClr val="192E43"/>
                          </a:solidFill>
                          <a:latin typeface="Arial"/>
                          <a:ea typeface="Arial"/>
                          <a:cs typeface="Arial"/>
                        </a:rPr>
                        <a:t>2</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2</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1</a:t>
                      </a:r>
                    </a:p>
                  </a:txBody>
                  <a:tcPr marL="91440" marR="91440" marT="45720" marB="45720">
                    <a:lnR w="9525">
                      <a:solidFill>
                        <a:srgbClr val="E2DCE0"/>
                      </a:solidFill>
                      <a:prstDash val="solid"/>
                    </a:lnR>
                    <a:lnB w="9525">
                      <a:solidFill>
                        <a:srgbClr val="E2DCE0"/>
                      </a:solidFill>
                      <a:prstDash val="solid"/>
                    </a:lnB>
                    <a:solidFill>
                      <a:srgbClr val="FAF8F8"/>
                    </a:solidFill>
                  </a:tcPr>
                </a:tc>
              </a:tr>
              <a:tr h="552450">
                <a:tc>
                  <a:txBody>
                    <a:bodyPr/>
                    <a:lstStyle/>
                    <a:p>
                      <a:r>
                        <a:rPr sz="1725" b="0">
                          <a:solidFill>
                            <a:srgbClr val="192E43"/>
                          </a:solidFill>
                          <a:latin typeface="Arial"/>
                          <a:ea typeface="Arial"/>
                          <a:cs typeface="Arial"/>
                        </a:rPr>
                        <a:t>1</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a:t>
                      </a:r>
                    </a:p>
                  </a:txBody>
                  <a:tcPr marL="91440" marR="91440" marT="45720" marB="45720">
                    <a:lnR w="9525">
                      <a:solidFill>
                        <a:srgbClr val="E2DCE0"/>
                      </a:solidFill>
                      <a:prstDash val="solid"/>
                    </a:lnR>
                    <a:lnB w="9525">
                      <a:solidFill>
                        <a:srgbClr val="E2DCE0"/>
                      </a:solidFill>
                      <a:prstDash val="solid"/>
                    </a:lnB>
                    <a:solidFill>
                      <a:srgbClr val="FFFEFC"/>
                    </a:solidFill>
                  </a:tcPr>
                </a:tc>
              </a:tr>
              <a:tr h="552450">
                <a:tc>
                  <a:txBody>
                    <a:bodyPr/>
                    <a:lstStyle/>
                    <a:p>
                      <a:r>
                        <a:rPr sz="1725" b="0">
                          <a:solidFill>
                            <a:srgbClr val="192E43"/>
                          </a:solidFill>
                          <a:latin typeface="Arial"/>
                          <a:ea typeface="Arial"/>
                          <a:cs typeface="Arial"/>
                        </a:rPr>
                        <a:t>0</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−1</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Остановиться: источник</a:t>
                      </a:r>
                    </a:p>
                  </a:txBody>
                  <a:tcPr marL="91440" marR="91440" marT="45720" marB="45720">
                    <a:lnR w="9525">
                      <a:solidFill>
                        <a:srgbClr val="E2DCE0"/>
                      </a:solidFill>
                      <a:prstDash val="solid"/>
                    </a:lnR>
                    <a:lnB w="9525">
                      <a:solidFill>
                        <a:srgbClr val="E2DCE0"/>
                      </a:solidFill>
                      <a:prstDash val="solid"/>
                    </a:lnB>
                    <a:solidFill>
                      <a:srgbClr val="FAF8F8"/>
                    </a:solidFill>
                  </a:tcPr>
                </a:tc>
              </a:tr>
            </a:tbl>
          </a:graphicData>
        </a:graphic>
      </p:graphicFrame>
      <p:sp>
        <p:nvSpPr>
          <p:cNvPr id="6" name="">
            <a:extLst xmlns:a="http://schemas.openxmlformats.org/drawingml/2006/main">
              <a:ext uri="{FF2B5EF4-FFF2-40B4-BE49-F238E27FC236}">
                <a16:creationId xmlns:a16="http://schemas.microsoft.com/office/drawing/2014/main" id="{FCF3D88A-502E-4A26-AC25-6F7037284132}"/>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Собрали [3,2,1,0]. Развернули: [0,1,2,3].</a:t>
            </a:r>
          </a:p>
        </p:txBody>
      </p:sp>
      <p:sp>
        <p:nvSpPr>
          <p:cNvPr id="7" name="">
            <a:extLst xmlns:a="http://schemas.openxmlformats.org/drawingml/2006/main">
              <a:ext uri="{FF2B5EF4-FFF2-40B4-BE49-F238E27FC236}">
                <a16:creationId xmlns:a16="http://schemas.microsoft.com/office/drawing/2014/main" id="{CDC0E6B1-861E-4219-9350-38AE74299D73}"/>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ED182F76-2E61-4B15-BAF9-50275AA3AB29}"/>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49 / 64</a:t>
            </a:r>
          </a:p>
        </p:txBody>
      </p:sp>
    </p:spTree>
    <p:extLst>
      <p:ext uri="{BB962C8B-B14F-4D97-AF65-F5344CB8AC3E}">
        <p14:creationId xmlns:p14="http://schemas.microsoft.com/office/powerpoint/2010/main" val="275921654"/>
      </p:ext>
    </p:extLst>
  </p:cSld>
</p:sld>
</file>

<file path=ppt/slides/slide50.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BA7049B-3876-47DD-9B72-034943A056BF}"/>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Кратчайшие пути</a:t>
            </a:r>
          </a:p>
        </p:txBody>
      </p:sp>
      <p:sp>
        <p:nvSpPr>
          <p:cNvPr id="2" name="">
            <a:extLst xmlns:a="http://schemas.openxmlformats.org/drawingml/2006/main">
              <a:ext uri="{FF2B5EF4-FFF2-40B4-BE49-F238E27FC236}">
                <a16:creationId xmlns:a16="http://schemas.microsoft.com/office/drawing/2014/main" id="{D5A4EBAF-4B95-49F4-8CC0-C9C081F38AA0}"/>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Helper: три обязательных вызова</a:t>
            </a:r>
          </a:p>
        </p:txBody>
      </p:sp>
      <p:sp>
        <p:nvSpPr>
          <p:cNvPr id="3" name="">
            <a:extLst xmlns:a="http://schemas.openxmlformats.org/drawingml/2006/main">
              <a:ext uri="{FF2B5EF4-FFF2-40B4-BE49-F238E27FC236}">
                <a16:creationId xmlns:a16="http://schemas.microsoft.com/office/drawing/2014/main" id="{2871A113-CE1C-44ED-B575-0C75C2DD6202}"/>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В собственных тестах вызываем helper для достижимой цели, источника и недостижимой цели.</a:t>
            </a:r>
          </a:p>
        </p:txBody>
      </p:sp>
      <p:sp>
        <p:nvSpPr>
          <p:cNvPr id="4" name="">
            <a:extLst xmlns:a="http://schemas.openxmlformats.org/drawingml/2006/main">
              <a:ext uri="{FF2B5EF4-FFF2-40B4-BE49-F238E27FC236}">
                <a16:creationId xmlns:a16="http://schemas.microsoft.com/office/drawing/2014/main" id="{AB97E363-6CAB-4A5D-AD85-1E47EB152AFA}"/>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Наш пример: target=3 даёт [0,1,2,3]. target=0 даёт [0].</a:t>
            </a:r>
          </a:p>
        </p:txBody>
      </p:sp>
      <p:sp>
        <p:nvSpPr>
          <p:cNvPr id="5" name="">
            <a:extLst xmlns:a="http://schemas.openxmlformats.org/drawingml/2006/main">
              <a:ext uri="{FF2B5EF4-FFF2-40B4-BE49-F238E27FC236}">
                <a16:creationId xmlns:a16="http://schemas.microsoft.com/office/drawing/2014/main" id="{393AA93C-4B61-40AE-871F-E96A4E56CBA3}"/>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Для target=4 выберите и опишите результат «пути нет», например [].</a:t>
            </a:r>
          </a:p>
        </p:txBody>
      </p:sp>
      <p:sp>
        <p:nvSpPr>
          <p:cNvPr id="6" name="">
            <a:extLst xmlns:a="http://schemas.openxmlformats.org/drawingml/2006/main">
              <a:ext uri="{FF2B5EF4-FFF2-40B4-BE49-F238E27FC236}">
                <a16:creationId xmlns:a16="http://schemas.microsoft.com/office/drawing/2014/main" id="{EB21F7AE-969A-4A1F-9ECE-9CFB92D50C40}"/>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7" name="">
            <a:extLst xmlns:a="http://schemas.openxmlformats.org/drawingml/2006/main">
              <a:ext uri="{FF2B5EF4-FFF2-40B4-BE49-F238E27FC236}">
                <a16:creationId xmlns:a16="http://schemas.microsoft.com/office/drawing/2014/main" id="{B72AB8B5-050C-409C-AE3D-55B8D22DCF64}"/>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50 / 64</a:t>
            </a:r>
          </a:p>
        </p:txBody>
      </p:sp>
    </p:spTree>
    <p:extLst>
      <p:ext uri="{BB962C8B-B14F-4D97-AF65-F5344CB8AC3E}">
        <p14:creationId xmlns:p14="http://schemas.microsoft.com/office/powerpoint/2010/main" val="1524446805"/>
      </p:ext>
    </p:extLst>
  </p:cSld>
</p:sld>
</file>

<file path=ppt/slides/slide51.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1DE6FFD-859C-4540-B7E4-5EF86894B186}"/>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Кратчайшие пути</a:t>
            </a:r>
          </a:p>
        </p:txBody>
      </p:sp>
      <p:sp>
        <p:nvSpPr>
          <p:cNvPr id="2" name="">
            <a:extLst xmlns:a="http://schemas.openxmlformats.org/drawingml/2006/main">
              <a:ext uri="{FF2B5EF4-FFF2-40B4-BE49-F238E27FC236}">
                <a16:creationId xmlns:a16="http://schemas.microsoft.com/office/drawing/2014/main" id="{E442C5BD-A415-44BF-B36E-E951D10B02CF}"/>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Helper: как прочитать одно родительское ребро</a:t>
            </a:r>
          </a:p>
        </p:txBody>
      </p:sp>
      <p:sp>
        <p:nvSpPr>
          <p:cNvPr id="3" name="">
            <a:extLst xmlns:a="http://schemas.openxmlformats.org/drawingml/2006/main">
              <a:ext uri="{FF2B5EF4-FFF2-40B4-BE49-F238E27FC236}">
                <a16:creationId xmlns:a16="http://schemas.microsoft.com/office/drawing/2014/main" id="{D5BD1485-F121-4DE9-866D-7A4290C781CD}"/>
              </a:ext>
            </a:extLst>
          </p:cNvPr>
          <p:cNvSpPr>
            <a:spLocks xmlns:a="http://schemas.openxmlformats.org/drawingml/2006/main" noGrp="1"/>
          </p:cNvSpPr>
          <p:nvPr/>
        </p:nvSpPr>
        <p:spPr>
          <a:xfrm xmlns:a="http://schemas.openxmlformats.org/drawingml/2006/main">
            <a:off x="571500" y="1638300"/>
            <a:ext cx="1104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0">
                <a:solidFill>
                  <a:srgbClr val="192E43"/>
                </a:solidFill>
                <a:latin typeface="Arial"/>
                <a:ea typeface="Arial"/>
                <a:cs typeface="Arial"/>
              </a:defRPr>
            </a:defPPr>
          </a:lstStyle>
          <a:p xmlns:a="http://schemas.openxmlformats.org/drawingml/2006/main">
            <a:pPr>
              <a:defRPr sz="2175" b="0">
                <a:solidFill>
                  <a:srgbClr val="192E43"/>
                </a:solidFill>
                <a:latin typeface="Arial"/>
                <a:ea typeface="Arial"/>
                <a:cs typeface="Arial"/>
              </a:defRPr>
            </a:pPr>
            <a:r>
              <a:rPr sz="2175" b="0">
                <a:solidFill>
                  <a:srgbClr val="192E43"/>
                </a:solidFill>
                <a:latin typeface="Arial"/>
                <a:ea typeface="Arial"/>
                <a:cs typeface="Arial"/>
              </a:rPr>
              <a:t>v — текущая вершина. id — ID последнего ребра пути до неё.</a:t>
            </a:r>
          </a:p>
        </p:txBody>
      </p:sp>
      <p:sp>
        <p:nvSpPr>
          <p:cNvPr id="4" name="">
            <a:extLst xmlns:a="http://schemas.openxmlformats.org/drawingml/2006/main">
              <a:ext uri="{FF2B5EF4-FFF2-40B4-BE49-F238E27FC236}">
                <a16:creationId xmlns:a16="http://schemas.microsoft.com/office/drawing/2014/main" id="{98490787-EE26-4786-B230-4E3529B9F4F5}"/>
              </a:ext>
            </a:extLst>
          </p:cNvPr>
          <p:cNvSpPr>
            <a:spLocks xmlns:a="http://schemas.openxmlformats.org/drawingml/2006/main" noGrp="1"/>
          </p:cNvSpPr>
          <p:nvPr/>
        </p:nvSpPr>
        <p:spPr>
          <a:xfrm xmlns:a="http://schemas.openxmlformats.org/drawingml/2006/main">
            <a:off x="571500" y="2505075"/>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Для v=3 получаем id=3. edges[3]=[2,3,4], значит, предыдущая вершина — 2.</a:t>
            </a:r>
          </a:p>
        </p:txBody>
      </p:sp>
      <p:sp>
        <p:nvSpPr>
          <p:cNvPr id="5" name="">
            <a:extLst xmlns:a="http://schemas.openxmlformats.org/drawingml/2006/main">
              <a:ext uri="{FF2B5EF4-FFF2-40B4-BE49-F238E27FC236}">
                <a16:creationId xmlns:a16="http://schemas.microsoft.com/office/drawing/2014/main" id="{DE595330-F85B-462E-84B5-2EA4D683948A}"/>
              </a:ext>
            </a:extLst>
          </p:cNvPr>
          <p:cNvSpPr>
            <a:spLocks xmlns:a="http://schemas.openxmlformats.org/drawingml/2006/main" noGrp="1"/>
          </p:cNvSpPr>
          <p:nvPr/>
        </p:nvSpPr>
        <p:spPr>
          <a:xfrm xmlns:a="http://schemas.openxmlformats.org/drawingml/2006/main">
            <a:off x="781050" y="3448050"/>
            <a:ext cx="106299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Courier New"/>
                <a:ea typeface="Courier New"/>
                <a:cs typeface="Courier New"/>
              </a:defRPr>
            </a:defPPr>
          </a:lstStyle>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route.add(v);</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int id = parentEdge[v];</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int previous = edges[id][0];</a:t>
            </a:r>
          </a:p>
          <a:p xmlns:a="http://schemas.openxmlformats.org/drawingml/2006/main">
            <a:pPr>
              <a:defRPr sz="1875" b="0">
                <a:solidFill>
                  <a:srgbClr val="192E43"/>
                </a:solidFill>
                <a:latin typeface="Courier New"/>
                <a:ea typeface="Courier New"/>
                <a:cs typeface="Courier New"/>
              </a:defRPr>
            </a:pPr>
            <a:r>
              <a:rPr sz="1875" b="0">
                <a:solidFill>
                  <a:srgbClr val="192E43"/>
                </a:solidFill>
                <a:latin typeface="Courier New"/>
                <a:ea typeface="Courier New"/>
                <a:cs typeface="Courier New"/>
              </a:rPr>
              <a:t>v = previous;</a:t>
            </a:r>
          </a:p>
        </p:txBody>
      </p:sp>
      <p:sp>
        <p:nvSpPr>
          <p:cNvPr id="6" name="">
            <a:extLst xmlns:a="http://schemas.openxmlformats.org/drawingml/2006/main">
              <a:ext uri="{FF2B5EF4-FFF2-40B4-BE49-F238E27FC236}">
                <a16:creationId xmlns:a16="http://schemas.microsoft.com/office/drawing/2014/main" id="{EDB82710-E581-4C1C-B32F-157167F19AE0}"/>
              </a:ext>
            </a:extLst>
          </p:cNvPr>
          <p:cNvSpPr>
            <a:spLocks xmlns:a="http://schemas.openxmlformats.org/drawingml/2006/main" noGrp="1"/>
          </p:cNvSpPr>
          <p:nvPr/>
        </p:nvSpPr>
        <p:spPr>
          <a:xfrm xmlns:a="http://schemas.openxmlformats.org/drawingml/2006/main">
            <a:off x="571500" y="5648325"/>
            <a:ext cx="11049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1">
                <a:solidFill>
                  <a:srgbClr val="AC4D73"/>
                </a:solidFill>
                <a:latin typeface="Arial"/>
                <a:ea typeface="Arial"/>
                <a:cs typeface="Arial"/>
              </a:defRPr>
            </a:defPPr>
          </a:lstStyle>
          <a:p xmlns:a="http://schemas.openxmlformats.org/drawingml/2006/main">
            <a:pPr>
              <a:defRPr sz="2025" b="1">
                <a:solidFill>
                  <a:srgbClr val="AC4D73"/>
                </a:solidFill>
                <a:latin typeface="Arial"/>
                <a:ea typeface="Arial"/>
                <a:cs typeface="Arial"/>
              </a:defRPr>
            </a:pPr>
            <a:r>
              <a:rPr sz="2025" b="1">
                <a:solidFill>
                  <a:srgbClr val="AC4D73"/>
                </a:solidFill>
                <a:latin typeface="Arial"/>
                <a:ea typeface="Arial"/>
                <a:cs typeface="Arial"/>
              </a:rPr>
              <a:t>Сохраняем 3 в маршрут и продолжаем из 2. Готовый список надо развернуть.</a:t>
            </a:r>
          </a:p>
        </p:txBody>
      </p:sp>
      <p:sp>
        <p:nvSpPr>
          <p:cNvPr id="7" name="">
            <a:extLst xmlns:a="http://schemas.openxmlformats.org/drawingml/2006/main">
              <a:ext uri="{FF2B5EF4-FFF2-40B4-BE49-F238E27FC236}">
                <a16:creationId xmlns:a16="http://schemas.microsoft.com/office/drawing/2014/main" id="{F9938317-B42A-4CAC-9DA8-E4380CC669CD}"/>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1C218882-B048-45E6-81D5-3045D84ED1F6}"/>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51 / 64</a:t>
            </a:r>
          </a:p>
        </p:txBody>
      </p:sp>
    </p:spTree>
    <p:extLst>
      <p:ext uri="{BB962C8B-B14F-4D97-AF65-F5344CB8AC3E}">
        <p14:creationId xmlns:p14="http://schemas.microsoft.com/office/powerpoint/2010/main" val="973839072"/>
      </p:ext>
    </p:extLst>
  </p:cSld>
</p:sld>
</file>

<file path=ppt/slides/slide52.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203C82F-3A56-430C-8759-E087FF6C7B44}"/>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Кратчайшие пути</a:t>
            </a:r>
          </a:p>
        </p:txBody>
      </p:sp>
      <p:sp>
        <p:nvSpPr>
          <p:cNvPr id="2" name="">
            <a:extLst xmlns:a="http://schemas.openxmlformats.org/drawingml/2006/main">
              <a:ext uri="{FF2B5EF4-FFF2-40B4-BE49-F238E27FC236}">
                <a16:creationId xmlns:a16="http://schemas.microsoft.com/office/drawing/2014/main" id="{04309E26-4485-408F-A6D6-A861868607D7}"/>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Равные пути: несколько правильных ответов</a:t>
            </a:r>
          </a:p>
        </p:txBody>
      </p:sp>
      <p:sp>
        <p:nvSpPr>
          <p:cNvPr id="3" name="">
            <a:extLst xmlns:a="http://schemas.openxmlformats.org/drawingml/2006/main">
              <a:ext uri="{FF2B5EF4-FFF2-40B4-BE49-F238E27FC236}">
                <a16:creationId xmlns:a16="http://schemas.microsoft.com/office/drawing/2014/main" id="{E52874C3-9FDE-4FCD-9DAA-ED63414CF45A}"/>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Если стоимость одинаковая, можно сохранить любой согласованный кратчайший путь.</a:t>
            </a:r>
          </a:p>
        </p:txBody>
      </p:sp>
      <p:sp>
        <p:nvSpPr>
          <p:cNvPr id="4" name="">
            <a:extLst xmlns:a="http://schemas.openxmlformats.org/drawingml/2006/main">
              <a:ext uri="{FF2B5EF4-FFF2-40B4-BE49-F238E27FC236}">
                <a16:creationId xmlns:a16="http://schemas.microsoft.com/office/drawing/2014/main" id="{C14B1E3C-AC83-4CDF-ADC6-9E4E91D75EF2}"/>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ID 0: 0→1 за 2. ID 1: такой же. ID 2: 1→2 за 1. ID 3: 0→2 за 3.</a:t>
            </a:r>
          </a:p>
        </p:txBody>
      </p:sp>
      <p:graphicFrame>
        <p:nvGraphicFramePr>
          <p:cNvPr id="5" name="">
            <a:extLst xmlns:a="http://schemas.openxmlformats.org/drawingml/2006/main">
              <a:ext uri="{FF2B5EF4-FFF2-40B4-BE49-F238E27FC236}">
                <a16:creationId xmlns:a16="http://schemas.microsoft.com/office/drawing/2014/main" id="{7C5B66AD-E550-494A-A5AD-07E66C500257}"/>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4405125"/>
                <a:gridCol w="2591749"/>
                <a:gridCol w="4052126"/>
              </a:tblGrid>
              <a:tr h="690563">
                <a:tc>
                  <a:txBody>
                    <a:bodyPr/>
                    <a:lstStyle/>
                    <a:p>
                      <a:r>
                        <a:rPr sz="1725" b="1">
                          <a:solidFill>
                            <a:srgbClr val="192E43"/>
                          </a:solidFill>
                          <a:latin typeface="Arial"/>
                          <a:ea typeface="Arial"/>
                          <a:cs typeface="Arial"/>
                        </a:rPr>
                        <a:t>Выбранный маршрут до 2</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distance</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Допустимый parent_edge</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690563">
                <a:tc>
                  <a:txBody>
                    <a:bodyPr/>
                    <a:lstStyle/>
                    <a:p>
                      <a:r>
                        <a:rPr sz="1725" b="0">
                          <a:solidFill>
                            <a:srgbClr val="192E43"/>
                          </a:solidFill>
                          <a:latin typeface="Arial"/>
                          <a:ea typeface="Arial"/>
                          <a:cs typeface="Arial"/>
                        </a:rPr>
                        <a:t>Через 1, первое ребро ID 0</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[0,2,3]</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[−1,0,2]</a:t>
                      </a:r>
                    </a:p>
                  </a:txBody>
                  <a:tcPr marL="91440" marR="91440" marT="45720" marB="45720">
                    <a:lnR w="9525">
                      <a:solidFill>
                        <a:srgbClr val="E2DCE0"/>
                      </a:solidFill>
                      <a:prstDash val="solid"/>
                    </a:lnR>
                    <a:lnB w="9525">
                      <a:solidFill>
                        <a:srgbClr val="E2DCE0"/>
                      </a:solidFill>
                      <a:prstDash val="solid"/>
                    </a:lnB>
                    <a:solidFill>
                      <a:srgbClr val="FFFEFC"/>
                    </a:solidFill>
                  </a:tcPr>
                </a:tc>
              </a:tr>
              <a:tr h="690563">
                <a:tc>
                  <a:txBody>
                    <a:bodyPr/>
                    <a:lstStyle/>
                    <a:p>
                      <a:r>
                        <a:rPr sz="1725" b="0">
                          <a:solidFill>
                            <a:srgbClr val="192E43"/>
                          </a:solidFill>
                          <a:latin typeface="Arial"/>
                          <a:ea typeface="Arial"/>
                          <a:cs typeface="Arial"/>
                        </a:rPr>
                        <a:t>Через 1, первое ребро ID 1</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[0,2,3]</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[−1,1,2]</a:t>
                      </a:r>
                    </a:p>
                  </a:txBody>
                  <a:tcPr marL="91440" marR="91440" marT="45720" marB="45720">
                    <a:lnR w="9525">
                      <a:solidFill>
                        <a:srgbClr val="E2DCE0"/>
                      </a:solidFill>
                      <a:prstDash val="solid"/>
                    </a:lnR>
                    <a:lnB w="9525">
                      <a:solidFill>
                        <a:srgbClr val="E2DCE0"/>
                      </a:solidFill>
                      <a:prstDash val="solid"/>
                    </a:lnB>
                    <a:solidFill>
                      <a:srgbClr val="FAF8F8"/>
                    </a:solidFill>
                  </a:tcPr>
                </a:tc>
              </a:tr>
              <a:tr h="690563">
                <a:tc>
                  <a:txBody>
                    <a:bodyPr/>
                    <a:lstStyle/>
                    <a:p>
                      <a:r>
                        <a:rPr sz="1725" b="0">
                          <a:solidFill>
                            <a:srgbClr val="192E43"/>
                          </a:solidFill>
                          <a:latin typeface="Arial"/>
                          <a:ea typeface="Arial"/>
                          <a:cs typeface="Arial"/>
                        </a:rPr>
                        <a:t>Прямое ребро ID 3</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[0,2,3]</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[−1,0,3]</a:t>
                      </a:r>
                    </a:p>
                  </a:txBody>
                  <a:tcPr marL="91440" marR="91440" marT="45720" marB="45720">
                    <a:lnR w="9525">
                      <a:solidFill>
                        <a:srgbClr val="E2DCE0"/>
                      </a:solidFill>
                      <a:prstDash val="solid"/>
                    </a:lnR>
                    <a:lnB w="9525">
                      <a:solidFill>
                        <a:srgbClr val="E2DCE0"/>
                      </a:solidFill>
                      <a:prstDash val="solid"/>
                    </a:lnB>
                    <a:solidFill>
                      <a:srgbClr val="FFFEFC"/>
                    </a:solidFill>
                  </a:tcPr>
                </a:tc>
              </a:tr>
            </a:tbl>
          </a:graphicData>
        </a:graphic>
      </p:graphicFrame>
      <p:sp>
        <p:nvSpPr>
          <p:cNvPr id="6" name="">
            <a:extLst xmlns:a="http://schemas.openxmlformats.org/drawingml/2006/main">
              <a:ext uri="{FF2B5EF4-FFF2-40B4-BE49-F238E27FC236}">
                <a16:creationId xmlns:a16="http://schemas.microsoft.com/office/drawing/2014/main" id="{74EAF535-ED5F-4492-AEC0-345094EFA730}"/>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До 2 стоят 3 и прямой путь, и путь через 1. Важно сохранить правильный ID.</a:t>
            </a:r>
          </a:p>
        </p:txBody>
      </p:sp>
      <p:sp>
        <p:nvSpPr>
          <p:cNvPr id="7" name="">
            <a:extLst xmlns:a="http://schemas.openxmlformats.org/drawingml/2006/main">
              <a:ext uri="{FF2B5EF4-FFF2-40B4-BE49-F238E27FC236}">
                <a16:creationId xmlns:a16="http://schemas.microsoft.com/office/drawing/2014/main" id="{29A30E12-BC6E-4ECA-BC37-5EA36D8AED2F}"/>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00F2EFCB-140A-41FF-8DF2-3F0BCDEE1038}"/>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52 / 64</a:t>
            </a:r>
          </a:p>
        </p:txBody>
      </p:sp>
    </p:spTree>
    <p:extLst>
      <p:ext uri="{BB962C8B-B14F-4D97-AF65-F5344CB8AC3E}">
        <p14:creationId xmlns:p14="http://schemas.microsoft.com/office/powerpoint/2010/main" val="1946612264"/>
      </p:ext>
    </p:extLst>
  </p:cSld>
</p:sld>
</file>

<file path=ppt/slides/slide53.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1C11DCC-FA0B-4F47-843F-048DD3EBEA0D}"/>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Кратчайшие пути</a:t>
            </a:r>
          </a:p>
        </p:txBody>
      </p:sp>
      <p:sp>
        <p:nvSpPr>
          <p:cNvPr id="2" name="">
            <a:extLst xmlns:a="http://schemas.openxmlformats.org/drawingml/2006/main">
              <a:ext uri="{FF2B5EF4-FFF2-40B4-BE49-F238E27FC236}">
                <a16:creationId xmlns:a16="http://schemas.microsoft.com/office/drawing/2014/main" id="{A285E265-C97F-4595-9B56-8BD524BBCA13}"/>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DAG: полный ответ нашего первого примера</a:t>
            </a:r>
          </a:p>
        </p:txBody>
      </p:sp>
      <p:sp>
        <p:nvSpPr>
          <p:cNvPr id="3" name="">
            <a:extLst xmlns:a="http://schemas.openxmlformats.org/drawingml/2006/main">
              <a:ext uri="{FF2B5EF4-FFF2-40B4-BE49-F238E27FC236}">
                <a16:creationId xmlns:a16="http://schemas.microsoft.com/office/drawing/2014/main" id="{FD13FC79-DBEB-4E48-9B29-038CABD88C2B}"/>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Возвращаем стоимость и последнее ребро для каждой вершины.</a:t>
            </a:r>
          </a:p>
        </p:txBody>
      </p:sp>
      <p:sp>
        <p:nvSpPr>
          <p:cNvPr id="4" name="">
            <a:extLst xmlns:a="http://schemas.openxmlformats.org/drawingml/2006/main">
              <a:ext uri="{FF2B5EF4-FFF2-40B4-BE49-F238E27FC236}">
                <a16:creationId xmlns:a16="http://schemas.microsoft.com/office/drawing/2014/main" id="{0E2A28D4-6704-4A42-AF25-39D13E1034C4}"/>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Возвращаемся к графу с весами 3, 8, −5, 4 и source=0.</a:t>
            </a:r>
          </a:p>
        </p:txBody>
      </p:sp>
      <p:graphicFrame>
        <p:nvGraphicFramePr>
          <p:cNvPr id="5" name="">
            <a:extLst xmlns:a="http://schemas.openxmlformats.org/drawingml/2006/main">
              <a:ext uri="{FF2B5EF4-FFF2-40B4-BE49-F238E27FC236}">
                <a16:creationId xmlns:a16="http://schemas.microsoft.com/office/drawing/2014/main" id="{464D4F61-5682-4537-B8F7-A261D8CC55CE}"/>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2856927"/>
                <a:gridCol w="8192073"/>
              </a:tblGrid>
              <a:tr h="920750">
                <a:tc>
                  <a:txBody>
                    <a:bodyPr/>
                    <a:lstStyle/>
                    <a:p>
                      <a:r>
                        <a:rPr sz="1725" b="1">
                          <a:solidFill>
                            <a:srgbClr val="192E43"/>
                          </a:solidFill>
                          <a:latin typeface="Arial"/>
                          <a:ea typeface="Arial"/>
                          <a:cs typeface="Arial"/>
                        </a:rPr>
                        <a:t>Что</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JSON</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920750">
                <a:tc>
                  <a:txBody>
                    <a:bodyPr/>
                    <a:lstStyle/>
                    <a:p>
                      <a:r>
                        <a:rPr sz="1725" b="0">
                          <a:solidFill>
                            <a:srgbClr val="192E43"/>
                          </a:solidFill>
                          <a:latin typeface="Arial"/>
                          <a:ea typeface="Arial"/>
                          <a:cs typeface="Arial"/>
                        </a:rPr>
                        <a:t>Вход</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{"task":"dag","n":5,"source":0,"edges":[[0,1,3],[0,2,8],[1,2,-5],[2,3,4]]}</a:t>
                      </a:r>
                    </a:p>
                  </a:txBody>
                  <a:tcPr marL="91440" marR="91440" marT="45720" marB="45720">
                    <a:lnR w="9525">
                      <a:solidFill>
                        <a:srgbClr val="E2DCE0"/>
                      </a:solidFill>
                      <a:prstDash val="solid"/>
                    </a:lnR>
                    <a:lnB w="9525">
                      <a:solidFill>
                        <a:srgbClr val="E2DCE0"/>
                      </a:solidFill>
                      <a:prstDash val="solid"/>
                    </a:lnB>
                    <a:solidFill>
                      <a:srgbClr val="FFFEFC"/>
                    </a:solidFill>
                  </a:tcPr>
                </a:tc>
              </a:tr>
              <a:tr h="920750">
                <a:tc>
                  <a:txBody>
                    <a:bodyPr/>
                    <a:lstStyle/>
                    <a:p>
                      <a:r>
                        <a:rPr sz="1725" b="0">
                          <a:solidFill>
                            <a:srgbClr val="192E43"/>
                          </a:solidFill>
                          <a:latin typeface="Arial"/>
                          <a:ea typeface="Arial"/>
                          <a:cs typeface="Arial"/>
                        </a:rPr>
                        <a:t>Выход</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{"acyclic":true,"distance":[0,3,-2,2,null],"parent_edge":[-1,0,2,3,-1]}</a:t>
                      </a:r>
                    </a:p>
                  </a:txBody>
                  <a:tcPr marL="91440" marR="91440" marT="45720" marB="45720">
                    <a:lnR w="9525">
                      <a:solidFill>
                        <a:srgbClr val="E2DCE0"/>
                      </a:solidFill>
                      <a:prstDash val="solid"/>
                    </a:lnR>
                    <a:lnB w="9525">
                      <a:solidFill>
                        <a:srgbClr val="E2DCE0"/>
                      </a:solidFill>
                      <a:prstDash val="solid"/>
                    </a:lnB>
                    <a:solidFill>
                      <a:srgbClr val="FAF8F8"/>
                    </a:solidFill>
                  </a:tcPr>
                </a:tc>
              </a:tr>
            </a:tbl>
          </a:graphicData>
        </a:graphic>
      </p:graphicFrame>
      <p:sp>
        <p:nvSpPr>
          <p:cNvPr id="6" name="">
            <a:extLst xmlns:a="http://schemas.openxmlformats.org/drawingml/2006/main">
              <a:ext uri="{FF2B5EF4-FFF2-40B4-BE49-F238E27FC236}">
                <a16:creationId xmlns:a16="http://schemas.microsoft.com/office/drawing/2014/main" id="{66FE29A9-31D8-43C3-8153-322C7095C1A2}"/>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null стоит только у недостижимой 4. −1 в parent_edge стоит у источника и у 4.</a:t>
            </a:r>
          </a:p>
        </p:txBody>
      </p:sp>
      <p:sp>
        <p:nvSpPr>
          <p:cNvPr id="7" name="">
            <a:extLst xmlns:a="http://schemas.openxmlformats.org/drawingml/2006/main">
              <a:ext uri="{FF2B5EF4-FFF2-40B4-BE49-F238E27FC236}">
                <a16:creationId xmlns:a16="http://schemas.microsoft.com/office/drawing/2014/main" id="{9478C7F0-32D3-4FD4-89AA-DFBF89B28303}"/>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920BF50A-87F8-4847-8931-263C7027F289}"/>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53 / 64</a:t>
            </a:r>
          </a:p>
        </p:txBody>
      </p:sp>
    </p:spTree>
    <p:extLst>
      <p:ext uri="{BB962C8B-B14F-4D97-AF65-F5344CB8AC3E}">
        <p14:creationId xmlns:p14="http://schemas.microsoft.com/office/powerpoint/2010/main" val="293001406"/>
      </p:ext>
    </p:extLst>
  </p:cSld>
</p:sld>
</file>

<file path=ppt/slides/slide54.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40AD390-D1D4-4183-9734-5849C7D06E06}"/>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Реализация и сдача</a:t>
            </a:r>
          </a:p>
        </p:txBody>
      </p:sp>
      <p:sp>
        <p:nvSpPr>
          <p:cNvPr id="2" name="">
            <a:extLst xmlns:a="http://schemas.openxmlformats.org/drawingml/2006/main">
              <a:ext uri="{FF2B5EF4-FFF2-40B4-BE49-F238E27FC236}">
                <a16:creationId xmlns:a16="http://schemas.microsoft.com/office/drawing/2014/main" id="{747D1E2E-982B-465C-8531-0375CCBCC55B}"/>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Сложность: сколько раз смотрим данные</a:t>
            </a:r>
          </a:p>
        </p:txBody>
      </p:sp>
      <p:sp>
        <p:nvSpPr>
          <p:cNvPr id="3" name="">
            <a:extLst xmlns:a="http://schemas.openxmlformats.org/drawingml/2006/main">
              <a:ext uri="{FF2B5EF4-FFF2-40B4-BE49-F238E27FC236}">
                <a16:creationId xmlns:a16="http://schemas.microsoft.com/office/drawing/2014/main" id="{13806070-415B-47F4-8C6A-AB75E0685E79}"/>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n — число вершин, m — число рёбер, q — число операций DSU.</a:t>
            </a:r>
          </a:p>
        </p:txBody>
      </p:sp>
      <p:sp>
        <p:nvSpPr>
          <p:cNvPr id="4" name="">
            <a:extLst xmlns:a="http://schemas.openxmlformats.org/drawingml/2006/main">
              <a:ext uri="{FF2B5EF4-FFF2-40B4-BE49-F238E27FC236}">
                <a16:creationId xmlns:a16="http://schemas.microsoft.com/office/drawing/2014/main" id="{89A9D4B1-94D4-4E9D-A85A-46E57E7E065D}"/>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O(n+m): работа растёт примерно вместе с общим размером списков.</a:t>
            </a:r>
          </a:p>
        </p:txBody>
      </p:sp>
      <p:sp>
        <p:nvSpPr>
          <p:cNvPr id="5" name="">
            <a:extLst xmlns:a="http://schemas.openxmlformats.org/drawingml/2006/main">
              <a:ext uri="{FF2B5EF4-FFF2-40B4-BE49-F238E27FC236}">
                <a16:creationId xmlns:a16="http://schemas.microsoft.com/office/drawing/2014/main" id="{F72D4A69-CF63-40C3-9ED2-F0E854036EA5}"/>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Для Косарайю, topo и DAG каждый список просматриваем постоянное число раз.</a:t>
            </a:r>
          </a:p>
        </p:txBody>
      </p:sp>
      <p:sp>
        <p:nvSpPr>
          <p:cNvPr id="6" name="">
            <a:extLst xmlns:a="http://schemas.openxmlformats.org/drawingml/2006/main">
              <a:ext uri="{FF2B5EF4-FFF2-40B4-BE49-F238E27FC236}">
                <a16:creationId xmlns:a16="http://schemas.microsoft.com/office/drawing/2014/main" id="{7E830AF1-9671-46D6-BAB1-B2B618606C84}"/>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7" name="">
            <a:extLst xmlns:a="http://schemas.openxmlformats.org/drawingml/2006/main">
              <a:ext uri="{FF2B5EF4-FFF2-40B4-BE49-F238E27FC236}">
                <a16:creationId xmlns:a16="http://schemas.microsoft.com/office/drawing/2014/main" id="{6D933125-43BF-4432-9E42-D45F661BA416}"/>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54 / 64</a:t>
            </a:r>
          </a:p>
        </p:txBody>
      </p:sp>
    </p:spTree>
    <p:extLst>
      <p:ext uri="{BB962C8B-B14F-4D97-AF65-F5344CB8AC3E}">
        <p14:creationId xmlns:p14="http://schemas.microsoft.com/office/powerpoint/2010/main" val="1352118379"/>
      </p:ext>
    </p:extLst>
  </p:cSld>
</p:sld>
</file>

<file path=ppt/slides/slide55.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767E7A1-BCF2-4E33-9994-016C817885CA}"/>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Реализация и сдача</a:t>
            </a:r>
          </a:p>
        </p:txBody>
      </p:sp>
      <p:sp>
        <p:nvSpPr>
          <p:cNvPr id="2" name="">
            <a:extLst xmlns:a="http://schemas.openxmlformats.org/drawingml/2006/main">
              <a:ext uri="{FF2B5EF4-FFF2-40B4-BE49-F238E27FC236}">
                <a16:creationId xmlns:a16="http://schemas.microsoft.com/office/drawing/2014/main" id="{A76B1420-6F6D-4F80-9064-3B2D9A3800B2}"/>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Время и память каждого метода</a:t>
            </a:r>
          </a:p>
        </p:txBody>
      </p:sp>
      <p:sp>
        <p:nvSpPr>
          <p:cNvPr id="3" name="">
            <a:extLst xmlns:a="http://schemas.openxmlformats.org/drawingml/2006/main">
              <a:ext uri="{FF2B5EF4-FFF2-40B4-BE49-F238E27FC236}">
                <a16:creationId xmlns:a16="http://schemas.microsoft.com/office/drawing/2014/main" id="{B9C6FC68-BA98-40AC-853E-AE9A636E7B54}"/>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Учитываем построение структур и размер возвращаемого ответа.</a:t>
            </a:r>
          </a:p>
        </p:txBody>
      </p:sp>
      <p:sp>
        <p:nvSpPr>
          <p:cNvPr id="4" name="">
            <a:extLst xmlns:a="http://schemas.openxmlformats.org/drawingml/2006/main">
              <a:ext uri="{FF2B5EF4-FFF2-40B4-BE49-F238E27FC236}">
                <a16:creationId xmlns:a16="http://schemas.microsoft.com/office/drawing/2014/main" id="{B9D8B6BD-3F49-48DD-9B9F-0FB9F6C6DEDA}"/>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В DSU states содержит q строк. Его тоже надо хранить.</a:t>
            </a:r>
          </a:p>
        </p:txBody>
      </p:sp>
      <p:graphicFrame>
        <p:nvGraphicFramePr>
          <p:cNvPr id="5" name="">
            <a:extLst xmlns:a="http://schemas.openxmlformats.org/drawingml/2006/main">
              <a:ext uri="{FF2B5EF4-FFF2-40B4-BE49-F238E27FC236}">
                <a16:creationId xmlns:a16="http://schemas.microsoft.com/office/drawing/2014/main" id="{CD781163-F015-4C87-AE4B-264392B84950}"/>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4209750"/>
                <a:gridCol w="3471449"/>
                <a:gridCol w="3367800"/>
              </a:tblGrid>
              <a:tr h="552450">
                <a:tc>
                  <a:txBody>
                    <a:bodyPr/>
                    <a:lstStyle/>
                    <a:p>
                      <a:r>
                        <a:rPr sz="1725" b="1">
                          <a:solidFill>
                            <a:srgbClr val="192E43"/>
                          </a:solidFill>
                          <a:latin typeface="Arial"/>
                          <a:ea typeface="Arial"/>
                          <a:cs typeface="Arial"/>
                        </a:rPr>
                        <a:t>Метод</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Время</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Память с ответом</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552450">
                <a:tc>
                  <a:txBody>
                    <a:bodyPr/>
                    <a:lstStyle/>
                    <a:p>
                      <a:r>
                        <a:rPr sz="1725" b="0">
                          <a:solidFill>
                            <a:srgbClr val="192E43"/>
                          </a:solidFill>
                          <a:latin typeface="Arial"/>
                          <a:ea typeface="Arial"/>
                          <a:cs typeface="Arial"/>
                        </a:rPr>
                        <a:t>DSU</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O(n + q α(n))</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O(n+q)</a:t>
                      </a:r>
                    </a:p>
                  </a:txBody>
                  <a:tcPr marL="91440" marR="91440" marT="45720" marB="45720">
                    <a:lnR w="9525">
                      <a:solidFill>
                        <a:srgbClr val="E2DCE0"/>
                      </a:solidFill>
                      <a:prstDash val="solid"/>
                    </a:lnR>
                    <a:lnB w="9525">
                      <a:solidFill>
                        <a:srgbClr val="E2DCE0"/>
                      </a:solidFill>
                      <a:prstDash val="solid"/>
                    </a:lnB>
                    <a:solidFill>
                      <a:srgbClr val="FFFEFC"/>
                    </a:solidFill>
                  </a:tcPr>
                </a:tc>
              </a:tr>
              <a:tr h="552450">
                <a:tc>
                  <a:txBody>
                    <a:bodyPr/>
                    <a:lstStyle/>
                    <a:p>
                      <a:r>
                        <a:rPr sz="1725" b="0">
                          <a:solidFill>
                            <a:srgbClr val="192E43"/>
                          </a:solidFill>
                          <a:latin typeface="Arial"/>
                          <a:ea typeface="Arial"/>
                          <a:cs typeface="Arial"/>
                        </a:rPr>
                        <a:t>Краскал / lazy Prim</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O(n + m log(m+1))</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O(n+m)</a:t>
                      </a:r>
                    </a:p>
                  </a:txBody>
                  <a:tcPr marL="91440" marR="91440" marT="45720" marB="45720">
                    <a:lnR w="9525">
                      <a:solidFill>
                        <a:srgbClr val="E2DCE0"/>
                      </a:solidFill>
                      <a:prstDash val="solid"/>
                    </a:lnR>
                    <a:lnB w="9525">
                      <a:solidFill>
                        <a:srgbClr val="E2DCE0"/>
                      </a:solidFill>
                      <a:prstDash val="solid"/>
                    </a:lnB>
                    <a:solidFill>
                      <a:srgbClr val="FAF8F8"/>
                    </a:solidFill>
                  </a:tcPr>
                </a:tc>
              </a:tr>
              <a:tr h="552450">
                <a:tc>
                  <a:txBody>
                    <a:bodyPr/>
                    <a:lstStyle/>
                    <a:p>
                      <a:r>
                        <a:rPr sz="1725" b="0">
                          <a:solidFill>
                            <a:srgbClr val="192E43"/>
                          </a:solidFill>
                          <a:latin typeface="Arial"/>
                          <a:ea typeface="Arial"/>
                          <a:cs typeface="Arial"/>
                        </a:rPr>
                        <a:t>Косарайю / DFS topo / DAG</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O(n+m)</a:t>
                      </a:r>
                    </a:p>
                  </a:txBody>
                  <a:tcPr marL="91440" marR="91440" marT="45720" marB="45720">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O(n+m)</a:t>
                      </a:r>
                    </a:p>
                  </a:txBody>
                  <a:tcPr marL="91440" marR="91440" marT="45720" marB="45720">
                    <a:lnR w="9525">
                      <a:solidFill>
                        <a:srgbClr val="E2DCE0"/>
                      </a:solidFill>
                      <a:prstDash val="solid"/>
                    </a:lnR>
                    <a:lnB w="9525">
                      <a:solidFill>
                        <a:srgbClr val="E2DCE0"/>
                      </a:solidFill>
                      <a:prstDash val="solid"/>
                    </a:lnB>
                    <a:solidFill>
                      <a:srgbClr val="FFFEFC"/>
                    </a:solidFill>
                  </a:tcPr>
                </a:tc>
              </a:tr>
              <a:tr h="552450">
                <a:tc>
                  <a:txBody>
                    <a:bodyPr/>
                    <a:lstStyle/>
                    <a:p>
                      <a:r>
                        <a:rPr sz="1725" b="0">
                          <a:solidFill>
                            <a:srgbClr val="192E43"/>
                          </a:solidFill>
                          <a:latin typeface="Arial"/>
                          <a:ea typeface="Arial"/>
                          <a:cs typeface="Arial"/>
                        </a:rPr>
                        <a:t>Helper маршрута</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O(L)</a:t>
                      </a:r>
                    </a:p>
                  </a:txBody>
                  <a:tcPr marL="91440" marR="91440" marT="45720" marB="45720">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O(L)</a:t>
                      </a:r>
                    </a:p>
                  </a:txBody>
                  <a:tcPr marL="91440" marR="91440" marT="45720" marB="45720">
                    <a:lnR w="9525">
                      <a:solidFill>
                        <a:srgbClr val="E2DCE0"/>
                      </a:solidFill>
                      <a:prstDash val="solid"/>
                    </a:lnR>
                    <a:lnB w="9525">
                      <a:solidFill>
                        <a:srgbClr val="E2DCE0"/>
                      </a:solidFill>
                      <a:prstDash val="solid"/>
                    </a:lnB>
                    <a:solidFill>
                      <a:srgbClr val="FAF8F8"/>
                    </a:solidFill>
                  </a:tcPr>
                </a:tc>
              </a:tr>
            </a:tbl>
          </a:graphicData>
        </a:graphic>
      </p:graphicFrame>
      <p:sp>
        <p:nvSpPr>
          <p:cNvPr id="6" name="">
            <a:extLst xmlns:a="http://schemas.openxmlformats.org/drawingml/2006/main">
              <a:ext uri="{FF2B5EF4-FFF2-40B4-BE49-F238E27FC236}">
                <a16:creationId xmlns:a16="http://schemas.microsoft.com/office/drawing/2014/main" id="{8725FE47-0851-4CC0-945A-767EB50C8B1E}"/>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В Java используйте long для больших сумм весов и расстояний.</a:t>
            </a:r>
          </a:p>
        </p:txBody>
      </p:sp>
      <p:sp>
        <p:nvSpPr>
          <p:cNvPr id="7" name="">
            <a:extLst xmlns:a="http://schemas.openxmlformats.org/drawingml/2006/main">
              <a:ext uri="{FF2B5EF4-FFF2-40B4-BE49-F238E27FC236}">
                <a16:creationId xmlns:a16="http://schemas.microsoft.com/office/drawing/2014/main" id="{B5000443-ED10-4A15-9B18-16F6A2B74102}"/>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1461E6A3-6A49-4278-A141-793803352751}"/>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55 / 64</a:t>
            </a:r>
          </a:p>
        </p:txBody>
      </p:sp>
    </p:spTree>
    <p:extLst>
      <p:ext uri="{BB962C8B-B14F-4D97-AF65-F5344CB8AC3E}">
        <p14:creationId xmlns:p14="http://schemas.microsoft.com/office/powerpoint/2010/main" val="2114506110"/>
      </p:ext>
    </p:extLst>
  </p:cSld>
</p:sld>
</file>

<file path=ppt/slides/slide56.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AF8F16E-13C9-4F57-9461-66E449901428}"/>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Реализация и сдача</a:t>
            </a:r>
          </a:p>
        </p:txBody>
      </p:sp>
      <p:sp>
        <p:nvSpPr>
          <p:cNvPr id="2" name="">
            <a:extLst xmlns:a="http://schemas.openxmlformats.org/drawingml/2006/main">
              <a:ext uri="{FF2B5EF4-FFF2-40B4-BE49-F238E27FC236}">
                <a16:creationId xmlns:a16="http://schemas.microsoft.com/office/drawing/2014/main" id="{20054E2D-E1A1-4574-BB3B-8908B1C4AC8A}"/>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Где писать реализацию</a:t>
            </a:r>
          </a:p>
        </p:txBody>
      </p:sp>
      <p:sp>
        <p:nvSpPr>
          <p:cNvPr id="3" name="">
            <a:extLst xmlns:a="http://schemas.openxmlformats.org/drawingml/2006/main">
              <a:ext uri="{FF2B5EF4-FFF2-40B4-BE49-F238E27FC236}">
                <a16:creationId xmlns:a16="http://schemas.microsoft.com/office/drawing/2014/main" id="{598374DC-8470-4929-AA5C-1F154DAAAC75}"/>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Создайте свой репозиторий через Use this template. Выберите один язык в submission.json.</a:t>
            </a:r>
          </a:p>
        </p:txBody>
      </p:sp>
      <p:sp>
        <p:nvSpPr>
          <p:cNvPr id="4" name="">
            <a:extLst xmlns:a="http://schemas.openxmlformats.org/drawingml/2006/main">
              <a:ext uri="{FF2B5EF4-FFF2-40B4-BE49-F238E27FC236}">
                <a16:creationId xmlns:a16="http://schemas.microsoft.com/office/drawing/2014/main" id="{787BAAA3-A5AF-4923-A861-61C914133DB7}"/>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Например, для Java меняем методы в Java/source/Algorithms.java.</a:t>
            </a:r>
          </a:p>
        </p:txBody>
      </p:sp>
      <p:graphicFrame>
        <p:nvGraphicFramePr>
          <p:cNvPr id="5" name="">
            <a:extLst xmlns:a="http://schemas.openxmlformats.org/drawingml/2006/main">
              <a:ext uri="{FF2B5EF4-FFF2-40B4-BE49-F238E27FC236}">
                <a16:creationId xmlns:a16="http://schemas.microsoft.com/office/drawing/2014/main" id="{0C40D095-9FB7-4E82-9D81-DDBA8DD88034}"/>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5040420"/>
                <a:gridCol w="6008580"/>
              </a:tblGrid>
              <a:tr h="552450">
                <a:tc>
                  <a:txBody>
                    <a:bodyPr/>
                    <a:lstStyle/>
                    <a:p>
                      <a:r>
                        <a:rPr sz="1725" b="1">
                          <a:solidFill>
                            <a:srgbClr val="192E43"/>
                          </a:solidFill>
                          <a:latin typeface="Arial"/>
                          <a:ea typeface="Arial"/>
                          <a:cs typeface="Arial"/>
                        </a:rPr>
                        <a:t>language в manifest</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Файл методов</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552450">
                <a:tc>
                  <a:txBody>
                    <a:bodyPr/>
                    <a:lstStyle/>
                    <a:p>
                      <a:r>
                        <a:rPr sz="1725" b="0">
                          <a:solidFill>
                            <a:srgbClr val="192E43"/>
                          </a:solidFill>
                          <a:latin typeface="Arial"/>
                          <a:ea typeface="Arial"/>
                          <a:cs typeface="Arial"/>
                        </a:rPr>
                        <a:t>Java</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Java/source/Algorithms.java</a:t>
                      </a:r>
                    </a:p>
                  </a:txBody>
                  <a:tcPr marL="91440" marR="91440" marT="45720" marB="45720">
                    <a:lnR w="9525">
                      <a:solidFill>
                        <a:srgbClr val="E2DCE0"/>
                      </a:solidFill>
                      <a:prstDash val="solid"/>
                    </a:lnR>
                    <a:lnB w="9525">
                      <a:solidFill>
                        <a:srgbClr val="E2DCE0"/>
                      </a:solidFill>
                      <a:prstDash val="solid"/>
                    </a:lnB>
                    <a:solidFill>
                      <a:srgbClr val="FFFEFC"/>
                    </a:solidFill>
                  </a:tcPr>
                </a:tc>
              </a:tr>
              <a:tr h="552450">
                <a:tc>
                  <a:txBody>
                    <a:bodyPr/>
                    <a:lstStyle/>
                    <a:p>
                      <a:r>
                        <a:rPr sz="1725" b="0">
                          <a:solidFill>
                            <a:srgbClr val="192E43"/>
                          </a:solidFill>
                          <a:latin typeface="Arial"/>
                          <a:ea typeface="Arial"/>
                          <a:cs typeface="Arial"/>
                        </a:rPr>
                        <a:t>Python</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Python/source/algorithms.py</a:t>
                      </a:r>
                    </a:p>
                  </a:txBody>
                  <a:tcPr marL="91440" marR="91440" marT="45720" marB="45720">
                    <a:lnR w="9525">
                      <a:solidFill>
                        <a:srgbClr val="E2DCE0"/>
                      </a:solidFill>
                      <a:prstDash val="solid"/>
                    </a:lnR>
                    <a:lnB w="9525">
                      <a:solidFill>
                        <a:srgbClr val="E2DCE0"/>
                      </a:solidFill>
                      <a:prstDash val="solid"/>
                    </a:lnB>
                    <a:solidFill>
                      <a:srgbClr val="FAF8F8"/>
                    </a:solidFill>
                  </a:tcPr>
                </a:tc>
              </a:tr>
              <a:tr h="552450">
                <a:tc>
                  <a:txBody>
                    <a:bodyPr/>
                    <a:lstStyle/>
                    <a:p>
                      <a:r>
                        <a:rPr sz="1725" b="0">
                          <a:solidFill>
                            <a:srgbClr val="192E43"/>
                          </a:solidFill>
                          <a:latin typeface="Arial"/>
                          <a:ea typeface="Arial"/>
                          <a:cs typeface="Arial"/>
                        </a:rPr>
                        <a:t>Cpp</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Cpp/source/algorithms.hpp</a:t>
                      </a:r>
                    </a:p>
                  </a:txBody>
                  <a:tcPr marL="91440" marR="91440" marT="45720" marB="45720">
                    <a:lnR w="9525">
                      <a:solidFill>
                        <a:srgbClr val="E2DCE0"/>
                      </a:solidFill>
                      <a:prstDash val="solid"/>
                    </a:lnR>
                    <a:lnB w="9525">
                      <a:solidFill>
                        <a:srgbClr val="E2DCE0"/>
                      </a:solidFill>
                      <a:prstDash val="solid"/>
                    </a:lnB>
                    <a:solidFill>
                      <a:srgbClr val="FFFEFC"/>
                    </a:solidFill>
                  </a:tcPr>
                </a:tc>
              </a:tr>
              <a:tr h="552450">
                <a:tc>
                  <a:txBody>
                    <a:bodyPr/>
                    <a:lstStyle/>
                    <a:p>
                      <a:r>
                        <a:rPr sz="1725" b="0">
                          <a:solidFill>
                            <a:srgbClr val="192E43"/>
                          </a:solidFill>
                          <a:latin typeface="Arial"/>
                          <a:ea typeface="Arial"/>
                          <a:cs typeface="Arial"/>
                        </a:rPr>
                        <a:t>CSharp</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CSharp/source/Algorithms.cs</a:t>
                      </a:r>
                    </a:p>
                  </a:txBody>
                  <a:tcPr marL="91440" marR="91440" marT="45720" marB="45720">
                    <a:lnR w="9525">
                      <a:solidFill>
                        <a:srgbClr val="E2DCE0"/>
                      </a:solidFill>
                      <a:prstDash val="solid"/>
                    </a:lnR>
                    <a:lnB w="9525">
                      <a:solidFill>
                        <a:srgbClr val="E2DCE0"/>
                      </a:solidFill>
                      <a:prstDash val="solid"/>
                    </a:lnB>
                    <a:solidFill>
                      <a:srgbClr val="FAF8F8"/>
                    </a:solidFill>
                  </a:tcPr>
                </a:tc>
              </a:tr>
            </a:tbl>
          </a:graphicData>
        </a:graphic>
      </p:graphicFrame>
      <p:sp>
        <p:nvSpPr>
          <p:cNvPr id="6" name="">
            <a:extLst xmlns:a="http://schemas.openxmlformats.org/drawingml/2006/main">
              <a:ext uri="{FF2B5EF4-FFF2-40B4-BE49-F238E27FC236}">
                <a16:creationId xmlns:a16="http://schemas.microsoft.com/office/drawing/2014/main" id="{14B8459B-FDA6-4E63-A54C-02F734A71DD4}"/>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Адаптеры и запуск уже предоставлены. TODO внутри алгоритмов — ваша работа.</a:t>
            </a:r>
          </a:p>
        </p:txBody>
      </p:sp>
      <p:sp>
        <p:nvSpPr>
          <p:cNvPr id="7" name="">
            <a:extLst xmlns:a="http://schemas.openxmlformats.org/drawingml/2006/main">
              <a:ext uri="{FF2B5EF4-FFF2-40B4-BE49-F238E27FC236}">
                <a16:creationId xmlns:a16="http://schemas.microsoft.com/office/drawing/2014/main" id="{1EDD3C3D-D562-4728-9923-A47CF209C278}"/>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918FCF36-34CA-47EE-AE0D-F5AE80FCA748}"/>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56 / 64</a:t>
            </a:r>
          </a:p>
        </p:txBody>
      </p:sp>
    </p:spTree>
    <p:extLst>
      <p:ext uri="{BB962C8B-B14F-4D97-AF65-F5344CB8AC3E}">
        <p14:creationId xmlns:p14="http://schemas.microsoft.com/office/powerpoint/2010/main" val="1498370030"/>
      </p:ext>
    </p:extLst>
  </p:cSld>
</p:sld>
</file>

<file path=ppt/slides/slide57.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9335615-E4E7-44B3-A3EA-B6A450C9E1F2}"/>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Реализация и сдача</a:t>
            </a:r>
          </a:p>
        </p:txBody>
      </p:sp>
      <p:sp>
        <p:nvSpPr>
          <p:cNvPr id="2" name="">
            <a:extLst xmlns:a="http://schemas.openxmlformats.org/drawingml/2006/main">
              <a:ext uri="{FF2B5EF4-FFF2-40B4-BE49-F238E27FC236}">
                <a16:creationId xmlns:a16="http://schemas.microsoft.com/office/drawing/2014/main" id="{5C748A8A-79A2-40D5-9428-86AB286CBD0C}"/>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Собственные тесты: вход и ожидаемый ответ</a:t>
            </a:r>
          </a:p>
        </p:txBody>
      </p:sp>
      <p:sp>
        <p:nvSpPr>
          <p:cNvPr id="3" name="">
            <a:extLst xmlns:a="http://schemas.openxmlformats.org/drawingml/2006/main">
              <a:ext uri="{FF2B5EF4-FFF2-40B4-BE49-F238E27FC236}">
                <a16:creationId xmlns:a16="http://schemas.microsoft.com/office/drawing/2014/main" id="{E4F272D5-AE1A-4834-9FFF-98A0E672F9F0}"/>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Начните с маленьких случаев, где ответ можно вычислить руками.</a:t>
            </a:r>
          </a:p>
        </p:txBody>
      </p:sp>
      <p:sp>
        <p:nvSpPr>
          <p:cNvPr id="4" name="">
            <a:extLst xmlns:a="http://schemas.openxmlformats.org/drawingml/2006/main">
              <a:ext uri="{FF2B5EF4-FFF2-40B4-BE49-F238E27FC236}">
                <a16:creationId xmlns:a16="http://schemas.microsoft.com/office/drawing/2014/main" id="{8517052C-6CF8-49B3-83CD-1EE32222DED9}"/>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Потом проверьте крайние случаи и большую глубину.</a:t>
            </a:r>
          </a:p>
        </p:txBody>
      </p:sp>
      <p:graphicFrame>
        <p:nvGraphicFramePr>
          <p:cNvPr id="5" name="">
            <a:extLst xmlns:a="http://schemas.openxmlformats.org/drawingml/2006/main">
              <a:ext uri="{FF2B5EF4-FFF2-40B4-BE49-F238E27FC236}">
                <a16:creationId xmlns:a16="http://schemas.microsoft.com/office/drawing/2014/main" id="{503ED904-FC69-46EA-9BE6-64BA099F531C}"/>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4928983"/>
                <a:gridCol w="6120017"/>
              </a:tblGrid>
              <a:tr h="460375">
                <a:tc>
                  <a:txBody>
                    <a:bodyPr/>
                    <a:lstStyle/>
                    <a:p>
                      <a:r>
                        <a:rPr sz="1725" b="1">
                          <a:solidFill>
                            <a:srgbClr val="192E43"/>
                          </a:solidFill>
                          <a:latin typeface="Arial"/>
                          <a:ea typeface="Arial"/>
                          <a:cs typeface="Arial"/>
                        </a:rPr>
                        <a:t>Тест</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Что проверяет</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460375">
                <a:tc>
                  <a:txBody>
                    <a:bodyPr/>
                    <a:lstStyle/>
                    <a:p>
                      <a:r>
                        <a:rPr sz="1725" b="0">
                          <a:solidFill>
                            <a:srgbClr val="192E43"/>
                          </a:solidFill>
                          <a:latin typeface="Arial"/>
                          <a:ea typeface="Arial"/>
                          <a:cs typeface="Arial"/>
                        </a:rPr>
                        <a:t>DSU: [0,1], [0,1]</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Повтор не увеличивает size</a:t>
                      </a:r>
                    </a:p>
                  </a:txBody>
                  <a:tcPr marL="91440" marR="91440" marT="45720" marB="45720">
                    <a:lnR w="9525">
                      <a:solidFill>
                        <a:srgbClr val="E2DCE0"/>
                      </a:solidFill>
                      <a:prstDash val="solid"/>
                    </a:lnR>
                    <a:lnB w="9525">
                      <a:solidFill>
                        <a:srgbClr val="E2DCE0"/>
                      </a:solidFill>
                      <a:prstDash val="solid"/>
                    </a:lnB>
                    <a:solidFill>
                      <a:srgbClr val="FFFEFC"/>
                    </a:solidFill>
                  </a:tcPr>
                </a:tc>
              </a:tr>
              <a:tr h="460375">
                <a:tc>
                  <a:txBody>
                    <a:bodyPr/>
                    <a:lstStyle/>
                    <a:p>
                      <a:r>
                        <a:rPr sz="1725" b="0">
                          <a:solidFill>
                            <a:srgbClr val="192E43"/>
                          </a:solidFill>
                          <a:latin typeface="Arial"/>
                          <a:ea typeface="Arial"/>
                          <a:cs typeface="Arial"/>
                        </a:rPr>
                        <a:t>MST: изолят + петля</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Лес всех компонент без петель</a:t>
                      </a:r>
                    </a:p>
                  </a:txBody>
                  <a:tcPr marL="91440" marR="91440" marT="45720" marB="45720">
                    <a:lnR w="9525">
                      <a:solidFill>
                        <a:srgbClr val="E2DCE0"/>
                      </a:solidFill>
                      <a:prstDash val="solid"/>
                    </a:lnR>
                    <a:lnB w="9525">
                      <a:solidFill>
                        <a:srgbClr val="E2DCE0"/>
                      </a:solidFill>
                      <a:prstDash val="solid"/>
                    </a:lnB>
                    <a:solidFill>
                      <a:srgbClr val="FAF8F8"/>
                    </a:solidFill>
                  </a:tcPr>
                </a:tc>
              </a:tr>
              <a:tr h="460375">
                <a:tc>
                  <a:txBody>
                    <a:bodyPr/>
                    <a:lstStyle/>
                    <a:p>
                      <a:r>
                        <a:rPr sz="1725" b="0">
                          <a:solidFill>
                            <a:srgbClr val="192E43"/>
                          </a:solidFill>
                          <a:latin typeface="Arial"/>
                          <a:ea typeface="Arial"/>
                          <a:cs typeface="Arial"/>
                        </a:rPr>
                        <a:t>SCC: 0↔1, 1→2</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Одностороннее ребро не объединяет SCC</a:t>
                      </a:r>
                    </a:p>
                  </a:txBody>
                  <a:tcPr marL="91440" marR="91440" marT="45720" marB="45720">
                    <a:lnR w="9525">
                      <a:solidFill>
                        <a:srgbClr val="E2DCE0"/>
                      </a:solidFill>
                      <a:prstDash val="solid"/>
                    </a:lnR>
                    <a:lnB w="9525">
                      <a:solidFill>
                        <a:srgbClr val="E2DCE0"/>
                      </a:solidFill>
                      <a:prstDash val="solid"/>
                    </a:lnB>
                    <a:solidFill>
                      <a:srgbClr val="FFFEFC"/>
                    </a:solidFill>
                  </a:tcPr>
                </a:tc>
              </a:tr>
              <a:tr h="460375">
                <a:tc>
                  <a:txBody>
                    <a:bodyPr/>
                    <a:lstStyle/>
                    <a:p>
                      <a:r>
                        <a:rPr sz="1725" b="0">
                          <a:solidFill>
                            <a:srgbClr val="192E43"/>
                          </a:solidFill>
                          <a:latin typeface="Arial"/>
                          <a:ea typeface="Arial"/>
                          <a:cs typeface="Arial"/>
                        </a:rPr>
                        <a:t>Topo: 0→1, 2↔3</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Цикл в другой компоненте</a:t>
                      </a:r>
                    </a:p>
                  </a:txBody>
                  <a:tcPr marL="91440" marR="91440" marT="45720" marB="45720">
                    <a:lnR w="9525">
                      <a:solidFill>
                        <a:srgbClr val="E2DCE0"/>
                      </a:solidFill>
                      <a:prstDash val="solid"/>
                    </a:lnR>
                    <a:lnB w="9525">
                      <a:solidFill>
                        <a:srgbClr val="E2DCE0"/>
                      </a:solidFill>
                      <a:prstDash val="solid"/>
                    </a:lnB>
                    <a:solidFill>
                      <a:srgbClr val="FAF8F8"/>
                    </a:solidFill>
                  </a:tcPr>
                </a:tc>
              </a:tr>
              <a:tr h="460375">
                <a:tc>
                  <a:txBody>
                    <a:bodyPr/>
                    <a:lstStyle/>
                    <a:p>
                      <a:r>
                        <a:rPr sz="1725" b="0">
                          <a:solidFill>
                            <a:srgbClr val="192E43"/>
                          </a:solidFill>
                          <a:latin typeface="Arial"/>
                          <a:ea typeface="Arial"/>
                          <a:cs typeface="Arial"/>
                        </a:rPr>
                        <a:t>DAG: отрицательное ребро</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null и корректное улучшение пути</a:t>
                      </a:r>
                    </a:p>
                  </a:txBody>
                  <a:tcPr marL="91440" marR="91440" marT="45720" marB="45720">
                    <a:lnR w="9525">
                      <a:solidFill>
                        <a:srgbClr val="E2DCE0"/>
                      </a:solidFill>
                      <a:prstDash val="solid"/>
                    </a:lnR>
                    <a:lnB w="9525">
                      <a:solidFill>
                        <a:srgbClr val="E2DCE0"/>
                      </a:solidFill>
                      <a:prstDash val="solid"/>
                    </a:lnB>
                    <a:solidFill>
                      <a:srgbClr val="FFFEFC"/>
                    </a:solidFill>
                  </a:tcPr>
                </a:tc>
              </a:tr>
            </a:tbl>
          </a:graphicData>
        </a:graphic>
      </p:graphicFrame>
      <p:sp>
        <p:nvSpPr>
          <p:cNvPr id="6" name="">
            <a:extLst xmlns:a="http://schemas.openxmlformats.org/drawingml/2006/main">
              <a:ext uri="{FF2B5EF4-FFF2-40B4-BE49-F238E27FC236}">
                <a16:creationId xmlns:a16="http://schemas.microsoft.com/office/drawing/2014/main" id="{4DE28A65-5A00-41B4-B9E3-D7E30D64F076}"/>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В tests/student сохраните тесты, которые обнаруживают конкретную ошибку.</a:t>
            </a:r>
          </a:p>
        </p:txBody>
      </p:sp>
      <p:sp>
        <p:nvSpPr>
          <p:cNvPr id="7" name="">
            <a:extLst xmlns:a="http://schemas.openxmlformats.org/drawingml/2006/main">
              <a:ext uri="{FF2B5EF4-FFF2-40B4-BE49-F238E27FC236}">
                <a16:creationId xmlns:a16="http://schemas.microsoft.com/office/drawing/2014/main" id="{1C45751D-009E-4A3C-B354-688DA86CC80B}"/>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244F3438-5021-44C0-B1A0-3A3056ED8AAF}"/>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57 / 64</a:t>
            </a:r>
          </a:p>
        </p:txBody>
      </p:sp>
    </p:spTree>
    <p:extLst>
      <p:ext uri="{BB962C8B-B14F-4D97-AF65-F5344CB8AC3E}">
        <p14:creationId xmlns:p14="http://schemas.microsoft.com/office/powerpoint/2010/main" val="79253831"/>
      </p:ext>
    </p:extLst>
  </p:cSld>
</p:sld>
</file>

<file path=ppt/slides/slide58.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737617A-5818-4242-B1F2-47D3C870C304}"/>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Реализация и сдача</a:t>
            </a:r>
          </a:p>
        </p:txBody>
      </p:sp>
      <p:sp>
        <p:nvSpPr>
          <p:cNvPr id="2" name="">
            <a:extLst xmlns:a="http://schemas.openxmlformats.org/drawingml/2006/main">
              <a:ext uri="{FF2B5EF4-FFF2-40B4-BE49-F238E27FC236}">
                <a16:creationId xmlns:a16="http://schemas.microsoft.com/office/drawing/2014/main" id="{B6240FBE-A77F-4D80-8192-69A408098108}"/>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Новый запрос: чистые массивы</a:t>
            </a:r>
          </a:p>
        </p:txBody>
      </p:sp>
      <p:sp>
        <p:nvSpPr>
          <p:cNvPr id="3" name="">
            <a:extLst xmlns:a="http://schemas.openxmlformats.org/drawingml/2006/main">
              <a:ext uri="{FF2B5EF4-FFF2-40B4-BE49-F238E27FC236}">
                <a16:creationId xmlns:a16="http://schemas.microsoft.com/office/drawing/2014/main" id="{73DDF48F-BDA5-46A3-AFD9-BB62D43DC44C}"/>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Два запроса могут выполняться в одном процессе, но описывают разные задачи.</a:t>
            </a:r>
          </a:p>
        </p:txBody>
      </p:sp>
      <p:sp>
        <p:nvSpPr>
          <p:cNvPr id="4" name="">
            <a:extLst xmlns:a="http://schemas.openxmlformats.org/drawingml/2006/main">
              <a:ext uri="{FF2B5EF4-FFF2-40B4-BE49-F238E27FC236}">
                <a16:creationId xmlns:a16="http://schemas.microsoft.com/office/drawing/2014/main" id="{3C068AD2-BF1E-4240-B5AC-A6DFF5C3D381}"/>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Запрос 1: DSU n=3, [0,1] → [2,2]. Запрос 2: DSU n=3, [1,2] → [2,2].</a:t>
            </a:r>
          </a:p>
        </p:txBody>
      </p:sp>
      <p:sp>
        <p:nvSpPr>
          <p:cNvPr id="5" name="">
            <a:extLst xmlns:a="http://schemas.openxmlformats.org/drawingml/2006/main">
              <a:ext uri="{FF2B5EF4-FFF2-40B4-BE49-F238E27FC236}">
                <a16:creationId xmlns:a16="http://schemas.microsoft.com/office/drawing/2014/main" id="{E18040AA-F6B1-493B-8F23-1E96F1EEA05C}"/>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Если второй ответ [1,3], вы случайно сохранили группы первого запроса.</a:t>
            </a:r>
          </a:p>
        </p:txBody>
      </p:sp>
      <p:sp>
        <p:nvSpPr>
          <p:cNvPr id="6" name="">
            <a:extLst xmlns:a="http://schemas.openxmlformats.org/drawingml/2006/main">
              <a:ext uri="{FF2B5EF4-FFF2-40B4-BE49-F238E27FC236}">
                <a16:creationId xmlns:a16="http://schemas.microsoft.com/office/drawing/2014/main" id="{D889B987-B023-461B-AEC0-6F43C2991A5F}"/>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7" name="">
            <a:extLst xmlns:a="http://schemas.openxmlformats.org/drawingml/2006/main">
              <a:ext uri="{FF2B5EF4-FFF2-40B4-BE49-F238E27FC236}">
                <a16:creationId xmlns:a16="http://schemas.microsoft.com/office/drawing/2014/main" id="{724E2605-1B14-47FC-AC53-8AD58AD19AEA}"/>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58 / 64</a:t>
            </a:r>
          </a:p>
        </p:txBody>
      </p:sp>
    </p:spTree>
    <p:extLst>
      <p:ext uri="{BB962C8B-B14F-4D97-AF65-F5344CB8AC3E}">
        <p14:creationId xmlns:p14="http://schemas.microsoft.com/office/powerpoint/2010/main" val="1225108265"/>
      </p:ext>
    </p:extLst>
  </p:cSld>
</p:sld>
</file>

<file path=ppt/slides/slide59.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40EE1D8-5214-4E39-9373-F2059D7CFD0F}"/>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Реализация и сдача</a:t>
            </a:r>
          </a:p>
        </p:txBody>
      </p:sp>
      <p:sp>
        <p:nvSpPr>
          <p:cNvPr id="2" name="">
            <a:extLst xmlns:a="http://schemas.openxmlformats.org/drawingml/2006/main">
              <a:ext uri="{FF2B5EF4-FFF2-40B4-BE49-F238E27FC236}">
                <a16:creationId xmlns:a16="http://schemas.microsoft.com/office/drawing/2014/main" id="{C8B0CF2B-7392-40C3-88E0-B94EE5FFE003}"/>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Benchmark: честно сравнить Краскала и Прима</a:t>
            </a:r>
          </a:p>
        </p:txBody>
      </p:sp>
      <p:sp>
        <p:nvSpPr>
          <p:cNvPr id="3" name="">
            <a:extLst xmlns:a="http://schemas.openxmlformats.org/drawingml/2006/main">
              <a:ext uri="{FF2B5EF4-FFF2-40B4-BE49-F238E27FC236}">
                <a16:creationId xmlns:a16="http://schemas.microsoft.com/office/drawing/2014/main" id="{2203B7B0-0DCF-4072-8C8D-C264B2390B72}"/>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Сначала проверьте правильность. Затем измеряйте одинаковую работу на одинаковых графах.</a:t>
            </a:r>
          </a:p>
        </p:txBody>
      </p:sp>
      <p:sp>
        <p:nvSpPr>
          <p:cNvPr id="4" name="">
            <a:extLst xmlns:a="http://schemas.openxmlformats.org/drawingml/2006/main">
              <a:ext uri="{FF2B5EF4-FFF2-40B4-BE49-F238E27FC236}">
                <a16:creationId xmlns:a16="http://schemas.microsoft.com/office/drawing/2014/main" id="{A3B781FE-E097-4471-B444-3C294F1569D1}"/>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Один размер: Краскал 12, 9, 10 мс. Прим 8, 6, 7 мс.</a:t>
            </a:r>
          </a:p>
        </p:txBody>
      </p:sp>
      <p:sp>
        <p:nvSpPr>
          <p:cNvPr id="5" name="">
            <a:extLst xmlns:a="http://schemas.openxmlformats.org/drawingml/2006/main">
              <a:ext uri="{FF2B5EF4-FFF2-40B4-BE49-F238E27FC236}">
                <a16:creationId xmlns:a16="http://schemas.microsoft.com/office/drawing/2014/main" id="{0BBFB3AF-78D5-42EF-BA58-42B5F777BF8A}"/>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После сортировки: 9,10,12 и 6,7,8. Медианы: 10 мс и 7 мс.</a:t>
            </a:r>
          </a:p>
        </p:txBody>
      </p:sp>
      <p:sp>
        <p:nvSpPr>
          <p:cNvPr id="6" name="">
            <a:extLst xmlns:a="http://schemas.openxmlformats.org/drawingml/2006/main">
              <a:ext uri="{FF2B5EF4-FFF2-40B4-BE49-F238E27FC236}">
                <a16:creationId xmlns:a16="http://schemas.microsoft.com/office/drawing/2014/main" id="{259A8F6A-6B52-4DE9-A675-7F4E14F3E763}"/>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7" name="">
            <a:extLst xmlns:a="http://schemas.openxmlformats.org/drawingml/2006/main">
              <a:ext uri="{FF2B5EF4-FFF2-40B4-BE49-F238E27FC236}">
                <a16:creationId xmlns:a16="http://schemas.microsoft.com/office/drawing/2014/main" id="{47DA6BAA-8FBE-48C7-8837-637C1E6948E4}"/>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59 / 64</a:t>
            </a:r>
          </a:p>
        </p:txBody>
      </p:sp>
    </p:spTree>
    <p:extLst>
      <p:ext uri="{BB962C8B-B14F-4D97-AF65-F5344CB8AC3E}">
        <p14:creationId xmlns:p14="http://schemas.microsoft.com/office/powerpoint/2010/main" val="1682266707"/>
      </p:ext>
    </p:extLst>
  </p:cSld>
</p:sld>
</file>

<file path=ppt/slides/slide60.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B9229AE-FAA9-4C66-8D5E-936C74103BC4}"/>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Реализация и сдача</a:t>
            </a:r>
          </a:p>
        </p:txBody>
      </p:sp>
      <p:sp>
        <p:nvSpPr>
          <p:cNvPr id="2" name="">
            <a:extLst xmlns:a="http://schemas.openxmlformats.org/drawingml/2006/main">
              <a:ext uri="{FF2B5EF4-FFF2-40B4-BE49-F238E27FC236}">
                <a16:creationId xmlns:a16="http://schemas.microsoft.com/office/drawing/2014/main" id="{D2F28FAA-2D5D-49DE-8E97-29BD8DCEB55C}"/>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ANALYSIS.md: объяснить собственную работу</a:t>
            </a:r>
          </a:p>
        </p:txBody>
      </p:sp>
      <p:sp>
        <p:nvSpPr>
          <p:cNvPr id="3" name="">
            <a:extLst xmlns:a="http://schemas.openxmlformats.org/drawingml/2006/main">
              <a:ext uri="{FF2B5EF4-FFF2-40B4-BE49-F238E27FC236}">
                <a16:creationId xmlns:a16="http://schemas.microsoft.com/office/drawing/2014/main" id="{CE311EDF-2864-49F9-A702-6974C6307012}"/>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Пишем на английском. Для каждого метода объясняем идею и причину правильности.</a:t>
            </a:r>
          </a:p>
        </p:txBody>
      </p:sp>
      <p:sp>
        <p:nvSpPr>
          <p:cNvPr id="4" name="">
            <a:extLst xmlns:a="http://schemas.openxmlformats.org/drawingml/2006/main">
              <a:ext uri="{FF2B5EF4-FFF2-40B4-BE49-F238E27FC236}">
                <a16:creationId xmlns:a16="http://schemas.microsoft.com/office/drawing/2014/main" id="{9E62D07A-7D36-4AF4-AD5D-7ED979CD4BF8}"/>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Пример: “I accept an edge only when its endpoints have different DSU roots.”</a:t>
            </a:r>
          </a:p>
        </p:txBody>
      </p:sp>
      <p:sp>
        <p:nvSpPr>
          <p:cNvPr id="5" name="">
            <a:extLst xmlns:a="http://schemas.openxmlformats.org/drawingml/2006/main">
              <a:ext uri="{FF2B5EF4-FFF2-40B4-BE49-F238E27FC236}">
                <a16:creationId xmlns:a16="http://schemas.microsoft.com/office/drawing/2014/main" id="{A31DE0F1-366A-4489-946B-8A3E597DE499}"/>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Добавьте сложность, свои тесты, реальные вызовы helper и результаты benchmark.</a:t>
            </a:r>
          </a:p>
        </p:txBody>
      </p:sp>
      <p:sp>
        <p:nvSpPr>
          <p:cNvPr id="6" name="">
            <a:extLst xmlns:a="http://schemas.openxmlformats.org/drawingml/2006/main">
              <a:ext uri="{FF2B5EF4-FFF2-40B4-BE49-F238E27FC236}">
                <a16:creationId xmlns:a16="http://schemas.microsoft.com/office/drawing/2014/main" id="{58027B3E-69A4-4C52-BBD3-45B925A3460D}"/>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7" name="">
            <a:extLst xmlns:a="http://schemas.openxmlformats.org/drawingml/2006/main">
              <a:ext uri="{FF2B5EF4-FFF2-40B4-BE49-F238E27FC236}">
                <a16:creationId xmlns:a16="http://schemas.microsoft.com/office/drawing/2014/main" id="{30602531-6BD4-4C96-9664-9BFC98B31ED8}"/>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60 / 64</a:t>
            </a:r>
          </a:p>
        </p:txBody>
      </p:sp>
    </p:spTree>
    <p:extLst>
      <p:ext uri="{BB962C8B-B14F-4D97-AF65-F5344CB8AC3E}">
        <p14:creationId xmlns:p14="http://schemas.microsoft.com/office/powerpoint/2010/main" val="1110442462"/>
      </p:ext>
    </p:extLst>
  </p:cSld>
</p:sld>
</file>

<file path=ppt/slides/slide61.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ED96B3C-4F23-4286-AB89-0947302C57AD}"/>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Реализация и сдача</a:t>
            </a:r>
          </a:p>
        </p:txBody>
      </p:sp>
      <p:sp>
        <p:nvSpPr>
          <p:cNvPr id="2" name="">
            <a:extLst xmlns:a="http://schemas.openxmlformats.org/drawingml/2006/main">
              <a:ext uri="{FF2B5EF4-FFF2-40B4-BE49-F238E27FC236}">
                <a16:creationId xmlns:a16="http://schemas.microsoft.com/office/drawing/2014/main" id="{D3BEAB0B-5F42-4AE0-A981-5204FCF43DC1}"/>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Public checks: понять причину красного статуса</a:t>
            </a:r>
          </a:p>
        </p:txBody>
      </p:sp>
      <p:sp>
        <p:nvSpPr>
          <p:cNvPr id="3" name="">
            <a:extLst xmlns:a="http://schemas.openxmlformats.org/drawingml/2006/main">
              <a:ext uri="{FF2B5EF4-FFF2-40B4-BE49-F238E27FC236}">
                <a16:creationId xmlns:a16="http://schemas.microsoft.com/office/drawing/2014/main" id="{18999F6E-7BDD-4A4F-B339-98193918C935}"/>
              </a:ext>
            </a:extLst>
          </p:cNvPr>
          <p:cNvSpPr>
            <a:spLocks xmlns:a="http://schemas.openxmlformats.org/drawingml/2006/main" noGrp="1"/>
          </p:cNvSpPr>
          <p:nvPr/>
        </p:nvSpPr>
        <p:spPr>
          <a:xfrm xmlns:a="http://schemas.openxmlformats.org/drawingml/2006/main">
            <a:off x="571500" y="1609725"/>
            <a:ext cx="11049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025" b="0">
                <a:solidFill>
                  <a:srgbClr val="192E43"/>
                </a:solidFill>
                <a:latin typeface="Arial"/>
                <a:ea typeface="Arial"/>
                <a:cs typeface="Arial"/>
              </a:defRPr>
            </a:defPPr>
          </a:lstStyle>
          <a:p xmlns:a="http://schemas.openxmlformats.org/drawingml/2006/main">
            <a:pPr>
              <a:defRPr sz="2025" b="0">
                <a:solidFill>
                  <a:srgbClr val="192E43"/>
                </a:solidFill>
                <a:latin typeface="Arial"/>
                <a:ea typeface="Arial"/>
                <a:cs typeface="Arial"/>
              </a:defRPr>
            </a:pPr>
            <a:r>
              <a:rPr sz="2025" b="0">
                <a:solidFill>
                  <a:srgbClr val="192E43"/>
                </a:solidFill>
                <a:latin typeface="Arial"/>
                <a:ea typeface="Arial"/>
                <a:cs typeface="Arial"/>
              </a:rPr>
              <a:t>Сначала смотрим, собрался ли проект. Потом читаем упавшую проверку.</a:t>
            </a:r>
          </a:p>
        </p:txBody>
      </p:sp>
      <p:sp>
        <p:nvSpPr>
          <p:cNvPr id="4" name="">
            <a:extLst xmlns:a="http://schemas.openxmlformats.org/drawingml/2006/main">
              <a:ext uri="{FF2B5EF4-FFF2-40B4-BE49-F238E27FC236}">
                <a16:creationId xmlns:a16="http://schemas.microsoft.com/office/drawing/2014/main" id="{626F21CC-5616-4A14-85A9-B6A74A573349}"/>
              </a:ext>
            </a:extLst>
          </p:cNvPr>
          <p:cNvSpPr>
            <a:spLocks xmlns:a="http://schemas.openxmlformats.org/drawingml/2006/main" noGrp="1"/>
          </p:cNvSpPr>
          <p:nvPr/>
        </p:nvSpPr>
        <p:spPr>
          <a:xfrm xmlns:a="http://schemas.openxmlformats.org/drawingml/2006/main">
            <a:off x="571500" y="2324100"/>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75" b="0">
                <a:solidFill>
                  <a:srgbClr val="192E43"/>
                </a:solidFill>
                <a:latin typeface="Arial"/>
                <a:ea typeface="Arial"/>
                <a:cs typeface="Arial"/>
              </a:defRPr>
            </a:defPPr>
          </a:lstStyle>
          <a:p xmlns:a="http://schemas.openxmlformats.org/drawingml/2006/main">
            <a:pPr>
              <a:defRPr sz="1875" b="0">
                <a:solidFill>
                  <a:srgbClr val="192E43"/>
                </a:solidFill>
                <a:latin typeface="Arial"/>
                <a:ea typeface="Arial"/>
                <a:cs typeface="Arial"/>
              </a:defRPr>
            </a:pPr>
            <a:r>
              <a:rPr sz="1875" b="0">
                <a:solidFill>
                  <a:srgbClr val="192E43"/>
                </a:solidFill>
                <a:latin typeface="Arial"/>
                <a:ea typeface="Arial"/>
                <a:cs typeface="Arial"/>
              </a:rPr>
              <a:t>Setup прошёл, но DSU вернул TODO: значит, надо реализовать метод.</a:t>
            </a:r>
          </a:p>
        </p:txBody>
      </p:sp>
      <p:graphicFrame>
        <p:nvGraphicFramePr>
          <p:cNvPr id="5" name="">
            <a:extLst xmlns:a="http://schemas.openxmlformats.org/drawingml/2006/main">
              <a:ext uri="{FF2B5EF4-FFF2-40B4-BE49-F238E27FC236}">
                <a16:creationId xmlns:a16="http://schemas.microsoft.com/office/drawing/2014/main" id="{C4DD3187-F16B-4A6C-A68F-43C3D58C47BC}"/>
              </a:ext>
            </a:extLst>
          </p:cNvPr>
          <p:cNvGraphicFramePr/>
          <p:nvPr/>
        </p:nvGraphicFramePr>
        <p:xfrm>
          <a:off xmlns:a="http://schemas.openxmlformats.org/drawingml/2006/main" x="571500" y="3048000"/>
          <a:ext xmlns:a="http://schemas.openxmlformats.org/drawingml/2006/main" cx="11049000" cy="2762250"/>
        </p:xfrm>
        <a:graphic xmlns:a="http://schemas.openxmlformats.org/drawingml/2006/main">
          <a:graphicData uri="http://schemas.openxmlformats.org/drawingml/2006/table">
            <a:tbl>
              <a:tblPr/>
              <a:tblGrid>
                <a:gridCol w="5127859"/>
                <a:gridCol w="5921141"/>
              </a:tblGrid>
              <a:tr h="552450">
                <a:tc>
                  <a:txBody>
                    <a:bodyPr/>
                    <a:lstStyle/>
                    <a:p>
                      <a:r>
                        <a:rPr sz="1725" b="1">
                          <a:solidFill>
                            <a:srgbClr val="192E43"/>
                          </a:solidFill>
                          <a:latin typeface="Arial"/>
                          <a:ea typeface="Arial"/>
                          <a:cs typeface="Arial"/>
                        </a:rPr>
                        <a:t>Сообщение</a:t>
                      </a:r>
                    </a:p>
                  </a:txBody>
                  <a:tcPr marL="91440" marR="91440" marT="45720" marB="45720">
                    <a:lnL w="9525">
                      <a:solidFill>
                        <a:srgbClr val="E2DCE0"/>
                      </a:solidFill>
                      <a:prstDash val="solid"/>
                    </a:lnL>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c>
                  <a:txBody>
                    <a:bodyPr/>
                    <a:lstStyle/>
                    <a:p>
                      <a:r>
                        <a:rPr sz="1725" b="1">
                          <a:solidFill>
                            <a:srgbClr val="192E43"/>
                          </a:solidFill>
                          <a:latin typeface="Arial"/>
                          <a:ea typeface="Arial"/>
                          <a:cs typeface="Arial"/>
                        </a:rPr>
                        <a:t>Следующее действие</a:t>
                      </a:r>
                    </a:p>
                  </a:txBody>
                  <a:tcPr marL="91440" marR="91440" marT="45720" marB="45720">
                    <a:lnR w="9525">
                      <a:solidFill>
                        <a:srgbClr val="E2DCE0"/>
                      </a:solidFill>
                      <a:prstDash val="solid"/>
                    </a:lnR>
                    <a:lnT w="9525">
                      <a:solidFill>
                        <a:srgbClr val="E2DCE0"/>
                      </a:solidFill>
                      <a:prstDash val="solid"/>
                    </a:lnT>
                    <a:lnB w="9525">
                      <a:solidFill>
                        <a:srgbClr val="E2DCE0"/>
                      </a:solidFill>
                      <a:prstDash val="solid"/>
                    </a:lnB>
                    <a:solidFill>
                      <a:srgbClr val="F7E6ED"/>
                    </a:solidFill>
                  </a:tcPr>
                </a:tc>
              </a:tr>
              <a:tr h="552450">
                <a:tc>
                  <a:txBody>
                    <a:bodyPr/>
                    <a:lstStyle/>
                    <a:p>
                      <a:r>
                        <a:rPr sz="1725" b="0">
                          <a:solidFill>
                            <a:srgbClr val="192E43"/>
                          </a:solidFill>
                          <a:latin typeface="Arial"/>
                          <a:ea typeface="Arial"/>
                          <a:cs typeface="Arial"/>
                        </a:rPr>
                        <a:t>Compilation failed</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Исправить синтаксис / файлы / язык</a:t>
                      </a:r>
                    </a:p>
                  </a:txBody>
                  <a:tcPr marL="91440" marR="91440" marT="45720" marB="45720">
                    <a:lnR w="9525">
                      <a:solidFill>
                        <a:srgbClr val="E2DCE0"/>
                      </a:solidFill>
                      <a:prstDash val="solid"/>
                    </a:lnR>
                    <a:lnB w="9525">
                      <a:solidFill>
                        <a:srgbClr val="E2DCE0"/>
                      </a:solidFill>
                      <a:prstDash val="solid"/>
                    </a:lnB>
                    <a:solidFill>
                      <a:srgbClr val="FFFEFC"/>
                    </a:solidFill>
                  </a:tcPr>
                </a:tc>
              </a:tr>
              <a:tr h="552450">
                <a:tc>
                  <a:txBody>
                    <a:bodyPr/>
                    <a:lstStyle/>
                    <a:p>
                      <a:r>
                        <a:rPr sz="1725" b="0">
                          <a:solidFill>
                            <a:srgbClr val="192E43"/>
                          </a:solidFill>
                          <a:latin typeface="Arial"/>
                          <a:ea typeface="Arial"/>
                          <a:cs typeface="Arial"/>
                        </a:rPr>
                        <a:t>Expected [2,2], got ...</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Вручную повторить операции DSU</a:t>
                      </a:r>
                    </a:p>
                  </a:txBody>
                  <a:tcPr marL="91440" marR="91440" marT="45720" marB="45720">
                    <a:lnR w="9525">
                      <a:solidFill>
                        <a:srgbClr val="E2DCE0"/>
                      </a:solidFill>
                      <a:prstDash val="solid"/>
                    </a:lnR>
                    <a:lnB w="9525">
                      <a:solidFill>
                        <a:srgbClr val="E2DCE0"/>
                      </a:solidFill>
                      <a:prstDash val="solid"/>
                    </a:lnB>
                    <a:solidFill>
                      <a:srgbClr val="FAF8F8"/>
                    </a:solidFill>
                  </a:tcPr>
                </a:tc>
              </a:tr>
              <a:tr h="552450">
                <a:tc>
                  <a:txBody>
                    <a:bodyPr/>
                    <a:lstStyle/>
                    <a:p>
                      <a:r>
                        <a:rPr sz="1725" b="0">
                          <a:solidFill>
                            <a:srgbClr val="192E43"/>
                          </a:solidFill>
                          <a:latin typeface="Arial"/>
                          <a:ea typeface="Arial"/>
                          <a:cs typeface="Arial"/>
                        </a:rPr>
                        <a:t>Invalid JSON / extra output</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FFEFC"/>
                    </a:solidFill>
                  </a:tcPr>
                </a:tc>
                <a:tc>
                  <a:txBody>
                    <a:bodyPr/>
                    <a:lstStyle/>
                    <a:p>
                      <a:r>
                        <a:rPr sz="1725" b="0">
                          <a:solidFill>
                            <a:srgbClr val="192E43"/>
                          </a:solidFill>
                          <a:latin typeface="Arial"/>
                          <a:ea typeface="Arial"/>
                          <a:cs typeface="Arial"/>
                        </a:rPr>
                        <a:t>Убрать служебный текст из stdout</a:t>
                      </a:r>
                    </a:p>
                  </a:txBody>
                  <a:tcPr marL="91440" marR="91440" marT="45720" marB="45720">
                    <a:lnR w="9525">
                      <a:solidFill>
                        <a:srgbClr val="E2DCE0"/>
                      </a:solidFill>
                      <a:prstDash val="solid"/>
                    </a:lnR>
                    <a:lnB w="9525">
                      <a:solidFill>
                        <a:srgbClr val="E2DCE0"/>
                      </a:solidFill>
                      <a:prstDash val="solid"/>
                    </a:lnB>
                    <a:solidFill>
                      <a:srgbClr val="FFFEFC"/>
                    </a:solidFill>
                  </a:tcPr>
                </a:tc>
              </a:tr>
              <a:tr h="552450">
                <a:tc>
                  <a:txBody>
                    <a:bodyPr/>
                    <a:lstStyle/>
                    <a:p>
                      <a:r>
                        <a:rPr sz="1725" b="0">
                          <a:solidFill>
                            <a:srgbClr val="192E43"/>
                          </a:solidFill>
                          <a:latin typeface="Arial"/>
                          <a:ea typeface="Arial"/>
                          <a:cs typeface="Arial"/>
                        </a:rPr>
                        <a:t>Runtime unavailable</a:t>
                      </a:r>
                    </a:p>
                  </a:txBody>
                  <a:tcPr marL="91440" marR="91440" marT="45720" marB="45720">
                    <a:lnL w="9525">
                      <a:solidFill>
                        <a:srgbClr val="E2DCE0"/>
                      </a:solidFill>
                      <a:prstDash val="solid"/>
                    </a:lnL>
                    <a:lnR w="9525">
                      <a:solidFill>
                        <a:srgbClr val="E2DCE0"/>
                      </a:solidFill>
                      <a:prstDash val="solid"/>
                    </a:lnR>
                    <a:lnB w="9525">
                      <a:solidFill>
                        <a:srgbClr val="E2DCE0"/>
                      </a:solidFill>
                      <a:prstDash val="solid"/>
                    </a:lnB>
                    <a:solidFill>
                      <a:srgbClr val="FAF8F8"/>
                    </a:solidFill>
                  </a:tcPr>
                </a:tc>
                <a:tc>
                  <a:txBody>
                    <a:bodyPr/>
                    <a:lstStyle/>
                    <a:p>
                      <a:r>
                        <a:rPr sz="1725" b="0">
                          <a:solidFill>
                            <a:srgbClr val="192E43"/>
                          </a:solidFill>
                          <a:latin typeface="Arial"/>
                          <a:ea typeface="Arial"/>
                          <a:cs typeface="Arial"/>
                        </a:rPr>
                        <a:t>Разобрать сбой среды и перезапустить</a:t>
                      </a:r>
                    </a:p>
                  </a:txBody>
                  <a:tcPr marL="91440" marR="91440" marT="45720" marB="45720">
                    <a:lnR w="9525">
                      <a:solidFill>
                        <a:srgbClr val="E2DCE0"/>
                      </a:solidFill>
                      <a:prstDash val="solid"/>
                    </a:lnR>
                    <a:lnB w="9525">
                      <a:solidFill>
                        <a:srgbClr val="E2DCE0"/>
                      </a:solidFill>
                      <a:prstDash val="solid"/>
                    </a:lnB>
                    <a:solidFill>
                      <a:srgbClr val="FAF8F8"/>
                    </a:solidFill>
                  </a:tcPr>
                </a:tc>
              </a:tr>
            </a:tbl>
          </a:graphicData>
        </a:graphic>
      </p:graphicFrame>
      <p:sp>
        <p:nvSpPr>
          <p:cNvPr id="6" name="">
            <a:extLst xmlns:a="http://schemas.openxmlformats.org/drawingml/2006/main">
              <a:ext uri="{FF2B5EF4-FFF2-40B4-BE49-F238E27FC236}">
                <a16:creationId xmlns:a16="http://schemas.microsoft.com/office/drawing/2014/main" id="{D321251A-F167-4DBB-BA62-D6BAEAF77936}"/>
              </a:ext>
            </a:extLst>
          </p:cNvPr>
          <p:cNvSpPr>
            <a:spLocks xmlns:a="http://schemas.openxmlformats.org/drawingml/2006/main" noGrp="1"/>
          </p:cNvSpPr>
          <p:nvPr/>
        </p:nvSpPr>
        <p:spPr>
          <a:xfrm xmlns:a="http://schemas.openxmlformats.org/drawingml/2006/main">
            <a:off x="571500" y="5953125"/>
            <a:ext cx="11049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800" b="1">
                <a:solidFill>
                  <a:srgbClr val="AC4D73"/>
                </a:solidFill>
                <a:latin typeface="Arial"/>
                <a:ea typeface="Arial"/>
                <a:cs typeface="Arial"/>
              </a:defRPr>
            </a:defPPr>
          </a:lstStyle>
          <a:p xmlns:a="http://schemas.openxmlformats.org/drawingml/2006/main">
            <a:pPr>
              <a:defRPr sz="1800" b="1">
                <a:solidFill>
                  <a:srgbClr val="AC4D73"/>
                </a:solidFill>
                <a:latin typeface="Arial"/>
                <a:ea typeface="Arial"/>
                <a:cs typeface="Arial"/>
              </a:defRPr>
            </a:pPr>
            <a:r>
              <a:rPr sz="1800" b="1">
                <a:solidFill>
                  <a:srgbClr val="AC4D73"/>
                </a:solidFill>
                <a:latin typeface="Arial"/>
                <a:ea typeface="Arial"/>
                <a:cs typeface="Arial"/>
              </a:rPr>
              <a:t>Ошибка окружения требует исправления запуска и повторной проверки.</a:t>
            </a:r>
          </a:p>
        </p:txBody>
      </p:sp>
      <p:sp>
        <p:nvSpPr>
          <p:cNvPr id="7" name="">
            <a:extLst xmlns:a="http://schemas.openxmlformats.org/drawingml/2006/main">
              <a:ext uri="{FF2B5EF4-FFF2-40B4-BE49-F238E27FC236}">
                <a16:creationId xmlns:a16="http://schemas.microsoft.com/office/drawing/2014/main" id="{F601A13D-43F3-48D5-91C1-7A9D42539FC8}"/>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8" name="">
            <a:extLst xmlns:a="http://schemas.openxmlformats.org/drawingml/2006/main">
              <a:ext uri="{FF2B5EF4-FFF2-40B4-BE49-F238E27FC236}">
                <a16:creationId xmlns:a16="http://schemas.microsoft.com/office/drawing/2014/main" id="{716284A2-9FDF-452C-8000-8E93EA2A4960}"/>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61 / 64</a:t>
            </a:r>
          </a:p>
        </p:txBody>
      </p:sp>
    </p:spTree>
    <p:extLst>
      <p:ext uri="{BB962C8B-B14F-4D97-AF65-F5344CB8AC3E}">
        <p14:creationId xmlns:p14="http://schemas.microsoft.com/office/powerpoint/2010/main" val="2038211005"/>
      </p:ext>
    </p:extLst>
  </p:cSld>
</p:sld>
</file>

<file path=ppt/slides/slide62.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112F90A-A7F3-484B-8B21-CE0F2D91337F}"/>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Реализация и сдача</a:t>
            </a:r>
          </a:p>
        </p:txBody>
      </p:sp>
      <p:sp>
        <p:nvSpPr>
          <p:cNvPr id="2" name="">
            <a:extLst xmlns:a="http://schemas.openxmlformats.org/drawingml/2006/main">
              <a:ext uri="{FF2B5EF4-FFF2-40B4-BE49-F238E27FC236}">
                <a16:creationId xmlns:a16="http://schemas.microsoft.com/office/drawing/2014/main" id="{43616769-0514-4B01-B5BF-02788A2C49CE}"/>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Сдача: две ссылки на один SHA</a:t>
            </a:r>
          </a:p>
        </p:txBody>
      </p:sp>
      <p:sp>
        <p:nvSpPr>
          <p:cNvPr id="3" name="">
            <a:extLst xmlns:a="http://schemas.openxmlformats.org/drawingml/2006/main">
              <a:ext uri="{FF2B5EF4-FFF2-40B4-BE49-F238E27FC236}">
                <a16:creationId xmlns:a16="http://schemas.microsoft.com/office/drawing/2014/main" id="{E07AE6FB-E04D-42CE-8F07-ECD34EC5DC89}"/>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После успешной проверки зафиксируйте точный коммит.</a:t>
            </a:r>
          </a:p>
        </p:txBody>
      </p:sp>
      <p:sp>
        <p:nvSpPr>
          <p:cNvPr id="4" name="">
            <a:extLst xmlns:a="http://schemas.openxmlformats.org/drawingml/2006/main">
              <a:ext uri="{FF2B5EF4-FFF2-40B4-BE49-F238E27FC236}">
                <a16:creationId xmlns:a16="http://schemas.microsoft.com/office/drawing/2014/main" id="{077DA3CA-92F7-445E-96C3-01EDD61EF2A5}"/>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В Moodle Online text: 1) commit URL; 2) успешный Public checks run URL того же коммита.</a:t>
            </a:r>
          </a:p>
        </p:txBody>
      </p:sp>
      <p:sp>
        <p:nvSpPr>
          <p:cNvPr id="5" name="">
            <a:extLst xmlns:a="http://schemas.openxmlformats.org/drawingml/2006/main">
              <a:ext uri="{FF2B5EF4-FFF2-40B4-BE49-F238E27FC236}">
                <a16:creationId xmlns:a16="http://schemas.microsoft.com/office/drawing/2014/main" id="{5D9BE169-DE56-4C7A-82E8-AEE3E29DE791}"/>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Затем Submit assignment и проверка статуса сдачи. Приватный репозиторий доступен преподавателю.</a:t>
            </a:r>
          </a:p>
        </p:txBody>
      </p:sp>
      <p:sp>
        <p:nvSpPr>
          <p:cNvPr id="6" name="">
            <a:extLst xmlns:a="http://schemas.openxmlformats.org/drawingml/2006/main">
              <a:ext uri="{FF2B5EF4-FFF2-40B4-BE49-F238E27FC236}">
                <a16:creationId xmlns:a16="http://schemas.microsoft.com/office/drawing/2014/main" id="{63FB2912-23CF-4045-A061-D97973AB8128}"/>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7" name="">
            <a:extLst xmlns:a="http://schemas.openxmlformats.org/drawingml/2006/main">
              <a:ext uri="{FF2B5EF4-FFF2-40B4-BE49-F238E27FC236}">
                <a16:creationId xmlns:a16="http://schemas.microsoft.com/office/drawing/2014/main" id="{176C5EAC-71BB-42E8-8B99-7E50B8FF5DF2}"/>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62 / 64</a:t>
            </a:r>
          </a:p>
        </p:txBody>
      </p:sp>
    </p:spTree>
    <p:extLst>
      <p:ext uri="{BB962C8B-B14F-4D97-AF65-F5344CB8AC3E}">
        <p14:creationId xmlns:p14="http://schemas.microsoft.com/office/powerpoint/2010/main" val="1357918422"/>
      </p:ext>
    </p:extLst>
  </p:cSld>
</p:sld>
</file>

<file path=ppt/slides/slide63.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95F5EED-42D6-4425-AD0C-0CAEB26DD3CD}"/>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Реализация и сдача</a:t>
            </a:r>
          </a:p>
        </p:txBody>
      </p:sp>
      <p:sp>
        <p:nvSpPr>
          <p:cNvPr id="2" name="">
            <a:extLst xmlns:a="http://schemas.openxmlformats.org/drawingml/2006/main">
              <a:ext uri="{FF2B5EF4-FFF2-40B4-BE49-F238E27FC236}">
                <a16:creationId xmlns:a16="http://schemas.microsoft.com/office/drawing/2014/main" id="{7F8D187C-3FF5-4F3D-A00D-37EA2BC4724B}"/>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Оценивание и итоговая самопроверка</a:t>
            </a:r>
          </a:p>
        </p:txBody>
      </p:sp>
      <p:sp>
        <p:nvSpPr>
          <p:cNvPr id="3" name="">
            <a:extLst xmlns:a="http://schemas.openxmlformats.org/drawingml/2006/main">
              <a:ext uri="{FF2B5EF4-FFF2-40B4-BE49-F238E27FC236}">
                <a16:creationId xmlns:a16="http://schemas.microsoft.com/office/drawing/2014/main" id="{23852A2B-A463-4B66-A233-D9DC6DC59413}"/>
              </a:ext>
            </a:extLst>
          </p:cNvPr>
          <p:cNvSpPr>
            <a:spLocks xmlns:a="http://schemas.openxmlformats.org/drawingml/2006/main" noGrp="1"/>
          </p:cNvSpPr>
          <p:nvPr/>
        </p:nvSpPr>
        <p:spPr>
          <a:xfrm xmlns:a="http://schemas.openxmlformats.org/drawingml/2006/main">
            <a:off x="571500" y="1714500"/>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550" b="0">
                <a:solidFill>
                  <a:srgbClr val="192E43"/>
                </a:solidFill>
                <a:latin typeface="Arial"/>
                <a:ea typeface="Arial"/>
                <a:cs typeface="Arial"/>
              </a:defRPr>
            </a:defPPr>
          </a:lstStyle>
          <a:p xmlns:a="http://schemas.openxmlformats.org/drawingml/2006/main">
            <a:pPr>
              <a:defRPr sz="2550" b="0">
                <a:solidFill>
                  <a:srgbClr val="192E43"/>
                </a:solidFill>
                <a:latin typeface="Arial"/>
                <a:ea typeface="Arial"/>
                <a:cs typeface="Arial"/>
              </a:defRPr>
            </a:pPr>
            <a:r>
              <a:rPr sz="2550" b="0">
                <a:solidFill>
                  <a:srgbClr val="192E43"/>
                </a:solidFill>
                <a:latin typeface="Arial"/>
                <a:ea typeface="Arial"/>
                <a:cs typeface="Arial"/>
              </a:rPr>
              <a:t>Практика: 50 автоматических баллов. Квиз: 50 автоматических баллов.</a:t>
            </a:r>
          </a:p>
        </p:txBody>
      </p:sp>
      <p:sp>
        <p:nvSpPr>
          <p:cNvPr id="4" name="">
            <a:extLst xmlns:a="http://schemas.openxmlformats.org/drawingml/2006/main">
              <a:ext uri="{FF2B5EF4-FFF2-40B4-BE49-F238E27FC236}">
                <a16:creationId xmlns:a16="http://schemas.microsoft.com/office/drawing/2014/main" id="{C9C3EB25-C635-4CF3-91F6-7794E5420805}"/>
              </a:ext>
            </a:extLst>
          </p:cNvPr>
          <p:cNvSpPr>
            <a:spLocks xmlns:a="http://schemas.openxmlformats.org/drawingml/2006/main" noGrp="1"/>
          </p:cNvSpPr>
          <p:nvPr/>
        </p:nvSpPr>
        <p:spPr>
          <a:xfrm xmlns:a="http://schemas.openxmlformats.org/drawingml/2006/main">
            <a:off x="571500" y="3057525"/>
            <a:ext cx="11049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0">
                <a:solidFill>
                  <a:srgbClr val="192E43"/>
                </a:solidFill>
                <a:latin typeface="Arial"/>
                <a:ea typeface="Arial"/>
                <a:cs typeface="Arial"/>
              </a:defRPr>
            </a:defPPr>
          </a:lstStyle>
          <a:p xmlns:a="http://schemas.openxmlformats.org/drawingml/2006/main">
            <a:pPr>
              <a:defRPr sz="2400" b="0">
                <a:solidFill>
                  <a:srgbClr val="192E43"/>
                </a:solidFill>
                <a:latin typeface="Arial"/>
                <a:ea typeface="Arial"/>
                <a:cs typeface="Arial"/>
              </a:defRPr>
            </a:pPr>
            <a:r>
              <a:rPr sz="2400" b="0">
                <a:solidFill>
                  <a:srgbClr val="192E43"/>
                </a:solidFill>
                <a:latin typeface="Arial"/>
                <a:ea typeface="Arial"/>
                <a:cs typeface="Arial"/>
              </a:rPr>
              <a:t>Квиз: 30 вопросов за 30 минут. 15 правильных → 25 из 50.</a:t>
            </a:r>
          </a:p>
        </p:txBody>
      </p:sp>
      <p:sp>
        <p:nvSpPr>
          <p:cNvPr id="5" name="">
            <a:extLst xmlns:a="http://schemas.openxmlformats.org/drawingml/2006/main">
              <a:ext uri="{FF2B5EF4-FFF2-40B4-BE49-F238E27FC236}">
                <a16:creationId xmlns:a16="http://schemas.microsoft.com/office/drawing/2014/main" id="{C33735AB-A98C-415F-BF7E-7D0B8D1E3AC1}"/>
              </a:ext>
            </a:extLst>
          </p:cNvPr>
          <p:cNvSpPr>
            <a:spLocks xmlns:a="http://schemas.openxmlformats.org/drawingml/2006/main" noGrp="1"/>
          </p:cNvSpPr>
          <p:nvPr/>
        </p:nvSpPr>
        <p:spPr>
          <a:xfrm xmlns:a="http://schemas.openxmlformats.org/drawingml/2006/main">
            <a:off x="571500" y="4810125"/>
            <a:ext cx="1104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400" b="1">
                <a:solidFill>
                  <a:srgbClr val="AC4D73"/>
                </a:solidFill>
                <a:latin typeface="Arial"/>
                <a:ea typeface="Arial"/>
                <a:cs typeface="Arial"/>
              </a:defRPr>
            </a:defPPr>
          </a:lstStyle>
          <a:p xmlns:a="http://schemas.openxmlformats.org/drawingml/2006/main">
            <a:pPr>
              <a:defRPr sz="2400" b="1">
                <a:solidFill>
                  <a:srgbClr val="AC4D73"/>
                </a:solidFill>
                <a:latin typeface="Arial"/>
                <a:ea typeface="Arial"/>
                <a:cs typeface="Arial"/>
              </a:defRPr>
            </a:pPr>
            <a:r>
              <a:rPr sz="2400" b="1">
                <a:solidFill>
                  <a:srgbClr val="AC4D73"/>
                </a:solidFill>
                <a:latin typeface="Arial"/>
                <a:ea typeface="Arial"/>
                <a:cs typeface="Arial"/>
              </a:rPr>
              <a:t>Проверьте шесть методов, tests/student, английский ANALYSIS.md и две ссылки одного SHA.</a:t>
            </a:r>
          </a:p>
        </p:txBody>
      </p:sp>
      <p:sp>
        <p:nvSpPr>
          <p:cNvPr id="6" name="">
            <a:extLst xmlns:a="http://schemas.openxmlformats.org/drawingml/2006/main">
              <a:ext uri="{FF2B5EF4-FFF2-40B4-BE49-F238E27FC236}">
                <a16:creationId xmlns:a16="http://schemas.microsoft.com/office/drawing/2014/main" id="{3FAB2B92-3C60-4CEC-8153-7B3DA184524F}"/>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7" name="">
            <a:extLst xmlns:a="http://schemas.openxmlformats.org/drawingml/2006/main">
              <a:ext uri="{FF2B5EF4-FFF2-40B4-BE49-F238E27FC236}">
                <a16:creationId xmlns:a16="http://schemas.microsoft.com/office/drawing/2014/main" id="{9E346455-AFF1-4EC6-B287-9E8FAE250B5A}"/>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63 / 64</a:t>
            </a:r>
          </a:p>
        </p:txBody>
      </p:sp>
    </p:spTree>
    <p:extLst>
      <p:ext uri="{BB962C8B-B14F-4D97-AF65-F5344CB8AC3E}">
        <p14:creationId xmlns:p14="http://schemas.microsoft.com/office/powerpoint/2010/main" val="279177586"/>
      </p:ext>
    </p:extLst>
  </p:cSld>
</p:sld>
</file>

<file path=ppt/slides/slide64.xml><?xml version="1.0" encoding="utf-8"?>
<p:sld xmlns:p="http://schemas.openxmlformats.org/presentationml/2006/main">
  <p:cSld>
    <p:bg>
      <p:bgPr>
        <a:solidFill xmlns:a="http://schemas.openxmlformats.org/drawingml/2006/main">
          <a:srgbClr val="FFFE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CCFEA43-1580-47AC-B50C-D2F033665611}"/>
              </a:ext>
            </a:extLst>
          </p:cNvPr>
          <p:cNvSpPr>
            <a:spLocks xmlns:a="http://schemas.openxmlformats.org/drawingml/2006/main" noGrp="1"/>
          </p:cNvSpPr>
          <p:nvPr/>
        </p:nvSpPr>
        <p:spPr>
          <a:xfrm xmlns:a="http://schemas.openxmlformats.org/drawingml/2006/main">
            <a:off x="571500" y="209550"/>
            <a:ext cx="1047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350" b="1">
                <a:solidFill>
                  <a:srgbClr val="AC4D73"/>
                </a:solidFill>
                <a:latin typeface="Arial"/>
                <a:ea typeface="Arial"/>
                <a:cs typeface="Arial"/>
              </a:defRPr>
            </a:defPPr>
          </a:lstStyle>
          <a:p xmlns:a="http://schemas.openxmlformats.org/drawingml/2006/main">
            <a:pPr>
              <a:defRPr sz="1350" b="1">
                <a:solidFill>
                  <a:srgbClr val="AC4D73"/>
                </a:solidFill>
                <a:latin typeface="Arial"/>
                <a:ea typeface="Arial"/>
                <a:cs typeface="Arial"/>
              </a:defRPr>
            </a:pPr>
            <a:r>
              <a:rPr sz="1350" b="1">
                <a:solidFill>
                  <a:srgbClr val="AC4D73"/>
                </a:solidFill>
                <a:latin typeface="Arial"/>
                <a:ea typeface="Arial"/>
                <a:cs typeface="Arial"/>
              </a:rPr>
              <a:t>Реализация и сдача</a:t>
            </a:r>
          </a:p>
        </p:txBody>
      </p:sp>
      <p:sp>
        <p:nvSpPr>
          <p:cNvPr id="2" name="">
            <a:extLst xmlns:a="http://schemas.openxmlformats.org/drawingml/2006/main">
              <a:ext uri="{FF2B5EF4-FFF2-40B4-BE49-F238E27FC236}">
                <a16:creationId xmlns:a16="http://schemas.microsoft.com/office/drawing/2014/main" id="{2D180422-70C8-43B1-B1DD-EF02BB37654E}"/>
              </a:ext>
            </a:extLst>
          </p:cNvPr>
          <p:cNvSpPr>
            <a:spLocks xmlns:a="http://schemas.openxmlformats.org/drawingml/2006/main" noGrp="1"/>
          </p:cNvSpPr>
          <p:nvPr/>
        </p:nvSpPr>
        <p:spPr>
          <a:xfrm xmlns:a="http://schemas.openxmlformats.org/drawingml/2006/main">
            <a:off x="571500" y="590550"/>
            <a:ext cx="1104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3150" b="1">
                <a:solidFill>
                  <a:srgbClr val="192E43"/>
                </a:solidFill>
                <a:latin typeface="Arial"/>
                <a:ea typeface="Arial"/>
                <a:cs typeface="Arial"/>
              </a:defRPr>
            </a:defPPr>
          </a:lstStyle>
          <a:p xmlns:a="http://schemas.openxmlformats.org/drawingml/2006/main">
            <a:pPr>
              <a:defRPr sz="3150" b="1">
                <a:solidFill>
                  <a:srgbClr val="192E43"/>
                </a:solidFill>
                <a:latin typeface="Arial"/>
                <a:ea typeface="Arial"/>
                <a:cs typeface="Arial"/>
              </a:defRPr>
            </a:pPr>
            <a:r>
              <a:rPr sz="3150" b="1">
                <a:solidFill>
                  <a:srgbClr val="192E43"/>
                </a:solidFill>
                <a:latin typeface="Arial"/>
                <a:ea typeface="Arial"/>
                <a:cs typeface="Arial"/>
              </a:rPr>
              <a:t>Источники и дополнительное видео</a:t>
            </a:r>
          </a:p>
        </p:txBody>
      </p:sp>
      <p:sp>
        <p:nvSpPr>
          <p:cNvPr id="3" name="">
            <a:extLst xmlns:a="http://schemas.openxmlformats.org/drawingml/2006/main">
              <a:ext uri="{FF2B5EF4-FFF2-40B4-BE49-F238E27FC236}">
                <a16:creationId xmlns:a16="http://schemas.microsoft.com/office/drawing/2014/main" id="{E132EDD0-948C-4F83-A852-1DC50AF65B6B}"/>
              </a:ext>
            </a:extLst>
          </p:cNvPr>
          <p:cNvSpPr>
            <a:spLocks xmlns:a="http://schemas.openxmlformats.org/drawingml/2006/main" noGrp="1"/>
          </p:cNvSpPr>
          <p:nvPr/>
        </p:nvSpPr>
        <p:spPr>
          <a:xfrm xmlns:a="http://schemas.openxmlformats.org/drawingml/2006/main">
            <a:off x="571500" y="1609725"/>
            <a:ext cx="1104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0">
                <a:solidFill>
                  <a:srgbClr val="192E43"/>
                </a:solidFill>
                <a:latin typeface="Arial"/>
                <a:ea typeface="Arial"/>
                <a:cs typeface="Arial"/>
              </a:defRPr>
            </a:defPPr>
          </a:lstStyle>
          <a:p xmlns:a="http://schemas.openxmlformats.org/drawingml/2006/main">
            <a:pPr>
              <a:defRPr sz="2175" b="0">
                <a:solidFill>
                  <a:srgbClr val="192E43"/>
                </a:solidFill>
                <a:latin typeface="Arial"/>
                <a:ea typeface="Arial"/>
                <a:cs typeface="Arial"/>
              </a:defRPr>
            </a:pPr>
            <a:r>
              <a:rPr sz="2175" b="0">
                <a:solidFill>
                  <a:srgbClr val="192E43"/>
                </a:solidFill>
                <a:latin typeface="Arial"/>
                <a:ea typeface="Arial"/>
                <a:cs typeface="Arial"/>
              </a:rPr>
              <a:t>Точные поля и ограничения смотрите в CONTRACTS.md. Требования сдачи — в README и Moodle.</a:t>
            </a:r>
          </a:p>
        </p:txBody>
      </p:sp>
      <p:sp>
        <p:nvSpPr>
          <p:cNvPr id="4" name="">
            <a:extLst xmlns:a="http://schemas.openxmlformats.org/drawingml/2006/main">
              <a:ext uri="{FF2B5EF4-FFF2-40B4-BE49-F238E27FC236}">
                <a16:creationId xmlns:a16="http://schemas.microsoft.com/office/drawing/2014/main" id="{9712D9D7-A733-4F9F-905D-550A8C38FC85}"/>
              </a:ext>
            </a:extLst>
          </p:cNvPr>
          <p:cNvSpPr>
            <a:spLocks xmlns:a="http://schemas.openxmlformats.org/drawingml/2006/main" noGrp="1"/>
          </p:cNvSpPr>
          <p:nvPr/>
        </p:nvSpPr>
        <p:spPr>
          <a:xfrm xmlns:a="http://schemas.openxmlformats.org/drawingml/2006/main">
            <a:off x="571500" y="2543175"/>
            <a:ext cx="1104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2175" b="0">
                <a:solidFill>
                  <a:srgbClr val="192E43"/>
                </a:solidFill>
                <a:latin typeface="Arial"/>
                <a:ea typeface="Arial"/>
                <a:cs typeface="Arial"/>
              </a:defRPr>
            </a:defPPr>
          </a:lstStyle>
          <a:p xmlns:a="http://schemas.openxmlformats.org/drawingml/2006/main">
            <a:pPr>
              <a:defRPr sz="2175" b="0">
                <a:solidFill>
                  <a:srgbClr val="192E43"/>
                </a:solidFill>
                <a:latin typeface="Arial"/>
                <a:ea typeface="Arial"/>
                <a:cs typeface="Arial"/>
              </a:defRPr>
            </a:pPr>
            <a:r>
              <a:rPr sz="2175" b="0">
                <a:solidFill>
                  <a:srgbClr val="192E43"/>
                </a:solidFill>
                <a:latin typeface="Arial"/>
                <a:ea typeface="Arial"/>
                <a:cs typeface="Arial"/>
              </a:rPr>
              <a:t>Дополнительное видео на английском встроено в HTML и PowerPoint.</a:t>
            </a:r>
          </a:p>
        </p:txBody>
      </p:sp>
      <p:pic>
        <p:nvPicPr>
          <p:cNvPr id="5" name="Assignment 3 English narrated walkthrough">
            <a:extLst xmlns:a="http://schemas.openxmlformats.org/drawingml/2006/main">
              <a:ext uri="{FF2B5EF4-FFF2-40B4-BE49-F238E27FC236}">
                <a16:creationId xmlns:a16="http://schemas.microsoft.com/office/drawing/2014/main" id="{1D09786D-B7C8-4FB5-B12E-3E4A6CF718A7}"/>
              </a:ext>
            </a:extLst>
            <ns4:hlinkClick xmlns:ns4="http://schemas.openxmlformats.org/drawingml/2006/main" action="ppaction://media"/>
          </p:cNvPr>
          <p:cNvPicPr>
            <a:picLocks xmlns:a="http://schemas.openxmlformats.org/drawingml/2006/main" noChangeAspect="1"/>
          </p:cNvPicPr>
          <p:nvPr>
            <ns0:videoFile xmlns:ns0="http://schemas.openxmlformats.org/drawingml/2006/main" xmlns:ns1="http://schemas.openxmlformats.org/officeDocument/2006/relationships" ns1:link="rIdA3Video"/>
            <p:extLst>
              <p:ext uri="{DAA4B4D4-6D71-4841-9C94-3DE7FCFB9230}">
                <ns2:media xmlns:ns2="http://schemas.microsoft.com/office/powerpoint/2010/main" xmlns:ns3="http://schemas.openxmlformats.org/officeDocument/2006/relationships" ns3:embed="rIdA3Media"/>
              </p:ext>
            </p:extLst>
          </p:nvPr>
        </p:nvPicPr>
        <p:blipFill>
          <a:blip xmlns:r="http://schemas.openxmlformats.org/officeDocument/2006/relationships" xmlns:a="http://schemas.openxmlformats.org/drawingml/2006/main" r:embed="Re503c4be27774629"/>
          <a:stretch xmlns:a="http://schemas.openxmlformats.org/drawingml/2006/main"/>
        </p:blipFill>
        <p:spPr>
          <a:xfrm xmlns:a="http://schemas.openxmlformats.org/drawingml/2006/main">
            <a:off x="3524250" y="3382566"/>
            <a:ext cx="5143500" cy="2893219"/>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54867871-1937-4F8D-834E-2235C02A9711}"/>
              </a:ext>
            </a:extLst>
          </p:cNvPr>
          <p:cNvSpPr>
            <a:spLocks xmlns:a="http://schemas.openxmlformats.org/drawingml/2006/main" noGrp="1"/>
          </p:cNvSpPr>
          <p:nvPr/>
        </p:nvSpPr>
        <p:spPr>
          <a:xfrm xmlns:a="http://schemas.openxmlformats.org/drawingml/2006/main">
            <a:off x="571500" y="6572250"/>
            <a:ext cx="990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050" b="0">
                <a:solidFill>
                  <a:srgbClr val="697789"/>
                </a:solidFill>
                <a:latin typeface="Arial"/>
                <a:ea typeface="Arial"/>
                <a:cs typeface="Arial"/>
              </a:defRPr>
            </a:defPPr>
          </a:lstStyle>
          <a:p xmlns:a="http://schemas.openxmlformats.org/drawingml/2006/main">
            <a:pPr>
              <a:defRPr sz="1050" b="0">
                <a:solidFill>
                  <a:srgbClr val="697789"/>
                </a:solidFill>
                <a:latin typeface="Arial"/>
                <a:ea typeface="Arial"/>
                <a:cs typeface="Arial"/>
              </a:defRPr>
            </a:pPr>
            <a:r>
              <a:rPr sz="1050" b="0">
                <a:solidFill>
                  <a:srgbClr val="697789"/>
                </a:solidFill>
                <a:latin typeface="Arial"/>
                <a:ea typeface="Arial"/>
                <a:cs typeface="Arial"/>
              </a:rPr>
              <a:t>Assignment 3   Пошаговое объяснение</a:t>
            </a:r>
          </a:p>
        </p:txBody>
      </p:sp>
      <p:sp>
        <p:nvSpPr>
          <p:cNvPr id="7" name="">
            <a:extLst xmlns:a="http://schemas.openxmlformats.org/drawingml/2006/main">
              <a:ext uri="{FF2B5EF4-FFF2-40B4-BE49-F238E27FC236}">
                <a16:creationId xmlns:a16="http://schemas.microsoft.com/office/drawing/2014/main" id="{ADC8F81B-1456-4688-8140-CA3BDB02661F}"/>
              </a:ext>
            </a:extLst>
          </p:cNvPr>
          <p:cNvSpPr>
            <a:spLocks xmlns:a="http://schemas.openxmlformats.org/drawingml/2006/main" noGrp="1"/>
          </p:cNvSpPr>
          <p:nvPr/>
        </p:nvSpPr>
        <p:spPr>
          <a:xfrm xmlns:a="http://schemas.openxmlformats.org/drawingml/2006/main">
            <a:off x="10572750" y="6524625"/>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defRPr sz="1500" b="1">
                <a:solidFill>
                  <a:srgbClr val="AC4D73"/>
                </a:solidFill>
                <a:latin typeface="Arial"/>
                <a:ea typeface="Arial"/>
                <a:cs typeface="Arial"/>
              </a:defRPr>
            </a:defPPr>
          </a:lstStyle>
          <a:p xmlns:a="http://schemas.openxmlformats.org/drawingml/2006/main">
            <a:pPr>
              <a:defRPr sz="1500" b="1">
                <a:solidFill>
                  <a:srgbClr val="AC4D73"/>
                </a:solidFill>
                <a:latin typeface="Arial"/>
                <a:ea typeface="Arial"/>
                <a:cs typeface="Arial"/>
              </a:defRPr>
            </a:pPr>
            <a:r>
              <a:rPr sz="1500" b="1">
                <a:solidFill>
                  <a:srgbClr val="AC4D73"/>
                </a:solidFill>
                <a:latin typeface="Arial"/>
                <a:ea typeface="Arial"/>
                <a:cs typeface="Arial"/>
              </a:rPr>
              <a:t>64 / 64</a:t>
            </a:r>
          </a:p>
        </p:txBody>
      </p:sp>
    </p:spTree>
    <p:extLst>
      <p:ext uri="{BB962C8B-B14F-4D97-AF65-F5344CB8AC3E}">
        <p14:creationId xmlns:p14="http://schemas.microsoft.com/office/powerpoint/2010/main" val="1846560603"/>
      </p:ext>
    </p:extLst>
  </p:cSld>
  <p:timing>
    <p:tnLst>
      <p:par>
        <p:cTn id="1" dur="indefinite" restart="never" nodeType="tmRoot">
          <p:childTnLst>
            <p:video>
              <p:cMediaNode vol="100000">
                <p:cTn id="2" fill="hold" display="0">
                  <p:stCondLst>
                    <p:cond delay="indefinite"/>
                  </p:stCondLst>
                </p:cTn>
                <p:tgtEl>
                  <p:spTgt spid="5"/>
                </p:tgtEl>
              </p:cMediaNode>
            </p:video>
          </p:childTnLst>
        </p:cTn>
      </p:par>
    </p:tnLst>
  </p:timing>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2026-10-16T03:24:11.9440000Z</dcterms:created>
  <dcterms:modified xsi:type="dcterms:W3CDTF">2026-10-16T03:24:11.9440000Z</dcterms:modified>
</coreProperties>
</file>